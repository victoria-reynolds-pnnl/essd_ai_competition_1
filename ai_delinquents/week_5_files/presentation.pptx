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notesMaster" Target="notesMasters/notesMaster1.xml" /><Relationship Id="rId18" Type="http://schemas.openxmlformats.org/officeDocument/2006/relationships/viewProps" Target="viewProps.xml" /><Relationship Id="rId17" Type="http://schemas.openxmlformats.org/officeDocument/2006/relationships/presProps" Target="presProps.xml" /><Relationship Id="rId1" Type="http://schemas.openxmlformats.org/officeDocument/2006/relationships/slideMaster" Target="slideMasters/slideMaster1.xml" /><Relationship Id="rId20" Type="http://schemas.openxmlformats.org/officeDocument/2006/relationships/tableStyles" Target="tableStyles.xml" /><Relationship Id="rId19"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Stefan or Cameron — set the scene. The Dalles is the most important control point on the Columbia River. Naturalized flow removes reservoir regulation effects so we’re modeling the basin’s actual water supply, not what operators decided to release. Our success bar was simply: beat the climatology (historical average) on the held-out test set.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Amanda or Jana — highlight that we used naturalized (BPA modified) flow, not observed regulated flow. The scatter plot shows the two key signals: snowpack (r = 0.79) and ENSO phase. La Niña winters enhance Pacific Northwest precipitation; El Niño suppresses it — the vertical spread at any SWE value reflects that teleconnection. This guided our feature engineering choices.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Matt — walk through the pipeline. The key design decision is the temporal split: we held out the 6 most recent years (2013–2018) as a true holdout. Leave-One-Year-Out cross-validation within the training set tuned XGBoost hyperparameters without ever seeing the test years. This mirrors how operational forecasts work — you never have future data.</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Cameron — the headline finding is that the simple linear model won. This is physically reasonable: Apr 1 SWE is linearly correlated with spring runoff (r = 0.79). XGBoost would likely outperform MLR with a longer training record. The prediction intervals from XGBoost quantile regression have ~67% coverage vs the 80% target — the model is somewhat overconfident.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Stefan — the feature importance is physically interpretable, which is a good sign. Operational NRCS forecasters weight snowpack heavily but also use antecedent flow as a quality check on snowpack accumulation. The fact that Jan–Mar flow tops the list makes sense: by Jan–Mar you have more current information than the Oct–Mar integral.</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Matt or Amanda — the key challenge here was adapting a classification tutorial to a regression task. We had to design the prompt to elicit a specific numeric prediction, not a label. The 100% parse success rate validated the prompt format design. We tested both zero-shot and few-shot, then selected the better-performing version per model for the final benchmark.</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Cameron — this is the headline slide. The left panel of the figure shows the flat-line behavior of the Phi models — they barely respond to the strong 2017 signal. Gemma is the best LLM by far (12B parameters vs ~4-7B for Phi), suggesting model scale matters more than prompt engineering for this task. Note that gemma still beat XGBoost — so a large general LLM can partially compete with a tuned ML model.</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Jana or Stefan — be honest about limitations. The WY 2015 miss is the most important failure case operationally — that year caught everyone off guard, including NRCS. The LLM limitation around numeric reasoning is a fundamental one, not a prompt design problem. Domain-specific fine-tuning would likely close much of the gap.</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All team members — go around the room for this slide, each person speaking to one bullet. This is the culmination slide. Emphasize that the most valuable learning wasn’t the metrics — it was the process: designing a reproducible pipeline, making deliberate modeling choices, and honestly documenting where things failed.</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2.xml" /><Relationship Id="rId3"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4.xml" /><Relationship Id="rId3" Type="http://schemas.openxmlformats.org/officeDocument/2006/relationships/image" Target="../media/image3.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xml" /><Relationship Id="rId3"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6.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7.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Columbia River Basin Water Supply Forecasting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AI Delinquents | ESSD AI Competition 2025</a:t>
            </a:r>
            <a:br/>
            <a:br/>
            <a:r>
              <a:rPr/>
              <a:t>Cameron Bracken, Stefan Rose, Matt Sturtevant, Amanda Lawter, Jana Simo</a:t>
            </a:r>
          </a:p>
        </p:txBody>
      </p:sp>
      <p:sp>
        <p:nvSpPr>
          <p:cNvPr id="4" name="Date Placeholder 3"/>
          <p:cNvSpPr>
            <a:spLocks noGrp="1"/>
          </p:cNvSpPr>
          <p:nvPr>
            <p:ph idx="10" sz="half" type="dt"/>
          </p:nvPr>
        </p:nvSpPr>
        <p:spPr/>
        <p:txBody>
          <a:bodyPr/>
          <a:lstStyle/>
          <a:p>
            <a:pPr lvl="0" indent="0" marL="0">
              <a:buNone/>
            </a:pPr>
            <a:r>
              <a:rPr/>
              <a:t>2026-04-20</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Problem</a:t>
            </a:r>
          </a:p>
        </p:txBody>
      </p:sp>
      <p:sp>
        <p:nvSpPr>
          <p:cNvPr id="3" name="Content Placeholder 2"/>
          <p:cNvSpPr>
            <a:spLocks noGrp="1"/>
          </p:cNvSpPr>
          <p:nvPr>
            <p:ph idx="1"/>
          </p:nvPr>
        </p:nvSpPr>
        <p:spPr/>
        <p:txBody>
          <a:bodyPr/>
          <a:lstStyle/>
          <a:p>
            <a:pPr lvl="0" indent="0" marL="0">
              <a:buNone/>
            </a:pPr>
            <a:r>
              <a:rPr b="1"/>
              <a:t>Predict April–September naturalized streamflow volume at The Dalles, OR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type="body"/>
          </p:nvPr>
        </p:nvSpPr>
        <p:spPr/>
        <p:txBody>
          <a:bodyPr/>
          <a:lstStyle/>
          <a:p>
            <a:pPr lvl="0" indent="0" marL="0">
              <a:buNone/>
            </a:pPr>
            <a:r>
              <a:rPr b="1"/>
              <a:t>Why it matters</a:t>
            </a:r>
          </a:p>
          <a:p>
            <a:pPr lvl="0"/>
            <a:r>
              <a:rPr/>
              <a:t>Snowmelt-driven Columbia Basin supplies hydropower, agriculture, and municipal water for the Pacific Northwest</a:t>
            </a:r>
          </a:p>
          <a:p>
            <a:pPr lvl="0"/>
            <a:r>
              <a:rPr/>
              <a:t>Forecasts issued each April 1 inform reservoir operations for the coming summer</a:t>
            </a:r>
          </a:p>
          <a:p>
            <a:pPr lvl="0"/>
            <a:r>
              <a:rPr/>
              <a:t>Existing NRCS/NWRFC forecasts use statistical methods — can ML improve on them?</a:t>
            </a:r>
          </a:p>
        </p:txBody>
      </p:sp>
      <p:sp>
        <p:nvSpPr>
          <p:cNvPr id="5" name="Text Placeholder 4"/>
          <p:cNvSpPr>
            <a:spLocks noGrp="1"/>
          </p:cNvSpPr>
          <p:nvPr>
            <p:ph idx="3" sz="quarter" type="body"/>
          </p:nvPr>
        </p:nvSpPr>
        <p:spPr/>
        <p:txBody>
          <a:bodyPr/>
          <a:lstStyle/>
          <a:p>
            <a:pPr lvl="0" indent="0" marL="0">
              <a:buNone/>
            </a:pPr>
            <a:r>
              <a:rPr b="1"/>
              <a:t>Success criteria</a:t>
            </a:r>
          </a:p>
        </p:txBody>
      </p:sp>
      <p:graphicFrame>
        <p:nvGraphicFramePr>
          <p:cNvPr id="6" name="Content Placeholder 5"/>
          <p:cNvGraphicFramePr>
            <a:graphicFrameLocks noGrp="1"/>
          </p:cNvGraphicFramePr>
          <p:nvPr>
            <p:ph idx="1"/>
          </p:nvPr>
        </p:nvGraphicFramePr>
        <p:xfrm>
          <a:off x="4635500" y="1625600"/>
          <a:ext cx="4038600" cy="29591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a:t>Metric</a:t>
                      </a:r>
                    </a:p>
                  </a:txBody>
                  <a:tcPr/>
                </a:tc>
                <a:tc>
                  <a:txBody>
                    <a:bodyPr/>
                    <a:lstStyle/>
                    <a:p>
                      <a:pPr lvl="0" indent="0" marL="0">
                        <a:buNone/>
                      </a:pPr>
                      <a:r>
                        <a:rPr/>
                        <a:t>Target</a:t>
                      </a:r>
                    </a:p>
                  </a:txBody>
                  <a:tcPr/>
                </a:tc>
              </a:tr>
              <a:tr h="0">
                <a:tc>
                  <a:txBody>
                    <a:bodyPr/>
                    <a:lstStyle/>
                    <a:p>
                      <a:pPr lvl="0" indent="0" marL="0">
                        <a:buNone/>
                      </a:pPr>
                      <a:r>
                        <a:rPr/>
                        <a:t>NSE</a:t>
                      </a:r>
                    </a:p>
                  </a:txBody>
                </a:tc>
                <a:tc>
                  <a:txBody>
                    <a:bodyPr/>
                    <a:lstStyle/>
                    <a:p>
                      <a:pPr lvl="0" indent="0" marL="0">
                        <a:buNone/>
                      </a:pPr>
                      <a:r>
                        <a:rPr/>
                        <a:t>&gt; 0 (beat mean)</a:t>
                      </a:r>
                    </a:p>
                  </a:txBody>
                </a:tc>
              </a:tr>
              <a:tr h="0">
                <a:tc>
                  <a:txBody>
                    <a:bodyPr/>
                    <a:lstStyle/>
                    <a:p>
                      <a:pPr lvl="0" indent="0" marL="0">
                        <a:buNone/>
                      </a:pPr>
                      <a:r>
                        <a:rPr/>
                        <a:t>RMSE</a:t>
                      </a:r>
                    </a:p>
                  </a:txBody>
                </a:tc>
                <a:tc>
                  <a:txBody>
                    <a:bodyPr/>
                    <a:lstStyle/>
                    <a:p>
                      <a:pPr lvl="0" indent="0" marL="0">
                        <a:buNone/>
                      </a:pPr>
                      <a:r>
                        <a:rPr/>
                        <a:t>&lt; 8,488 kcfs-days (beat climatology)</a:t>
                      </a:r>
                    </a:p>
                  </a:txBody>
                </a:tc>
              </a:tr>
              <a:tr h="0">
                <a:tc>
                  <a:txBody>
                    <a:bodyPr/>
                    <a:lstStyle/>
                    <a:p>
                      <a:pPr lvl="0" indent="0" marL="0">
                        <a:buNone/>
                      </a:pPr>
                      <a:r>
                        <a:rPr/>
                        <a:t>Skill score</a:t>
                      </a:r>
                    </a:p>
                  </a:txBody>
                </a:tc>
                <a:tc>
                  <a:txBody>
                    <a:bodyPr/>
                    <a:lstStyle/>
                    <a:p>
                      <a:pPr lvl="0" indent="0" marL="0">
                        <a:buNone/>
                      </a:pPr>
                      <a:r>
                        <a:rPr/>
                        <a:t>&gt; 0 vs climatology</a:t>
                      </a:r>
                    </a:p>
                  </a:txBody>
                </a:tc>
              </a:tr>
            </a:tbl>
          </a:graphicData>
        </a:graphic>
      </p:graphicFrame>
      <p:sp>
        <p:nvSpPr>
          <p:cNvPr id="6" name="Content Placeholder 5"/>
          <p:cNvSpPr>
            <a:spLocks noGrp="1"/>
          </p:cNvSpPr>
          <p:nvPr>
            <p:ph idx="4" sz="quarter"/>
          </p:nvPr>
        </p:nvSpPr>
        <p:spPr/>
        <p:txBody>
          <a:bodyPr/>
          <a:lstStyle/>
          <a:p>
            <a:pPr lvl="0" indent="0" marL="0">
              <a:buNone/>
            </a:pPr>
            <a:r>
              <a:rPr b="1"/>
              <a:t>Target variable:</a:t>
            </a:r>
            <a:r>
              <a:rPr/>
              <a:t> Apr–Sep naturalized flow volume (kcfs-days) </a:t>
            </a:r>
            <a:r>
              <a:rPr b="1"/>
              <a:t>Forecast window:</a:t>
            </a:r>
            <a:r>
              <a:rPr/>
              <a:t> Conditions known by April 1</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&amp; Key Predictors</a:t>
            </a:r>
          </a:p>
        </p:txBody>
      </p:sp>
      <p:sp>
        <p:nvSpPr>
          <p:cNvPr id="3" name="Text Placeholder 2"/>
          <p:cNvSpPr>
            <a:spLocks noGrp="1"/>
          </p:cNvSpPr>
          <p:nvPr>
            <p:ph idx="1" type="body"/>
          </p:nvPr>
        </p:nvSpPr>
        <p:spPr/>
        <p:txBody>
          <a:bodyPr/>
          <a:lstStyle/>
          <a:p>
            <a:pPr lvl="0" indent="0" marL="0">
              <a:buNone/>
            </a:pPr>
            <a:r>
              <a:rPr b="1"/>
              <a:t>Four data sources → 7 features</a:t>
            </a:r>
          </a:p>
        </p:txBody>
      </p:sp>
      <p:graphicFrame>
        <p:nvGraphicFramePr>
          <p:cNvPr id="6" name="Content Placeholder 5"/>
          <p:cNvGraphicFramePr>
            <a:graphicFrameLocks noGrp="1"/>
          </p:cNvGraphicFramePr>
          <p:nvPr>
            <p:ph idx="1"/>
          </p:nvPr>
        </p:nvGraphicFramePr>
        <p:xfrm>
          <a:off x="457200" y="1625600"/>
          <a:ext cx="4038600" cy="29591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pPr lvl="0" indent="0" marL="0">
                        <a:buNone/>
                      </a:pPr>
                      <a:r>
                        <a:rPr/>
                        <a:t>Feature</a:t>
                      </a:r>
                    </a:p>
                  </a:txBody>
                  <a:tcPr/>
                </a:tc>
                <a:tc>
                  <a:txBody>
                    <a:bodyPr/>
                    <a:lstStyle/>
                    <a:p>
                      <a:pPr lvl="0" indent="0" marL="0">
                        <a:buNone/>
                      </a:pPr>
                      <a:r>
                        <a:rPr/>
                        <a:t>Source</a:t>
                      </a:r>
                    </a:p>
                  </a:txBody>
                  <a:tcPr/>
                </a:tc>
                <a:tc>
                  <a:txBody>
                    <a:bodyPr/>
                    <a:lstStyle/>
                    <a:p>
                      <a:pPr lvl="0" indent="0" marL="0">
                        <a:buNone/>
                      </a:pPr>
                      <a:r>
                        <a:rPr/>
                        <a:t>r</a:t>
                      </a:r>
                    </a:p>
                  </a:txBody>
                  <a:tcPr/>
                </a:tc>
              </a:tr>
              <a:tr h="0">
                <a:tc>
                  <a:txBody>
                    <a:bodyPr/>
                    <a:lstStyle/>
                    <a:p>
                      <a:pPr lvl="0" indent="0" marL="0">
                        <a:buNone/>
                      </a:pPr>
                      <a:r>
                        <a:rPr/>
                        <a:t>Apr 1 SWE anomaly (%)</a:t>
                      </a:r>
                    </a:p>
                  </a:txBody>
                </a:tc>
                <a:tc>
                  <a:txBody>
                    <a:bodyPr/>
                    <a:lstStyle/>
                    <a:p>
                      <a:pPr lvl="0" indent="0" marL="0">
                        <a:buNone/>
                      </a:pPr>
                      <a:r>
                        <a:rPr/>
                        <a:t>NRCS SNOTEL (16 stations)</a:t>
                      </a:r>
                    </a:p>
                  </a:txBody>
                </a:tc>
                <a:tc>
                  <a:txBody>
                    <a:bodyPr/>
                    <a:lstStyle/>
                    <a:p>
                      <a:pPr lvl="0" indent="0" marL="0">
                        <a:buNone/>
                      </a:pPr>
                      <a:r>
                        <a:rPr b="1"/>
                        <a:t>0.79</a:t>
                      </a:r>
                    </a:p>
                  </a:txBody>
                </a:tc>
              </a:tr>
              <a:tr h="0">
                <a:tc>
                  <a:txBody>
                    <a:bodyPr/>
                    <a:lstStyle/>
                    <a:p>
                      <a:pPr lvl="0" indent="0" marL="0">
                        <a:buNone/>
                      </a:pPr>
                      <a:r>
                        <a:rPr/>
                        <a:t>Jan–Mar mean flow (cfs)</a:t>
                      </a:r>
                    </a:p>
                  </a:txBody>
                </a:tc>
                <a:tc>
                  <a:txBody>
                    <a:bodyPr/>
                    <a:lstStyle/>
                    <a:p>
                      <a:pPr lvl="0" indent="0" marL="0">
                        <a:buNone/>
                      </a:pPr>
                      <a:r>
                        <a:rPr/>
                        <a:t>BPA natural flow</a:t>
                      </a:r>
                    </a:p>
                  </a:txBody>
                </a:tc>
                <a:tc>
                  <a:txBody>
                    <a:bodyPr/>
                    <a:lstStyle/>
                    <a:p>
                      <a:pPr lvl="0" indent="0" marL="0">
                        <a:buNone/>
                      </a:pPr>
                      <a:r>
                        <a:rPr/>
                        <a:t>0.56</a:t>
                      </a:r>
                    </a:p>
                  </a:txBody>
                </a:tc>
              </a:tr>
              <a:tr h="0">
                <a:tc>
                  <a:txBody>
                    <a:bodyPr/>
                    <a:lstStyle/>
                    <a:p>
                      <a:pPr lvl="0" indent="0" marL="0">
                        <a:buNone/>
                      </a:pPr>
                      <a:r>
                        <a:rPr/>
                        <a:t>Oct–Mar volume (kcfs-days)</a:t>
                      </a:r>
                    </a:p>
                  </a:txBody>
                </a:tc>
                <a:tc>
                  <a:txBody>
                    <a:bodyPr/>
                    <a:lstStyle/>
                    <a:p>
                      <a:pPr lvl="0" indent="0" marL="0">
                        <a:buNone/>
                      </a:pPr>
                      <a:r>
                        <a:rPr/>
                        <a:t>BPA natural flow</a:t>
                      </a:r>
                    </a:p>
                  </a:txBody>
                </a:tc>
                <a:tc>
                  <a:txBody>
                    <a:bodyPr/>
                    <a:lstStyle/>
                    <a:p>
                      <a:pPr lvl="0" indent="0" marL="0">
                        <a:buNone/>
                      </a:pPr>
                      <a:r>
                        <a:rPr/>
                        <a:t>0.55</a:t>
                      </a:r>
                    </a:p>
                  </a:txBody>
                </a:tc>
              </a:tr>
              <a:tr h="0">
                <a:tc>
                  <a:txBody>
                    <a:bodyPr/>
                    <a:lstStyle/>
                    <a:p>
                      <a:pPr lvl="0" indent="0" marL="0">
                        <a:buNone/>
                      </a:pPr>
                      <a:r>
                        <a:rPr/>
                        <a:t>DJF Nino3.4</a:t>
                      </a:r>
                    </a:p>
                  </a:txBody>
                </a:tc>
                <a:tc>
                  <a:txBody>
                    <a:bodyPr/>
                    <a:lstStyle/>
                    <a:p>
                      <a:pPr lvl="0" indent="0" marL="0">
                        <a:buNone/>
                      </a:pPr>
                      <a:r>
                        <a:rPr/>
                        <a:t>NOAA PSL</a:t>
                      </a:r>
                    </a:p>
                  </a:txBody>
                </a:tc>
                <a:tc>
                  <a:txBody>
                    <a:bodyPr/>
                    <a:lstStyle/>
                    <a:p>
                      <a:pPr lvl="0" indent="0" marL="0">
                        <a:buNone/>
                      </a:pPr>
                      <a:r>
                        <a:rPr/>
                        <a:t>−0.46</a:t>
                      </a:r>
                    </a:p>
                  </a:txBody>
                </a:tc>
              </a:tr>
              <a:tr h="0">
                <a:tc>
                  <a:txBody>
                    <a:bodyPr/>
                    <a:lstStyle/>
                    <a:p>
                      <a:pPr lvl="0" indent="0" marL="0">
                        <a:buNone/>
                      </a:pPr>
                      <a:r>
                        <a:rPr/>
                        <a:t>DJF PDO</a:t>
                      </a:r>
                    </a:p>
                  </a:txBody>
                </a:tc>
                <a:tc>
                  <a:txBody>
                    <a:bodyPr/>
                    <a:lstStyle/>
                    <a:p>
                      <a:pPr lvl="0" indent="0" marL="0">
                        <a:buNone/>
                      </a:pPr>
                      <a:r>
                        <a:rPr/>
                        <a:t>NOAA PSL</a:t>
                      </a:r>
                    </a:p>
                  </a:txBody>
                </a:tc>
                <a:tc>
                  <a:txBody>
                    <a:bodyPr/>
                    <a:lstStyle/>
                    <a:p>
                      <a:pPr lvl="0" indent="0" marL="0">
                        <a:buNone/>
                      </a:pPr>
                      <a:r>
                        <a:rPr/>
                        <a:t>−0.45</a:t>
                      </a:r>
                    </a:p>
                  </a:txBody>
                </a:tc>
              </a:tr>
              <a:tr h="0">
                <a:tc>
                  <a:txBody>
                    <a:bodyPr/>
                    <a:lstStyle/>
                    <a:p>
                      <a:pPr lvl="0" indent="0" marL="0">
                        <a:buNone/>
                      </a:pPr>
                      <a:r>
                        <a:rPr/>
                        <a:t>DJF PNA</a:t>
                      </a:r>
                    </a:p>
                  </a:txBody>
                </a:tc>
                <a:tc>
                  <a:txBody>
                    <a:bodyPr/>
                    <a:lstStyle/>
                    <a:p>
                      <a:pPr lvl="0" indent="0" marL="0">
                        <a:buNone/>
                      </a:pPr>
                      <a:r>
                        <a:rPr/>
                        <a:t>NOAA PSL</a:t>
                      </a:r>
                    </a:p>
                  </a:txBody>
                </a:tc>
                <a:tc>
                  <a:txBody>
                    <a:bodyPr/>
                    <a:lstStyle/>
                    <a:p>
                      <a:pPr lvl="0" indent="0" marL="0">
                        <a:buNone/>
                      </a:pPr>
                      <a:r>
                        <a:rPr/>
                        <a:t>−0.40</a:t>
                      </a:r>
                    </a:p>
                  </a:txBody>
                </a:tc>
              </a:tr>
            </a:tbl>
          </a:graphicData>
        </a:graphic>
      </p:graphicFrame>
      <p:sp>
        <p:nvSpPr>
          <p:cNvPr id="4" name="Content Placeholder 3"/>
          <p:cNvSpPr>
            <a:spLocks noGrp="1"/>
          </p:cNvSpPr>
          <p:nvPr>
            <p:ph idx="2" sz="half"/>
          </p:nvPr>
        </p:nvSpPr>
        <p:spPr/>
        <p:txBody>
          <a:bodyPr/>
          <a:lstStyle/>
          <a:p>
            <a:pPr lvl="0" indent="0" marL="0">
              <a:buNone/>
            </a:pPr>
            <a:r>
              <a:rPr/>
              <a:t>34 complete water years (WY 1985–2018)</a:t>
            </a:r>
          </a:p>
        </p:txBody>
      </p:sp>
      <p:pic>
        <p:nvPicPr>
          <p:cNvPr descr="../week_3_files/visualizations/eda_plots/04_swe_vs_target_enso.png" id="0" name="Picture 1"/>
          <p:cNvPicPr>
            <a:picLocks noGrp="1" noChangeAspect="1"/>
          </p:cNvPicPr>
          <p:nvPr/>
        </p:nvPicPr>
        <p:blipFill>
          <a:blip r:embed="rId3"/>
          <a:stretch>
            <a:fillRect/>
          </a:stretch>
        </p:blipFill>
        <p:spPr bwMode="auto">
          <a:xfrm>
            <a:off x="5054600" y="1625600"/>
            <a:ext cx="3200400" cy="2451100"/>
          </a:xfrm>
          <a:prstGeom prst="rect">
            <a:avLst/>
          </a:prstGeom>
          <a:noFill/>
          <a:ln w="9525">
            <a:noFill/>
            <a:headEnd/>
            <a:tailEnd/>
          </a:ln>
        </p:spPr>
      </p:pic>
      <p:sp>
        <p:nvSpPr>
          <p:cNvPr id="1" name="TextBox 3"/>
          <p:cNvSpPr txBox="1"/>
          <p:nvPr>
            <p:ph idx="1"/>
          </p:nvPr>
        </p:nvSpPr>
        <p:spPr>
          <a:xfrm>
            <a:off x="4635500" y="4076700"/>
            <a:ext cx="4038600" cy="508000"/>
          </a:xfrm>
          <a:prstGeom prst="rect">
            <a:avLst/>
          </a:prstGeom>
          <a:noFill/>
        </p:spPr>
        <p:txBody>
          <a:bodyPr/>
          <a:lstStyle/>
          <a:p>
            <a:pPr lvl="0" indent="0" marL="0" algn="ctr">
              <a:buNone/>
            </a:pPr>
            <a:r>
              <a:rPr/>
              <a:t>Snowpack is the dominant predictor. La Niña years (blue) consistently produce higher runoff at a given SWE level than El Niño years (red).</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Methodology</a:t>
            </a:r>
          </a:p>
        </p:txBody>
      </p:sp>
      <p:sp>
        <p:nvSpPr>
          <p:cNvPr id="4" name="Text Placeholder 3"/>
          <p:cNvSpPr>
            <a:spLocks noGrp="1"/>
          </p:cNvSpPr>
          <p:nvPr>
            <p:ph idx="2" sz="half" type="body"/>
          </p:nvPr>
        </p:nvSpPr>
        <p:spPr/>
        <p:txBody>
          <a:bodyPr/>
          <a:lstStyle/>
          <a:p>
            <a:pPr lvl="0" indent="0" marL="0">
              <a:buNone/>
            </a:pPr>
          </a:p>
        </p:txBody>
      </p:sp>
      <p:pic>
        <p:nvPicPr>
          <p:cNvPr descr="presentation_files/figure-pptx/mermaid-figure-1.png" id="0" name="Picture 1"/>
          <p:cNvPicPr>
            <a:picLocks noGrp="1" noChangeAspect="1"/>
          </p:cNvPicPr>
          <p:nvPr/>
        </p:nvPicPr>
        <p:blipFill>
          <a:blip r:embed="rId2"/>
          <a:stretch>
            <a:fillRect/>
          </a:stretch>
        </p:blipFill>
        <p:spPr bwMode="auto">
          <a:xfrm>
            <a:off x="3568700" y="2108200"/>
            <a:ext cx="5105400" cy="5842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a:t>
            </a:r>
          </a:p>
          <a:p>
            <a:pPr lvl="0" indent="0" marL="0">
              <a:buNone/>
            </a:pPr>
            <a:r>
              <a:rPr b="1"/>
              <a:t>Leakage prevention:</a:t>
            </a:r>
            <a:r>
              <a:rPr/>
              <a:t> Temporal split only — no future data used in training. Hyperparameter tuning done inside LOYO folds on training years only. Test set locked until final evaluation.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ML Results</a:t>
            </a:r>
          </a:p>
        </p:txBody>
      </p:sp>
      <p:pic>
        <p:nvPicPr>
          <p:cNvPr descr="../week_3_files/visualizations/obs_vs_pred_timeseries.png" id="0" name="Picture 1"/>
          <p:cNvPicPr>
            <a:picLocks noGrp="1" noChangeAspect="1"/>
          </p:cNvPicPr>
          <p:nvPr/>
        </p:nvPicPr>
        <p:blipFill>
          <a:blip r:embed="rId3"/>
          <a:stretch>
            <a:fillRect/>
          </a:stretch>
        </p:blipFill>
        <p:spPr bwMode="auto">
          <a:xfrm>
            <a:off x="457200" y="1879600"/>
            <a:ext cx="4038600" cy="1943100"/>
          </a:xfrm>
          <a:prstGeom prst="rect">
            <a:avLst/>
          </a:prstGeom>
          <a:noFill/>
          <a:ln w="9525">
            <a:noFill/>
            <a:headEnd/>
            <a:tailEnd/>
          </a:ln>
        </p:spPr>
      </p:pic>
      <p:sp>
        <p:nvSpPr>
          <p:cNvPr id="1" name="TextBox 3"/>
          <p:cNvSpPr txBox="1"/>
          <p:nvPr>
            <p:ph idx="1"/>
          </p:nvPr>
        </p:nvSpPr>
        <p:spPr>
          <a:xfrm>
            <a:off x="457200" y="4076700"/>
            <a:ext cx="4038600" cy="508000"/>
          </a:xfrm>
          <a:prstGeom prst="rect">
            <a:avLst/>
          </a:prstGeom>
          <a:noFill/>
        </p:spPr>
        <p:txBody>
          <a:bodyPr/>
          <a:lstStyle/>
          <a:p>
            <a:pPr lvl="0" indent="0" marL="0" algn="ctr">
              <a:buNone/>
            </a:pPr>
            <a:r>
              <a:rPr/>
              <a:t>MLR closely tracks observed volumes across 34 years. XGBoost prediction intervals (blue band) provide uncertainty quantification but undercover at ~67%.</a:t>
            </a:r>
          </a:p>
        </p:txBody>
      </p:sp>
      <p:sp>
        <p:nvSpPr>
          <p:cNvPr id="5" name="Text Placeholder 4"/>
          <p:cNvSpPr>
            <a:spLocks noGrp="1"/>
          </p:cNvSpPr>
          <p:nvPr>
            <p:ph idx="3" sz="quarter" type="body"/>
          </p:nvPr>
        </p:nvSpPr>
        <p:spPr/>
        <p:txBody>
          <a:bodyPr/>
          <a:lstStyle/>
          <a:p>
            <a:pPr lvl="0" indent="0" marL="0">
              <a:buNone/>
            </a:pPr>
            <a:r>
              <a:rPr b="1"/>
              <a:t>Test set performance (WY 2013–2018)</a:t>
            </a:r>
          </a:p>
        </p:txBody>
      </p:sp>
      <p:graphicFrame>
        <p:nvGraphicFramePr>
          <p:cNvPr id="6" name="Content Placeholder 5"/>
          <p:cNvGraphicFramePr>
            <a:graphicFrameLocks noGrp="1"/>
          </p:cNvGraphicFramePr>
          <p:nvPr>
            <p:ph idx="1"/>
          </p:nvPr>
        </p:nvGraphicFramePr>
        <p:xfrm>
          <a:off x="4635500" y="1625600"/>
          <a:ext cx="4038600" cy="29591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pPr lvl="0" indent="0" marL="0">
                        <a:buNone/>
                      </a:pPr>
                      <a:r>
                        <a:rPr/>
                        <a:t>Model</a:t>
                      </a:r>
                    </a:p>
                  </a:txBody>
                  <a:tcPr/>
                </a:tc>
                <a:tc>
                  <a:txBody>
                    <a:bodyPr/>
                    <a:lstStyle/>
                    <a:p>
                      <a:pPr lvl="0" indent="0" marL="0">
                        <a:buNone/>
                      </a:pPr>
                      <a:r>
                        <a:rPr/>
                        <a:t>NSE</a:t>
                      </a:r>
                    </a:p>
                  </a:txBody>
                  <a:tcPr/>
                </a:tc>
                <a:tc>
                  <a:txBody>
                    <a:bodyPr/>
                    <a:lstStyle/>
                    <a:p>
                      <a:pPr lvl="0" indent="0" marL="0">
                        <a:buNone/>
                      </a:pPr>
                      <a:r>
                        <a:rPr/>
                        <a:t>RMSE</a:t>
                      </a:r>
                    </a:p>
                  </a:txBody>
                  <a:tcPr/>
                </a:tc>
              </a:tr>
              <a:tr h="0">
                <a:tc>
                  <a:txBody>
                    <a:bodyPr/>
                    <a:lstStyle/>
                    <a:p>
                      <a:pPr lvl="0" indent="0" marL="0">
                        <a:buNone/>
                      </a:pPr>
                      <a:r>
                        <a:rPr/>
                        <a:t>Climatology</a:t>
                      </a:r>
                    </a:p>
                  </a:txBody>
                </a:tc>
                <a:tc>
                  <a:txBody>
                    <a:bodyPr/>
                    <a:lstStyle/>
                    <a:p>
                      <a:pPr lvl="0" indent="0" marL="0">
                        <a:buNone/>
                      </a:pPr>
                      <a:r>
                        <a:rPr/>
                        <a:t>−0.03</a:t>
                      </a:r>
                    </a:p>
                  </a:txBody>
                </a:tc>
                <a:tc>
                  <a:txBody>
                    <a:bodyPr/>
                    <a:lstStyle/>
                    <a:p>
                      <a:pPr lvl="0" indent="0" marL="0">
                        <a:buNone/>
                      </a:pPr>
                      <a:r>
                        <a:rPr/>
                        <a:t>8,488</a:t>
                      </a:r>
                    </a:p>
                  </a:txBody>
                </a:tc>
              </a:tr>
              <a:tr h="0">
                <a:tc>
                  <a:txBody>
                    <a:bodyPr/>
                    <a:lstStyle/>
                    <a:p>
                      <a:pPr lvl="0" indent="0" marL="0">
                        <a:buNone/>
                      </a:pPr>
                      <a:r>
                        <a:rPr b="1"/>
                        <a:t>MLR</a:t>
                      </a:r>
                    </a:p>
                  </a:txBody>
                </a:tc>
                <a:tc>
                  <a:txBody>
                    <a:bodyPr/>
                    <a:lstStyle/>
                    <a:p>
                      <a:pPr lvl="0" indent="0" marL="0">
                        <a:buNone/>
                      </a:pPr>
                      <a:r>
                        <a:rPr b="1"/>
                        <a:t>0.77</a:t>
                      </a:r>
                    </a:p>
                  </a:txBody>
                </a:tc>
                <a:tc>
                  <a:txBody>
                    <a:bodyPr/>
                    <a:lstStyle/>
                    <a:p>
                      <a:pPr lvl="0" indent="0" marL="0">
                        <a:buNone/>
                      </a:pPr>
                      <a:r>
                        <a:rPr b="1"/>
                        <a:t>4,034</a:t>
                      </a:r>
                    </a:p>
                  </a:txBody>
                </a:tc>
              </a:tr>
              <a:tr h="0">
                <a:tc>
                  <a:txBody>
                    <a:bodyPr/>
                    <a:lstStyle/>
                    <a:p>
                      <a:pPr lvl="0" indent="0" marL="0">
                        <a:buNone/>
                      </a:pPr>
                      <a:r>
                        <a:rPr/>
                        <a:t>XGBoost</a:t>
                      </a:r>
                    </a:p>
                  </a:txBody>
                </a:tc>
                <a:tc>
                  <a:txBody>
                    <a:bodyPr/>
                    <a:lstStyle/>
                    <a:p>
                      <a:pPr lvl="0" indent="0" marL="0">
                        <a:buNone/>
                      </a:pPr>
                      <a:r>
                        <a:rPr/>
                        <a:t>0.46</a:t>
                      </a:r>
                    </a:p>
                  </a:txBody>
                </a:tc>
                <a:tc>
                  <a:txBody>
                    <a:bodyPr/>
                    <a:lstStyle/>
                    <a:p>
                      <a:pPr lvl="0" indent="0" marL="0">
                        <a:buNone/>
                      </a:pPr>
                      <a:r>
                        <a:rPr/>
                        <a:t>6,170</a:t>
                      </a:r>
                    </a:p>
                  </a:txBody>
                </a:tc>
              </a:tr>
            </a:tbl>
          </a:graphicData>
        </a:graphic>
      </p:graphicFrame>
      <p:sp>
        <p:nvSpPr>
          <p:cNvPr id="6" name="Content Placeholder 5"/>
          <p:cNvSpPr>
            <a:spLocks noGrp="1"/>
          </p:cNvSpPr>
          <p:nvPr>
            <p:ph idx="4" sz="quarter"/>
          </p:nvPr>
        </p:nvSpPr>
        <p:spPr/>
        <p:txBody>
          <a:bodyPr/>
          <a:lstStyle/>
          <a:p>
            <a:pPr lvl="0" indent="0" marL="0">
              <a:buNone/>
            </a:pPr>
            <a:r>
              <a:rPr b="1"/>
              <a:t>MLR outperforms XGBoost</a:t>
            </a:r>
            <a:r>
              <a:rPr/>
              <a:t> — expected with n=34. Linear relationships dominate at this sample size; XGBoost’s nonlinear capacity is a liability without more data.</a:t>
            </a:r>
          </a:p>
          <a:p>
            <a:pPr lvl="0" indent="0" marL="0">
              <a:buNone/>
            </a:pPr>
            <a:r>
              <a:rPr/>
              <a:t>LOYO CV NSE: MLR = 0.69, XGBoost = 0.44 — consistent with test set, no overfitting signal.</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Interpretability</a:t>
            </a:r>
          </a:p>
        </p:txBody>
      </p:sp>
      <p:pic>
        <p:nvPicPr>
          <p:cNvPr descr="../week_3_files/visualizations/feature_importance.png" id="0" name="Picture 1"/>
          <p:cNvPicPr>
            <a:picLocks noGrp="1" noChangeAspect="1"/>
          </p:cNvPicPr>
          <p:nvPr/>
        </p:nvPicPr>
        <p:blipFill>
          <a:blip r:embed="rId3"/>
          <a:stretch>
            <a:fillRect/>
          </a:stretch>
        </p:blipFill>
        <p:spPr bwMode="auto">
          <a:xfrm>
            <a:off x="457200" y="1346200"/>
            <a:ext cx="4038600" cy="2565400"/>
          </a:xfrm>
          <a:prstGeom prst="rect">
            <a:avLst/>
          </a:prstGeom>
          <a:noFill/>
          <a:ln w="9525">
            <a:noFill/>
            <a:headEnd/>
            <a:tailEnd/>
          </a:ln>
        </p:spPr>
      </p:pic>
      <p:sp>
        <p:nvSpPr>
          <p:cNvPr id="1" name="TextBox 3"/>
          <p:cNvSpPr txBox="1"/>
          <p:nvPr>
            <p:ph idx="1"/>
          </p:nvPr>
        </p:nvSpPr>
        <p:spPr>
          <a:xfrm>
            <a:off x="457200" y="4076700"/>
            <a:ext cx="4038600" cy="508000"/>
          </a:xfrm>
          <a:prstGeom prst="rect">
            <a:avLst/>
          </a:prstGeom>
          <a:noFill/>
        </p:spPr>
        <p:txBody>
          <a:bodyPr/>
          <a:lstStyle/>
          <a:p>
            <a:pPr lvl="0" indent="0" marL="0" algn="ctr">
              <a:buNone/>
            </a:pPr>
            <a:r>
              <a:rPr/>
              <a:t>Antecedent flow conditions (Jan–Mar Q, Oct–Mar volume) top the importance ranking — reflecting that early-season runoff integrates temperature, precipitation, and snowmelt signals that are only partially captured by Apr 1 SWE alone.</a:t>
            </a:r>
          </a:p>
        </p:txBody>
      </p:sp>
      <p:sp>
        <p:nvSpPr>
          <p:cNvPr id="4" name="Content Placeholder 3"/>
          <p:cNvSpPr>
            <a:spLocks noGrp="1"/>
          </p:cNvSpPr>
          <p:nvPr>
            <p:ph idx="2" sz="half"/>
          </p:nvPr>
        </p:nvSpPr>
        <p:spPr/>
        <p:txBody>
          <a:bodyPr/>
          <a:lstStyle/>
          <a:p>
            <a:pPr lvl="0" indent="0" marL="0">
              <a:buNone/>
            </a:pPr>
            <a:r>
              <a:rPr b="1"/>
              <a:t>What the model learned</a:t>
            </a:r>
          </a:p>
          <a:p>
            <a:pPr lvl="0"/>
            <a:r>
              <a:rPr b="1"/>
              <a:t>Antecedent flow</a:t>
            </a:r>
            <a:r>
              <a:rPr/>
              <a:t> (Jan–Mar, Oct–Mar) ranked highest — captures early snowmelt and baseflow that SWE alone misses</a:t>
            </a:r>
          </a:p>
          <a:p>
            <a:pPr lvl="0"/>
            <a:r>
              <a:rPr b="1"/>
              <a:t>Apr 1 SWE</a:t>
            </a:r>
            <a:r>
              <a:rPr/>
              <a:t> still central — both raw inches and anomaly % appear, reflecting scale and departure from median</a:t>
            </a:r>
          </a:p>
          <a:p>
            <a:pPr lvl="0"/>
            <a:r>
              <a:rPr b="1"/>
              <a:t>Climate indices</a:t>
            </a:r>
            <a:r>
              <a:rPr/>
              <a:t> (PDO, PNA, Nino3.4) provide secondary modulation — the ENSO scatter plot pattern is reflected here</a:t>
            </a:r>
          </a:p>
          <a:p>
            <a:pPr lvl="0" indent="0" marL="0">
              <a:buNone/>
            </a:pPr>
            <a:r>
              <a:rPr b="1"/>
              <a:t>Physical check:</a:t>
            </a:r>
            <a:r>
              <a:rPr/>
              <a:t> Rankings align with operational forecaster intuition. No spurious features.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LLM Benchmarking Approach</a:t>
            </a:r>
          </a:p>
        </p:txBody>
      </p:sp>
      <p:sp>
        <p:nvSpPr>
          <p:cNvPr id="3" name="Content Placeholder 2"/>
          <p:cNvSpPr>
            <a:spLocks noGrp="1"/>
          </p:cNvSpPr>
          <p:nvPr>
            <p:ph idx="1"/>
          </p:nvPr>
        </p:nvSpPr>
        <p:spPr/>
        <p:txBody>
          <a:bodyPr/>
          <a:lstStyle/>
          <a:p>
            <a:pPr lvl="0" indent="0" marL="0">
              <a:buNone/>
            </a:pPr>
            <a:r>
              <a:rPr b="1"/>
              <a:t>Can a general-purpose LLM predict streamflow volume from a text description of predictors?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type="body"/>
          </p:nvPr>
        </p:nvSpPr>
        <p:spPr/>
        <p:txBody>
          <a:bodyPr/>
          <a:lstStyle/>
          <a:p>
            <a:pPr lvl="0" indent="0" marL="0">
              <a:buNone/>
            </a:pPr>
            <a:r>
              <a:rPr b="1"/>
              <a:t>Prompt design</a:t>
            </a:r>
          </a:p>
          <a:p>
            <a:pPr lvl="0" indent="0">
              <a:buNone/>
            </a:pPr>
            <a:r>
              <a:rPr>
                <a:latin typeface="Courier"/>
              </a:rPr>
              <a:t>You are a hydrologist forecasting seasonal water supply.
Given conditions for a water year, predict the total
April–September naturalized streamflow volume.
Rules:
- Return ONLY: {"prediction_kcfs_days": &lt;number&gt;}
- Typical range: 28,000–71,000 kcfs-days
Water year 2013 conditions:
- Apr 1 SWE: 25.2 inches (−12% vs median)
- DJF Nino3.4: −0.43 (La Niña)
- Jan–Mar mean flow: 103,131 cfs
...</a:t>
            </a:r>
          </a:p>
          <a:p>
            <a:pPr lvl="0"/>
            <a:r>
              <a:rPr b="1"/>
              <a:t>v1:</a:t>
            </a:r>
            <a:r>
              <a:rPr/>
              <a:t> Zero-shot (format constraint only)</a:t>
            </a:r>
          </a:p>
          <a:p>
            <a:pPr lvl="0"/>
            <a:r>
              <a:rPr b="1"/>
              <a:t>v2:</a:t>
            </a:r>
            <a:r>
              <a:rPr/>
              <a:t> 3 few-shot examples (dry/median/wet training years)</a:t>
            </a:r>
          </a:p>
        </p:txBody>
      </p:sp>
      <p:sp>
        <p:nvSpPr>
          <p:cNvPr id="5" name="Text Placeholder 4"/>
          <p:cNvSpPr>
            <a:spLocks noGrp="1"/>
          </p:cNvSpPr>
          <p:nvPr>
            <p:ph idx="3" sz="quarter" type="body"/>
          </p:nvPr>
        </p:nvSpPr>
        <p:spPr/>
        <p:txBody>
          <a:bodyPr/>
          <a:lstStyle/>
          <a:p>
            <a:pPr lvl="0" indent="0" marL="0">
              <a:buNone/>
            </a:pPr>
            <a:r>
              <a:rPr b="1"/>
              <a:t>Three endpoints tested</a:t>
            </a:r>
          </a:p>
        </p:txBody>
      </p:sp>
      <p:graphicFrame>
        <p:nvGraphicFramePr>
          <p:cNvPr id="6" name="Content Placeholder 5"/>
          <p:cNvGraphicFramePr>
            <a:graphicFrameLocks noGrp="1"/>
          </p:cNvGraphicFramePr>
          <p:nvPr>
            <p:ph idx="1"/>
          </p:nvPr>
        </p:nvGraphicFramePr>
        <p:xfrm>
          <a:off x="4635500" y="1625600"/>
          <a:ext cx="4038600" cy="29591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pPr lvl="0" indent="0" marL="0">
                        <a:buNone/>
                      </a:pPr>
                      <a:r>
                        <a:rPr/>
                        <a:t>Model</a:t>
                      </a:r>
                    </a:p>
                  </a:txBody>
                  <a:tcPr/>
                </a:tc>
                <a:tc>
                  <a:txBody>
                    <a:bodyPr/>
                    <a:lstStyle/>
                    <a:p>
                      <a:pPr lvl="0" indent="0" marL="0">
                        <a:buNone/>
                      </a:pPr>
                      <a:r>
                        <a:rPr/>
                        <a:t>Size</a:t>
                      </a:r>
                    </a:p>
                  </a:txBody>
                  <a:tcPr/>
                </a:tc>
                <a:tc>
                  <a:txBody>
                    <a:bodyPr/>
                    <a:lstStyle/>
                    <a:p>
                      <a:pPr lvl="0" indent="0" marL="0">
                        <a:buNone/>
                      </a:pPr>
                      <a:r>
                        <a:rPr/>
                        <a:t>Port</a:t>
                      </a:r>
                    </a:p>
                  </a:txBody>
                  <a:tcPr/>
                </a:tc>
              </a:tr>
              <a:tr h="0">
                <a:tc>
                  <a:txBody>
                    <a:bodyPr/>
                    <a:lstStyle/>
                    <a:p>
                      <a:pPr lvl="0" indent="0" marL="0">
                        <a:buNone/>
                      </a:pPr>
                      <a:r>
                        <a:rPr/>
                        <a:t>Phi-3.5-mini-instruct</a:t>
                      </a:r>
                    </a:p>
                  </a:txBody>
                </a:tc>
                <a:tc>
                  <a:txBody>
                    <a:bodyPr/>
                    <a:lstStyle/>
                    <a:p>
                      <a:pPr lvl="0" indent="0" marL="0">
                        <a:buNone/>
                      </a:pPr>
                      <a:r>
                        <a:rPr/>
                        <a:t>~3.8B</a:t>
                      </a:r>
                    </a:p>
                  </a:txBody>
                </a:tc>
                <a:tc>
                  <a:txBody>
                    <a:bodyPr/>
                    <a:lstStyle/>
                    <a:p>
                      <a:pPr lvl="0" indent="0" marL="0">
                        <a:buNone/>
                      </a:pPr>
                      <a:r>
                        <a:rPr/>
                        <a:t>8000</a:t>
                      </a:r>
                    </a:p>
                  </a:txBody>
                </a:tc>
              </a:tr>
              <a:tr h="0">
                <a:tc>
                  <a:txBody>
                    <a:bodyPr/>
                    <a:lstStyle/>
                    <a:p>
                      <a:pPr lvl="0" indent="0" marL="0">
                        <a:buNone/>
                      </a:pPr>
                      <a:r>
                        <a:rPr/>
                        <a:t>Phi-mini-MoE-instruct</a:t>
                      </a:r>
                    </a:p>
                  </a:txBody>
                </a:tc>
                <a:tc>
                  <a:txBody>
                    <a:bodyPr/>
                    <a:lstStyle/>
                    <a:p>
                      <a:pPr lvl="0" indent="0" marL="0">
                        <a:buNone/>
                      </a:pPr>
                      <a:r>
                        <a:rPr/>
                        <a:t>~7B</a:t>
                      </a:r>
                    </a:p>
                  </a:txBody>
                </a:tc>
                <a:tc>
                  <a:txBody>
                    <a:bodyPr/>
                    <a:lstStyle/>
                    <a:p>
                      <a:pPr lvl="0" indent="0" marL="0">
                        <a:buNone/>
                      </a:pPr>
                      <a:r>
                        <a:rPr/>
                        <a:t>8001</a:t>
                      </a:r>
                    </a:p>
                  </a:txBody>
                </a:tc>
              </a:tr>
              <a:tr h="0">
                <a:tc>
                  <a:txBody>
                    <a:bodyPr/>
                    <a:lstStyle/>
                    <a:p>
                      <a:pPr lvl="0" indent="0" marL="0">
                        <a:buNone/>
                      </a:pPr>
                      <a:r>
                        <a:rPr/>
                        <a:t>gemma-3-12b-it</a:t>
                      </a:r>
                    </a:p>
                  </a:txBody>
                </a:tc>
                <a:tc>
                  <a:txBody>
                    <a:bodyPr/>
                    <a:lstStyle/>
                    <a:p>
                      <a:pPr lvl="0" indent="0" marL="0">
                        <a:buNone/>
                      </a:pPr>
                      <a:r>
                        <a:rPr/>
                        <a:t>12B</a:t>
                      </a:r>
                    </a:p>
                  </a:txBody>
                </a:tc>
                <a:tc>
                  <a:txBody>
                    <a:bodyPr/>
                    <a:lstStyle/>
                    <a:p>
                      <a:pPr lvl="0" indent="0" marL="0">
                        <a:buNone/>
                      </a:pPr>
                      <a:r>
                        <a:rPr/>
                        <a:t>8002</a:t>
                      </a:r>
                    </a:p>
                  </a:txBody>
                </a:tc>
              </a:tr>
            </a:tbl>
          </a:graphicData>
        </a:graphic>
      </p:graphicFrame>
      <p:sp>
        <p:nvSpPr>
          <p:cNvPr id="6" name="Content Placeholder 5"/>
          <p:cNvSpPr>
            <a:spLocks noGrp="1"/>
          </p:cNvSpPr>
          <p:nvPr>
            <p:ph idx="4" sz="quarter"/>
          </p:nvPr>
        </p:nvSpPr>
        <p:spPr/>
        <p:txBody>
          <a:bodyPr/>
          <a:lstStyle/>
          <a:p>
            <a:pPr lvl="0" indent="0" marL="0">
              <a:buNone/>
            </a:pPr>
            <a:r>
              <a:rPr b="1"/>
              <a:t>Same test split as Week 3</a:t>
            </a:r>
            <a:r>
              <a:rPr/>
              <a:t> WY 2013–2018, n = 6</a:t>
            </a:r>
          </a:p>
          <a:p>
            <a:pPr lvl="0" indent="0" marL="0">
              <a:buNone/>
            </a:pPr>
            <a:r>
              <a:rPr b="1"/>
              <a:t>Parse success: 100%</a:t>
            </a:r>
            <a:r>
              <a:rPr/>
              <a:t> Strict JSON format worked on every query</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ML vs LLM: Results</a:t>
            </a:r>
          </a:p>
        </p:txBody>
      </p:sp>
      <p:pic>
        <p:nvPicPr>
          <p:cNvPr descr="../week_4_files/Results/llm_vs_ml_comparison_1.png" id="0" name="Picture 1"/>
          <p:cNvPicPr>
            <a:picLocks noGrp="1" noChangeAspect="1"/>
          </p:cNvPicPr>
          <p:nvPr/>
        </p:nvPicPr>
        <p:blipFill>
          <a:blip r:embed="rId2"/>
          <a:stretch>
            <a:fillRect/>
          </a:stretch>
        </p:blipFill>
        <p:spPr bwMode="auto">
          <a:xfrm>
            <a:off x="457200" y="1447800"/>
            <a:ext cx="8229600" cy="2882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4038600" cy="3390900"/>
        </p:xfrm>
        <a:graphic>
          <a:graphicData uri="http://schemas.openxmlformats.org/drawingml/2006/table">
            <a:tbl>
              <a:tblPr firstRow="1" bandRow="1">
                <a:tableStyleId>{5C22544A-7EE6-4342-B048-85BDC9FD1C3A}</a:tableStyleId>
              </a:tblPr>
              <a:tblGrid>
                <a:gridCol w="1003300"/>
                <a:gridCol w="1003300"/>
                <a:gridCol w="1003300"/>
                <a:gridCol w="1003300"/>
              </a:tblGrid>
              <a:tr h="0">
                <a:tc>
                  <a:txBody>
                    <a:bodyPr/>
                    <a:lstStyle/>
                    <a:p>
                      <a:pPr lvl="0" indent="0" marL="0">
                        <a:buNone/>
                      </a:pPr>
                      <a:r>
                        <a:rPr/>
                        <a:t>Model</a:t>
                      </a:r>
                    </a:p>
                  </a:txBody>
                  <a:tcPr/>
                </a:tc>
                <a:tc>
                  <a:txBody>
                    <a:bodyPr/>
                    <a:lstStyle/>
                    <a:p>
                      <a:pPr lvl="0" indent="0" marL="0">
                        <a:buNone/>
                      </a:pPr>
                      <a:r>
                        <a:rPr/>
                        <a:t>Type</a:t>
                      </a:r>
                    </a:p>
                  </a:txBody>
                  <a:tcPr/>
                </a:tc>
                <a:tc>
                  <a:txBody>
                    <a:bodyPr/>
                    <a:lstStyle/>
                    <a:p>
                      <a:pPr lvl="0" indent="0" marL="0">
                        <a:buNone/>
                      </a:pPr>
                      <a:r>
                        <a:rPr/>
                        <a:t>NSE</a:t>
                      </a:r>
                    </a:p>
                  </a:txBody>
                  <a:tcPr/>
                </a:tc>
                <a:tc>
                  <a:txBody>
                    <a:bodyPr/>
                    <a:lstStyle/>
                    <a:p>
                      <a:pPr lvl="0" indent="0" marL="0">
                        <a:buNone/>
                      </a:pPr>
                      <a:r>
                        <a:rPr/>
                        <a:t>RMSE</a:t>
                      </a:r>
                    </a:p>
                  </a:txBody>
                  <a:tcPr/>
                </a:tc>
              </a:tr>
              <a:tr h="0">
                <a:tc>
                  <a:txBody>
                    <a:bodyPr/>
                    <a:lstStyle/>
                    <a:p>
                      <a:pPr lvl="0" indent="0" marL="0">
                        <a:buNone/>
                      </a:pPr>
                      <a:r>
                        <a:rPr/>
                        <a:t>MLR</a:t>
                      </a:r>
                    </a:p>
                  </a:txBody>
                </a:tc>
                <a:tc>
                  <a:txBody>
                    <a:bodyPr/>
                    <a:lstStyle/>
                    <a:p>
                      <a:pPr lvl="0" indent="0" marL="0">
                        <a:buNone/>
                      </a:pPr>
                      <a:r>
                        <a:rPr/>
                        <a:t>ML</a:t>
                      </a:r>
                    </a:p>
                  </a:txBody>
                </a:tc>
                <a:tc>
                  <a:txBody>
                    <a:bodyPr/>
                    <a:lstStyle/>
                    <a:p>
                      <a:pPr lvl="0" indent="0" marL="0">
                        <a:buNone/>
                      </a:pPr>
                      <a:r>
                        <a:rPr b="1"/>
                        <a:t>0.77</a:t>
                      </a:r>
                    </a:p>
                  </a:txBody>
                </a:tc>
                <a:tc>
                  <a:txBody>
                    <a:bodyPr/>
                    <a:lstStyle/>
                    <a:p>
                      <a:pPr lvl="0" indent="0" marL="0">
                        <a:buNone/>
                      </a:pPr>
                      <a:r>
                        <a:rPr b="1"/>
                        <a:t>4,034</a:t>
                      </a:r>
                    </a:p>
                  </a:txBody>
                </a:tc>
              </a:tr>
              <a:tr h="0">
                <a:tc>
                  <a:txBody>
                    <a:bodyPr/>
                    <a:lstStyle/>
                    <a:p>
                      <a:pPr lvl="0" indent="0" marL="0">
                        <a:buNone/>
                      </a:pPr>
                      <a:r>
                        <a:rPr/>
                        <a:t>XGBoost</a:t>
                      </a:r>
                    </a:p>
                  </a:txBody>
                </a:tc>
                <a:tc>
                  <a:txBody>
                    <a:bodyPr/>
                    <a:lstStyle/>
                    <a:p>
                      <a:pPr lvl="0" indent="0" marL="0">
                        <a:buNone/>
                      </a:pPr>
                      <a:r>
                        <a:rPr/>
                        <a:t>ML</a:t>
                      </a:r>
                    </a:p>
                  </a:txBody>
                </a:tc>
                <a:tc>
                  <a:txBody>
                    <a:bodyPr/>
                    <a:lstStyle/>
                    <a:p>
                      <a:pPr lvl="0" indent="0" marL="0">
                        <a:buNone/>
                      </a:pPr>
                      <a:r>
                        <a:rPr/>
                        <a:t>0.46</a:t>
                      </a:r>
                    </a:p>
                  </a:txBody>
                </a:tc>
                <a:tc>
                  <a:txBody>
                    <a:bodyPr/>
                    <a:lstStyle/>
                    <a:p>
                      <a:pPr lvl="0" indent="0" marL="0">
                        <a:buNone/>
                      </a:pPr>
                      <a:r>
                        <a:rPr/>
                        <a:t>6,170</a:t>
                      </a:r>
                    </a:p>
                  </a:txBody>
                </a:tc>
              </a:tr>
              <a:tr h="0">
                <a:tc>
                  <a:txBody>
                    <a:bodyPr/>
                    <a:lstStyle/>
                    <a:p>
                      <a:pPr lvl="0" indent="0" marL="0">
                        <a:buNone/>
                      </a:pPr>
                      <a:r>
                        <a:rPr/>
                        <a:t>gemma-3-12b-it</a:t>
                      </a:r>
                    </a:p>
                  </a:txBody>
                </a:tc>
                <a:tc>
                  <a:txBody>
                    <a:bodyPr/>
                    <a:lstStyle/>
                    <a:p>
                      <a:pPr lvl="0" indent="0" marL="0">
                        <a:buNone/>
                      </a:pPr>
                      <a:r>
                        <a:rPr/>
                        <a:t>LLM</a:t>
                      </a:r>
                    </a:p>
                  </a:txBody>
                </a:tc>
                <a:tc>
                  <a:txBody>
                    <a:bodyPr/>
                    <a:lstStyle/>
                    <a:p>
                      <a:pPr lvl="0" indent="0" marL="0">
                        <a:buNone/>
                      </a:pPr>
                      <a:r>
                        <a:rPr/>
                        <a:t>0.33</a:t>
                      </a:r>
                    </a:p>
                  </a:txBody>
                </a:tc>
                <a:tc>
                  <a:txBody>
                    <a:bodyPr/>
                    <a:lstStyle/>
                    <a:p>
                      <a:pPr lvl="0" indent="0" marL="0">
                        <a:buNone/>
                      </a:pPr>
                      <a:r>
                        <a:rPr/>
                        <a:t>6,817</a:t>
                      </a:r>
                    </a:p>
                  </a:txBody>
                </a:tc>
              </a:tr>
              <a:tr h="0">
                <a:tc>
                  <a:txBody>
                    <a:bodyPr/>
                    <a:lstStyle/>
                    <a:p>
                      <a:pPr lvl="0" indent="0" marL="0">
                        <a:buNone/>
                      </a:pPr>
                      <a:r>
                        <a:rPr/>
                        <a:t>Phi-3.5-mini</a:t>
                      </a:r>
                    </a:p>
                  </a:txBody>
                </a:tc>
                <a:tc>
                  <a:txBody>
                    <a:bodyPr/>
                    <a:lstStyle/>
                    <a:p>
                      <a:pPr lvl="0" indent="0" marL="0">
                        <a:buNone/>
                      </a:pPr>
                      <a:r>
                        <a:rPr/>
                        <a:t>LLM</a:t>
                      </a:r>
                    </a:p>
                  </a:txBody>
                </a:tc>
                <a:tc>
                  <a:txBody>
                    <a:bodyPr/>
                    <a:lstStyle/>
                    <a:p>
                      <a:pPr lvl="0" indent="0" marL="0">
                        <a:buNone/>
                      </a:pPr>
                      <a:r>
                        <a:rPr/>
                        <a:t>0.12</a:t>
                      </a:r>
                    </a:p>
                  </a:txBody>
                </a:tc>
                <a:tc>
                  <a:txBody>
                    <a:bodyPr/>
                    <a:lstStyle/>
                    <a:p>
                      <a:pPr lvl="0" indent="0" marL="0">
                        <a:buNone/>
                      </a:pPr>
                      <a:r>
                        <a:rPr/>
                        <a:t>7,824</a:t>
                      </a:r>
                    </a:p>
                  </a:txBody>
                </a:tc>
              </a:tr>
              <a:tr h="0">
                <a:tc>
                  <a:txBody>
                    <a:bodyPr/>
                    <a:lstStyle/>
                    <a:p>
                      <a:pPr lvl="0" indent="0" marL="0">
                        <a:buNone/>
                      </a:pPr>
                      <a:r>
                        <a:rPr/>
                        <a:t>Phi-mini-MoE</a:t>
                      </a:r>
                    </a:p>
                  </a:txBody>
                </a:tc>
                <a:tc>
                  <a:txBody>
                    <a:bodyPr/>
                    <a:lstStyle/>
                    <a:p>
                      <a:pPr lvl="0" indent="0" marL="0">
                        <a:buNone/>
                      </a:pPr>
                      <a:r>
                        <a:rPr/>
                        <a:t>LLM</a:t>
                      </a:r>
                    </a:p>
                  </a:txBody>
                </a:tc>
                <a:tc>
                  <a:txBody>
                    <a:bodyPr/>
                    <a:lstStyle/>
                    <a:p>
                      <a:pPr lvl="0" indent="0" marL="0">
                        <a:buNone/>
                      </a:pPr>
                      <a:r>
                        <a:rPr b="1"/>
                        <a:t>−0.57</a:t>
                      </a:r>
                    </a:p>
                  </a:txBody>
                </a:tc>
                <a:tc>
                  <a:txBody>
                    <a:bodyPr/>
                    <a:lstStyle/>
                    <a:p>
                      <a:pPr lvl="0" indent="0" marL="0">
                        <a:buNone/>
                      </a:pPr>
                      <a:r>
                        <a:rPr b="1"/>
                        <a:t>10,472</a:t>
                      </a:r>
                    </a:p>
                  </a:txBody>
                </a:tc>
              </a:tr>
            </a:tbl>
          </a:graphicData>
        </a:graphic>
      </p:graphicFrame>
      <p:sp>
        <p:nvSpPr>
          <p:cNvPr id="4" name="Content Placeholder 3"/>
          <p:cNvSpPr>
            <a:spLocks noGrp="1"/>
          </p:cNvSpPr>
          <p:nvPr>
            <p:ph idx="2" sz="half"/>
          </p:nvPr>
        </p:nvSpPr>
        <p:spPr/>
        <p:txBody>
          <a:bodyPr/>
          <a:lstStyle/>
          <a:p>
            <a:pPr lvl="0" indent="0" marL="0">
              <a:buNone/>
            </a:pPr>
            <a:r>
              <a:rPr b="1"/>
              <a:t>Key finding:</a:t>
            </a:r>
            <a:r>
              <a:rPr/>
              <a:t> All LLMs showed </a:t>
            </a:r>
            <a:r>
              <a:rPr b="1"/>
              <a:t>compressed prediction variance</a:t>
            </a:r>
            <a:r>
              <a:rPr/>
              <a:t> — clustering near climatology regardless of input</a:t>
            </a:r>
          </a:p>
          <a:p>
            <a:pPr lvl="0" indent="0" marL="0">
              <a:buNone/>
            </a:pPr>
            <a:r>
              <a:rPr/>
              <a:t>WY 2017 (wet): MLR predicted 57,557 vs observed 57,104. Phi-mini-MoE predicted 40,000.</a:t>
            </a:r>
          </a:p>
          <a:p>
            <a:pPr lvl="0" indent="0" marL="0">
              <a:buNone/>
            </a:pPr>
            <a:r>
              <a:rPr/>
              <a:t>Phi-mini-MoE was the only model </a:t>
            </a:r>
            <a:r>
              <a:rPr i="1"/>
              <a:t>worse than predicting the mean every year</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Limitations &amp; Risks</a:t>
            </a:r>
          </a:p>
        </p:txBody>
      </p:sp>
      <p:sp>
        <p:nvSpPr>
          <p:cNvPr id="3" name="Content Placeholder 2"/>
          <p:cNvSpPr>
            <a:spLocks noGrp="1"/>
          </p:cNvSpPr>
          <p:nvPr>
            <p:ph idx="1" sz="half"/>
          </p:nvPr>
        </p:nvSpPr>
        <p:spPr/>
        <p:txBody>
          <a:bodyPr/>
          <a:lstStyle/>
          <a:p>
            <a:pPr lvl="0" indent="0" marL="0">
              <a:buNone/>
            </a:pPr>
            <a:r>
              <a:rPr b="1"/>
              <a:t>Model limitations</a:t>
            </a:r>
          </a:p>
          <a:p>
            <a:pPr lvl="0"/>
            <a:r>
              <a:rPr b="1"/>
              <a:t>Small training set (n=28):</a:t>
            </a:r>
            <a:r>
              <a:rPr/>
              <a:t> XGBoost constrained by data volume; MLR dominates</a:t>
            </a:r>
          </a:p>
          <a:p>
            <a:pPr lvl="0"/>
            <a:r>
              <a:rPr b="1"/>
              <a:t>Short test window (n=6):</a:t>
            </a:r>
            <a:r>
              <a:rPr/>
              <a:t> Single anomalous year shifts NSE by ±0.1–0.2</a:t>
            </a:r>
          </a:p>
          <a:p>
            <a:pPr lvl="0"/>
            <a:r>
              <a:rPr b="1"/>
              <a:t>XGBoost PI undercoverage:</a:t>
            </a:r>
            <a:r>
              <a:rPr/>
              <a:t> ~67% vs 80% target — overconfident intervals</a:t>
            </a:r>
          </a:p>
          <a:p>
            <a:pPr lvl="0"/>
            <a:r>
              <a:rPr b="1"/>
              <a:t>No future climate:</a:t>
            </a:r>
            <a:r>
              <a:rPr/>
              <a:t> Models assume stationarity; climate change may shift the SWE–runoff relationship</a:t>
            </a:r>
          </a:p>
          <a:p>
            <a:pPr lvl="0" indent="0" marL="0">
              <a:buNone/>
            </a:pPr>
            <a:r>
              <a:rPr b="1"/>
              <a:t>WY 2015 — hardest year</a:t>
            </a:r>
          </a:p>
          <a:p>
            <a:pPr lvl="0" indent="0" marL="0">
              <a:buNone/>
            </a:pPr>
            <a:r>
              <a:rPr/>
              <a:t>Record drought (−51% SWE, strong El Niño). </a:t>
            </a:r>
            <a:r>
              <a:rPr i="1"/>
              <a:t>Every</a:t>
            </a:r>
            <a:r>
              <a:rPr/>
              <a:t> model missed it. True: 31,185; Best prediction: Phi-mini-MoE at 30,000 (likely coincidental).</a:t>
            </a:r>
          </a:p>
        </p:txBody>
      </p:sp>
      <p:sp>
        <p:nvSpPr>
          <p:cNvPr id="4" name="Content Placeholder 3"/>
          <p:cNvSpPr>
            <a:spLocks noGrp="1"/>
          </p:cNvSpPr>
          <p:nvPr>
            <p:ph idx="2" sz="half"/>
          </p:nvPr>
        </p:nvSpPr>
        <p:spPr/>
        <p:txBody>
          <a:bodyPr/>
          <a:lstStyle/>
          <a:p>
            <a:pPr lvl="0" indent="0" marL="0">
              <a:buNone/>
            </a:pPr>
            <a:r>
              <a:rPr b="1"/>
              <a:t>LLM-specific limitations</a:t>
            </a:r>
          </a:p>
          <a:p>
            <a:pPr lvl="0"/>
            <a:r>
              <a:rPr b="1"/>
              <a:t>Regression to the mean:</a:t>
            </a:r>
            <a:r>
              <a:rPr/>
              <a:t> LLMs anchor near climatology — they lack a learned feature-to-volume mapping</a:t>
            </a:r>
          </a:p>
          <a:p>
            <a:pPr lvl="0"/>
            <a:r>
              <a:rPr b="1"/>
              <a:t>Numeric reasoning:</a:t>
            </a:r>
            <a:r>
              <a:rPr/>
              <a:t> Numbers are tokens, not quantities — proportional scaling to extremes is unreliable</a:t>
            </a:r>
          </a:p>
          <a:p>
            <a:pPr lvl="0"/>
            <a:r>
              <a:rPr b="1"/>
              <a:t>Not fine-tuned:</a:t>
            </a:r>
            <a:r>
              <a:rPr/>
              <a:t> General-purpose models with no exposure to Columbia Basin hydrology</a:t>
            </a:r>
          </a:p>
          <a:p>
            <a:pPr lvl="0"/>
            <a:r>
              <a:rPr b="1"/>
              <a:t>Prompt version confound:</a:t>
            </a:r>
            <a:r>
              <a:rPr/>
              <a:t> Zero-shot was better for Phi-3.5-mini; few-shot better for larger models — comparison not fully controlled</a:t>
            </a:r>
          </a:p>
          <a:p>
            <a:pPr lvl="0" indent="0" marL="0">
              <a:buNone/>
            </a:pPr>
            <a:r>
              <a:rPr b="1"/>
              <a:t>Next steps:</a:t>
            </a:r>
            <a:r>
              <a:rPr/>
              <a:t> Longer training record (BPA extends to WY 1929), fine-tuned LLM, sub-basin disaggregation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We Learned</a:t>
            </a:r>
          </a:p>
        </p:txBody>
      </p:sp>
      <p:sp>
        <p:nvSpPr>
          <p:cNvPr id="3" name="Content Placeholder 2"/>
          <p:cNvSpPr>
            <a:spLocks noGrp="1"/>
          </p:cNvSpPr>
          <p:nvPr>
            <p:ph idx="1" sz="half"/>
          </p:nvPr>
        </p:nvSpPr>
        <p:spPr/>
        <p:txBody>
          <a:bodyPr/>
          <a:lstStyle/>
          <a:p>
            <a:pPr lvl="0" indent="0" marL="0">
              <a:buNone/>
            </a:pPr>
            <a:r>
              <a:rPr b="1"/>
              <a:t>Modeling</a:t>
            </a:r>
            <a:r>
              <a:rPr/>
              <a:t> Simple models win with small data. MLR outperformed XGBoost because 34 water years isn’t enough to exploit nonlinear interactions. Model selection must match sample size.</a:t>
            </a:r>
          </a:p>
          <a:p>
            <a:pPr lvl="0" indent="0" marL="0">
              <a:buNone/>
            </a:pPr>
            <a:r>
              <a:rPr b="1"/>
              <a:t>Data</a:t>
            </a:r>
            <a:r>
              <a:rPr/>
              <a:t> Naturalized flow data was essential — regulated flow would have added noise from operator decisions. Feature engineering (SWE anomaly, DJF indices) added more predictive value than raw inputs alone.</a:t>
            </a:r>
          </a:p>
          <a:p>
            <a:pPr lvl="0" indent="0" marL="0">
              <a:buNone/>
            </a:pPr>
            <a:r>
              <a:rPr b="1"/>
              <a:t>ML vs LLM</a:t>
            </a:r>
            <a:r>
              <a:rPr/>
              <a:t> LLMs are impressive generalists but poor tabular regressors. Parse reliability was perfect; prediction accuracy was not. Model scale mattered more than prompt engineering.</a:t>
            </a:r>
          </a:p>
        </p:txBody>
      </p:sp>
      <p:sp>
        <p:nvSpPr>
          <p:cNvPr id="4" name="Content Placeholder 3"/>
          <p:cNvSpPr>
            <a:spLocks noGrp="1"/>
          </p:cNvSpPr>
          <p:nvPr>
            <p:ph idx="2" sz="half"/>
          </p:nvPr>
        </p:nvSpPr>
        <p:spPr/>
        <p:txBody>
          <a:bodyPr/>
          <a:lstStyle/>
          <a:p>
            <a:pPr lvl="0" indent="0" marL="0">
              <a:buNone/>
            </a:pPr>
            <a:r>
              <a:rPr b="1"/>
              <a:t>From mistakes</a:t>
            </a:r>
            <a:r>
              <a:rPr/>
              <a:t> WY 2015 exposed our biggest gap: no model handled extreme out-of-distribution inputs well. XGBoost had the </a:t>
            </a:r>
            <a:r>
              <a:rPr i="1"/>
              <a:t>worst</a:t>
            </a:r>
            <a:r>
              <a:rPr/>
              <a:t> miss on 2015 despite the best CV score — a reminder that CV metrics don’t guarantee robustness to extremes.</a:t>
            </a:r>
          </a:p>
          <a:p>
            <a:pPr lvl="0" indent="0" marL="0">
              <a:buNone/>
            </a:pPr>
            <a:r>
              <a:rPr b="1"/>
              <a:t>As a team</a:t>
            </a:r>
            <a:r>
              <a:rPr/>
              <a:t> Git branching by week kept deliverables organized across 5 members with different expertise. Reproducibility (pixi environments, seeded models, locked dependencies) paid off when re-running analyses. AI-assisted coding accelerated development but required careful domain review at every step.</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Columbia River Basin Water Supply Forecasting</dc:title>
  <dc:creator>Cameron Bracken, Stefan Rose, Matt Sturtevant, Amanda Lawter, Jana Simo</dc:creator>
  <cp:keywords/>
  <dcterms:created xsi:type="dcterms:W3CDTF">2026-04-20T21:48:27Z</dcterms:created>
  <dcterms:modified xsi:type="dcterms:W3CDTF">2026-04-20T21:48:27Z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2026-04-20</vt:lpwstr>
  </property>
  <property fmtid="{D5CDD505-2E9C-101B-9397-08002B2CF9AE}" pid="6" name="engines">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AI Delinquents | ESSD AI Competition 2025</vt:lpwstr>
  </property>
  <property fmtid="{D5CDD505-2E9C-101B-9397-08002B2CF9AE}" pid="12" name="toc-title">
    <vt:lpwstr>Table of contents</vt:lpwstr>
  </property>
</Properties>
</file>