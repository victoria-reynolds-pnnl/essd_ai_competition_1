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4"/>
  </p:sldMasterIdLst>
  <p:notesMasterIdLst>
    <p:notesMasterId r:id="rId15"/>
  </p:notesMasterIdLst>
  <p:handoutMasterIdLst>
    <p:handoutMasterId r:id="rId16"/>
  </p:handoutMasterIdLst>
  <p:sldIdLst>
    <p:sldId id="260" r:id="rId5"/>
    <p:sldId id="261" r:id="rId6"/>
    <p:sldId id="262" r:id="rId7"/>
    <p:sldId id="263" r:id="rId8"/>
    <p:sldId id="269" r:id="rId9"/>
    <p:sldId id="270" r:id="rId10"/>
    <p:sldId id="271" r:id="rId11"/>
    <p:sldId id="272" r:id="rId12"/>
    <p:sldId id="273" r:id="rId13"/>
    <p:sldId id="268" r:id="rId14"/>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521415D9-36F7-43E2-AB2F-B90AF26B5E84}">
      <p14:sectionLst xmlns:p14="http://schemas.microsoft.com/office/powerpoint/2010/main">
        <p14:section name="TRACK Presentation" id="{E2DFB99B-892E-4B09-BDEF-9F5BEF6C2844}">
          <p14:sldIdLst>
            <p14:sldId id="260"/>
            <p14:sldId id="261"/>
            <p14:sldId id="262"/>
            <p14:sldId id="263"/>
            <p14:sldId id="269"/>
            <p14:sldId id="270"/>
            <p14:sldId id="271"/>
            <p14:sldId id="272"/>
            <p14:sldId id="273"/>
            <p14:sldId id="2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19500"/>
    <a:srgbClr val="007836"/>
    <a:srgbClr val="BE0F34"/>
    <a:srgbClr val="820150"/>
    <a:srgbClr val="502D7F"/>
    <a:srgbClr val="00338E"/>
    <a:srgbClr val="0081AB"/>
    <a:srgbClr val="758F9D"/>
    <a:srgbClr val="B3B3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76DD10-88AC-46C9-AD58-2110E4955F48}" v="2460" dt="2026-04-23T19:03:12.958"/>
    <p1510:client id="{6AF02149-95FF-49E6-9C28-279E24C45286}" v="1053" dt="2026-04-23T19:30:08.082"/>
    <p1510:client id="{A40A34C7-E0DD-4208-88DD-2CFE01D55A31}" v="494" dt="2026-04-23T19:00:42.743"/>
    <p1510:client id="{CD6D8441-22E0-C04C-9805-BC345AEC51DF}" v="155" dt="2026-04-22T19:29:37.933"/>
    <p1510:client id="{D95F17DC-2A5E-457E-9D02-04C54AE19CFA}" v="1575" dt="2026-04-23T04:50:46.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57" autoAdjust="0"/>
  </p:normalViewPr>
  <p:slideViewPr>
    <p:cSldViewPr snapToGrid="0">
      <p:cViewPr varScale="1">
        <p:scale>
          <a:sx n="74" d="100"/>
          <a:sy n="74" d="100"/>
        </p:scale>
        <p:origin x="630" y="29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1" Type="http://schemas.openxmlformats.org/officeDocument/2006/relationships/hyperlink" Target="https://data.pnnl.gov/group/nodes/dataset/34393"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data.pnnl.gov/group/nodes/dataset/34393" TargetMode="Externa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73F088-FF82-48F5-87BA-BEC97B04840F}" type="doc">
      <dgm:prSet loTypeId="urn:microsoft.com/office/officeart/2005/8/layout/list1" loCatId="list" qsTypeId="urn:microsoft.com/office/officeart/2005/8/quickstyle/simple4" qsCatId="simple" csTypeId="urn:microsoft.com/office/officeart/2005/8/colors/accent2_2" csCatId="accent2" phldr="1"/>
      <dgm:spPr/>
      <dgm:t>
        <a:bodyPr/>
        <a:lstStyle/>
        <a:p>
          <a:endParaRPr lang="en-US"/>
        </a:p>
      </dgm:t>
    </dgm:pt>
    <dgm:pt modelId="{C98620AE-FEA8-4FD5-8258-F4910EEFBE6C}">
      <dgm:prSet/>
      <dgm:spPr/>
      <dgm:t>
        <a:bodyPr/>
        <a:lstStyle/>
        <a:p>
          <a:r>
            <a:rPr lang="en-US" b="1"/>
            <a:t>Dataset</a:t>
          </a:r>
          <a:endParaRPr lang="en-US"/>
        </a:p>
      </dgm:t>
    </dgm:pt>
    <dgm:pt modelId="{4A723E26-88BB-4C3D-A719-66AABD722EC7}" type="parTrans" cxnId="{204C3BAD-FDE0-41DE-AB81-3534B90CA696}">
      <dgm:prSet/>
      <dgm:spPr/>
      <dgm:t>
        <a:bodyPr/>
        <a:lstStyle/>
        <a:p>
          <a:endParaRPr lang="en-US"/>
        </a:p>
      </dgm:t>
    </dgm:pt>
    <dgm:pt modelId="{3104273B-C31C-42BD-AE30-A87893D2ACD4}" type="sibTrans" cxnId="{204C3BAD-FDE0-41DE-AB81-3534B90CA696}">
      <dgm:prSet/>
      <dgm:spPr/>
      <dgm:t>
        <a:bodyPr/>
        <a:lstStyle/>
        <a:p>
          <a:endParaRPr lang="en-US"/>
        </a:p>
      </dgm:t>
    </dgm:pt>
    <dgm:pt modelId="{370E251F-7D14-4DFD-9246-DEF2E11A8334}">
      <dgm:prSet/>
      <dgm:spPr/>
      <dgm:t>
        <a:bodyPr/>
        <a:lstStyle/>
        <a:p>
          <a:r>
            <a:rPr lang="en-US" b="1"/>
            <a:t>Source: </a:t>
          </a:r>
          <a:r>
            <a:rPr lang="en-US">
              <a:hlinkClick xmlns:r="http://schemas.openxmlformats.org/officeDocument/2006/relationships" r:id="rId1"/>
            </a:rPr>
            <a:t>Heatwave and Cold Snap Event Library</a:t>
          </a:r>
          <a:r>
            <a:rPr lang="en-US"/>
            <a:t> (1980-2024).</a:t>
          </a:r>
        </a:p>
      </dgm:t>
    </dgm:pt>
    <dgm:pt modelId="{950F1C60-3775-4B0D-B24D-3D01E7BE7B12}" type="parTrans" cxnId="{8B59ABC7-7EBB-4F1B-9B56-8A7381CDB802}">
      <dgm:prSet/>
      <dgm:spPr/>
      <dgm:t>
        <a:bodyPr/>
        <a:lstStyle/>
        <a:p>
          <a:endParaRPr lang="en-US"/>
        </a:p>
      </dgm:t>
    </dgm:pt>
    <dgm:pt modelId="{59AAF5C6-593F-446B-8DFB-F98CCBB3FC9E}" type="sibTrans" cxnId="{8B59ABC7-7EBB-4F1B-9B56-8A7381CDB802}">
      <dgm:prSet/>
      <dgm:spPr/>
      <dgm:t>
        <a:bodyPr/>
        <a:lstStyle/>
        <a:p>
          <a:endParaRPr lang="en-US"/>
        </a:p>
      </dgm:t>
    </dgm:pt>
    <dgm:pt modelId="{80C9F7BE-83EB-4D53-AE74-7AE010C7455B}">
      <dgm:prSet/>
      <dgm:spPr/>
      <dgm:t>
        <a:bodyPr/>
        <a:lstStyle/>
        <a:p>
          <a:r>
            <a:rPr lang="en-US" b="1"/>
            <a:t>Size: </a:t>
          </a:r>
          <a:r>
            <a:rPr lang="en-US"/>
            <a:t>163,451 records.</a:t>
          </a:r>
        </a:p>
      </dgm:t>
    </dgm:pt>
    <dgm:pt modelId="{CB96E76F-2807-4DF2-916B-BC322B03E763}" type="parTrans" cxnId="{C86E2236-1A3F-450B-8312-BDC7241EEB3D}">
      <dgm:prSet/>
      <dgm:spPr/>
      <dgm:t>
        <a:bodyPr/>
        <a:lstStyle/>
        <a:p>
          <a:endParaRPr lang="en-US"/>
        </a:p>
      </dgm:t>
    </dgm:pt>
    <dgm:pt modelId="{1B7ABA12-B469-48E2-9DD4-C1B01AA810A4}" type="sibTrans" cxnId="{C86E2236-1A3F-450B-8312-BDC7241EEB3D}">
      <dgm:prSet/>
      <dgm:spPr/>
      <dgm:t>
        <a:bodyPr/>
        <a:lstStyle/>
        <a:p>
          <a:endParaRPr lang="en-US"/>
        </a:p>
      </dgm:t>
    </dgm:pt>
    <dgm:pt modelId="{3C1CCA37-EA7D-4CFB-AD36-BCA040379FF4}">
      <dgm:prSet/>
      <dgm:spPr/>
      <dgm:t>
        <a:bodyPr/>
        <a:lstStyle/>
        <a:p>
          <a:r>
            <a:rPr lang="en-US" b="1"/>
            <a:t>Features: </a:t>
          </a:r>
          <a:r>
            <a:rPr lang="en-US"/>
            <a:t>event start date, end date, centroid date, duration, highest/lowest temperature, North American Electric Reliability Corporation (NERC) subregion ID, and spatial coverage.</a:t>
          </a:r>
        </a:p>
      </dgm:t>
    </dgm:pt>
    <dgm:pt modelId="{CBF4B4D1-696D-418F-A9C0-CBF095FE1442}" type="parTrans" cxnId="{8218044B-A3B1-4991-BC18-6C6983E9C539}">
      <dgm:prSet/>
      <dgm:spPr/>
      <dgm:t>
        <a:bodyPr/>
        <a:lstStyle/>
        <a:p>
          <a:endParaRPr lang="en-US"/>
        </a:p>
      </dgm:t>
    </dgm:pt>
    <dgm:pt modelId="{C0BE9C4C-CF10-4D81-BD52-27E7BFDCB94F}" type="sibTrans" cxnId="{8218044B-A3B1-4991-BC18-6C6983E9C539}">
      <dgm:prSet/>
      <dgm:spPr/>
      <dgm:t>
        <a:bodyPr/>
        <a:lstStyle/>
        <a:p>
          <a:endParaRPr lang="en-US"/>
        </a:p>
      </dgm:t>
    </dgm:pt>
    <dgm:pt modelId="{412982FE-171F-4DCD-9E99-294C2F452EA3}">
      <dgm:prSet/>
      <dgm:spPr/>
      <dgm:t>
        <a:bodyPr/>
        <a:lstStyle/>
        <a:p>
          <a:r>
            <a:rPr lang="en-US" b="1"/>
            <a:t>Challenges</a:t>
          </a:r>
          <a:endParaRPr lang="en-US"/>
        </a:p>
      </dgm:t>
    </dgm:pt>
    <dgm:pt modelId="{F156A93C-E5D3-4B7A-9576-12E37A39121F}" type="parTrans" cxnId="{1D8C1C6E-1EEE-48DD-844F-136F0850E97A}">
      <dgm:prSet/>
      <dgm:spPr/>
      <dgm:t>
        <a:bodyPr/>
        <a:lstStyle/>
        <a:p>
          <a:endParaRPr lang="en-US"/>
        </a:p>
      </dgm:t>
    </dgm:pt>
    <dgm:pt modelId="{2A5FD824-DC63-4D93-A66C-0A1503312C93}" type="sibTrans" cxnId="{1D8C1C6E-1EEE-48DD-844F-136F0850E97A}">
      <dgm:prSet/>
      <dgm:spPr/>
      <dgm:t>
        <a:bodyPr/>
        <a:lstStyle/>
        <a:p>
          <a:endParaRPr lang="en-US"/>
        </a:p>
      </dgm:t>
    </dgm:pt>
    <dgm:pt modelId="{7E20DDAC-2CA8-4282-8CF1-B9ED7156ADDC}">
      <dgm:prSet/>
      <dgm:spPr/>
      <dgm:t>
        <a:bodyPr/>
        <a:lstStyle/>
        <a:p>
          <a:r>
            <a:rPr lang="en-US"/>
            <a:t>Spatial aggregation bias.</a:t>
          </a:r>
        </a:p>
      </dgm:t>
    </dgm:pt>
    <dgm:pt modelId="{F2AA71BC-B5DA-4F17-BAB3-134B25611C23}" type="parTrans" cxnId="{DEA23F90-809D-4F81-A06D-C310ED1F9ECD}">
      <dgm:prSet/>
      <dgm:spPr/>
      <dgm:t>
        <a:bodyPr/>
        <a:lstStyle/>
        <a:p>
          <a:endParaRPr lang="en-US"/>
        </a:p>
      </dgm:t>
    </dgm:pt>
    <dgm:pt modelId="{EE40296A-7229-4CD2-A50A-0480FAFBBE7C}" type="sibTrans" cxnId="{DEA23F90-809D-4F81-A06D-C310ED1F9ECD}">
      <dgm:prSet/>
      <dgm:spPr/>
      <dgm:t>
        <a:bodyPr/>
        <a:lstStyle/>
        <a:p>
          <a:endParaRPr lang="en-US"/>
        </a:p>
      </dgm:t>
    </dgm:pt>
    <dgm:pt modelId="{503E555F-FE83-4101-AB1D-2C1651B6CBAE}">
      <dgm:prSet/>
      <dgm:spPr/>
      <dgm:t>
        <a:bodyPr/>
        <a:lstStyle/>
        <a:p>
          <a:r>
            <a:rPr lang="en-US"/>
            <a:t>Simulated temperatures.</a:t>
          </a:r>
        </a:p>
      </dgm:t>
    </dgm:pt>
    <dgm:pt modelId="{DEECC318-6ACB-4FFF-BFC3-0A4411FD4973}" type="parTrans" cxnId="{E2546E80-1AEE-4D2C-BDF6-151D3F2F4099}">
      <dgm:prSet/>
      <dgm:spPr/>
      <dgm:t>
        <a:bodyPr/>
        <a:lstStyle/>
        <a:p>
          <a:endParaRPr lang="en-US"/>
        </a:p>
      </dgm:t>
    </dgm:pt>
    <dgm:pt modelId="{D734D37C-E4BB-426B-A5D2-6DD37BD0A038}" type="sibTrans" cxnId="{E2546E80-1AEE-4D2C-BDF6-151D3F2F4099}">
      <dgm:prSet/>
      <dgm:spPr/>
      <dgm:t>
        <a:bodyPr/>
        <a:lstStyle/>
        <a:p>
          <a:endParaRPr lang="en-US"/>
        </a:p>
      </dgm:t>
    </dgm:pt>
    <dgm:pt modelId="{16AF7000-00D8-4238-ADE3-3EE488F6727E}">
      <dgm:prSet/>
      <dgm:spPr/>
      <dgm:t>
        <a:bodyPr/>
        <a:lstStyle/>
        <a:p>
          <a:r>
            <a:rPr lang="en-US"/>
            <a:t>Selection bias.</a:t>
          </a:r>
        </a:p>
      </dgm:t>
    </dgm:pt>
    <dgm:pt modelId="{BE07F7A7-5B6A-4C53-A7DB-512D39E89848}" type="parTrans" cxnId="{E65DA68C-0839-4E71-A20C-C4F5FDA2EF4A}">
      <dgm:prSet/>
      <dgm:spPr/>
      <dgm:t>
        <a:bodyPr/>
        <a:lstStyle/>
        <a:p>
          <a:endParaRPr lang="en-US"/>
        </a:p>
      </dgm:t>
    </dgm:pt>
    <dgm:pt modelId="{72F11F6D-B2A2-458F-B1DC-37A00E6A2CEA}" type="sibTrans" cxnId="{E65DA68C-0839-4E71-A20C-C4F5FDA2EF4A}">
      <dgm:prSet/>
      <dgm:spPr/>
      <dgm:t>
        <a:bodyPr/>
        <a:lstStyle/>
        <a:p>
          <a:endParaRPr lang="en-US"/>
        </a:p>
      </dgm:t>
    </dgm:pt>
    <dgm:pt modelId="{913BEAE2-BBFB-4D0E-9480-F2F6E61775E8}" type="pres">
      <dgm:prSet presAssocID="{9E73F088-FF82-48F5-87BA-BEC97B04840F}" presName="linear" presStyleCnt="0">
        <dgm:presLayoutVars>
          <dgm:dir/>
          <dgm:animLvl val="lvl"/>
          <dgm:resizeHandles val="exact"/>
        </dgm:presLayoutVars>
      </dgm:prSet>
      <dgm:spPr/>
    </dgm:pt>
    <dgm:pt modelId="{F86A033B-AB1F-4E35-875A-1C0AEAB23A46}" type="pres">
      <dgm:prSet presAssocID="{C98620AE-FEA8-4FD5-8258-F4910EEFBE6C}" presName="parentLin" presStyleCnt="0"/>
      <dgm:spPr/>
    </dgm:pt>
    <dgm:pt modelId="{C6BCFBDA-7556-4EAD-B3E8-45A200310C5E}" type="pres">
      <dgm:prSet presAssocID="{C98620AE-FEA8-4FD5-8258-F4910EEFBE6C}" presName="parentLeftMargin" presStyleLbl="node1" presStyleIdx="0" presStyleCnt="2"/>
      <dgm:spPr/>
    </dgm:pt>
    <dgm:pt modelId="{86EF778E-19CA-419C-B3B3-A875992416B4}" type="pres">
      <dgm:prSet presAssocID="{C98620AE-FEA8-4FD5-8258-F4910EEFBE6C}" presName="parentText" presStyleLbl="node1" presStyleIdx="0" presStyleCnt="2">
        <dgm:presLayoutVars>
          <dgm:chMax val="0"/>
          <dgm:bulletEnabled val="1"/>
        </dgm:presLayoutVars>
      </dgm:prSet>
      <dgm:spPr/>
    </dgm:pt>
    <dgm:pt modelId="{F0DF3703-B768-4362-8B8E-F0504AF22357}" type="pres">
      <dgm:prSet presAssocID="{C98620AE-FEA8-4FD5-8258-F4910EEFBE6C}" presName="negativeSpace" presStyleCnt="0"/>
      <dgm:spPr/>
    </dgm:pt>
    <dgm:pt modelId="{CEBE5F0C-8059-4302-9C7B-55A36B25A4EB}" type="pres">
      <dgm:prSet presAssocID="{C98620AE-FEA8-4FD5-8258-F4910EEFBE6C}" presName="childText" presStyleLbl="conFgAcc1" presStyleIdx="0" presStyleCnt="2">
        <dgm:presLayoutVars>
          <dgm:bulletEnabled val="1"/>
        </dgm:presLayoutVars>
      </dgm:prSet>
      <dgm:spPr/>
    </dgm:pt>
    <dgm:pt modelId="{91F71478-CA7D-49A0-A9B3-0993DA64105E}" type="pres">
      <dgm:prSet presAssocID="{3104273B-C31C-42BD-AE30-A87893D2ACD4}" presName="spaceBetweenRectangles" presStyleCnt="0"/>
      <dgm:spPr/>
    </dgm:pt>
    <dgm:pt modelId="{5516E0FA-2B73-4A2C-9464-2A970CE72E51}" type="pres">
      <dgm:prSet presAssocID="{412982FE-171F-4DCD-9E99-294C2F452EA3}" presName="parentLin" presStyleCnt="0"/>
      <dgm:spPr/>
    </dgm:pt>
    <dgm:pt modelId="{70A14D64-259A-4C42-8C88-DA4F9600F93F}" type="pres">
      <dgm:prSet presAssocID="{412982FE-171F-4DCD-9E99-294C2F452EA3}" presName="parentLeftMargin" presStyleLbl="node1" presStyleIdx="0" presStyleCnt="2"/>
      <dgm:spPr/>
    </dgm:pt>
    <dgm:pt modelId="{932A5BCC-9B22-47BB-876F-490503FF87FE}" type="pres">
      <dgm:prSet presAssocID="{412982FE-171F-4DCD-9E99-294C2F452EA3}" presName="parentText" presStyleLbl="node1" presStyleIdx="1" presStyleCnt="2">
        <dgm:presLayoutVars>
          <dgm:chMax val="0"/>
          <dgm:bulletEnabled val="1"/>
        </dgm:presLayoutVars>
      </dgm:prSet>
      <dgm:spPr/>
    </dgm:pt>
    <dgm:pt modelId="{F8EFCD62-4CF8-464F-B507-0A5DDEA1811E}" type="pres">
      <dgm:prSet presAssocID="{412982FE-171F-4DCD-9E99-294C2F452EA3}" presName="negativeSpace" presStyleCnt="0"/>
      <dgm:spPr/>
    </dgm:pt>
    <dgm:pt modelId="{ADE3EEC1-2B04-4978-99AA-B38B828A3E66}" type="pres">
      <dgm:prSet presAssocID="{412982FE-171F-4DCD-9E99-294C2F452EA3}" presName="childText" presStyleLbl="conFgAcc1" presStyleIdx="1" presStyleCnt="2">
        <dgm:presLayoutVars>
          <dgm:bulletEnabled val="1"/>
        </dgm:presLayoutVars>
      </dgm:prSet>
      <dgm:spPr/>
    </dgm:pt>
  </dgm:ptLst>
  <dgm:cxnLst>
    <dgm:cxn modelId="{E04BC90E-AFC0-4395-A20A-5209DC516F7A}" type="presOf" srcId="{503E555F-FE83-4101-AB1D-2C1651B6CBAE}" destId="{ADE3EEC1-2B04-4978-99AA-B38B828A3E66}" srcOrd="0" destOrd="1" presId="urn:microsoft.com/office/officeart/2005/8/layout/list1"/>
    <dgm:cxn modelId="{C86E2236-1A3F-450B-8312-BDC7241EEB3D}" srcId="{C98620AE-FEA8-4FD5-8258-F4910EEFBE6C}" destId="{80C9F7BE-83EB-4D53-AE74-7AE010C7455B}" srcOrd="1" destOrd="0" parTransId="{CB96E76F-2807-4DF2-916B-BC322B03E763}" sibTransId="{1B7ABA12-B469-48E2-9DD4-C1B01AA810A4}"/>
    <dgm:cxn modelId="{2B155D36-C733-4A40-A700-3D3CC3BE64E0}" type="presOf" srcId="{C98620AE-FEA8-4FD5-8258-F4910EEFBE6C}" destId="{86EF778E-19CA-419C-B3B3-A875992416B4}" srcOrd="1" destOrd="0" presId="urn:microsoft.com/office/officeart/2005/8/layout/list1"/>
    <dgm:cxn modelId="{8218044B-A3B1-4991-BC18-6C6983E9C539}" srcId="{C98620AE-FEA8-4FD5-8258-F4910EEFBE6C}" destId="{3C1CCA37-EA7D-4CFB-AD36-BCA040379FF4}" srcOrd="2" destOrd="0" parTransId="{CBF4B4D1-696D-418F-A9C0-CBF095FE1442}" sibTransId="{C0BE9C4C-CF10-4D81-BD52-27E7BFDCB94F}"/>
    <dgm:cxn modelId="{3203424B-4660-4DBB-B02E-C7E8E8847A42}" type="presOf" srcId="{3C1CCA37-EA7D-4CFB-AD36-BCA040379FF4}" destId="{CEBE5F0C-8059-4302-9C7B-55A36B25A4EB}" srcOrd="0" destOrd="2" presId="urn:microsoft.com/office/officeart/2005/8/layout/list1"/>
    <dgm:cxn modelId="{4B4A424C-8536-41FF-ACC1-3B7DCED2C40A}" type="presOf" srcId="{C98620AE-FEA8-4FD5-8258-F4910EEFBE6C}" destId="{C6BCFBDA-7556-4EAD-B3E8-45A200310C5E}" srcOrd="0" destOrd="0" presId="urn:microsoft.com/office/officeart/2005/8/layout/list1"/>
    <dgm:cxn modelId="{1D8C1C6E-1EEE-48DD-844F-136F0850E97A}" srcId="{9E73F088-FF82-48F5-87BA-BEC97B04840F}" destId="{412982FE-171F-4DCD-9E99-294C2F452EA3}" srcOrd="1" destOrd="0" parTransId="{F156A93C-E5D3-4B7A-9576-12E37A39121F}" sibTransId="{2A5FD824-DC63-4D93-A66C-0A1503312C93}"/>
    <dgm:cxn modelId="{39775979-A1FD-446C-9E85-C6328E08C566}" type="presOf" srcId="{412982FE-171F-4DCD-9E99-294C2F452EA3}" destId="{70A14D64-259A-4C42-8C88-DA4F9600F93F}" srcOrd="0" destOrd="0" presId="urn:microsoft.com/office/officeart/2005/8/layout/list1"/>
    <dgm:cxn modelId="{E2546E80-1AEE-4D2C-BDF6-151D3F2F4099}" srcId="{412982FE-171F-4DCD-9E99-294C2F452EA3}" destId="{503E555F-FE83-4101-AB1D-2C1651B6CBAE}" srcOrd="1" destOrd="0" parTransId="{DEECC318-6ACB-4FFF-BFC3-0A4411FD4973}" sibTransId="{D734D37C-E4BB-426B-A5D2-6DD37BD0A038}"/>
    <dgm:cxn modelId="{E65DA68C-0839-4E71-A20C-C4F5FDA2EF4A}" srcId="{412982FE-171F-4DCD-9E99-294C2F452EA3}" destId="{16AF7000-00D8-4238-ADE3-3EE488F6727E}" srcOrd="2" destOrd="0" parTransId="{BE07F7A7-5B6A-4C53-A7DB-512D39E89848}" sibTransId="{72F11F6D-B2A2-458F-B1DC-37A00E6A2CEA}"/>
    <dgm:cxn modelId="{DEA23F90-809D-4F81-A06D-C310ED1F9ECD}" srcId="{412982FE-171F-4DCD-9E99-294C2F452EA3}" destId="{7E20DDAC-2CA8-4282-8CF1-B9ED7156ADDC}" srcOrd="0" destOrd="0" parTransId="{F2AA71BC-B5DA-4F17-BAB3-134B25611C23}" sibTransId="{EE40296A-7229-4CD2-A50A-0480FAFBBE7C}"/>
    <dgm:cxn modelId="{64922295-909E-471E-B445-F8087323998D}" type="presOf" srcId="{16AF7000-00D8-4238-ADE3-3EE488F6727E}" destId="{ADE3EEC1-2B04-4978-99AA-B38B828A3E66}" srcOrd="0" destOrd="2" presId="urn:microsoft.com/office/officeart/2005/8/layout/list1"/>
    <dgm:cxn modelId="{204C3BAD-FDE0-41DE-AB81-3534B90CA696}" srcId="{9E73F088-FF82-48F5-87BA-BEC97B04840F}" destId="{C98620AE-FEA8-4FD5-8258-F4910EEFBE6C}" srcOrd="0" destOrd="0" parTransId="{4A723E26-88BB-4C3D-A719-66AABD722EC7}" sibTransId="{3104273B-C31C-42BD-AE30-A87893D2ACD4}"/>
    <dgm:cxn modelId="{8B59ABC7-7EBB-4F1B-9B56-8A7381CDB802}" srcId="{C98620AE-FEA8-4FD5-8258-F4910EEFBE6C}" destId="{370E251F-7D14-4DFD-9246-DEF2E11A8334}" srcOrd="0" destOrd="0" parTransId="{950F1C60-3775-4B0D-B24D-3D01E7BE7B12}" sibTransId="{59AAF5C6-593F-446B-8DFB-F98CCBB3FC9E}"/>
    <dgm:cxn modelId="{9F4C82D1-8D8B-42C4-BAA9-C891F28C5DA4}" type="presOf" srcId="{412982FE-171F-4DCD-9E99-294C2F452EA3}" destId="{932A5BCC-9B22-47BB-876F-490503FF87FE}" srcOrd="1" destOrd="0" presId="urn:microsoft.com/office/officeart/2005/8/layout/list1"/>
    <dgm:cxn modelId="{2CE38BD2-45D8-4895-A10B-E964B3E7DE75}" type="presOf" srcId="{370E251F-7D14-4DFD-9246-DEF2E11A8334}" destId="{CEBE5F0C-8059-4302-9C7B-55A36B25A4EB}" srcOrd="0" destOrd="0" presId="urn:microsoft.com/office/officeart/2005/8/layout/list1"/>
    <dgm:cxn modelId="{F6C5D0D5-29FC-4F37-B4C4-C7F83DC5B6CE}" type="presOf" srcId="{9E73F088-FF82-48F5-87BA-BEC97B04840F}" destId="{913BEAE2-BBFB-4D0E-9480-F2F6E61775E8}" srcOrd="0" destOrd="0" presId="urn:microsoft.com/office/officeart/2005/8/layout/list1"/>
    <dgm:cxn modelId="{87FCC5F5-28D2-4DCF-A5DB-CD9CF6C848DB}" type="presOf" srcId="{80C9F7BE-83EB-4D53-AE74-7AE010C7455B}" destId="{CEBE5F0C-8059-4302-9C7B-55A36B25A4EB}" srcOrd="0" destOrd="1" presId="urn:microsoft.com/office/officeart/2005/8/layout/list1"/>
    <dgm:cxn modelId="{67B3E5FB-246C-4C9F-84EB-C47EB87C3CAD}" type="presOf" srcId="{7E20DDAC-2CA8-4282-8CF1-B9ED7156ADDC}" destId="{ADE3EEC1-2B04-4978-99AA-B38B828A3E66}" srcOrd="0" destOrd="0" presId="urn:microsoft.com/office/officeart/2005/8/layout/list1"/>
    <dgm:cxn modelId="{253E475B-0BD6-4C6A-8D79-75728B753579}" type="presParOf" srcId="{913BEAE2-BBFB-4D0E-9480-F2F6E61775E8}" destId="{F86A033B-AB1F-4E35-875A-1C0AEAB23A46}" srcOrd="0" destOrd="0" presId="urn:microsoft.com/office/officeart/2005/8/layout/list1"/>
    <dgm:cxn modelId="{6C3D1DCD-631F-4380-81D2-A0D211679613}" type="presParOf" srcId="{F86A033B-AB1F-4E35-875A-1C0AEAB23A46}" destId="{C6BCFBDA-7556-4EAD-B3E8-45A200310C5E}" srcOrd="0" destOrd="0" presId="urn:microsoft.com/office/officeart/2005/8/layout/list1"/>
    <dgm:cxn modelId="{F74E5232-F656-453B-ADF6-3CCFF34C4B7D}" type="presParOf" srcId="{F86A033B-AB1F-4E35-875A-1C0AEAB23A46}" destId="{86EF778E-19CA-419C-B3B3-A875992416B4}" srcOrd="1" destOrd="0" presId="urn:microsoft.com/office/officeart/2005/8/layout/list1"/>
    <dgm:cxn modelId="{BBC0F68B-6F79-4105-BC4B-54D11569F601}" type="presParOf" srcId="{913BEAE2-BBFB-4D0E-9480-F2F6E61775E8}" destId="{F0DF3703-B768-4362-8B8E-F0504AF22357}" srcOrd="1" destOrd="0" presId="urn:microsoft.com/office/officeart/2005/8/layout/list1"/>
    <dgm:cxn modelId="{EF805CB3-B8D2-435D-AE6E-1ABB9F395E1D}" type="presParOf" srcId="{913BEAE2-BBFB-4D0E-9480-F2F6E61775E8}" destId="{CEBE5F0C-8059-4302-9C7B-55A36B25A4EB}" srcOrd="2" destOrd="0" presId="urn:microsoft.com/office/officeart/2005/8/layout/list1"/>
    <dgm:cxn modelId="{2F773614-775C-4E2D-8419-2E39D05B6C22}" type="presParOf" srcId="{913BEAE2-BBFB-4D0E-9480-F2F6E61775E8}" destId="{91F71478-CA7D-49A0-A9B3-0993DA64105E}" srcOrd="3" destOrd="0" presId="urn:microsoft.com/office/officeart/2005/8/layout/list1"/>
    <dgm:cxn modelId="{3F0C3CFD-D022-4225-A332-F0FBA7A3178A}" type="presParOf" srcId="{913BEAE2-BBFB-4D0E-9480-F2F6E61775E8}" destId="{5516E0FA-2B73-4A2C-9464-2A970CE72E51}" srcOrd="4" destOrd="0" presId="urn:microsoft.com/office/officeart/2005/8/layout/list1"/>
    <dgm:cxn modelId="{E49D5093-A50E-4910-9083-AF6077093AC1}" type="presParOf" srcId="{5516E0FA-2B73-4A2C-9464-2A970CE72E51}" destId="{70A14D64-259A-4C42-8C88-DA4F9600F93F}" srcOrd="0" destOrd="0" presId="urn:microsoft.com/office/officeart/2005/8/layout/list1"/>
    <dgm:cxn modelId="{8AB454F3-B68B-4CB6-ADC9-E77FD591A6FE}" type="presParOf" srcId="{5516E0FA-2B73-4A2C-9464-2A970CE72E51}" destId="{932A5BCC-9B22-47BB-876F-490503FF87FE}" srcOrd="1" destOrd="0" presId="urn:microsoft.com/office/officeart/2005/8/layout/list1"/>
    <dgm:cxn modelId="{166FCF00-EA75-4740-8859-909915FAA998}" type="presParOf" srcId="{913BEAE2-BBFB-4D0E-9480-F2F6E61775E8}" destId="{F8EFCD62-4CF8-464F-B507-0A5DDEA1811E}" srcOrd="5" destOrd="0" presId="urn:microsoft.com/office/officeart/2005/8/layout/list1"/>
    <dgm:cxn modelId="{BCFA08E1-1C44-4D5A-99C8-A9950518D6BD}" type="presParOf" srcId="{913BEAE2-BBFB-4D0E-9480-F2F6E61775E8}" destId="{ADE3EEC1-2B04-4978-99AA-B38B828A3E6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538463-7F34-4050-B369-5CDAE7D55F4F}"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US"/>
        </a:p>
      </dgm:t>
    </dgm:pt>
    <dgm:pt modelId="{7E958D6D-7B78-48C2-8C47-74AE1027172C}">
      <dgm:prSet/>
      <dgm:spPr/>
      <dgm:t>
        <a:bodyPr/>
        <a:lstStyle/>
        <a:p>
          <a:r>
            <a:rPr lang="en-US" b="1" dirty="0"/>
            <a:t>Performance</a:t>
          </a:r>
          <a:endParaRPr lang="en-US" dirty="0"/>
        </a:p>
      </dgm:t>
    </dgm:pt>
    <dgm:pt modelId="{3565FCC2-3720-4F02-B066-12E6B73326E9}" type="parTrans" cxnId="{CD35C5CC-1244-461B-9D0C-941AF42B2DD3}">
      <dgm:prSet/>
      <dgm:spPr/>
      <dgm:t>
        <a:bodyPr/>
        <a:lstStyle/>
        <a:p>
          <a:endParaRPr lang="en-US"/>
        </a:p>
      </dgm:t>
    </dgm:pt>
    <dgm:pt modelId="{548131B4-D24E-4B60-89F3-DEF33AF72514}" type="sibTrans" cxnId="{CD35C5CC-1244-461B-9D0C-941AF42B2DD3}">
      <dgm:prSet/>
      <dgm:spPr/>
      <dgm:t>
        <a:bodyPr/>
        <a:lstStyle/>
        <a:p>
          <a:endParaRPr lang="en-US"/>
        </a:p>
      </dgm:t>
    </dgm:pt>
    <dgm:pt modelId="{F82F9ADB-492C-4B30-B77B-B954B6D5DAB6}">
      <dgm:prSet/>
      <dgm:spPr/>
      <dgm:t>
        <a:bodyPr/>
        <a:lstStyle/>
        <a:p>
          <a:r>
            <a:rPr lang="en-US"/>
            <a:t>Logistic Regression F1: 0.766</a:t>
          </a:r>
        </a:p>
      </dgm:t>
    </dgm:pt>
    <dgm:pt modelId="{B710A295-6459-4363-94A4-15233D8980D2}" type="parTrans" cxnId="{13E5A85D-C8BE-4F94-B60B-4E6759A25D4F}">
      <dgm:prSet/>
      <dgm:spPr/>
      <dgm:t>
        <a:bodyPr/>
        <a:lstStyle/>
        <a:p>
          <a:endParaRPr lang="en-US"/>
        </a:p>
      </dgm:t>
    </dgm:pt>
    <dgm:pt modelId="{E2B51AA9-83A1-47CC-AD8E-C582D7D5C207}" type="sibTrans" cxnId="{13E5A85D-C8BE-4F94-B60B-4E6759A25D4F}">
      <dgm:prSet/>
      <dgm:spPr/>
      <dgm:t>
        <a:bodyPr/>
        <a:lstStyle/>
        <a:p>
          <a:endParaRPr lang="en-US"/>
        </a:p>
      </dgm:t>
    </dgm:pt>
    <dgm:pt modelId="{2D15A51A-1191-4AC5-8F74-F61D98D49591}">
      <dgm:prSet/>
      <dgm:spPr/>
      <dgm:t>
        <a:bodyPr/>
        <a:lstStyle/>
        <a:p>
          <a:r>
            <a:rPr lang="en-US"/>
            <a:t>Logistic Regression AUC-ROC: 0.916</a:t>
          </a:r>
        </a:p>
      </dgm:t>
    </dgm:pt>
    <dgm:pt modelId="{C4EA028F-DC57-45F0-B5B5-9003898E8C78}" type="parTrans" cxnId="{13734419-362D-4A55-B5AD-E10984AD1B3E}">
      <dgm:prSet/>
      <dgm:spPr/>
      <dgm:t>
        <a:bodyPr/>
        <a:lstStyle/>
        <a:p>
          <a:endParaRPr lang="en-US"/>
        </a:p>
      </dgm:t>
    </dgm:pt>
    <dgm:pt modelId="{0F3AFB34-5E3B-45DC-B899-424BD24ADC00}" type="sibTrans" cxnId="{13734419-362D-4A55-B5AD-E10984AD1B3E}">
      <dgm:prSet/>
      <dgm:spPr/>
      <dgm:t>
        <a:bodyPr/>
        <a:lstStyle/>
        <a:p>
          <a:endParaRPr lang="en-US"/>
        </a:p>
      </dgm:t>
    </dgm:pt>
    <dgm:pt modelId="{B9443787-0431-4C9E-B064-5767DC3ECEEB}">
      <dgm:prSet/>
      <dgm:spPr/>
      <dgm:t>
        <a:bodyPr/>
        <a:lstStyle/>
        <a:p>
          <a:r>
            <a:rPr lang="en-US"/>
            <a:t>Logistic Regression performs better at the operating threshold</a:t>
          </a:r>
        </a:p>
        <a:p>
          <a:r>
            <a:rPr lang="en-US"/>
            <a:t>XGBoost has better overall ranking ability</a:t>
          </a:r>
        </a:p>
      </dgm:t>
    </dgm:pt>
    <dgm:pt modelId="{5BF890FE-FED7-4642-A684-54964BE0BB9D}" type="parTrans" cxnId="{617F3BFC-98DE-48EA-A14D-15DCA3C2E531}">
      <dgm:prSet/>
      <dgm:spPr/>
      <dgm:t>
        <a:bodyPr/>
        <a:lstStyle/>
        <a:p>
          <a:endParaRPr lang="en-US"/>
        </a:p>
      </dgm:t>
    </dgm:pt>
    <dgm:pt modelId="{2C1FA461-1496-4F03-AF2D-2A68F6260B3C}" type="sibTrans" cxnId="{617F3BFC-98DE-48EA-A14D-15DCA3C2E531}">
      <dgm:prSet/>
      <dgm:spPr/>
      <dgm:t>
        <a:bodyPr/>
        <a:lstStyle/>
        <a:p>
          <a:endParaRPr lang="en-US"/>
        </a:p>
      </dgm:t>
    </dgm:pt>
    <dgm:pt modelId="{364721E3-165B-489C-816F-A227113F9774}">
      <dgm:prSet/>
      <dgm:spPr/>
      <dgm:t>
        <a:bodyPr/>
        <a:lstStyle/>
        <a:p>
          <a:r>
            <a:rPr lang="en-US"/>
            <a:t>Weak on: “Borderline events” for both models produced high false negative</a:t>
          </a:r>
        </a:p>
      </dgm:t>
    </dgm:pt>
    <dgm:pt modelId="{C47F5C6B-38A7-4065-8F66-399D1477FD0C}" type="parTrans" cxnId="{62DF936D-59DF-47C8-AE2D-5738D8BDBCA9}">
      <dgm:prSet/>
      <dgm:spPr/>
      <dgm:t>
        <a:bodyPr/>
        <a:lstStyle/>
        <a:p>
          <a:endParaRPr lang="en-US"/>
        </a:p>
      </dgm:t>
    </dgm:pt>
    <dgm:pt modelId="{9AEE7687-9BC0-4684-A9D4-39E009F2402B}" type="sibTrans" cxnId="{62DF936D-59DF-47C8-AE2D-5738D8BDBCA9}">
      <dgm:prSet/>
      <dgm:spPr/>
      <dgm:t>
        <a:bodyPr/>
        <a:lstStyle/>
        <a:p>
          <a:endParaRPr lang="en-US"/>
        </a:p>
      </dgm:t>
    </dgm:pt>
    <dgm:pt modelId="{095A8857-874C-4732-B3DF-0E8AA4FE1EFD}">
      <dgm:prSet/>
      <dgm:spPr/>
      <dgm:t>
        <a:bodyPr/>
        <a:lstStyle/>
        <a:p>
          <a:r>
            <a:rPr lang="en-US"/>
            <a:t>XGBoost F1: 0.750</a:t>
          </a:r>
        </a:p>
      </dgm:t>
    </dgm:pt>
    <dgm:pt modelId="{A9117FF3-48A4-40F0-ACC9-18A9241FE843}" type="parTrans" cxnId="{A81A7D11-8169-47C8-AC01-B68641D3F31B}">
      <dgm:prSet/>
      <dgm:spPr/>
      <dgm:t>
        <a:bodyPr/>
        <a:lstStyle/>
        <a:p>
          <a:endParaRPr lang="en-US"/>
        </a:p>
      </dgm:t>
    </dgm:pt>
    <dgm:pt modelId="{9EC92673-5A6A-46D5-A49C-D7A02EAE7618}" type="sibTrans" cxnId="{A81A7D11-8169-47C8-AC01-B68641D3F31B}">
      <dgm:prSet/>
      <dgm:spPr/>
      <dgm:t>
        <a:bodyPr/>
        <a:lstStyle/>
        <a:p>
          <a:endParaRPr lang="en-US"/>
        </a:p>
      </dgm:t>
    </dgm:pt>
    <dgm:pt modelId="{679F6962-6788-4AA6-9BA6-98BA01D11C70}">
      <dgm:prSet/>
      <dgm:spPr/>
      <dgm:t>
        <a:bodyPr/>
        <a:lstStyle/>
        <a:p>
          <a:r>
            <a:rPr lang="en-US"/>
            <a:t>XGBoost AUC-ROC: 0.943 </a:t>
          </a:r>
        </a:p>
      </dgm:t>
    </dgm:pt>
    <dgm:pt modelId="{7507201D-91DB-4079-BC41-C7F155C3ED69}" type="parTrans" cxnId="{64096888-D937-453B-AC39-01E977472F66}">
      <dgm:prSet/>
      <dgm:spPr/>
      <dgm:t>
        <a:bodyPr/>
        <a:lstStyle/>
        <a:p>
          <a:endParaRPr lang="en-US"/>
        </a:p>
      </dgm:t>
    </dgm:pt>
    <dgm:pt modelId="{7D59FFA7-93EA-46C5-90E2-4AF9B2BB7F92}" type="sibTrans" cxnId="{64096888-D937-453B-AC39-01E977472F66}">
      <dgm:prSet/>
      <dgm:spPr/>
      <dgm:t>
        <a:bodyPr/>
        <a:lstStyle/>
        <a:p>
          <a:endParaRPr lang="en-US"/>
        </a:p>
      </dgm:t>
    </dgm:pt>
    <dgm:pt modelId="{061BE1C2-C381-44E3-B07B-ECA544309920}">
      <dgm:prSet/>
      <dgm:spPr/>
      <dgm:t>
        <a:bodyPr/>
        <a:lstStyle/>
        <a:p>
          <a:r>
            <a:rPr lang="en-US" b="1"/>
            <a:t>Insights</a:t>
          </a:r>
          <a:endParaRPr lang="en-US"/>
        </a:p>
      </dgm:t>
    </dgm:pt>
    <dgm:pt modelId="{F642CF5F-B665-45EB-82B2-74B1462B69E9}" type="parTrans" cxnId="{AD8D6E06-A39F-4331-9E3E-3824F0CE2439}">
      <dgm:prSet/>
      <dgm:spPr/>
      <dgm:t>
        <a:bodyPr/>
        <a:lstStyle/>
        <a:p>
          <a:endParaRPr lang="en-US"/>
        </a:p>
      </dgm:t>
    </dgm:pt>
    <dgm:pt modelId="{7F8E267E-92A1-4EB2-99CF-7D880FCE33A7}" type="sibTrans" cxnId="{AD8D6E06-A39F-4331-9E3E-3824F0CE2439}">
      <dgm:prSet/>
      <dgm:spPr/>
      <dgm:t>
        <a:bodyPr/>
        <a:lstStyle/>
        <a:p>
          <a:endParaRPr lang="en-US"/>
        </a:p>
      </dgm:t>
    </dgm:pt>
    <dgm:pt modelId="{920245E5-E291-4461-B977-31FCEF2A8789}" type="pres">
      <dgm:prSet presAssocID="{51538463-7F34-4050-B369-5CDAE7D55F4F}" presName="diagram" presStyleCnt="0">
        <dgm:presLayoutVars>
          <dgm:dir/>
          <dgm:resizeHandles val="exact"/>
        </dgm:presLayoutVars>
      </dgm:prSet>
      <dgm:spPr/>
    </dgm:pt>
    <dgm:pt modelId="{7A58D8E0-8099-47D1-801C-2B979AD50BEA}" type="pres">
      <dgm:prSet presAssocID="{7E958D6D-7B78-48C2-8C47-74AE1027172C}" presName="node" presStyleLbl="node1" presStyleIdx="0" presStyleCnt="2">
        <dgm:presLayoutVars>
          <dgm:bulletEnabled val="1"/>
        </dgm:presLayoutVars>
      </dgm:prSet>
      <dgm:spPr/>
    </dgm:pt>
    <dgm:pt modelId="{32DB1617-9D46-4BB8-9DBD-56594C4552EA}" type="pres">
      <dgm:prSet presAssocID="{548131B4-D24E-4B60-89F3-DEF33AF72514}" presName="sibTrans" presStyleCnt="0"/>
      <dgm:spPr/>
    </dgm:pt>
    <dgm:pt modelId="{8C6B7BB2-FE7D-460D-8676-0AF6C30B2D83}" type="pres">
      <dgm:prSet presAssocID="{061BE1C2-C381-44E3-B07B-ECA544309920}" presName="node" presStyleLbl="node1" presStyleIdx="1" presStyleCnt="2" custLinFactNeighborX="-5010">
        <dgm:presLayoutVars>
          <dgm:bulletEnabled val="1"/>
        </dgm:presLayoutVars>
      </dgm:prSet>
      <dgm:spPr/>
    </dgm:pt>
  </dgm:ptLst>
  <dgm:cxnLst>
    <dgm:cxn modelId="{082BF205-6386-4523-8E40-0C1329BDB222}" type="presOf" srcId="{061BE1C2-C381-44E3-B07B-ECA544309920}" destId="{8C6B7BB2-FE7D-460D-8676-0AF6C30B2D83}" srcOrd="0" destOrd="0" presId="urn:microsoft.com/office/officeart/2005/8/layout/default"/>
    <dgm:cxn modelId="{AD8D6E06-A39F-4331-9E3E-3824F0CE2439}" srcId="{51538463-7F34-4050-B369-5CDAE7D55F4F}" destId="{061BE1C2-C381-44E3-B07B-ECA544309920}" srcOrd="1" destOrd="0" parTransId="{F642CF5F-B665-45EB-82B2-74B1462B69E9}" sibTransId="{7F8E267E-92A1-4EB2-99CF-7D880FCE33A7}"/>
    <dgm:cxn modelId="{F06CB20E-D148-4C58-BDB2-F8EE11B29C5D}" type="presOf" srcId="{51538463-7F34-4050-B369-5CDAE7D55F4F}" destId="{920245E5-E291-4461-B977-31FCEF2A8789}" srcOrd="0" destOrd="0" presId="urn:microsoft.com/office/officeart/2005/8/layout/default"/>
    <dgm:cxn modelId="{A81A7D11-8169-47C8-AC01-B68641D3F31B}" srcId="{7E958D6D-7B78-48C2-8C47-74AE1027172C}" destId="{095A8857-874C-4732-B3DF-0E8AA4FE1EFD}" srcOrd="2" destOrd="0" parTransId="{A9117FF3-48A4-40F0-ACC9-18A9241FE843}" sibTransId="{9EC92673-5A6A-46D5-A49C-D7A02EAE7618}"/>
    <dgm:cxn modelId="{C06A8914-EBE8-4240-8D70-DB312EEFC6E6}" type="presOf" srcId="{364721E3-165B-489C-816F-A227113F9774}" destId="{8C6B7BB2-FE7D-460D-8676-0AF6C30B2D83}" srcOrd="0" destOrd="2" presId="urn:microsoft.com/office/officeart/2005/8/layout/default"/>
    <dgm:cxn modelId="{13734419-362D-4A55-B5AD-E10984AD1B3E}" srcId="{7E958D6D-7B78-48C2-8C47-74AE1027172C}" destId="{2D15A51A-1191-4AC5-8F74-F61D98D49591}" srcOrd="1" destOrd="0" parTransId="{C4EA028F-DC57-45F0-B5B5-9003898E8C78}" sibTransId="{0F3AFB34-5E3B-45DC-B899-424BD24ADC00}"/>
    <dgm:cxn modelId="{9D3C301A-C2D7-4C9B-91A4-3EC33D9C647D}" type="presOf" srcId="{F82F9ADB-492C-4B30-B77B-B954B6D5DAB6}" destId="{7A58D8E0-8099-47D1-801C-2B979AD50BEA}" srcOrd="0" destOrd="1" presId="urn:microsoft.com/office/officeart/2005/8/layout/default"/>
    <dgm:cxn modelId="{1148285B-1ABC-4F20-8599-12BFCF3C1E6C}" type="presOf" srcId="{679F6962-6788-4AA6-9BA6-98BA01D11C70}" destId="{7A58D8E0-8099-47D1-801C-2B979AD50BEA}" srcOrd="0" destOrd="4" presId="urn:microsoft.com/office/officeart/2005/8/layout/default"/>
    <dgm:cxn modelId="{13E5A85D-C8BE-4F94-B60B-4E6759A25D4F}" srcId="{7E958D6D-7B78-48C2-8C47-74AE1027172C}" destId="{F82F9ADB-492C-4B30-B77B-B954B6D5DAB6}" srcOrd="0" destOrd="0" parTransId="{B710A295-6459-4363-94A4-15233D8980D2}" sibTransId="{E2B51AA9-83A1-47CC-AD8E-C582D7D5C207}"/>
    <dgm:cxn modelId="{62DF936D-59DF-47C8-AE2D-5738D8BDBCA9}" srcId="{061BE1C2-C381-44E3-B07B-ECA544309920}" destId="{364721E3-165B-489C-816F-A227113F9774}" srcOrd="1" destOrd="0" parTransId="{C47F5C6B-38A7-4065-8F66-399D1477FD0C}" sibTransId="{9AEE7687-9BC0-4684-A9D4-39E009F2402B}"/>
    <dgm:cxn modelId="{64096888-D937-453B-AC39-01E977472F66}" srcId="{7E958D6D-7B78-48C2-8C47-74AE1027172C}" destId="{679F6962-6788-4AA6-9BA6-98BA01D11C70}" srcOrd="3" destOrd="0" parTransId="{7507201D-91DB-4079-BC41-C7F155C3ED69}" sibTransId="{7D59FFA7-93EA-46C5-90E2-4AF9B2BB7F92}"/>
    <dgm:cxn modelId="{67F83891-E8E1-4FBF-B41F-3AB054111DB8}" type="presOf" srcId="{2D15A51A-1191-4AC5-8F74-F61D98D49591}" destId="{7A58D8E0-8099-47D1-801C-2B979AD50BEA}" srcOrd="0" destOrd="2" presId="urn:microsoft.com/office/officeart/2005/8/layout/default"/>
    <dgm:cxn modelId="{5AA596A4-0660-4FE0-83D8-5ADBC3E89B00}" type="presOf" srcId="{7E958D6D-7B78-48C2-8C47-74AE1027172C}" destId="{7A58D8E0-8099-47D1-801C-2B979AD50BEA}" srcOrd="0" destOrd="0" presId="urn:microsoft.com/office/officeart/2005/8/layout/default"/>
    <dgm:cxn modelId="{CD35C5CC-1244-461B-9D0C-941AF42B2DD3}" srcId="{51538463-7F34-4050-B369-5CDAE7D55F4F}" destId="{7E958D6D-7B78-48C2-8C47-74AE1027172C}" srcOrd="0" destOrd="0" parTransId="{3565FCC2-3720-4F02-B066-12E6B73326E9}" sibTransId="{548131B4-D24E-4B60-89F3-DEF33AF72514}"/>
    <dgm:cxn modelId="{140255DB-478C-4EB3-BAF7-E1F7270579DD}" type="presOf" srcId="{095A8857-874C-4732-B3DF-0E8AA4FE1EFD}" destId="{7A58D8E0-8099-47D1-801C-2B979AD50BEA}" srcOrd="0" destOrd="3" presId="urn:microsoft.com/office/officeart/2005/8/layout/default"/>
    <dgm:cxn modelId="{E5D328F7-98E6-4C1E-B7CB-7967C7C39478}" type="presOf" srcId="{B9443787-0431-4C9E-B064-5767DC3ECEEB}" destId="{8C6B7BB2-FE7D-460D-8676-0AF6C30B2D83}" srcOrd="0" destOrd="1" presId="urn:microsoft.com/office/officeart/2005/8/layout/default"/>
    <dgm:cxn modelId="{617F3BFC-98DE-48EA-A14D-15DCA3C2E531}" srcId="{061BE1C2-C381-44E3-B07B-ECA544309920}" destId="{B9443787-0431-4C9E-B064-5767DC3ECEEB}" srcOrd="0" destOrd="0" parTransId="{5BF890FE-FED7-4642-A684-54964BE0BB9D}" sibTransId="{2C1FA461-1496-4F03-AF2D-2A68F6260B3C}"/>
    <dgm:cxn modelId="{6EDB0A67-6051-47E7-8712-6D38DD79F25F}" type="presParOf" srcId="{920245E5-E291-4461-B977-31FCEF2A8789}" destId="{7A58D8E0-8099-47D1-801C-2B979AD50BEA}" srcOrd="0" destOrd="0" presId="urn:microsoft.com/office/officeart/2005/8/layout/default"/>
    <dgm:cxn modelId="{0731BFF4-545D-42FE-AA71-7E7C9DACE36E}" type="presParOf" srcId="{920245E5-E291-4461-B977-31FCEF2A8789}" destId="{32DB1617-9D46-4BB8-9DBD-56594C4552EA}" srcOrd="1" destOrd="0" presId="urn:microsoft.com/office/officeart/2005/8/layout/default"/>
    <dgm:cxn modelId="{6A63FBCA-7B7C-4487-AAF9-5AAE5316C8AF}" type="presParOf" srcId="{920245E5-E291-4461-B977-31FCEF2A8789}" destId="{8C6B7BB2-FE7D-460D-8676-0AF6C30B2D83}"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5CE701-DC77-4C0F-9B9D-7B0AC2AB70BA}" type="doc">
      <dgm:prSet loTypeId="urn:microsoft.com/office/officeart/2005/8/layout/vList2" loCatId="list" qsTypeId="urn:microsoft.com/office/officeart/2005/8/quickstyle/simple4" qsCatId="simple" csTypeId="urn:microsoft.com/office/officeart/2005/8/colors/accent2_2" csCatId="accent2" phldr="1"/>
      <dgm:spPr/>
      <dgm:t>
        <a:bodyPr/>
        <a:lstStyle/>
        <a:p>
          <a:endParaRPr lang="en-US"/>
        </a:p>
      </dgm:t>
    </dgm:pt>
    <dgm:pt modelId="{5E70E508-D13B-49A9-B961-8E24DECF181A}">
      <dgm:prSet/>
      <dgm:spPr/>
      <dgm:t>
        <a:bodyPr/>
        <a:lstStyle/>
        <a:p>
          <a:r>
            <a:rPr lang="en-US" b="1"/>
            <a:t>System Flow</a:t>
          </a:r>
          <a:endParaRPr lang="en-US"/>
        </a:p>
      </dgm:t>
    </dgm:pt>
    <dgm:pt modelId="{8344337D-9CBC-407C-8256-A32F27F1F8CE}" type="parTrans" cxnId="{361912B4-9FF6-40E1-BD5A-652F2FD721F4}">
      <dgm:prSet/>
      <dgm:spPr/>
      <dgm:t>
        <a:bodyPr/>
        <a:lstStyle/>
        <a:p>
          <a:endParaRPr lang="en-US"/>
        </a:p>
      </dgm:t>
    </dgm:pt>
    <dgm:pt modelId="{80F05ABF-352D-4606-B511-A0672479346E}" type="sibTrans" cxnId="{361912B4-9FF6-40E1-BD5A-652F2FD721F4}">
      <dgm:prSet/>
      <dgm:spPr/>
      <dgm:t>
        <a:bodyPr/>
        <a:lstStyle/>
        <a:p>
          <a:endParaRPr lang="en-US"/>
        </a:p>
      </dgm:t>
    </dgm:pt>
    <dgm:pt modelId="{98344FD4-4E3C-4634-85CC-BAB87EC25BD1}">
      <dgm:prSet/>
      <dgm:spPr/>
      <dgm:t>
        <a:bodyPr/>
        <a:lstStyle/>
        <a:p>
          <a:r>
            <a:rPr lang="en-US" dirty="0"/>
            <a:t>Cold Snap / Heat wave data → train models → judge output accuracy </a:t>
          </a:r>
        </a:p>
      </dgm:t>
    </dgm:pt>
    <dgm:pt modelId="{AB86C21E-729A-46A2-8D86-DF1750522392}" type="parTrans" cxnId="{0448917E-22FC-4B49-AABF-F035D5DC1F03}">
      <dgm:prSet/>
      <dgm:spPr/>
      <dgm:t>
        <a:bodyPr/>
        <a:lstStyle/>
        <a:p>
          <a:endParaRPr lang="en-US"/>
        </a:p>
      </dgm:t>
    </dgm:pt>
    <dgm:pt modelId="{6E846614-D932-46B9-A76A-F603039C68A0}" type="sibTrans" cxnId="{0448917E-22FC-4B49-AABF-F035D5DC1F03}">
      <dgm:prSet/>
      <dgm:spPr/>
      <dgm:t>
        <a:bodyPr/>
        <a:lstStyle/>
        <a:p>
          <a:endParaRPr lang="en-US"/>
        </a:p>
      </dgm:t>
    </dgm:pt>
    <dgm:pt modelId="{5BB6B48D-C1ED-47D4-ADBF-13590F097AA2}">
      <dgm:prSet/>
      <dgm:spPr/>
      <dgm:t>
        <a:bodyPr/>
        <a:lstStyle/>
        <a:p>
          <a:r>
            <a:rPr lang="en-US" b="1"/>
            <a:t>Key Insights</a:t>
          </a:r>
          <a:endParaRPr lang="en-US"/>
        </a:p>
      </dgm:t>
    </dgm:pt>
    <dgm:pt modelId="{9361955C-00AB-4406-B31D-E8619B790642}" type="parTrans" cxnId="{A5648AF5-738D-46A1-8207-6B6CABBE8BD2}">
      <dgm:prSet/>
      <dgm:spPr/>
      <dgm:t>
        <a:bodyPr/>
        <a:lstStyle/>
        <a:p>
          <a:endParaRPr lang="en-US"/>
        </a:p>
      </dgm:t>
    </dgm:pt>
    <dgm:pt modelId="{C9E0EA96-CA11-4A37-955B-1D8ADEDF5999}" type="sibTrans" cxnId="{A5648AF5-738D-46A1-8207-6B6CABBE8BD2}">
      <dgm:prSet/>
      <dgm:spPr/>
      <dgm:t>
        <a:bodyPr/>
        <a:lstStyle/>
        <a:p>
          <a:endParaRPr lang="en-US"/>
        </a:p>
      </dgm:t>
    </dgm:pt>
    <dgm:pt modelId="{A45934A0-9088-4333-B2BA-5C90AD20CA2B}">
      <dgm:prSet/>
      <dgm:spPr/>
      <dgm:t>
        <a:bodyPr/>
        <a:lstStyle/>
        <a:p>
          <a:r>
            <a:rPr lang="en-US"/>
            <a:t>Feature design impacts model accuracy </a:t>
          </a:r>
        </a:p>
      </dgm:t>
    </dgm:pt>
    <dgm:pt modelId="{ABFEAE10-A247-4CAB-8685-9E8F1CD4651C}" type="parTrans" cxnId="{FA73AE2E-BFA8-4430-9767-C673828427A5}">
      <dgm:prSet/>
      <dgm:spPr/>
      <dgm:t>
        <a:bodyPr/>
        <a:lstStyle/>
        <a:p>
          <a:endParaRPr lang="en-US"/>
        </a:p>
      </dgm:t>
    </dgm:pt>
    <dgm:pt modelId="{A2085891-A360-4BE3-9EE9-427C11964A73}" type="sibTrans" cxnId="{FA73AE2E-BFA8-4430-9767-C673828427A5}">
      <dgm:prSet/>
      <dgm:spPr/>
      <dgm:t>
        <a:bodyPr/>
        <a:lstStyle/>
        <a:p>
          <a:endParaRPr lang="en-US"/>
        </a:p>
      </dgm:t>
    </dgm:pt>
    <dgm:pt modelId="{EB0F23C4-24DF-4263-A8FE-E18B1281156B}">
      <dgm:prSet/>
      <dgm:spPr/>
      <dgm:t>
        <a:bodyPr/>
        <a:lstStyle/>
        <a:p>
          <a:r>
            <a:rPr lang="en-US"/>
            <a:t>ML more accurate than LLMs </a:t>
          </a:r>
        </a:p>
      </dgm:t>
    </dgm:pt>
    <dgm:pt modelId="{1A3A55BD-CAD5-461F-B80B-3E32095C12F3}" type="parTrans" cxnId="{0A4BA251-D152-4E1D-BC98-6D0F3D0D5ABA}">
      <dgm:prSet/>
      <dgm:spPr/>
      <dgm:t>
        <a:bodyPr/>
        <a:lstStyle/>
        <a:p>
          <a:endParaRPr lang="en-US"/>
        </a:p>
      </dgm:t>
    </dgm:pt>
    <dgm:pt modelId="{1389DC6D-AF6B-479E-9F52-32F4D62287B2}" type="sibTrans" cxnId="{0A4BA251-D152-4E1D-BC98-6D0F3D0D5ABA}">
      <dgm:prSet/>
      <dgm:spPr/>
      <dgm:t>
        <a:bodyPr/>
        <a:lstStyle/>
        <a:p>
          <a:endParaRPr lang="en-US"/>
        </a:p>
      </dgm:t>
    </dgm:pt>
    <dgm:pt modelId="{909F97E3-33E7-4587-957A-E1C511274B7F}">
      <dgm:prSet/>
      <dgm:spPr/>
      <dgm:t>
        <a:bodyPr/>
        <a:lstStyle/>
        <a:p>
          <a:r>
            <a:rPr lang="en-US" dirty="0"/>
            <a:t>LLMs were slower even with less data</a:t>
          </a:r>
        </a:p>
      </dgm:t>
    </dgm:pt>
    <dgm:pt modelId="{DBE1865C-2675-4E12-88F0-E57BF831E27E}" type="parTrans" cxnId="{5F67EF3C-7E56-435B-B182-274F991AE646}">
      <dgm:prSet/>
      <dgm:spPr/>
      <dgm:t>
        <a:bodyPr/>
        <a:lstStyle/>
        <a:p>
          <a:endParaRPr lang="en-US"/>
        </a:p>
      </dgm:t>
    </dgm:pt>
    <dgm:pt modelId="{ECC09CCC-389C-4F99-97FC-02D961A94283}" type="sibTrans" cxnId="{5F67EF3C-7E56-435B-B182-274F991AE646}">
      <dgm:prSet/>
      <dgm:spPr/>
      <dgm:t>
        <a:bodyPr/>
        <a:lstStyle/>
        <a:p>
          <a:endParaRPr lang="en-US"/>
        </a:p>
      </dgm:t>
    </dgm:pt>
    <dgm:pt modelId="{04C4008F-28EA-4A0A-803B-F2C72D230AB1}">
      <dgm:prSet/>
      <dgm:spPr/>
      <dgm:t>
        <a:bodyPr/>
        <a:lstStyle/>
        <a:p>
          <a:r>
            <a:rPr lang="en-US" b="1"/>
            <a:t>Limitations</a:t>
          </a:r>
          <a:endParaRPr lang="en-US"/>
        </a:p>
      </dgm:t>
    </dgm:pt>
    <dgm:pt modelId="{F7206184-ED15-41C3-8825-AD46AAA506FE}" type="parTrans" cxnId="{9D840691-1355-4866-B5E5-42BA79F2D3F7}">
      <dgm:prSet/>
      <dgm:spPr/>
      <dgm:t>
        <a:bodyPr/>
        <a:lstStyle/>
        <a:p>
          <a:endParaRPr lang="en-US"/>
        </a:p>
      </dgm:t>
    </dgm:pt>
    <dgm:pt modelId="{0A406D4B-F52D-4280-AC9B-5C04FE789563}" type="sibTrans" cxnId="{9D840691-1355-4866-B5E5-42BA79F2D3F7}">
      <dgm:prSet/>
      <dgm:spPr/>
      <dgm:t>
        <a:bodyPr/>
        <a:lstStyle/>
        <a:p>
          <a:endParaRPr lang="en-US"/>
        </a:p>
      </dgm:t>
    </dgm:pt>
    <dgm:pt modelId="{3D0B94FD-FC9A-4A80-A268-6FB7F338E737}">
      <dgm:prSet/>
      <dgm:spPr/>
      <dgm:t>
        <a:bodyPr/>
        <a:lstStyle/>
        <a:p>
          <a:r>
            <a:rPr lang="en-US"/>
            <a:t>Data has inherent spatial structure that we did not explicitly account for</a:t>
          </a:r>
        </a:p>
      </dgm:t>
    </dgm:pt>
    <dgm:pt modelId="{DB6E16C6-9793-43DC-9982-A1E0863CC137}" type="parTrans" cxnId="{C8C060A0-A1E4-4417-AF18-0CCE08C3E603}">
      <dgm:prSet/>
      <dgm:spPr/>
      <dgm:t>
        <a:bodyPr/>
        <a:lstStyle/>
        <a:p>
          <a:endParaRPr lang="en-US"/>
        </a:p>
      </dgm:t>
    </dgm:pt>
    <dgm:pt modelId="{86F7D0A1-5E75-4DA9-94DD-D924A70CBF45}" type="sibTrans" cxnId="{C8C060A0-A1E4-4417-AF18-0CCE08C3E603}">
      <dgm:prSet/>
      <dgm:spPr/>
      <dgm:t>
        <a:bodyPr/>
        <a:lstStyle/>
        <a:p>
          <a:endParaRPr lang="en-US"/>
        </a:p>
      </dgm:t>
    </dgm:pt>
    <dgm:pt modelId="{FB81AB53-8E0F-4942-96C9-09C3683A72B0}">
      <dgm:prSet/>
      <dgm:spPr/>
      <dgm:t>
        <a:bodyPr/>
        <a:lstStyle/>
        <a:p>
          <a:r>
            <a:rPr lang="en-US" dirty="0"/>
            <a:t>ML produced significant number of false positives </a:t>
          </a:r>
        </a:p>
      </dgm:t>
    </dgm:pt>
    <dgm:pt modelId="{C47D4910-FBDF-4947-A6B7-F9ECC9E7EE56}" type="parTrans" cxnId="{642C0144-E8FC-4371-8C18-0C452B5B6BAF}">
      <dgm:prSet/>
      <dgm:spPr/>
      <dgm:t>
        <a:bodyPr/>
        <a:lstStyle/>
        <a:p>
          <a:endParaRPr lang="en-US"/>
        </a:p>
      </dgm:t>
    </dgm:pt>
    <dgm:pt modelId="{B8A4C2B1-F27F-4022-B6E7-F1C8D68D3957}" type="sibTrans" cxnId="{642C0144-E8FC-4371-8C18-0C452B5B6BAF}">
      <dgm:prSet/>
      <dgm:spPr/>
      <dgm:t>
        <a:bodyPr/>
        <a:lstStyle/>
        <a:p>
          <a:endParaRPr lang="en-US"/>
        </a:p>
      </dgm:t>
    </dgm:pt>
    <dgm:pt modelId="{C28AEEB8-ED8B-4C65-85C0-AE4F749D7527}">
      <dgm:prSet/>
      <dgm:spPr/>
      <dgm:t>
        <a:bodyPr/>
        <a:lstStyle/>
        <a:p>
          <a:r>
            <a:rPr lang="en-US"/>
            <a:t>LLMs may require structured, stepwise model development</a:t>
          </a:r>
        </a:p>
      </dgm:t>
    </dgm:pt>
    <dgm:pt modelId="{6E96D5B6-0399-4918-B356-0C1BCBB536F7}" type="parTrans" cxnId="{7F5161D6-A3FC-49E6-99A7-48C84A327D12}">
      <dgm:prSet/>
      <dgm:spPr/>
      <dgm:t>
        <a:bodyPr/>
        <a:lstStyle/>
        <a:p>
          <a:endParaRPr lang="en-US"/>
        </a:p>
      </dgm:t>
    </dgm:pt>
    <dgm:pt modelId="{F9B63333-16E9-448D-925E-B3001F67B579}" type="sibTrans" cxnId="{7F5161D6-A3FC-49E6-99A7-48C84A327D12}">
      <dgm:prSet/>
      <dgm:spPr/>
      <dgm:t>
        <a:bodyPr/>
        <a:lstStyle/>
        <a:p>
          <a:endParaRPr lang="en-US"/>
        </a:p>
      </dgm:t>
    </dgm:pt>
    <dgm:pt modelId="{D6D33840-388B-4ED5-96FF-E2CF28ECC52D}">
      <dgm:prSet/>
      <dgm:spPr/>
      <dgm:t>
        <a:bodyPr/>
        <a:lstStyle/>
        <a:p>
          <a:r>
            <a:rPr lang="en-US" b="1"/>
            <a:t>Future Work</a:t>
          </a:r>
          <a:endParaRPr lang="en-US"/>
        </a:p>
      </dgm:t>
    </dgm:pt>
    <dgm:pt modelId="{A042AB3A-4A6C-4D11-946A-5298F414F909}" type="parTrans" cxnId="{CEBE1915-E10A-47E2-AEFB-8890B52E8963}">
      <dgm:prSet/>
      <dgm:spPr/>
      <dgm:t>
        <a:bodyPr/>
        <a:lstStyle/>
        <a:p>
          <a:endParaRPr lang="en-US"/>
        </a:p>
      </dgm:t>
    </dgm:pt>
    <dgm:pt modelId="{B76A996E-F52F-4232-B9D7-58980719F3D0}" type="sibTrans" cxnId="{CEBE1915-E10A-47E2-AEFB-8890B52E8963}">
      <dgm:prSet/>
      <dgm:spPr/>
      <dgm:t>
        <a:bodyPr/>
        <a:lstStyle/>
        <a:p>
          <a:endParaRPr lang="en-US"/>
        </a:p>
      </dgm:t>
    </dgm:pt>
    <dgm:pt modelId="{4CF362D1-BEF4-45B2-948B-FC61EF614B89}">
      <dgm:prSet/>
      <dgm:spPr/>
      <dgm:t>
        <a:bodyPr/>
        <a:lstStyle/>
        <a:p>
          <a:r>
            <a:rPr lang="en-US"/>
            <a:t>Improve data features to explicitly account for spatial structure in data using domain knowledge; leverage additional spatial data (i.e., data center sites)</a:t>
          </a:r>
        </a:p>
      </dgm:t>
    </dgm:pt>
    <dgm:pt modelId="{C4911C0E-97B2-4EC5-AAF1-101A7ADEA8BF}" type="parTrans" cxnId="{82FBE673-E2B9-4A4D-AB18-A0BA0EAADEF7}">
      <dgm:prSet/>
      <dgm:spPr/>
      <dgm:t>
        <a:bodyPr/>
        <a:lstStyle/>
        <a:p>
          <a:endParaRPr lang="en-US"/>
        </a:p>
      </dgm:t>
    </dgm:pt>
    <dgm:pt modelId="{9521305F-6A5D-4C23-9A5C-776BB152ED60}" type="sibTrans" cxnId="{82FBE673-E2B9-4A4D-AB18-A0BA0EAADEF7}">
      <dgm:prSet/>
      <dgm:spPr/>
      <dgm:t>
        <a:bodyPr/>
        <a:lstStyle/>
        <a:p>
          <a:endParaRPr lang="en-US"/>
        </a:p>
      </dgm:t>
    </dgm:pt>
    <dgm:pt modelId="{F6744CB3-F8F5-4409-9DA4-25A1F26CB4AD}">
      <dgm:prSet/>
      <dgm:spPr/>
      <dgm:t>
        <a:bodyPr/>
        <a:lstStyle/>
        <a:p>
          <a:r>
            <a:rPr lang="en-US"/>
            <a:t>Think through developing mutistep LLM-based models</a:t>
          </a:r>
        </a:p>
      </dgm:t>
    </dgm:pt>
    <dgm:pt modelId="{EC08BF16-14CB-491D-8EEB-773ABE0B854D}" type="parTrans" cxnId="{5766C32F-CA0D-40EC-99E8-43B7CD8B4920}">
      <dgm:prSet/>
      <dgm:spPr/>
      <dgm:t>
        <a:bodyPr/>
        <a:lstStyle/>
        <a:p>
          <a:endParaRPr lang="en-US"/>
        </a:p>
      </dgm:t>
    </dgm:pt>
    <dgm:pt modelId="{2B6B8DBF-2E09-4FB3-84FB-91A2630D3774}" type="sibTrans" cxnId="{5766C32F-CA0D-40EC-99E8-43B7CD8B4920}">
      <dgm:prSet/>
      <dgm:spPr/>
      <dgm:t>
        <a:bodyPr/>
        <a:lstStyle/>
        <a:p>
          <a:endParaRPr lang="en-US"/>
        </a:p>
      </dgm:t>
    </dgm:pt>
    <dgm:pt modelId="{F67A49CA-B82F-405B-96D6-B28F66A0B551}" type="pres">
      <dgm:prSet presAssocID="{505CE701-DC77-4C0F-9B9D-7B0AC2AB70BA}" presName="linear" presStyleCnt="0">
        <dgm:presLayoutVars>
          <dgm:animLvl val="lvl"/>
          <dgm:resizeHandles val="exact"/>
        </dgm:presLayoutVars>
      </dgm:prSet>
      <dgm:spPr/>
    </dgm:pt>
    <dgm:pt modelId="{4B1A4B99-5FD5-4D81-8F05-F93010C06E2B}" type="pres">
      <dgm:prSet presAssocID="{5E70E508-D13B-49A9-B961-8E24DECF181A}" presName="parentText" presStyleLbl="node1" presStyleIdx="0" presStyleCnt="4" custLinFactNeighborX="-5987">
        <dgm:presLayoutVars>
          <dgm:chMax val="0"/>
          <dgm:bulletEnabled val="1"/>
        </dgm:presLayoutVars>
      </dgm:prSet>
      <dgm:spPr/>
    </dgm:pt>
    <dgm:pt modelId="{FA7D0413-03D7-4814-9722-F4A02B937650}" type="pres">
      <dgm:prSet presAssocID="{5E70E508-D13B-49A9-B961-8E24DECF181A}" presName="childText" presStyleLbl="revTx" presStyleIdx="0" presStyleCnt="4">
        <dgm:presLayoutVars>
          <dgm:bulletEnabled val="1"/>
        </dgm:presLayoutVars>
      </dgm:prSet>
      <dgm:spPr/>
    </dgm:pt>
    <dgm:pt modelId="{6E240B25-77B0-4DB9-AF5E-E73D171BFA49}" type="pres">
      <dgm:prSet presAssocID="{5BB6B48D-C1ED-47D4-ADBF-13590F097AA2}" presName="parentText" presStyleLbl="node1" presStyleIdx="1" presStyleCnt="4">
        <dgm:presLayoutVars>
          <dgm:chMax val="0"/>
          <dgm:bulletEnabled val="1"/>
        </dgm:presLayoutVars>
      </dgm:prSet>
      <dgm:spPr/>
    </dgm:pt>
    <dgm:pt modelId="{9068952F-7E79-4348-811B-FAADFD65556B}" type="pres">
      <dgm:prSet presAssocID="{5BB6B48D-C1ED-47D4-ADBF-13590F097AA2}" presName="childText" presStyleLbl="revTx" presStyleIdx="1" presStyleCnt="4">
        <dgm:presLayoutVars>
          <dgm:bulletEnabled val="1"/>
        </dgm:presLayoutVars>
      </dgm:prSet>
      <dgm:spPr/>
    </dgm:pt>
    <dgm:pt modelId="{A98C1C5B-574A-4518-8E2C-62B6094E43E4}" type="pres">
      <dgm:prSet presAssocID="{04C4008F-28EA-4A0A-803B-F2C72D230AB1}" presName="parentText" presStyleLbl="node1" presStyleIdx="2" presStyleCnt="4">
        <dgm:presLayoutVars>
          <dgm:chMax val="0"/>
          <dgm:bulletEnabled val="1"/>
        </dgm:presLayoutVars>
      </dgm:prSet>
      <dgm:spPr/>
    </dgm:pt>
    <dgm:pt modelId="{8F29B89B-B912-472C-94CF-76FB081D1D58}" type="pres">
      <dgm:prSet presAssocID="{04C4008F-28EA-4A0A-803B-F2C72D230AB1}" presName="childText" presStyleLbl="revTx" presStyleIdx="2" presStyleCnt="4">
        <dgm:presLayoutVars>
          <dgm:bulletEnabled val="1"/>
        </dgm:presLayoutVars>
      </dgm:prSet>
      <dgm:spPr/>
    </dgm:pt>
    <dgm:pt modelId="{AB2682BC-C21A-4072-8D08-112CFC358897}" type="pres">
      <dgm:prSet presAssocID="{D6D33840-388B-4ED5-96FF-E2CF28ECC52D}" presName="parentText" presStyleLbl="node1" presStyleIdx="3" presStyleCnt="4">
        <dgm:presLayoutVars>
          <dgm:chMax val="0"/>
          <dgm:bulletEnabled val="1"/>
        </dgm:presLayoutVars>
      </dgm:prSet>
      <dgm:spPr/>
    </dgm:pt>
    <dgm:pt modelId="{B12CA236-17C1-413E-BD96-1AA7BFEDE173}" type="pres">
      <dgm:prSet presAssocID="{D6D33840-388B-4ED5-96FF-E2CF28ECC52D}" presName="childText" presStyleLbl="revTx" presStyleIdx="3" presStyleCnt="4">
        <dgm:presLayoutVars>
          <dgm:bulletEnabled val="1"/>
        </dgm:presLayoutVars>
      </dgm:prSet>
      <dgm:spPr/>
    </dgm:pt>
  </dgm:ptLst>
  <dgm:cxnLst>
    <dgm:cxn modelId="{CEBE1915-E10A-47E2-AEFB-8890B52E8963}" srcId="{505CE701-DC77-4C0F-9B9D-7B0AC2AB70BA}" destId="{D6D33840-388B-4ED5-96FF-E2CF28ECC52D}" srcOrd="3" destOrd="0" parTransId="{A042AB3A-4A6C-4D11-946A-5298F414F909}" sibTransId="{B76A996E-F52F-4232-B9D7-58980719F3D0}"/>
    <dgm:cxn modelId="{1984301B-A006-4772-8A2C-DC843A32AC15}" type="presOf" srcId="{5E70E508-D13B-49A9-B961-8E24DECF181A}" destId="{4B1A4B99-5FD5-4D81-8F05-F93010C06E2B}" srcOrd="0" destOrd="0" presId="urn:microsoft.com/office/officeart/2005/8/layout/vList2"/>
    <dgm:cxn modelId="{A1A79A21-370C-40A2-AFA2-E4323186F453}" type="presOf" srcId="{505CE701-DC77-4C0F-9B9D-7B0AC2AB70BA}" destId="{F67A49CA-B82F-405B-96D6-B28F66A0B551}" srcOrd="0" destOrd="0" presId="urn:microsoft.com/office/officeart/2005/8/layout/vList2"/>
    <dgm:cxn modelId="{FA73AE2E-BFA8-4430-9767-C673828427A5}" srcId="{5BB6B48D-C1ED-47D4-ADBF-13590F097AA2}" destId="{A45934A0-9088-4333-B2BA-5C90AD20CA2B}" srcOrd="0" destOrd="0" parTransId="{ABFEAE10-A247-4CAB-8685-9E8F1CD4651C}" sibTransId="{A2085891-A360-4BE3-9EE9-427C11964A73}"/>
    <dgm:cxn modelId="{5766C32F-CA0D-40EC-99E8-43B7CD8B4920}" srcId="{D6D33840-388B-4ED5-96FF-E2CF28ECC52D}" destId="{F6744CB3-F8F5-4409-9DA4-25A1F26CB4AD}" srcOrd="1" destOrd="0" parTransId="{EC08BF16-14CB-491D-8EEB-773ABE0B854D}" sibTransId="{2B6B8DBF-2E09-4FB3-84FB-91A2630D3774}"/>
    <dgm:cxn modelId="{315BAC3A-32F2-4163-8BA8-3A75EF0E1E64}" type="presOf" srcId="{F6744CB3-F8F5-4409-9DA4-25A1F26CB4AD}" destId="{B12CA236-17C1-413E-BD96-1AA7BFEDE173}" srcOrd="0" destOrd="1" presId="urn:microsoft.com/office/officeart/2005/8/layout/vList2"/>
    <dgm:cxn modelId="{5F67EF3C-7E56-435B-B182-274F991AE646}" srcId="{5BB6B48D-C1ED-47D4-ADBF-13590F097AA2}" destId="{909F97E3-33E7-4587-957A-E1C511274B7F}" srcOrd="2" destOrd="0" parTransId="{DBE1865C-2675-4E12-88F0-E57BF831E27E}" sibTransId="{ECC09CCC-389C-4F99-97FC-02D961A94283}"/>
    <dgm:cxn modelId="{642C0144-E8FC-4371-8C18-0C452B5B6BAF}" srcId="{04C4008F-28EA-4A0A-803B-F2C72D230AB1}" destId="{FB81AB53-8E0F-4942-96C9-09C3683A72B0}" srcOrd="1" destOrd="0" parTransId="{C47D4910-FBDF-4947-A6B7-F9ECC9E7EE56}" sibTransId="{B8A4C2B1-F27F-4022-B6E7-F1C8D68D3957}"/>
    <dgm:cxn modelId="{7EB46565-2BCF-4ED5-957D-B26C20249817}" type="presOf" srcId="{98344FD4-4E3C-4634-85CC-BAB87EC25BD1}" destId="{FA7D0413-03D7-4814-9722-F4A02B937650}" srcOrd="0" destOrd="0" presId="urn:microsoft.com/office/officeart/2005/8/layout/vList2"/>
    <dgm:cxn modelId="{421EC945-306D-44BB-8D8D-1E39BCF72E0B}" type="presOf" srcId="{D6D33840-388B-4ED5-96FF-E2CF28ECC52D}" destId="{AB2682BC-C21A-4072-8D08-112CFC358897}" srcOrd="0" destOrd="0" presId="urn:microsoft.com/office/officeart/2005/8/layout/vList2"/>
    <dgm:cxn modelId="{972CF46C-E62A-47E1-9997-487AA5041550}" type="presOf" srcId="{FB81AB53-8E0F-4942-96C9-09C3683A72B0}" destId="{8F29B89B-B912-472C-94CF-76FB081D1D58}" srcOrd="0" destOrd="1" presId="urn:microsoft.com/office/officeart/2005/8/layout/vList2"/>
    <dgm:cxn modelId="{0A4BA251-D152-4E1D-BC98-6D0F3D0D5ABA}" srcId="{5BB6B48D-C1ED-47D4-ADBF-13590F097AA2}" destId="{EB0F23C4-24DF-4263-A8FE-E18B1281156B}" srcOrd="1" destOrd="0" parTransId="{1A3A55BD-CAD5-461F-B80B-3E32095C12F3}" sibTransId="{1389DC6D-AF6B-479E-9F52-32F4D62287B2}"/>
    <dgm:cxn modelId="{82FBE673-E2B9-4A4D-AB18-A0BA0EAADEF7}" srcId="{D6D33840-388B-4ED5-96FF-E2CF28ECC52D}" destId="{4CF362D1-BEF4-45B2-948B-FC61EF614B89}" srcOrd="0" destOrd="0" parTransId="{C4911C0E-97B2-4EC5-AAF1-101A7ADEA8BF}" sibTransId="{9521305F-6A5D-4C23-9A5C-776BB152ED60}"/>
    <dgm:cxn modelId="{0448917E-22FC-4B49-AABF-F035D5DC1F03}" srcId="{5E70E508-D13B-49A9-B961-8E24DECF181A}" destId="{98344FD4-4E3C-4634-85CC-BAB87EC25BD1}" srcOrd="0" destOrd="0" parTransId="{AB86C21E-729A-46A2-8D86-DF1750522392}" sibTransId="{6E846614-D932-46B9-A76A-F603039C68A0}"/>
    <dgm:cxn modelId="{9D840691-1355-4866-B5E5-42BA79F2D3F7}" srcId="{505CE701-DC77-4C0F-9B9D-7B0AC2AB70BA}" destId="{04C4008F-28EA-4A0A-803B-F2C72D230AB1}" srcOrd="2" destOrd="0" parTransId="{F7206184-ED15-41C3-8825-AD46AAA506FE}" sibTransId="{0A406D4B-F52D-4280-AC9B-5C04FE789563}"/>
    <dgm:cxn modelId="{D4598C9F-3439-4D05-88C5-01710FEAAE49}" type="presOf" srcId="{909F97E3-33E7-4587-957A-E1C511274B7F}" destId="{9068952F-7E79-4348-811B-FAADFD65556B}" srcOrd="0" destOrd="2" presId="urn:microsoft.com/office/officeart/2005/8/layout/vList2"/>
    <dgm:cxn modelId="{C8C060A0-A1E4-4417-AF18-0CCE08C3E603}" srcId="{04C4008F-28EA-4A0A-803B-F2C72D230AB1}" destId="{3D0B94FD-FC9A-4A80-A268-6FB7F338E737}" srcOrd="0" destOrd="0" parTransId="{DB6E16C6-9793-43DC-9982-A1E0863CC137}" sibTransId="{86F7D0A1-5E75-4DA9-94DD-D924A70CBF45}"/>
    <dgm:cxn modelId="{280350A9-7004-45AE-B1AB-12D7485C993E}" type="presOf" srcId="{4CF362D1-BEF4-45B2-948B-FC61EF614B89}" destId="{B12CA236-17C1-413E-BD96-1AA7BFEDE173}" srcOrd="0" destOrd="0" presId="urn:microsoft.com/office/officeart/2005/8/layout/vList2"/>
    <dgm:cxn modelId="{63426DAD-ECE9-4D31-8B8E-3B7A1E7D0EC6}" type="presOf" srcId="{EB0F23C4-24DF-4263-A8FE-E18B1281156B}" destId="{9068952F-7E79-4348-811B-FAADFD65556B}" srcOrd="0" destOrd="1" presId="urn:microsoft.com/office/officeart/2005/8/layout/vList2"/>
    <dgm:cxn modelId="{361912B4-9FF6-40E1-BD5A-652F2FD721F4}" srcId="{505CE701-DC77-4C0F-9B9D-7B0AC2AB70BA}" destId="{5E70E508-D13B-49A9-B961-8E24DECF181A}" srcOrd="0" destOrd="0" parTransId="{8344337D-9CBC-407C-8256-A32F27F1F8CE}" sibTransId="{80F05ABF-352D-4606-B511-A0672479346E}"/>
    <dgm:cxn modelId="{C741F2CC-2DEE-4AC9-B83E-EF0A376A0EF9}" type="presOf" srcId="{C28AEEB8-ED8B-4C65-85C0-AE4F749D7527}" destId="{8F29B89B-B912-472C-94CF-76FB081D1D58}" srcOrd="0" destOrd="2" presId="urn:microsoft.com/office/officeart/2005/8/layout/vList2"/>
    <dgm:cxn modelId="{8C845ED4-50D3-4670-93BD-E49E32289DB2}" type="presOf" srcId="{04C4008F-28EA-4A0A-803B-F2C72D230AB1}" destId="{A98C1C5B-574A-4518-8E2C-62B6094E43E4}" srcOrd="0" destOrd="0" presId="urn:microsoft.com/office/officeart/2005/8/layout/vList2"/>
    <dgm:cxn modelId="{7F5161D6-A3FC-49E6-99A7-48C84A327D12}" srcId="{04C4008F-28EA-4A0A-803B-F2C72D230AB1}" destId="{C28AEEB8-ED8B-4C65-85C0-AE4F749D7527}" srcOrd="2" destOrd="0" parTransId="{6E96D5B6-0399-4918-B356-0C1BCBB536F7}" sibTransId="{F9B63333-16E9-448D-925E-B3001F67B579}"/>
    <dgm:cxn modelId="{6BFC4EE9-516A-4116-9941-D066E4F2FE57}" type="presOf" srcId="{5BB6B48D-C1ED-47D4-ADBF-13590F097AA2}" destId="{6E240B25-77B0-4DB9-AF5E-E73D171BFA49}" srcOrd="0" destOrd="0" presId="urn:microsoft.com/office/officeart/2005/8/layout/vList2"/>
    <dgm:cxn modelId="{A74620EA-BE35-448D-8AB8-AAEE36E8BFCD}" type="presOf" srcId="{3D0B94FD-FC9A-4A80-A268-6FB7F338E737}" destId="{8F29B89B-B912-472C-94CF-76FB081D1D58}" srcOrd="0" destOrd="0" presId="urn:microsoft.com/office/officeart/2005/8/layout/vList2"/>
    <dgm:cxn modelId="{4A9658EA-8BC3-419D-BEF4-0C92D2688B2B}" type="presOf" srcId="{A45934A0-9088-4333-B2BA-5C90AD20CA2B}" destId="{9068952F-7E79-4348-811B-FAADFD65556B}" srcOrd="0" destOrd="0" presId="urn:microsoft.com/office/officeart/2005/8/layout/vList2"/>
    <dgm:cxn modelId="{A5648AF5-738D-46A1-8207-6B6CABBE8BD2}" srcId="{505CE701-DC77-4C0F-9B9D-7B0AC2AB70BA}" destId="{5BB6B48D-C1ED-47D4-ADBF-13590F097AA2}" srcOrd="1" destOrd="0" parTransId="{9361955C-00AB-4406-B31D-E8619B790642}" sibTransId="{C9E0EA96-CA11-4A37-955B-1D8ADEDF5999}"/>
    <dgm:cxn modelId="{F21C053B-E7A2-4693-90B0-0C6FBDA6F849}" type="presParOf" srcId="{F67A49CA-B82F-405B-96D6-B28F66A0B551}" destId="{4B1A4B99-5FD5-4D81-8F05-F93010C06E2B}" srcOrd="0" destOrd="0" presId="urn:microsoft.com/office/officeart/2005/8/layout/vList2"/>
    <dgm:cxn modelId="{4B8AE59C-7B10-49C2-8439-22730A9E966B}" type="presParOf" srcId="{F67A49CA-B82F-405B-96D6-B28F66A0B551}" destId="{FA7D0413-03D7-4814-9722-F4A02B937650}" srcOrd="1" destOrd="0" presId="urn:microsoft.com/office/officeart/2005/8/layout/vList2"/>
    <dgm:cxn modelId="{7C78C425-4392-4BA2-9F7B-DDEE62D456FE}" type="presParOf" srcId="{F67A49CA-B82F-405B-96D6-B28F66A0B551}" destId="{6E240B25-77B0-4DB9-AF5E-E73D171BFA49}" srcOrd="2" destOrd="0" presId="urn:microsoft.com/office/officeart/2005/8/layout/vList2"/>
    <dgm:cxn modelId="{D58AFFC4-C3B8-492E-A20C-6A3A9A6541EF}" type="presParOf" srcId="{F67A49CA-B82F-405B-96D6-B28F66A0B551}" destId="{9068952F-7E79-4348-811B-FAADFD65556B}" srcOrd="3" destOrd="0" presId="urn:microsoft.com/office/officeart/2005/8/layout/vList2"/>
    <dgm:cxn modelId="{8B8ECC94-B262-4692-B037-E0F1008917DA}" type="presParOf" srcId="{F67A49CA-B82F-405B-96D6-B28F66A0B551}" destId="{A98C1C5B-574A-4518-8E2C-62B6094E43E4}" srcOrd="4" destOrd="0" presId="urn:microsoft.com/office/officeart/2005/8/layout/vList2"/>
    <dgm:cxn modelId="{0DB854F2-3A62-490F-8B39-62280DF72543}" type="presParOf" srcId="{F67A49CA-B82F-405B-96D6-B28F66A0B551}" destId="{8F29B89B-B912-472C-94CF-76FB081D1D58}" srcOrd="5" destOrd="0" presId="urn:microsoft.com/office/officeart/2005/8/layout/vList2"/>
    <dgm:cxn modelId="{3242977E-01D1-4512-AC77-96C9B682DC9A}" type="presParOf" srcId="{F67A49CA-B82F-405B-96D6-B28F66A0B551}" destId="{AB2682BC-C21A-4072-8D08-112CFC358897}" srcOrd="6" destOrd="0" presId="urn:microsoft.com/office/officeart/2005/8/layout/vList2"/>
    <dgm:cxn modelId="{13036746-96D3-4E14-91E1-D6727BCE2128}" type="presParOf" srcId="{F67A49CA-B82F-405B-96D6-B28F66A0B551}" destId="{B12CA236-17C1-413E-BD96-1AA7BFEDE173}"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E5F0C-8059-4302-9C7B-55A36B25A4EB}">
      <dsp:nvSpPr>
        <dsp:cNvPr id="0" name=""/>
        <dsp:cNvSpPr/>
      </dsp:nvSpPr>
      <dsp:spPr>
        <a:xfrm>
          <a:off x="0" y="519074"/>
          <a:ext cx="8016877" cy="40194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22199" tIns="604012" rIns="622199" bIns="206248" numCol="1" spcCol="1270" anchor="t" anchorCtr="0">
          <a:noAutofit/>
        </a:bodyPr>
        <a:lstStyle/>
        <a:p>
          <a:pPr marL="285750" lvl="1" indent="-285750" algn="l" defTabSz="1289050">
            <a:lnSpc>
              <a:spcPct val="90000"/>
            </a:lnSpc>
            <a:spcBef>
              <a:spcPct val="0"/>
            </a:spcBef>
            <a:spcAft>
              <a:spcPct val="15000"/>
            </a:spcAft>
            <a:buChar char="•"/>
          </a:pPr>
          <a:r>
            <a:rPr lang="en-US" sz="2900" b="1" kern="1200"/>
            <a:t>Source: </a:t>
          </a:r>
          <a:r>
            <a:rPr lang="en-US" sz="2900" kern="1200">
              <a:hlinkClick xmlns:r="http://schemas.openxmlformats.org/officeDocument/2006/relationships" r:id="rId1"/>
            </a:rPr>
            <a:t>Heatwave and Cold Snap Event Library</a:t>
          </a:r>
          <a:r>
            <a:rPr lang="en-US" sz="2900" kern="1200"/>
            <a:t> (1980-2024).</a:t>
          </a:r>
        </a:p>
        <a:p>
          <a:pPr marL="285750" lvl="1" indent="-285750" algn="l" defTabSz="1289050">
            <a:lnSpc>
              <a:spcPct val="90000"/>
            </a:lnSpc>
            <a:spcBef>
              <a:spcPct val="0"/>
            </a:spcBef>
            <a:spcAft>
              <a:spcPct val="15000"/>
            </a:spcAft>
            <a:buChar char="•"/>
          </a:pPr>
          <a:r>
            <a:rPr lang="en-US" sz="2900" b="1" kern="1200"/>
            <a:t>Size: </a:t>
          </a:r>
          <a:r>
            <a:rPr lang="en-US" sz="2900" kern="1200"/>
            <a:t>163,451 records.</a:t>
          </a:r>
        </a:p>
        <a:p>
          <a:pPr marL="285750" lvl="1" indent="-285750" algn="l" defTabSz="1289050">
            <a:lnSpc>
              <a:spcPct val="90000"/>
            </a:lnSpc>
            <a:spcBef>
              <a:spcPct val="0"/>
            </a:spcBef>
            <a:spcAft>
              <a:spcPct val="15000"/>
            </a:spcAft>
            <a:buChar char="•"/>
          </a:pPr>
          <a:r>
            <a:rPr lang="en-US" sz="2900" b="1" kern="1200"/>
            <a:t>Features: </a:t>
          </a:r>
          <a:r>
            <a:rPr lang="en-US" sz="2900" kern="1200"/>
            <a:t>event start date, end date, centroid date, duration, highest/lowest temperature, North American Electric Reliability Corporation (NERC) subregion ID, and spatial coverage.</a:t>
          </a:r>
        </a:p>
      </dsp:txBody>
      <dsp:txXfrm>
        <a:off x="0" y="519074"/>
        <a:ext cx="8016877" cy="4019400"/>
      </dsp:txXfrm>
    </dsp:sp>
    <dsp:sp modelId="{86EF778E-19CA-419C-B3B3-A875992416B4}">
      <dsp:nvSpPr>
        <dsp:cNvPr id="0" name=""/>
        <dsp:cNvSpPr/>
      </dsp:nvSpPr>
      <dsp:spPr>
        <a:xfrm>
          <a:off x="400843" y="91034"/>
          <a:ext cx="5611813" cy="8560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2113" tIns="0" rIns="212113" bIns="0" numCol="1" spcCol="1270" anchor="ctr" anchorCtr="0">
          <a:noAutofit/>
        </a:bodyPr>
        <a:lstStyle/>
        <a:p>
          <a:pPr marL="0" lvl="0" indent="0" algn="l" defTabSz="1289050">
            <a:lnSpc>
              <a:spcPct val="90000"/>
            </a:lnSpc>
            <a:spcBef>
              <a:spcPct val="0"/>
            </a:spcBef>
            <a:spcAft>
              <a:spcPct val="35000"/>
            </a:spcAft>
            <a:buNone/>
          </a:pPr>
          <a:r>
            <a:rPr lang="en-US" sz="2900" b="1" kern="1200"/>
            <a:t>Dataset</a:t>
          </a:r>
          <a:endParaRPr lang="en-US" sz="2900" kern="1200"/>
        </a:p>
      </dsp:txBody>
      <dsp:txXfrm>
        <a:off x="442633" y="132824"/>
        <a:ext cx="5528233" cy="772500"/>
      </dsp:txXfrm>
    </dsp:sp>
    <dsp:sp modelId="{ADE3EEC1-2B04-4978-99AA-B38B828A3E66}">
      <dsp:nvSpPr>
        <dsp:cNvPr id="0" name=""/>
        <dsp:cNvSpPr/>
      </dsp:nvSpPr>
      <dsp:spPr>
        <a:xfrm>
          <a:off x="0" y="5123115"/>
          <a:ext cx="8016877" cy="210105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22199" tIns="604012" rIns="622199" bIns="206248" numCol="1" spcCol="1270" anchor="t" anchorCtr="0">
          <a:noAutofit/>
        </a:bodyPr>
        <a:lstStyle/>
        <a:p>
          <a:pPr marL="285750" lvl="1" indent="-285750" algn="l" defTabSz="1289050">
            <a:lnSpc>
              <a:spcPct val="90000"/>
            </a:lnSpc>
            <a:spcBef>
              <a:spcPct val="0"/>
            </a:spcBef>
            <a:spcAft>
              <a:spcPct val="15000"/>
            </a:spcAft>
            <a:buChar char="•"/>
          </a:pPr>
          <a:r>
            <a:rPr lang="en-US" sz="2900" kern="1200"/>
            <a:t>Spatial aggregation bias.</a:t>
          </a:r>
        </a:p>
        <a:p>
          <a:pPr marL="285750" lvl="1" indent="-285750" algn="l" defTabSz="1289050">
            <a:lnSpc>
              <a:spcPct val="90000"/>
            </a:lnSpc>
            <a:spcBef>
              <a:spcPct val="0"/>
            </a:spcBef>
            <a:spcAft>
              <a:spcPct val="15000"/>
            </a:spcAft>
            <a:buChar char="•"/>
          </a:pPr>
          <a:r>
            <a:rPr lang="en-US" sz="2900" kern="1200"/>
            <a:t>Simulated temperatures.</a:t>
          </a:r>
        </a:p>
        <a:p>
          <a:pPr marL="285750" lvl="1" indent="-285750" algn="l" defTabSz="1289050">
            <a:lnSpc>
              <a:spcPct val="90000"/>
            </a:lnSpc>
            <a:spcBef>
              <a:spcPct val="0"/>
            </a:spcBef>
            <a:spcAft>
              <a:spcPct val="15000"/>
            </a:spcAft>
            <a:buChar char="•"/>
          </a:pPr>
          <a:r>
            <a:rPr lang="en-US" sz="2900" kern="1200"/>
            <a:t>Selection bias.</a:t>
          </a:r>
        </a:p>
      </dsp:txBody>
      <dsp:txXfrm>
        <a:off x="0" y="5123115"/>
        <a:ext cx="8016877" cy="2101050"/>
      </dsp:txXfrm>
    </dsp:sp>
    <dsp:sp modelId="{932A5BCC-9B22-47BB-876F-490503FF87FE}">
      <dsp:nvSpPr>
        <dsp:cNvPr id="0" name=""/>
        <dsp:cNvSpPr/>
      </dsp:nvSpPr>
      <dsp:spPr>
        <a:xfrm>
          <a:off x="400843" y="4695074"/>
          <a:ext cx="5611813" cy="8560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2113" tIns="0" rIns="212113" bIns="0" numCol="1" spcCol="1270" anchor="ctr" anchorCtr="0">
          <a:noAutofit/>
        </a:bodyPr>
        <a:lstStyle/>
        <a:p>
          <a:pPr marL="0" lvl="0" indent="0" algn="l" defTabSz="1289050">
            <a:lnSpc>
              <a:spcPct val="90000"/>
            </a:lnSpc>
            <a:spcBef>
              <a:spcPct val="0"/>
            </a:spcBef>
            <a:spcAft>
              <a:spcPct val="35000"/>
            </a:spcAft>
            <a:buNone/>
          </a:pPr>
          <a:r>
            <a:rPr lang="en-US" sz="2900" b="1" kern="1200"/>
            <a:t>Challenges</a:t>
          </a:r>
          <a:endParaRPr lang="en-US" sz="2900" kern="1200"/>
        </a:p>
      </dsp:txBody>
      <dsp:txXfrm>
        <a:off x="442633" y="4736864"/>
        <a:ext cx="5528233" cy="772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8D8E0-8099-47D1-801C-2B979AD50BEA}">
      <dsp:nvSpPr>
        <dsp:cNvPr id="0" name=""/>
        <dsp:cNvSpPr/>
      </dsp:nvSpPr>
      <dsp:spPr>
        <a:xfrm>
          <a:off x="948" y="296453"/>
          <a:ext cx="3700239" cy="2220143"/>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dirty="0"/>
            <a:t>Performance</a:t>
          </a:r>
          <a:endParaRPr lang="en-US" sz="2200" kern="1200" dirty="0"/>
        </a:p>
        <a:p>
          <a:pPr marL="171450" lvl="1" indent="-171450" algn="l" defTabSz="755650">
            <a:lnSpc>
              <a:spcPct val="90000"/>
            </a:lnSpc>
            <a:spcBef>
              <a:spcPct val="0"/>
            </a:spcBef>
            <a:spcAft>
              <a:spcPct val="15000"/>
            </a:spcAft>
            <a:buChar char="•"/>
          </a:pPr>
          <a:r>
            <a:rPr lang="en-US" sz="1700" kern="1200"/>
            <a:t>Logistic Regression F1: 0.766</a:t>
          </a:r>
        </a:p>
        <a:p>
          <a:pPr marL="171450" lvl="1" indent="-171450" algn="l" defTabSz="755650">
            <a:lnSpc>
              <a:spcPct val="90000"/>
            </a:lnSpc>
            <a:spcBef>
              <a:spcPct val="0"/>
            </a:spcBef>
            <a:spcAft>
              <a:spcPct val="15000"/>
            </a:spcAft>
            <a:buChar char="•"/>
          </a:pPr>
          <a:r>
            <a:rPr lang="en-US" sz="1700" kern="1200"/>
            <a:t>Logistic Regression AUC-ROC: 0.916</a:t>
          </a:r>
        </a:p>
        <a:p>
          <a:pPr marL="171450" lvl="1" indent="-171450" algn="l" defTabSz="755650">
            <a:lnSpc>
              <a:spcPct val="90000"/>
            </a:lnSpc>
            <a:spcBef>
              <a:spcPct val="0"/>
            </a:spcBef>
            <a:spcAft>
              <a:spcPct val="15000"/>
            </a:spcAft>
            <a:buChar char="•"/>
          </a:pPr>
          <a:r>
            <a:rPr lang="en-US" sz="1700" kern="1200"/>
            <a:t>XGBoost F1: 0.750</a:t>
          </a:r>
        </a:p>
        <a:p>
          <a:pPr marL="171450" lvl="1" indent="-171450" algn="l" defTabSz="755650">
            <a:lnSpc>
              <a:spcPct val="90000"/>
            </a:lnSpc>
            <a:spcBef>
              <a:spcPct val="0"/>
            </a:spcBef>
            <a:spcAft>
              <a:spcPct val="15000"/>
            </a:spcAft>
            <a:buChar char="•"/>
          </a:pPr>
          <a:r>
            <a:rPr lang="en-US" sz="1700" kern="1200"/>
            <a:t>XGBoost AUC-ROC: 0.943 </a:t>
          </a:r>
        </a:p>
      </dsp:txBody>
      <dsp:txXfrm>
        <a:off x="948" y="296453"/>
        <a:ext cx="3700239" cy="2220143"/>
      </dsp:txXfrm>
    </dsp:sp>
    <dsp:sp modelId="{8C6B7BB2-FE7D-460D-8676-0AF6C30B2D83}">
      <dsp:nvSpPr>
        <dsp:cNvPr id="0" name=""/>
        <dsp:cNvSpPr/>
      </dsp:nvSpPr>
      <dsp:spPr>
        <a:xfrm>
          <a:off x="3885829" y="296453"/>
          <a:ext cx="3700239" cy="2220143"/>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Insights</a:t>
          </a:r>
          <a:endParaRPr lang="en-US" sz="2200" kern="1200"/>
        </a:p>
        <a:p>
          <a:pPr marL="171450" lvl="1" indent="-171450" algn="l" defTabSz="755650">
            <a:lnSpc>
              <a:spcPct val="90000"/>
            </a:lnSpc>
            <a:spcBef>
              <a:spcPct val="0"/>
            </a:spcBef>
            <a:spcAft>
              <a:spcPct val="15000"/>
            </a:spcAft>
            <a:buChar char="•"/>
          </a:pPr>
          <a:r>
            <a:rPr lang="en-US" sz="1700" kern="1200"/>
            <a:t>Logistic Regression performs better at the operating threshold</a:t>
          </a:r>
        </a:p>
        <a:p>
          <a:pPr marL="171450" lvl="1" indent="-171450" algn="l" defTabSz="755650">
            <a:lnSpc>
              <a:spcPct val="90000"/>
            </a:lnSpc>
            <a:spcBef>
              <a:spcPct val="0"/>
            </a:spcBef>
            <a:spcAft>
              <a:spcPct val="15000"/>
            </a:spcAft>
            <a:buChar char="•"/>
          </a:pPr>
          <a:r>
            <a:rPr lang="en-US" sz="1700" kern="1200"/>
            <a:t>XGBoost has better overall ranking ability</a:t>
          </a:r>
        </a:p>
        <a:p>
          <a:pPr marL="171450" lvl="1" indent="-171450" algn="l" defTabSz="755650">
            <a:lnSpc>
              <a:spcPct val="90000"/>
            </a:lnSpc>
            <a:spcBef>
              <a:spcPct val="0"/>
            </a:spcBef>
            <a:spcAft>
              <a:spcPct val="15000"/>
            </a:spcAft>
            <a:buChar char="•"/>
          </a:pPr>
          <a:r>
            <a:rPr lang="en-US" sz="1700" kern="1200"/>
            <a:t>Weak on: “Borderline events” for both models produced high false negative</a:t>
          </a:r>
        </a:p>
      </dsp:txBody>
      <dsp:txXfrm>
        <a:off x="3885829" y="296453"/>
        <a:ext cx="3700239" cy="22201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A4B99-5FD5-4D81-8F05-F93010C06E2B}">
      <dsp:nvSpPr>
        <dsp:cNvPr id="0" name=""/>
        <dsp:cNvSpPr/>
      </dsp:nvSpPr>
      <dsp:spPr>
        <a:xfrm>
          <a:off x="0" y="83337"/>
          <a:ext cx="10442403" cy="7253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kern="1200"/>
            <a:t>System Flow</a:t>
          </a:r>
          <a:endParaRPr lang="en-US" sz="3100" kern="1200"/>
        </a:p>
      </dsp:txBody>
      <dsp:txXfrm>
        <a:off x="35411" y="118748"/>
        <a:ext cx="10371581" cy="654577"/>
      </dsp:txXfrm>
    </dsp:sp>
    <dsp:sp modelId="{FA7D0413-03D7-4814-9722-F4A02B937650}">
      <dsp:nvSpPr>
        <dsp:cNvPr id="0" name=""/>
        <dsp:cNvSpPr/>
      </dsp:nvSpPr>
      <dsp:spPr>
        <a:xfrm>
          <a:off x="0" y="808737"/>
          <a:ext cx="10442403"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4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Cold Snap / Heat wave data → train models → judge output accuracy </a:t>
          </a:r>
        </a:p>
      </dsp:txBody>
      <dsp:txXfrm>
        <a:off x="0" y="808737"/>
        <a:ext cx="10442403" cy="513360"/>
      </dsp:txXfrm>
    </dsp:sp>
    <dsp:sp modelId="{6E240B25-77B0-4DB9-AF5E-E73D171BFA49}">
      <dsp:nvSpPr>
        <dsp:cNvPr id="0" name=""/>
        <dsp:cNvSpPr/>
      </dsp:nvSpPr>
      <dsp:spPr>
        <a:xfrm>
          <a:off x="0" y="1322097"/>
          <a:ext cx="10442403" cy="7253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kern="1200"/>
            <a:t>Key Insights</a:t>
          </a:r>
          <a:endParaRPr lang="en-US" sz="3100" kern="1200"/>
        </a:p>
      </dsp:txBody>
      <dsp:txXfrm>
        <a:off x="35411" y="1357508"/>
        <a:ext cx="10371581" cy="654577"/>
      </dsp:txXfrm>
    </dsp:sp>
    <dsp:sp modelId="{9068952F-7E79-4348-811B-FAADFD65556B}">
      <dsp:nvSpPr>
        <dsp:cNvPr id="0" name=""/>
        <dsp:cNvSpPr/>
      </dsp:nvSpPr>
      <dsp:spPr>
        <a:xfrm>
          <a:off x="0" y="2047497"/>
          <a:ext cx="10442403" cy="1187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4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Feature design impacts model accuracy </a:t>
          </a:r>
        </a:p>
        <a:p>
          <a:pPr marL="228600" lvl="1" indent="-228600" algn="l" defTabSz="1066800">
            <a:lnSpc>
              <a:spcPct val="90000"/>
            </a:lnSpc>
            <a:spcBef>
              <a:spcPct val="0"/>
            </a:spcBef>
            <a:spcAft>
              <a:spcPct val="20000"/>
            </a:spcAft>
            <a:buChar char="•"/>
          </a:pPr>
          <a:r>
            <a:rPr lang="en-US" sz="2400" kern="1200"/>
            <a:t>ML more accurate than LLMs </a:t>
          </a:r>
        </a:p>
        <a:p>
          <a:pPr marL="228600" lvl="1" indent="-228600" algn="l" defTabSz="1066800">
            <a:lnSpc>
              <a:spcPct val="90000"/>
            </a:lnSpc>
            <a:spcBef>
              <a:spcPct val="0"/>
            </a:spcBef>
            <a:spcAft>
              <a:spcPct val="20000"/>
            </a:spcAft>
            <a:buChar char="•"/>
          </a:pPr>
          <a:r>
            <a:rPr lang="en-US" sz="2400" kern="1200" dirty="0"/>
            <a:t>LLMs were slower even with less data</a:t>
          </a:r>
        </a:p>
      </dsp:txBody>
      <dsp:txXfrm>
        <a:off x="0" y="2047497"/>
        <a:ext cx="10442403" cy="1187145"/>
      </dsp:txXfrm>
    </dsp:sp>
    <dsp:sp modelId="{A98C1C5B-574A-4518-8E2C-62B6094E43E4}">
      <dsp:nvSpPr>
        <dsp:cNvPr id="0" name=""/>
        <dsp:cNvSpPr/>
      </dsp:nvSpPr>
      <dsp:spPr>
        <a:xfrm>
          <a:off x="0" y="3234642"/>
          <a:ext cx="10442403" cy="7253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kern="1200"/>
            <a:t>Limitations</a:t>
          </a:r>
          <a:endParaRPr lang="en-US" sz="3100" kern="1200"/>
        </a:p>
      </dsp:txBody>
      <dsp:txXfrm>
        <a:off x="35411" y="3270053"/>
        <a:ext cx="10371581" cy="654577"/>
      </dsp:txXfrm>
    </dsp:sp>
    <dsp:sp modelId="{8F29B89B-B912-472C-94CF-76FB081D1D58}">
      <dsp:nvSpPr>
        <dsp:cNvPr id="0" name=""/>
        <dsp:cNvSpPr/>
      </dsp:nvSpPr>
      <dsp:spPr>
        <a:xfrm>
          <a:off x="0" y="3960042"/>
          <a:ext cx="10442403" cy="1187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4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Data has inherent spatial structure that we did not explicitly account for</a:t>
          </a:r>
        </a:p>
        <a:p>
          <a:pPr marL="228600" lvl="1" indent="-228600" algn="l" defTabSz="1066800">
            <a:lnSpc>
              <a:spcPct val="90000"/>
            </a:lnSpc>
            <a:spcBef>
              <a:spcPct val="0"/>
            </a:spcBef>
            <a:spcAft>
              <a:spcPct val="20000"/>
            </a:spcAft>
            <a:buChar char="•"/>
          </a:pPr>
          <a:r>
            <a:rPr lang="en-US" sz="2400" kern="1200" dirty="0"/>
            <a:t>ML produced significant number of false positives </a:t>
          </a:r>
        </a:p>
        <a:p>
          <a:pPr marL="228600" lvl="1" indent="-228600" algn="l" defTabSz="1066800">
            <a:lnSpc>
              <a:spcPct val="90000"/>
            </a:lnSpc>
            <a:spcBef>
              <a:spcPct val="0"/>
            </a:spcBef>
            <a:spcAft>
              <a:spcPct val="20000"/>
            </a:spcAft>
            <a:buChar char="•"/>
          </a:pPr>
          <a:r>
            <a:rPr lang="en-US" sz="2400" kern="1200"/>
            <a:t>LLMs may require structured, stepwise model development</a:t>
          </a:r>
        </a:p>
      </dsp:txBody>
      <dsp:txXfrm>
        <a:off x="0" y="3960042"/>
        <a:ext cx="10442403" cy="1187145"/>
      </dsp:txXfrm>
    </dsp:sp>
    <dsp:sp modelId="{AB2682BC-C21A-4072-8D08-112CFC358897}">
      <dsp:nvSpPr>
        <dsp:cNvPr id="0" name=""/>
        <dsp:cNvSpPr/>
      </dsp:nvSpPr>
      <dsp:spPr>
        <a:xfrm>
          <a:off x="0" y="5147187"/>
          <a:ext cx="10442403" cy="7253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kern="1200"/>
            <a:t>Future Work</a:t>
          </a:r>
          <a:endParaRPr lang="en-US" sz="3100" kern="1200"/>
        </a:p>
      </dsp:txBody>
      <dsp:txXfrm>
        <a:off x="35411" y="5182598"/>
        <a:ext cx="10371581" cy="654577"/>
      </dsp:txXfrm>
    </dsp:sp>
    <dsp:sp modelId="{B12CA236-17C1-413E-BD96-1AA7BFEDE173}">
      <dsp:nvSpPr>
        <dsp:cNvPr id="0" name=""/>
        <dsp:cNvSpPr/>
      </dsp:nvSpPr>
      <dsp:spPr>
        <a:xfrm>
          <a:off x="0" y="5872587"/>
          <a:ext cx="10442403" cy="1411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54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Improve data features to explicitly account for spatial structure in data using domain knowledge; leverage additional spatial data (i.e., data center sites)</a:t>
          </a:r>
        </a:p>
        <a:p>
          <a:pPr marL="228600" lvl="1" indent="-228600" algn="l" defTabSz="1066800">
            <a:lnSpc>
              <a:spcPct val="90000"/>
            </a:lnSpc>
            <a:spcBef>
              <a:spcPct val="0"/>
            </a:spcBef>
            <a:spcAft>
              <a:spcPct val="20000"/>
            </a:spcAft>
            <a:buChar char="•"/>
          </a:pPr>
          <a:r>
            <a:rPr lang="en-US" sz="2400" kern="1200"/>
            <a:t>Think through developing mutistep LLM-based models</a:t>
          </a:r>
        </a:p>
      </dsp:txBody>
      <dsp:txXfrm>
        <a:off x="0" y="5872587"/>
        <a:ext cx="10442403" cy="141173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A69A9C-1087-184F-8370-423E175D9D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9090E3D-F5E5-0D40-B323-A25B85CF9E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E50B8-2EF8-564F-AE86-D84E6C503530}" type="datetimeFigureOut">
              <a:rPr lang="en-US" smtClean="0"/>
              <a:t>4/22/2026</a:t>
            </a:fld>
            <a:endParaRPr lang="en-US"/>
          </a:p>
        </p:txBody>
      </p:sp>
      <p:sp>
        <p:nvSpPr>
          <p:cNvPr id="4" name="Footer Placeholder 3">
            <a:extLst>
              <a:ext uri="{FF2B5EF4-FFF2-40B4-BE49-F238E27FC236}">
                <a16:creationId xmlns:a16="http://schemas.microsoft.com/office/drawing/2014/main" id="{64E3AA97-2F38-5340-B685-1E0EA3E358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B732F3-25A6-284F-A24C-5FD21AE6BE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78BA3-E235-9946-9A4D-07E907F688D0}" type="slidenum">
              <a:rPr lang="en-US" smtClean="0"/>
              <a:t>‹#›</a:t>
            </a:fld>
            <a:endParaRPr lang="en-US"/>
          </a:p>
        </p:txBody>
      </p:sp>
    </p:spTree>
    <p:extLst>
      <p:ext uri="{BB962C8B-B14F-4D97-AF65-F5344CB8AC3E}">
        <p14:creationId xmlns:p14="http://schemas.microsoft.com/office/powerpoint/2010/main" val="4194000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C8D20-1945-7145-91A2-3D134BDA25E2}"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104DB-87CA-D64F-AB86-DB2520DDF5D7}" type="slidenum">
              <a:rPr lang="en-US" smtClean="0"/>
              <a:t>‹#›</a:t>
            </a:fld>
            <a:endParaRPr lang="en-US"/>
          </a:p>
        </p:txBody>
      </p:sp>
    </p:spTree>
    <p:extLst>
      <p:ext uri="{BB962C8B-B14F-4D97-AF65-F5344CB8AC3E}">
        <p14:creationId xmlns:p14="http://schemas.microsoft.com/office/powerpoint/2010/main" val="361405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Hi everyone, we’re Team TRACK, and today we’ll be presenting our AI solution for bringing together extreme weather data to inform data center siting. We’ll walk through our approach, results, and key insights from comparing machine learning and LLM methods.</a:t>
            </a:r>
          </a:p>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1</a:t>
            </a:fld>
            <a:endParaRPr lang="en-US"/>
          </a:p>
        </p:txBody>
      </p:sp>
    </p:spTree>
    <p:extLst>
      <p:ext uri="{BB962C8B-B14F-4D97-AF65-F5344CB8AC3E}">
        <p14:creationId xmlns:p14="http://schemas.microsoft.com/office/powerpoint/2010/main" val="3941861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problem</a:t>
            </a:r>
            <a:r>
              <a:rPr lang="en-US"/>
              <a:t> that we set out to address was that the data for current and planned data centers doesn’t account for extreme weather risks, such as very high or low temperatures. We argued that by accounting for extreme weather, data centers can be sited more strategically in a way that doesn’t threaten to disrupt energy supply, would ensure climate resilience, and would theoretically help to achieve lower cooling costs for the data centers.</a:t>
            </a:r>
          </a:p>
          <a:p>
            <a:br>
              <a:rPr lang="en-US"/>
            </a:br>
            <a:r>
              <a:rPr lang="en-US"/>
              <a:t>Our </a:t>
            </a:r>
            <a:r>
              <a:rPr lang="en-US" b="1"/>
              <a:t>goal</a:t>
            </a:r>
            <a:r>
              <a:rPr lang="en-US"/>
              <a:t> was to build a model that could turn this extreme weather data into a geospatial layer with projected variables and integrate it with an existing tool owned by PNNL, which is the IM3 Data Center Atlas, and use this new layer to essentially assess current and planned data center sites against these risks.</a:t>
            </a:r>
          </a:p>
          <a:p>
            <a:br>
              <a:rPr lang="en-US"/>
            </a:br>
            <a:r>
              <a:rPr lang="en-US"/>
              <a:t>We defined </a:t>
            </a:r>
            <a:r>
              <a:rPr lang="en-US" b="1"/>
              <a:t>success</a:t>
            </a:r>
            <a:r>
              <a:rPr lang="en-US"/>
              <a:t> as the Atlas reliably communicating whether current and planned data centers would be or are climate-resilient and we wanted projections to be reliable and consistent. Our F1 and AUC later become our key metrics of success, which we’ll talk about.</a:t>
            </a:r>
          </a:p>
          <a:p>
            <a:endParaRPr lang="en-US"/>
          </a:p>
          <a:p>
            <a:r>
              <a:rPr lang="en-US"/>
              <a:t>Having said all of that, we went through a </a:t>
            </a:r>
            <a:r>
              <a:rPr lang="en-US" b="1"/>
              <a:t>learning process </a:t>
            </a:r>
            <a:r>
              <a:rPr lang="en-US"/>
              <a:t>as a team here. We ultimately discovered that we were constrained by time and skill and in our understanding of what ML and LLM approaches could do, so we refined our approach to focus more on creating new features from the dataset that could, in future, help to inform data center siting, which we’ll discuss in later slides.</a:t>
            </a:r>
          </a:p>
        </p:txBody>
      </p:sp>
      <p:sp>
        <p:nvSpPr>
          <p:cNvPr id="4" name="Slide Number Placeholder 3"/>
          <p:cNvSpPr>
            <a:spLocks noGrp="1"/>
          </p:cNvSpPr>
          <p:nvPr>
            <p:ph type="sldNum" sz="quarter" idx="5"/>
          </p:nvPr>
        </p:nvSpPr>
        <p:spPr/>
        <p:txBody>
          <a:bodyPr/>
          <a:lstStyle/>
          <a:p>
            <a:fld id="{710104DB-87CA-D64F-AB86-DB2520DDF5D7}" type="slidenum">
              <a:rPr lang="en-US" smtClean="0"/>
              <a:t>2</a:t>
            </a:fld>
            <a:endParaRPr lang="en-US"/>
          </a:p>
        </p:txBody>
      </p:sp>
    </p:spTree>
    <p:extLst>
      <p:ext uri="{BB962C8B-B14F-4D97-AF65-F5344CB8AC3E}">
        <p14:creationId xmlns:p14="http://schemas.microsoft.com/office/powerpoint/2010/main" val="282752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used the </a:t>
            </a:r>
            <a:r>
              <a:rPr lang="en-US" b="1"/>
              <a:t>heatwave and cold snap event library dataset</a:t>
            </a:r>
            <a:r>
              <a:rPr lang="en-US"/>
              <a:t>, which includes event data, the duration, highest and lowest temperatures, NERC subregion IDs, and spatial coverage data.</a:t>
            </a:r>
          </a:p>
          <a:p>
            <a:br>
              <a:rPr lang="en-US"/>
            </a:br>
            <a:r>
              <a:rPr lang="en-US"/>
              <a:t>However, we found that there were some </a:t>
            </a:r>
            <a:r>
              <a:rPr lang="en-US" b="1"/>
              <a:t>limitations and potential biases</a:t>
            </a:r>
            <a:r>
              <a:rPr lang="en-US"/>
              <a:t> in the data, such as </a:t>
            </a:r>
            <a:r>
              <a:rPr lang="en-US" u="sng"/>
              <a:t>spatial aggregation bias</a:t>
            </a:r>
            <a:r>
              <a:rPr lang="en-US"/>
              <a:t> (where the data are summarized at the NERC level, which could obscure within-region variability), </a:t>
            </a:r>
            <a:r>
              <a:rPr lang="en-US" u="sng"/>
              <a:t>the lack of purely observed temperatures</a:t>
            </a:r>
            <a:r>
              <a:rPr lang="en-US"/>
              <a:t> (the dataset relies on simulated temperatures, so localized extremes may be missed), and </a:t>
            </a:r>
            <a:r>
              <a:rPr lang="en-US" u="sng"/>
              <a:t>possible selection bias</a:t>
            </a:r>
            <a:r>
              <a:rPr lang="en-US"/>
              <a:t> (where only the events that meet specific “definition” thresholds are included, so event counts depend on the chosen definition).</a:t>
            </a:r>
          </a:p>
          <a:p>
            <a:br>
              <a:rPr lang="en-US"/>
            </a:br>
            <a:r>
              <a:rPr lang="en-US"/>
              <a:t>These issues influenced how we prepared the data and ultimately selected our models.</a:t>
            </a:r>
          </a:p>
        </p:txBody>
      </p:sp>
      <p:sp>
        <p:nvSpPr>
          <p:cNvPr id="4" name="Slide Number Placeholder 3"/>
          <p:cNvSpPr>
            <a:spLocks noGrp="1"/>
          </p:cNvSpPr>
          <p:nvPr>
            <p:ph type="sldNum" sz="quarter" idx="5"/>
          </p:nvPr>
        </p:nvSpPr>
        <p:spPr/>
        <p:txBody>
          <a:bodyPr/>
          <a:lstStyle/>
          <a:p>
            <a:fld id="{710104DB-87CA-D64F-AB86-DB2520DDF5D7}" type="slidenum">
              <a:rPr lang="en-US" smtClean="0"/>
              <a:t>3</a:t>
            </a:fld>
            <a:endParaRPr lang="en-US"/>
          </a:p>
        </p:txBody>
      </p:sp>
    </p:spTree>
    <p:extLst>
      <p:ext uri="{BB962C8B-B14F-4D97-AF65-F5344CB8AC3E}">
        <p14:creationId xmlns:p14="http://schemas.microsoft.com/office/powerpoint/2010/main" val="83221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90000"/>
              </a:lnSpc>
              <a:spcBef>
                <a:spcPts val="1200"/>
              </a:spcBef>
              <a:buFont typeface="Arial"/>
              <a:buChar char="•"/>
            </a:pPr>
            <a:endParaRPr lang="en-US">
              <a:solidFill>
                <a:srgbClr val="616265"/>
              </a:solidFill>
              <a:ea typeface="Calibri"/>
              <a:cs typeface="Calibri"/>
            </a:endParaRPr>
          </a:p>
        </p:txBody>
      </p:sp>
      <p:sp>
        <p:nvSpPr>
          <p:cNvPr id="4" name="Slide Number Placeholder 3"/>
          <p:cNvSpPr>
            <a:spLocks noGrp="1"/>
          </p:cNvSpPr>
          <p:nvPr>
            <p:ph type="sldNum" sz="quarter" idx="5"/>
          </p:nvPr>
        </p:nvSpPr>
        <p:spPr/>
        <p:txBody>
          <a:bodyPr/>
          <a:lstStyle/>
          <a:p>
            <a:fld id="{710104DB-87CA-D64F-AB86-DB2520DDF5D7}" type="slidenum">
              <a:rPr lang="en-US" smtClean="0"/>
              <a:t>4</a:t>
            </a:fld>
            <a:endParaRPr lang="en-US"/>
          </a:p>
        </p:txBody>
      </p:sp>
    </p:spTree>
    <p:extLst>
      <p:ext uri="{BB962C8B-B14F-4D97-AF65-F5344CB8AC3E}">
        <p14:creationId xmlns:p14="http://schemas.microsoft.com/office/powerpoint/2010/main" val="2647893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F3ECA-4D25-3695-4B51-37A756F69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B304-5556-526A-F80C-ADEF9B45B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6E9790-F2B9-AEAD-9F74-E98BDA2FC416}"/>
              </a:ext>
            </a:extLst>
          </p:cNvPr>
          <p:cNvSpPr>
            <a:spLocks noGrp="1"/>
          </p:cNvSpPr>
          <p:nvPr>
            <p:ph type="body" idx="1"/>
          </p:nvPr>
        </p:nvSpPr>
        <p:spPr/>
        <p:txBody>
          <a:bodyPr/>
          <a:lstStyle/>
          <a:p>
            <a:r>
              <a:rPr lang="en-US" dirty="0"/>
              <a:t>F1 = how good the yes/no decisions are at your chosen threshold.</a:t>
            </a:r>
          </a:p>
          <a:p>
            <a:r>
              <a:rPr lang="en-US" dirty="0"/>
              <a:t>AUC = how good the overall ranking is before threshold choice.</a:t>
            </a:r>
          </a:p>
          <a:p>
            <a:r>
              <a:rPr lang="en-US" dirty="0"/>
              <a:t>Ranking ability means to put events in order from most ‘Risky’ to least.</a:t>
            </a:r>
          </a:p>
          <a:p>
            <a:r>
              <a:rPr lang="en-US" dirty="0"/>
              <a:t>SHAP value represents how much a variable affected ranking – positive SHAP means the value was used to determine a high-risk event – negative SHAP means the value was used to determine a low-risk event.</a:t>
            </a:r>
          </a:p>
        </p:txBody>
      </p:sp>
      <p:sp>
        <p:nvSpPr>
          <p:cNvPr id="4" name="Slide Number Placeholder 3">
            <a:extLst>
              <a:ext uri="{FF2B5EF4-FFF2-40B4-BE49-F238E27FC236}">
                <a16:creationId xmlns:a16="http://schemas.microsoft.com/office/drawing/2014/main" id="{70570579-9A35-A803-F03D-0F7F97B69E9A}"/>
              </a:ext>
            </a:extLst>
          </p:cNvPr>
          <p:cNvSpPr>
            <a:spLocks noGrp="1"/>
          </p:cNvSpPr>
          <p:nvPr>
            <p:ph type="sldNum" sz="quarter" idx="5"/>
          </p:nvPr>
        </p:nvSpPr>
        <p:spPr/>
        <p:txBody>
          <a:bodyPr/>
          <a:lstStyle/>
          <a:p>
            <a:fld id="{710104DB-87CA-D64F-AB86-DB2520DDF5D7}" type="slidenum">
              <a:rPr lang="en-US" smtClean="0"/>
              <a:t>5</a:t>
            </a:fld>
            <a:endParaRPr lang="en-US"/>
          </a:p>
        </p:txBody>
      </p:sp>
    </p:spTree>
    <p:extLst>
      <p:ext uri="{BB962C8B-B14F-4D97-AF65-F5344CB8AC3E}">
        <p14:creationId xmlns:p14="http://schemas.microsoft.com/office/powerpoint/2010/main" val="1904893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 We then used an LLM to perform the same </a:t>
            </a:r>
            <a:r>
              <a:rPr lang="en-US" err="1"/>
              <a:t>task</a:t>
            </a:r>
            <a:r>
              <a:rPr lang="en-US"/>
              <a:t>. We designed prompts with structured outputs and used few-shot examples to improve consistency. The LLM achieved [metric] of [value].It handled flexible inputs well, but we observed issues like inconsistent formatting and hallucinations.</a:t>
            </a:r>
          </a:p>
        </p:txBody>
      </p:sp>
      <p:sp>
        <p:nvSpPr>
          <p:cNvPr id="4" name="Slide Number Placeholder 3"/>
          <p:cNvSpPr>
            <a:spLocks noGrp="1"/>
          </p:cNvSpPr>
          <p:nvPr>
            <p:ph type="sldNum" sz="quarter" idx="5"/>
          </p:nvPr>
        </p:nvSpPr>
        <p:spPr/>
        <p:txBody>
          <a:bodyPr/>
          <a:lstStyle/>
          <a:p>
            <a:fld id="{710104DB-87CA-D64F-AB86-DB2520DDF5D7}" type="slidenum">
              <a:rPr lang="en-US" smtClean="0"/>
              <a:t>6</a:t>
            </a:fld>
            <a:endParaRPr lang="en-US"/>
          </a:p>
        </p:txBody>
      </p:sp>
    </p:spTree>
    <p:extLst>
      <p:ext uri="{BB962C8B-B14F-4D97-AF65-F5344CB8AC3E}">
        <p14:creationId xmlns:p14="http://schemas.microsoft.com/office/powerpoint/2010/main" val="1958316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3BC3-CC7E-7FE4-6E1B-FC2EE88C5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BEAEF-A798-D3FD-350B-B7D545C34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33605-F685-1CE5-F09E-023FD0622F80}"/>
              </a:ext>
            </a:extLst>
          </p:cNvPr>
          <p:cNvSpPr>
            <a:spLocks noGrp="1"/>
          </p:cNvSpPr>
          <p:nvPr>
            <p:ph type="body" idx="1"/>
          </p:nvPr>
        </p:nvSpPr>
        <p:spPr/>
        <p:txBody>
          <a:bodyPr/>
          <a:lstStyle/>
          <a:p>
            <a:r>
              <a:rPr lang="en-US"/>
              <a:t>Notes: This slide highlights the key tradeoffs. </a:t>
            </a:r>
          </a:p>
          <a:p>
            <a:r>
              <a:rPr lang="en-US"/>
              <a:t>The ML model achieved higher accuracy and consistency, making it more reliable for structured predictions. The LLM is more flexible and faster to prototype, but less consistent. </a:t>
            </a:r>
          </a:p>
          <a:p>
            <a:r>
              <a:rPr lang="en-US"/>
              <a:t>So the key takeaway is: ML is better for control and reliability, while LLM is better for flexibility and rapid development.</a:t>
            </a:r>
          </a:p>
        </p:txBody>
      </p:sp>
      <p:sp>
        <p:nvSpPr>
          <p:cNvPr id="4" name="Slide Number Placeholder 3">
            <a:extLst>
              <a:ext uri="{FF2B5EF4-FFF2-40B4-BE49-F238E27FC236}">
                <a16:creationId xmlns:a16="http://schemas.microsoft.com/office/drawing/2014/main" id="{DD43695F-A7DA-2D17-3D49-94C7EAC26030}"/>
              </a:ext>
            </a:extLst>
          </p:cNvPr>
          <p:cNvSpPr>
            <a:spLocks noGrp="1"/>
          </p:cNvSpPr>
          <p:nvPr>
            <p:ph type="sldNum" sz="quarter" idx="5"/>
          </p:nvPr>
        </p:nvSpPr>
        <p:spPr/>
        <p:txBody>
          <a:bodyPr/>
          <a:lstStyle/>
          <a:p>
            <a:fld id="{710104DB-87CA-D64F-AB86-DB2520DDF5D7}" type="slidenum">
              <a:rPr lang="en-US" smtClean="0"/>
              <a:t>7</a:t>
            </a:fld>
            <a:endParaRPr lang="en-US"/>
          </a:p>
        </p:txBody>
      </p:sp>
    </p:spTree>
    <p:extLst>
      <p:ext uri="{BB962C8B-B14F-4D97-AF65-F5344CB8AC3E}">
        <p14:creationId xmlns:p14="http://schemas.microsoft.com/office/powerpoint/2010/main" val="4232904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Notes:</a:t>
            </a:r>
          </a:p>
          <a:p>
            <a:r>
              <a:rPr lang="en-US" b="0" dirty="0"/>
              <a:t>Here’s a quick look at our system.</a:t>
            </a:r>
          </a:p>
          <a:p>
            <a:r>
              <a:rPr lang="en-US" b="0" dirty="0"/>
              <a:t>Our ML modeling was simple – we developed a set of simple, obvious features; split the dataset into training, validation, and test sets; and trained the ML model. The test revealed the model did reasonably well on predicting high risk events, although it did produce false positives.</a:t>
            </a:r>
          </a:p>
          <a:p>
            <a:r>
              <a:rPr lang="en-US" b="0" dirty="0"/>
              <a:t>From this project, we learned that feature engineering is critical, ML models are more reliable for structured tasks, and LLM performance is limited by context size.</a:t>
            </a:r>
          </a:p>
          <a:p>
            <a:r>
              <a:rPr lang="en-US" b="0" dirty="0"/>
              <a:t>Some limitations include limited feature engineering and limited leveraging of spatial structure inherent in the data.</a:t>
            </a:r>
          </a:p>
          <a:p>
            <a:r>
              <a:rPr lang="en-US" b="0" dirty="0"/>
              <a:t>In the future, we would improve this by better developing engineering features; correlating existing dataset with other relevant spatial data, such as data center sites; and thinking how to leverage the strength of LLMs to develop multistage models.</a:t>
            </a:r>
          </a:p>
          <a:p>
            <a:endParaRPr lang="en-US" b="0" dirty="0"/>
          </a:p>
          <a:p>
            <a:r>
              <a:rPr lang="en-US" b="0" dirty="0"/>
              <a:t>Thank you—happy to take questions.</a:t>
            </a:r>
          </a:p>
        </p:txBody>
      </p:sp>
      <p:sp>
        <p:nvSpPr>
          <p:cNvPr id="4" name="Slide Number Placeholder 3"/>
          <p:cNvSpPr>
            <a:spLocks noGrp="1"/>
          </p:cNvSpPr>
          <p:nvPr>
            <p:ph type="sldNum" sz="quarter" idx="5"/>
          </p:nvPr>
        </p:nvSpPr>
        <p:spPr/>
        <p:txBody>
          <a:bodyPr/>
          <a:lstStyle/>
          <a:p>
            <a:fld id="{710104DB-87CA-D64F-AB86-DB2520DDF5D7}" type="slidenum">
              <a:rPr lang="en-US" smtClean="0"/>
              <a:t>8</a:t>
            </a:fld>
            <a:endParaRPr lang="en-US"/>
          </a:p>
        </p:txBody>
      </p:sp>
    </p:spTree>
    <p:extLst>
      <p:ext uri="{BB962C8B-B14F-4D97-AF65-F5344CB8AC3E}">
        <p14:creationId xmlns:p14="http://schemas.microsoft.com/office/powerpoint/2010/main" val="811092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9</a:t>
            </a:fld>
            <a:endParaRPr lang="en-US"/>
          </a:p>
        </p:txBody>
      </p:sp>
    </p:spTree>
    <p:extLst>
      <p:ext uri="{BB962C8B-B14F-4D97-AF65-F5344CB8AC3E}">
        <p14:creationId xmlns:p14="http://schemas.microsoft.com/office/powerpoint/2010/main" val="3338181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_Plain_Blac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36B83B-A5E4-524E-96A9-DFC12D58F12A}"/>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21DF1AC-1D08-B945-A034-B740A35902F9}"/>
              </a:ext>
            </a:extLst>
          </p:cNvPr>
          <p:cNvSpPr txBox="1"/>
          <p:nvPr userDrawn="1"/>
        </p:nvSpPr>
        <p:spPr>
          <a:xfrm>
            <a:off x="1371600" y="7543800"/>
            <a:ext cx="3657600" cy="228600"/>
          </a:xfrm>
          <a:prstGeom prst="rect">
            <a:avLst/>
          </a:prstGeom>
          <a:noFill/>
        </p:spPr>
        <p:txBody>
          <a:bodyPr wrap="square" lIns="0" tIns="0" rIns="0" bIns="0" rtlCol="0" anchor="t" anchorCtr="0">
            <a:noAutofit/>
          </a:bodyPr>
          <a:lstStyle/>
          <a:p>
            <a:pPr>
              <a:spcAft>
                <a:spcPts val="600"/>
              </a:spcAft>
            </a:pPr>
            <a:r>
              <a:rPr lang="en-US" sz="800">
                <a:solidFill>
                  <a:srgbClr val="616265">
                    <a:alpha val="75000"/>
                  </a:srgbClr>
                </a:solidFill>
                <a:latin typeface="Arial" panose="020B0604020202020204" pitchFamily="34" charset="0"/>
                <a:cs typeface="Arial" panose="020B0604020202020204" pitchFamily="34" charset="0"/>
              </a:rPr>
              <a:t>PNNL is operated by Battelle for the U.S. Department of Energy</a:t>
            </a:r>
          </a:p>
        </p:txBody>
      </p:sp>
      <p:sp>
        <p:nvSpPr>
          <p:cNvPr id="2" name="Title 1"/>
          <p:cNvSpPr>
            <a:spLocks noGrp="1"/>
          </p:cNvSpPr>
          <p:nvPr>
            <p:ph type="ctrTitle"/>
          </p:nvPr>
        </p:nvSpPr>
        <p:spPr>
          <a:xfrm>
            <a:off x="1371600" y="2743200"/>
            <a:ext cx="4572000" cy="1828800"/>
          </a:xfrm>
          <a:prstGeom prst="rect">
            <a:avLst/>
          </a:prstGeom>
        </p:spPr>
        <p:txBody>
          <a:bodyPr lIns="0" tIns="0" rIns="0" bIns="0" anchor="b">
            <a:noAutofit/>
          </a:bodyPr>
          <a:lstStyle>
            <a:lvl1pPr algn="r">
              <a:defRPr sz="4800" b="1">
                <a:solidFill>
                  <a:schemeClr val="tx2"/>
                </a:solidFill>
                <a:latin typeface="Arial" panose="020B0604020202020204" pitchFamily="34" charset="0"/>
                <a:cs typeface="Arial" panose="020B0604020202020204" pitchFamily="34" charset="0"/>
              </a:defRPr>
            </a:lvl1pPr>
          </a:lstStyle>
          <a:p>
            <a:r>
              <a:rPr lang="en-US"/>
              <a:t>Click to edit Master title style</a:t>
            </a:r>
          </a:p>
        </p:txBody>
      </p:sp>
      <p:sp>
        <p:nvSpPr>
          <p:cNvPr id="20" name="Text Placeholder 19">
            <a:extLst>
              <a:ext uri="{FF2B5EF4-FFF2-40B4-BE49-F238E27FC236}">
                <a16:creationId xmlns:a16="http://schemas.microsoft.com/office/drawing/2014/main" id="{3061D5F4-8719-384B-945C-9A27060F99A0}"/>
              </a:ext>
            </a:extLst>
          </p:cNvPr>
          <p:cNvSpPr>
            <a:spLocks noGrp="1"/>
          </p:cNvSpPr>
          <p:nvPr>
            <p:ph type="body" sz="quarter" idx="10" hasCustomPrompt="1"/>
          </p:nvPr>
        </p:nvSpPr>
        <p:spPr>
          <a:xfrm>
            <a:off x="1370529" y="5669280"/>
            <a:ext cx="4572000" cy="274320"/>
          </a:xfrm>
          <a:prstGeom prst="rect">
            <a:avLst/>
          </a:prstGeom>
        </p:spPr>
        <p:txBody>
          <a:bodyPr wrap="none" lIns="0" tIns="0" rIns="0" bIns="0">
            <a:noAutofit/>
          </a:bodyPr>
          <a:lstStyle>
            <a:lvl1pPr marL="0" indent="0" algn="r">
              <a:buNone/>
              <a:defRPr sz="1800" b="1">
                <a:solidFill>
                  <a:srgbClr val="000000"/>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name</a:t>
            </a:r>
          </a:p>
        </p:txBody>
      </p:sp>
      <p:sp>
        <p:nvSpPr>
          <p:cNvPr id="21" name="Text Placeholder 19">
            <a:extLst>
              <a:ext uri="{FF2B5EF4-FFF2-40B4-BE49-F238E27FC236}">
                <a16:creationId xmlns:a16="http://schemas.microsoft.com/office/drawing/2014/main" id="{3E2D432E-6648-6643-9C6E-38B1EFF5EE31}"/>
              </a:ext>
            </a:extLst>
          </p:cNvPr>
          <p:cNvSpPr>
            <a:spLocks noGrp="1"/>
          </p:cNvSpPr>
          <p:nvPr>
            <p:ph type="body" sz="quarter" idx="11" hasCustomPrompt="1"/>
          </p:nvPr>
        </p:nvSpPr>
        <p:spPr>
          <a:xfrm>
            <a:off x="1371600" y="5983356"/>
            <a:ext cx="4572000" cy="274320"/>
          </a:xfrm>
          <a:prstGeom prst="rect">
            <a:avLst/>
          </a:prstGeom>
        </p:spPr>
        <p:txBody>
          <a:bodyPr wrap="none" lIns="0" tIns="0" rIns="0" bIns="0">
            <a:noAutofit/>
          </a:bodyPr>
          <a:lstStyle>
            <a:lvl1pPr marL="0" indent="0" algn="r">
              <a:buNone/>
              <a:defRPr sz="1600">
                <a:solidFill>
                  <a:srgbClr val="616265"/>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title</a:t>
            </a:r>
          </a:p>
        </p:txBody>
      </p:sp>
      <p:sp>
        <p:nvSpPr>
          <p:cNvPr id="6" name="TextBox 5">
            <a:extLst>
              <a:ext uri="{FF2B5EF4-FFF2-40B4-BE49-F238E27FC236}">
                <a16:creationId xmlns:a16="http://schemas.microsoft.com/office/drawing/2014/main" id="{8915389B-4BB4-1644-9B7E-35A85D0C1E3B}"/>
              </a:ext>
            </a:extLst>
          </p:cNvPr>
          <p:cNvSpPr txBox="1"/>
          <p:nvPr userDrawn="1"/>
        </p:nvSpPr>
        <p:spPr>
          <a:xfrm>
            <a:off x="3710609" y="-1245704"/>
            <a:ext cx="184731" cy="424732"/>
          </a:xfrm>
          <a:prstGeom prst="rect">
            <a:avLst/>
          </a:prstGeom>
          <a:noFill/>
        </p:spPr>
        <p:txBody>
          <a:bodyPr wrap="none" rtlCol="0">
            <a:spAutoFit/>
          </a:bodyPr>
          <a:lstStyle/>
          <a:p>
            <a:endParaRPr lang="en-US"/>
          </a:p>
        </p:txBody>
      </p:sp>
      <p:pic>
        <p:nvPicPr>
          <p:cNvPr id="12" name="Picture 11">
            <a:extLst>
              <a:ext uri="{FF2B5EF4-FFF2-40B4-BE49-F238E27FC236}">
                <a16:creationId xmlns:a16="http://schemas.microsoft.com/office/drawing/2014/main" id="{45A7D3E1-BCC3-C843-81A0-EA4EDFB44528}"/>
              </a:ext>
            </a:extLst>
          </p:cNvPr>
          <p:cNvPicPr>
            <a:picLocks noChangeAspect="1"/>
          </p:cNvPicPr>
          <p:nvPr userDrawn="1"/>
        </p:nvPicPr>
        <p:blipFill>
          <a:blip r:embed="rId2"/>
          <a:stretch>
            <a:fillRect/>
          </a:stretch>
        </p:blipFill>
        <p:spPr>
          <a:xfrm>
            <a:off x="1371600" y="237744"/>
            <a:ext cx="1280160" cy="1249224"/>
          </a:xfrm>
          <a:prstGeom prst="rect">
            <a:avLst/>
          </a:prstGeom>
        </p:spPr>
      </p:pic>
      <p:pic>
        <p:nvPicPr>
          <p:cNvPr id="13" name="Picture 12">
            <a:extLst>
              <a:ext uri="{FF2B5EF4-FFF2-40B4-BE49-F238E27FC236}">
                <a16:creationId xmlns:a16="http://schemas.microsoft.com/office/drawing/2014/main" id="{56617363-F73D-B74F-9647-C9D747AC7023}"/>
              </a:ext>
            </a:extLst>
          </p:cNvPr>
          <p:cNvPicPr>
            <a:picLocks noChangeAspect="1"/>
          </p:cNvPicPr>
          <p:nvPr userDrawn="1"/>
        </p:nvPicPr>
        <p:blipFill>
          <a:blip r:embed="rId3"/>
          <a:srcRect/>
          <a:stretch/>
        </p:blipFill>
        <p:spPr>
          <a:xfrm>
            <a:off x="1420790" y="7188454"/>
            <a:ext cx="1005840" cy="288666"/>
          </a:xfrm>
          <a:prstGeom prst="rect">
            <a:avLst/>
          </a:prstGeom>
        </p:spPr>
      </p:pic>
      <p:pic>
        <p:nvPicPr>
          <p:cNvPr id="14" name="Picture 13">
            <a:extLst>
              <a:ext uri="{FF2B5EF4-FFF2-40B4-BE49-F238E27FC236}">
                <a16:creationId xmlns:a16="http://schemas.microsoft.com/office/drawing/2014/main" id="{D290C8FB-601C-A04C-84F7-213A857D3E6A}"/>
              </a:ext>
            </a:extLst>
          </p:cNvPr>
          <p:cNvPicPr>
            <a:picLocks noChangeAspect="1"/>
          </p:cNvPicPr>
          <p:nvPr userDrawn="1"/>
        </p:nvPicPr>
        <p:blipFill>
          <a:blip r:embed="rId4"/>
          <a:stretch>
            <a:fillRect/>
          </a:stretch>
        </p:blipFill>
        <p:spPr>
          <a:xfrm>
            <a:off x="2481865" y="7255063"/>
            <a:ext cx="929809" cy="155448"/>
          </a:xfrm>
          <a:prstGeom prst="rect">
            <a:avLst/>
          </a:prstGeom>
        </p:spPr>
      </p:pic>
      <p:sp>
        <p:nvSpPr>
          <p:cNvPr id="15" name="Date Placeholder 1">
            <a:extLst>
              <a:ext uri="{FF2B5EF4-FFF2-40B4-BE49-F238E27FC236}">
                <a16:creationId xmlns:a16="http://schemas.microsoft.com/office/drawing/2014/main" id="{9D9DB338-5D5C-4ACA-9ECF-C3E34C44127A}"/>
              </a:ext>
            </a:extLst>
          </p:cNvPr>
          <p:cNvSpPr>
            <a:spLocks noGrp="1"/>
          </p:cNvSpPr>
          <p:nvPr>
            <p:ph type="dt" sz="half" idx="2"/>
          </p:nvPr>
        </p:nvSpPr>
        <p:spPr>
          <a:xfrm>
            <a:off x="2651641" y="4915645"/>
            <a:ext cx="3290888" cy="438150"/>
          </a:xfrm>
          <a:prstGeom prst="rect">
            <a:avLst/>
          </a:prstGeom>
        </p:spPr>
        <p:txBody>
          <a:bodyPr vert="horz" lIns="91440" tIns="45720" rIns="91440" bIns="45720" rtlCol="0" anchor="ctr"/>
          <a:lstStyle>
            <a:lvl1pPr algn="r">
              <a:defRPr sz="1800">
                <a:solidFill>
                  <a:schemeClr val="tx1">
                    <a:tint val="75000"/>
                  </a:schemeClr>
                </a:solidFill>
              </a:defRPr>
            </a:lvl1pPr>
          </a:lstStyle>
          <a:p>
            <a:fld id="{ABD4F8E3-4ED9-44B4-99E6-8A3D2CF8D415}" type="datetime4">
              <a:rPr lang="en-US" smtClean="0"/>
              <a:t>April 22, 2026</a:t>
            </a:fld>
            <a:endParaRPr lang="en-US"/>
          </a:p>
        </p:txBody>
      </p:sp>
      <p:sp>
        <p:nvSpPr>
          <p:cNvPr id="16" name="Footer Placeholder 2">
            <a:extLst>
              <a:ext uri="{FF2B5EF4-FFF2-40B4-BE49-F238E27FC236}">
                <a16:creationId xmlns:a16="http://schemas.microsoft.com/office/drawing/2014/main" id="{F55B65E8-4040-44D0-A4FE-A050FD948A79}"/>
              </a:ext>
            </a:extLst>
          </p:cNvPr>
          <p:cNvSpPr>
            <a:spLocks noGrp="1"/>
          </p:cNvSpPr>
          <p:nvPr>
            <p:ph type="ftr" sz="quarter" idx="3"/>
          </p:nvPr>
        </p:nvSpPr>
        <p:spPr>
          <a:xfrm>
            <a:off x="1189037" y="773011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50130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66026595-8D7E-D24C-9263-B65316A326B9}"/>
              </a:ext>
            </a:extLst>
          </p:cNvPr>
          <p:cNvSpPr>
            <a:spLocks noGrp="1"/>
          </p:cNvSpPr>
          <p:nvPr>
            <p:ph type="pic" sz="quarter" idx="10"/>
          </p:nvPr>
        </p:nvSpPr>
        <p:spPr>
          <a:xfrm>
            <a:off x="6400800" y="457200"/>
            <a:ext cx="7772400" cy="73152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8" name="Text Placeholder 5">
            <a:extLst>
              <a:ext uri="{FF2B5EF4-FFF2-40B4-BE49-F238E27FC236}">
                <a16:creationId xmlns:a16="http://schemas.microsoft.com/office/drawing/2014/main" id="{1D0CE8D1-2F12-5A44-A6B5-2CD466F52A60}"/>
              </a:ext>
            </a:extLst>
          </p:cNvPr>
          <p:cNvSpPr>
            <a:spLocks noGrp="1"/>
          </p:cNvSpPr>
          <p:nvPr>
            <p:ph type="body" sz="quarter" idx="14" hasCustomPrompt="1"/>
          </p:nvPr>
        </p:nvSpPr>
        <p:spPr>
          <a:xfrm>
            <a:off x="6400800" y="6858000"/>
            <a:ext cx="77724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9" name="Title 1">
            <a:extLst>
              <a:ext uri="{FF2B5EF4-FFF2-40B4-BE49-F238E27FC236}">
                <a16:creationId xmlns:a16="http://schemas.microsoft.com/office/drawing/2014/main" id="{B99B87A2-8960-403D-AE0D-D54946272206}"/>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1" name="Content Placeholder 13">
            <a:extLst>
              <a:ext uri="{FF2B5EF4-FFF2-40B4-BE49-F238E27FC236}">
                <a16:creationId xmlns:a16="http://schemas.microsoft.com/office/drawing/2014/main" id="{29354FF4-9871-4E1B-A45A-ABAA2BE2B69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47EFCEB6-2E27-4C42-A1E5-AC8A8BA83783}"/>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4/22/2026</a:t>
            </a:fld>
            <a:endParaRPr lang="en-US"/>
          </a:p>
        </p:txBody>
      </p:sp>
      <p:sp>
        <p:nvSpPr>
          <p:cNvPr id="15" name="Footer Placeholder 2">
            <a:extLst>
              <a:ext uri="{FF2B5EF4-FFF2-40B4-BE49-F238E27FC236}">
                <a16:creationId xmlns:a16="http://schemas.microsoft.com/office/drawing/2014/main" id="{A86FAFB9-0DC0-4AB0-9E8B-6EC7C8ABAAF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957828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rge Text Box">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2" name="Content Placeholder 4">
            <a:extLst>
              <a:ext uri="{FF2B5EF4-FFF2-40B4-BE49-F238E27FC236}">
                <a16:creationId xmlns:a16="http://schemas.microsoft.com/office/drawing/2014/main" id="{F0C408BC-A7DE-4A08-AD26-56414D2DD808}"/>
              </a:ext>
            </a:extLst>
          </p:cNvPr>
          <p:cNvSpPr>
            <a:spLocks noGrp="1"/>
          </p:cNvSpPr>
          <p:nvPr>
            <p:ph sz="quarter" idx="20"/>
          </p:nvPr>
        </p:nvSpPr>
        <p:spPr>
          <a:xfrm>
            <a:off x="6430642" y="457199"/>
            <a:ext cx="7772400" cy="7315200"/>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A3C58F0F-5237-4527-BB8E-6EEF623543B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
            <a:extLst>
              <a:ext uri="{FF2B5EF4-FFF2-40B4-BE49-F238E27FC236}">
                <a16:creationId xmlns:a16="http://schemas.microsoft.com/office/drawing/2014/main" id="{33D0FD2D-15F4-4320-9C04-2023CAB47E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4/22/2026</a:t>
            </a:fld>
            <a:endParaRPr lang="en-US"/>
          </a:p>
        </p:txBody>
      </p:sp>
      <p:sp>
        <p:nvSpPr>
          <p:cNvPr id="19" name="Footer Placeholder 2">
            <a:extLst>
              <a:ext uri="{FF2B5EF4-FFF2-40B4-BE49-F238E27FC236}">
                <a16:creationId xmlns:a16="http://schemas.microsoft.com/office/drawing/2014/main" id="{08FBEF60-4239-4E67-A385-B22B813AD40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20" name="Title 1">
            <a:extLst>
              <a:ext uri="{FF2B5EF4-FFF2-40B4-BE49-F238E27FC236}">
                <a16:creationId xmlns:a16="http://schemas.microsoft.com/office/drawing/2014/main" id="{77614967-FAA9-4DA9-B7DE-539AA8923534}"/>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99034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0" name="Content Placeholder 4">
            <a:extLst>
              <a:ext uri="{FF2B5EF4-FFF2-40B4-BE49-F238E27FC236}">
                <a16:creationId xmlns:a16="http://schemas.microsoft.com/office/drawing/2014/main" id="{028E3363-7137-4431-9927-3AE087A5B2BE}"/>
              </a:ext>
            </a:extLst>
          </p:cNvPr>
          <p:cNvSpPr>
            <a:spLocks noGrp="1"/>
          </p:cNvSpPr>
          <p:nvPr>
            <p:ph sz="quarter" idx="20"/>
          </p:nvPr>
        </p:nvSpPr>
        <p:spPr>
          <a:xfrm>
            <a:off x="1371600" y="2057399"/>
            <a:ext cx="12801600" cy="5486401"/>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E76F451D-D169-4CA9-91EE-97F19A35C6DE}"/>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4/22/2026</a:t>
            </a:fld>
            <a:endParaRPr lang="en-US"/>
          </a:p>
        </p:txBody>
      </p:sp>
      <p:sp>
        <p:nvSpPr>
          <p:cNvPr id="15" name="Footer Placeholder 2">
            <a:extLst>
              <a:ext uri="{FF2B5EF4-FFF2-40B4-BE49-F238E27FC236}">
                <a16:creationId xmlns:a16="http://schemas.microsoft.com/office/drawing/2014/main" id="{8A19F790-0343-4862-A140-1B409986B7F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80679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64008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7" name="Picture Placeholder 2">
            <a:extLst>
              <a:ext uri="{FF2B5EF4-FFF2-40B4-BE49-F238E27FC236}">
                <a16:creationId xmlns:a16="http://schemas.microsoft.com/office/drawing/2014/main" id="{FD00854A-4EC7-2D48-A025-5B0B48548BC7}"/>
              </a:ext>
            </a:extLst>
          </p:cNvPr>
          <p:cNvSpPr>
            <a:spLocks noGrp="1"/>
          </p:cNvSpPr>
          <p:nvPr>
            <p:ph type="pic" sz="quarter" idx="11"/>
          </p:nvPr>
        </p:nvSpPr>
        <p:spPr>
          <a:xfrm>
            <a:off x="105156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8" name="Picture Placeholder 2">
            <a:extLst>
              <a:ext uri="{FF2B5EF4-FFF2-40B4-BE49-F238E27FC236}">
                <a16:creationId xmlns:a16="http://schemas.microsoft.com/office/drawing/2014/main" id="{67A8C708-D197-CF47-8089-89928BE1E302}"/>
              </a:ext>
            </a:extLst>
          </p:cNvPr>
          <p:cNvSpPr>
            <a:spLocks noGrp="1"/>
          </p:cNvSpPr>
          <p:nvPr>
            <p:ph type="pic" sz="quarter" idx="12"/>
          </p:nvPr>
        </p:nvSpPr>
        <p:spPr>
          <a:xfrm>
            <a:off x="64008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2" name="Picture Placeholder 2">
            <a:extLst>
              <a:ext uri="{FF2B5EF4-FFF2-40B4-BE49-F238E27FC236}">
                <a16:creationId xmlns:a16="http://schemas.microsoft.com/office/drawing/2014/main" id="{3C4D2EBC-B863-FD49-A9DF-1381563078DA}"/>
              </a:ext>
            </a:extLst>
          </p:cNvPr>
          <p:cNvSpPr>
            <a:spLocks noGrp="1"/>
          </p:cNvSpPr>
          <p:nvPr>
            <p:ph type="pic" sz="quarter" idx="13"/>
          </p:nvPr>
        </p:nvSpPr>
        <p:spPr>
          <a:xfrm>
            <a:off x="105156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6" name="Text Placeholder 5">
            <a:extLst>
              <a:ext uri="{FF2B5EF4-FFF2-40B4-BE49-F238E27FC236}">
                <a16:creationId xmlns:a16="http://schemas.microsoft.com/office/drawing/2014/main" id="{CE93B472-4A32-7C41-A565-485FDC3EB832}"/>
              </a:ext>
            </a:extLst>
          </p:cNvPr>
          <p:cNvSpPr>
            <a:spLocks noGrp="1"/>
          </p:cNvSpPr>
          <p:nvPr>
            <p:ph type="body" sz="quarter" idx="14" hasCustomPrompt="1"/>
          </p:nvPr>
        </p:nvSpPr>
        <p:spPr>
          <a:xfrm>
            <a:off x="64008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3" name="Text Placeholder 5">
            <a:extLst>
              <a:ext uri="{FF2B5EF4-FFF2-40B4-BE49-F238E27FC236}">
                <a16:creationId xmlns:a16="http://schemas.microsoft.com/office/drawing/2014/main" id="{19F7807A-D120-BD49-9CBD-9174F26D7982}"/>
              </a:ext>
            </a:extLst>
          </p:cNvPr>
          <p:cNvSpPr>
            <a:spLocks noGrp="1"/>
          </p:cNvSpPr>
          <p:nvPr>
            <p:ph type="body" sz="quarter" idx="15" hasCustomPrompt="1"/>
          </p:nvPr>
        </p:nvSpPr>
        <p:spPr>
          <a:xfrm>
            <a:off x="64008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4" name="Text Placeholder 5">
            <a:extLst>
              <a:ext uri="{FF2B5EF4-FFF2-40B4-BE49-F238E27FC236}">
                <a16:creationId xmlns:a16="http://schemas.microsoft.com/office/drawing/2014/main" id="{08ED17FC-CAF8-9A40-9A88-897DEF9CFEA0}"/>
              </a:ext>
            </a:extLst>
          </p:cNvPr>
          <p:cNvSpPr>
            <a:spLocks noGrp="1"/>
          </p:cNvSpPr>
          <p:nvPr>
            <p:ph type="body" sz="quarter" idx="16" hasCustomPrompt="1"/>
          </p:nvPr>
        </p:nvSpPr>
        <p:spPr>
          <a:xfrm>
            <a:off x="105156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5" name="Text Placeholder 5">
            <a:extLst>
              <a:ext uri="{FF2B5EF4-FFF2-40B4-BE49-F238E27FC236}">
                <a16:creationId xmlns:a16="http://schemas.microsoft.com/office/drawing/2014/main" id="{4A16FA60-8BA9-8B4A-86AA-F8336C26C78B}"/>
              </a:ext>
            </a:extLst>
          </p:cNvPr>
          <p:cNvSpPr>
            <a:spLocks noGrp="1"/>
          </p:cNvSpPr>
          <p:nvPr>
            <p:ph type="body" sz="quarter" idx="17" hasCustomPrompt="1"/>
          </p:nvPr>
        </p:nvSpPr>
        <p:spPr>
          <a:xfrm>
            <a:off x="105156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6" name="Slide Number Placeholder 3">
            <a:extLst>
              <a:ext uri="{FF2B5EF4-FFF2-40B4-BE49-F238E27FC236}">
                <a16:creationId xmlns:a16="http://schemas.microsoft.com/office/drawing/2014/main" id="{7DC2EC3E-C641-FD49-9F15-878B1AFFFD98}"/>
              </a:ext>
            </a:extLst>
          </p:cNvPr>
          <p:cNvSpPr>
            <a:spLocks noGrp="1"/>
          </p:cNvSpPr>
          <p:nvPr>
            <p:ph type="sldNum" sz="quarter" idx="18"/>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9" name="Title 1">
            <a:extLst>
              <a:ext uri="{FF2B5EF4-FFF2-40B4-BE49-F238E27FC236}">
                <a16:creationId xmlns:a16="http://schemas.microsoft.com/office/drawing/2014/main" id="{3648737A-DE0E-48DB-87F0-65418715CF88}"/>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21" name="Content Placeholder 13">
            <a:extLst>
              <a:ext uri="{FF2B5EF4-FFF2-40B4-BE49-F238E27FC236}">
                <a16:creationId xmlns:a16="http://schemas.microsoft.com/office/drawing/2014/main" id="{97DA340F-6103-4F2C-B3B8-8D8A524DC19C}"/>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1">
            <a:extLst>
              <a:ext uri="{FF2B5EF4-FFF2-40B4-BE49-F238E27FC236}">
                <a16:creationId xmlns:a16="http://schemas.microsoft.com/office/drawing/2014/main" id="{EE384947-F0AD-4E73-95AD-CAD4DEE446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4/22/2026</a:t>
            </a:fld>
            <a:endParaRPr lang="en-US"/>
          </a:p>
        </p:txBody>
      </p:sp>
      <p:sp>
        <p:nvSpPr>
          <p:cNvPr id="26" name="Footer Placeholder 2">
            <a:extLst>
              <a:ext uri="{FF2B5EF4-FFF2-40B4-BE49-F238E27FC236}">
                <a16:creationId xmlns:a16="http://schemas.microsoft.com/office/drawing/2014/main" id="{8259C4D6-850D-4393-9434-3F69451FBF8E}"/>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41093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Picture Grid with Subhea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6" name="Title 1">
            <a:extLst>
              <a:ext uri="{FF2B5EF4-FFF2-40B4-BE49-F238E27FC236}">
                <a16:creationId xmlns:a16="http://schemas.microsoft.com/office/drawing/2014/main" id="{BE0A6ECC-C9D0-4240-B978-69D09F2C9936}"/>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30" name="Date Placeholder 1">
            <a:extLst>
              <a:ext uri="{FF2B5EF4-FFF2-40B4-BE49-F238E27FC236}">
                <a16:creationId xmlns:a16="http://schemas.microsoft.com/office/drawing/2014/main" id="{E4CF0CE7-333F-4604-B518-6F7EE2AA82D5}"/>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4/22/2026</a:t>
            </a:fld>
            <a:endParaRPr lang="en-US"/>
          </a:p>
        </p:txBody>
      </p:sp>
      <p:sp>
        <p:nvSpPr>
          <p:cNvPr id="31" name="Footer Placeholder 2">
            <a:extLst>
              <a:ext uri="{FF2B5EF4-FFF2-40B4-BE49-F238E27FC236}">
                <a16:creationId xmlns:a16="http://schemas.microsoft.com/office/drawing/2014/main" id="{21303C4E-FB0C-4A46-BF34-C99D885AA3B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2" name="Content Placeholder 4">
            <a:extLst>
              <a:ext uri="{FF2B5EF4-FFF2-40B4-BE49-F238E27FC236}">
                <a16:creationId xmlns:a16="http://schemas.microsoft.com/office/drawing/2014/main" id="{C14080C3-5390-4F4E-9C88-2C080B5CE5D9}"/>
              </a:ext>
            </a:extLst>
          </p:cNvPr>
          <p:cNvSpPr>
            <a:spLocks noGrp="1"/>
          </p:cNvSpPr>
          <p:nvPr>
            <p:ph sz="quarter" idx="24"/>
          </p:nvPr>
        </p:nvSpPr>
        <p:spPr>
          <a:xfrm>
            <a:off x="1371600" y="2194560"/>
            <a:ext cx="12801600" cy="525886"/>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5008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8" name="Date Placeholder 1">
            <a:extLst>
              <a:ext uri="{FF2B5EF4-FFF2-40B4-BE49-F238E27FC236}">
                <a16:creationId xmlns:a16="http://schemas.microsoft.com/office/drawing/2014/main" id="{68F188F7-153E-49D5-8DFC-19025204703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4/22/2026</a:t>
            </a:fld>
            <a:endParaRPr lang="en-US"/>
          </a:p>
        </p:txBody>
      </p:sp>
      <p:sp>
        <p:nvSpPr>
          <p:cNvPr id="29" name="Footer Placeholder 2">
            <a:extLst>
              <a:ext uri="{FF2B5EF4-FFF2-40B4-BE49-F238E27FC236}">
                <a16:creationId xmlns:a16="http://schemas.microsoft.com/office/drawing/2014/main" id="{578EF931-9BED-4D2C-8850-F588C3E36023}"/>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0" name="Title 1">
            <a:extLst>
              <a:ext uri="{FF2B5EF4-FFF2-40B4-BE49-F238E27FC236}">
                <a16:creationId xmlns:a16="http://schemas.microsoft.com/office/drawing/2014/main" id="{7B7AD090-7EA2-424E-A15B-B80A20326A1D}"/>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48292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Date Placeholder 1">
            <a:extLst>
              <a:ext uri="{FF2B5EF4-FFF2-40B4-BE49-F238E27FC236}">
                <a16:creationId xmlns:a16="http://schemas.microsoft.com/office/drawing/2014/main" id="{8F28E1ED-1888-403E-AAF0-8053EF9DF5E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4/22/2026</a:t>
            </a:fld>
            <a:endParaRPr lang="en-US"/>
          </a:p>
        </p:txBody>
      </p:sp>
      <p:sp>
        <p:nvSpPr>
          <p:cNvPr id="7" name="Footer Placeholder 2">
            <a:extLst>
              <a:ext uri="{FF2B5EF4-FFF2-40B4-BE49-F238E27FC236}">
                <a16:creationId xmlns:a16="http://schemas.microsoft.com/office/drawing/2014/main" id="{227E8059-8EC0-42A2-8A9E-251427CDC055}"/>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26914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 Conclusion">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chemeClr val="bg1"/>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extBox 5">
            <a:extLst>
              <a:ext uri="{FF2B5EF4-FFF2-40B4-BE49-F238E27FC236}">
                <a16:creationId xmlns:a16="http://schemas.microsoft.com/office/drawing/2014/main" id="{D366D1A4-6DD7-B54C-AB7B-63074374BB93}"/>
              </a:ext>
            </a:extLst>
          </p:cNvPr>
          <p:cNvSpPr txBox="1"/>
          <p:nvPr userDrawn="1"/>
        </p:nvSpPr>
        <p:spPr>
          <a:xfrm>
            <a:off x="1371600" y="2057400"/>
            <a:ext cx="4572000" cy="5486400"/>
          </a:xfrm>
          <a:prstGeom prst="rect">
            <a:avLst/>
          </a:prstGeom>
          <a:noFill/>
        </p:spPr>
        <p:txBody>
          <a:bodyPr wrap="square" lIns="0" tIns="0" rIns="0" bIns="0" rtlCol="0" anchor="ctr" anchorCtr="0">
            <a:noAutofit/>
          </a:bodyPr>
          <a:lstStyle/>
          <a:p>
            <a:pPr>
              <a:lnSpc>
                <a:spcPct val="90000"/>
              </a:lnSpc>
            </a:pPr>
            <a:r>
              <a:rPr lang="en-US" sz="4800" b="1">
                <a:solidFill>
                  <a:schemeClr val="tx2"/>
                </a:solidFill>
                <a:latin typeface="Arial" panose="020B0604020202020204" pitchFamily="34" charset="0"/>
                <a:cs typeface="Arial" panose="020B0604020202020204" pitchFamily="34" charset="0"/>
              </a:rPr>
              <a:t>Thank you</a:t>
            </a:r>
          </a:p>
        </p:txBody>
      </p:sp>
      <p:sp>
        <p:nvSpPr>
          <p:cNvPr id="9" name="Footer Placeholder 2">
            <a:extLst>
              <a:ext uri="{FF2B5EF4-FFF2-40B4-BE49-F238E27FC236}">
                <a16:creationId xmlns:a16="http://schemas.microsoft.com/office/drawing/2014/main" id="{B62A8373-42F9-431F-865E-129CCA0046BE}"/>
              </a:ext>
            </a:extLst>
          </p:cNvPr>
          <p:cNvSpPr>
            <a:spLocks noGrp="1"/>
          </p:cNvSpPr>
          <p:nvPr>
            <p:ph type="ftr" sz="quarter" idx="3"/>
          </p:nvPr>
        </p:nvSpPr>
        <p:spPr>
          <a:xfrm>
            <a:off x="929247" y="7772400"/>
            <a:ext cx="5471554"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24176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29221F-20F2-144C-A638-0A6C756C26C9}"/>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588D28A-E737-5049-8A98-3AC3A6EA2CDB}"/>
              </a:ext>
            </a:extLst>
          </p:cNvPr>
          <p:cNvPicPr>
            <a:picLocks noChangeAspect="1"/>
          </p:cNvPicPr>
          <p:nvPr userDrawn="1"/>
        </p:nvPicPr>
        <p:blipFill>
          <a:blip r:embed="rId12"/>
          <a:stretch>
            <a:fillRect/>
          </a:stretch>
        </p:blipFill>
        <p:spPr>
          <a:xfrm>
            <a:off x="1371600" y="237744"/>
            <a:ext cx="1280160" cy="1249224"/>
          </a:xfrm>
          <a:prstGeom prst="rect">
            <a:avLst/>
          </a:prstGeom>
        </p:spPr>
      </p:pic>
      <p:sp>
        <p:nvSpPr>
          <p:cNvPr id="3" name="Footer Placeholder 2">
            <a:extLst>
              <a:ext uri="{FF2B5EF4-FFF2-40B4-BE49-F238E27FC236}">
                <a16:creationId xmlns:a16="http://schemas.microsoft.com/office/drawing/2014/main" id="{5EEAA279-64AD-4C24-987C-D056E5350C46}"/>
              </a:ext>
            </a:extLst>
          </p:cNvPr>
          <p:cNvSpPr>
            <a:spLocks noGrp="1"/>
          </p:cNvSpPr>
          <p:nvPr>
            <p:ph type="ftr" sz="quarter" idx="3"/>
          </p:nvPr>
        </p:nvSpPr>
        <p:spPr>
          <a:xfrm>
            <a:off x="1189037" y="762793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64710702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im3.pnnl.gov/datacenter-atlas"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D0D9-1CAC-4FBD-8120-CBD5A07EB995}"/>
              </a:ext>
            </a:extLst>
          </p:cNvPr>
          <p:cNvSpPr>
            <a:spLocks noGrp="1"/>
          </p:cNvSpPr>
          <p:nvPr>
            <p:ph type="ctrTitle"/>
          </p:nvPr>
        </p:nvSpPr>
        <p:spPr/>
        <p:txBody>
          <a:bodyPr/>
          <a:lstStyle/>
          <a:p>
            <a:r>
              <a:rPr lang="en-US"/>
              <a:t>TRACK: Extreme Weather and Data Center Siting</a:t>
            </a:r>
          </a:p>
        </p:txBody>
      </p:sp>
      <p:sp>
        <p:nvSpPr>
          <p:cNvPr id="6" name="Date Placeholder 5">
            <a:extLst>
              <a:ext uri="{FF2B5EF4-FFF2-40B4-BE49-F238E27FC236}">
                <a16:creationId xmlns:a16="http://schemas.microsoft.com/office/drawing/2014/main" id="{B8696A4F-5314-46CD-B205-CC2D44570D66}"/>
              </a:ext>
            </a:extLst>
          </p:cNvPr>
          <p:cNvSpPr>
            <a:spLocks noGrp="1"/>
          </p:cNvSpPr>
          <p:nvPr>
            <p:ph type="dt" sz="half" idx="2"/>
          </p:nvPr>
        </p:nvSpPr>
        <p:spPr/>
        <p:txBody>
          <a:bodyPr/>
          <a:lstStyle/>
          <a:p>
            <a:fld id="{4E130ED9-0C27-4EF1-9F86-D29E4EA507BE}" type="datetime4">
              <a:rPr lang="en-US" smtClean="0"/>
              <a:t>April 22, 2026</a:t>
            </a:fld>
            <a:endParaRPr lang="en-US"/>
          </a:p>
        </p:txBody>
      </p:sp>
      <p:sp>
        <p:nvSpPr>
          <p:cNvPr id="7" name="Rectangle 1">
            <a:extLst>
              <a:ext uri="{FF2B5EF4-FFF2-40B4-BE49-F238E27FC236}">
                <a16:creationId xmlns:a16="http://schemas.microsoft.com/office/drawing/2014/main" id="{2F386920-9A4C-4B82-2357-98D72A83D08B}"/>
              </a:ext>
            </a:extLst>
          </p:cNvPr>
          <p:cNvSpPr>
            <a:spLocks noChangeArrowheads="1"/>
          </p:cNvSpPr>
          <p:nvPr/>
        </p:nvSpPr>
        <p:spPr bwMode="auto">
          <a:xfrm>
            <a:off x="0" y="-323165"/>
            <a:ext cx="7008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Tea </a:t>
            </a:r>
          </a:p>
        </p:txBody>
      </p:sp>
      <p:sp>
        <p:nvSpPr>
          <p:cNvPr id="9" name="TextBox 8">
            <a:extLst>
              <a:ext uri="{FF2B5EF4-FFF2-40B4-BE49-F238E27FC236}">
                <a16:creationId xmlns:a16="http://schemas.microsoft.com/office/drawing/2014/main" id="{80867AE4-38EA-CE9E-35A3-2D447FBA6486}"/>
              </a:ext>
            </a:extLst>
          </p:cNvPr>
          <p:cNvSpPr txBox="1"/>
          <p:nvPr/>
        </p:nvSpPr>
        <p:spPr>
          <a:xfrm>
            <a:off x="1139688" y="5697440"/>
            <a:ext cx="4101371"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Arial" panose="020B0604020202020204" pitchFamily="34" charset="0"/>
              </a:rPr>
              <a:t>TRACK</a:t>
            </a:r>
          </a:p>
        </p:txBody>
      </p:sp>
      <p:sp>
        <p:nvSpPr>
          <p:cNvPr id="10" name="TextBox 9">
            <a:extLst>
              <a:ext uri="{FF2B5EF4-FFF2-40B4-BE49-F238E27FC236}">
                <a16:creationId xmlns:a16="http://schemas.microsoft.com/office/drawing/2014/main" id="{692263F0-6C74-BDC4-B072-CA6AADADA4D7}"/>
              </a:ext>
            </a:extLst>
          </p:cNvPr>
          <p:cNvSpPr txBox="1"/>
          <p:nvPr/>
        </p:nvSpPr>
        <p:spPr>
          <a:xfrm>
            <a:off x="1139688" y="6090855"/>
            <a:ext cx="4929808" cy="646331"/>
          </a:xfrm>
          <a:prstGeom prst="rect">
            <a:avLst/>
          </a:prstGeom>
          <a:noFill/>
        </p:spPr>
        <p:txBody>
          <a:bodyPr wrap="square">
            <a:spAutoFit/>
          </a:bodyPr>
          <a:lstStyle/>
          <a:p>
            <a:pPr lvl="0" defTabSz="914400" eaLnBrk="0" fontAlgn="base" hangingPunct="0">
              <a:spcBef>
                <a:spcPct val="0"/>
              </a:spcBef>
              <a:spcAft>
                <a:spcPct val="0"/>
              </a:spcAft>
            </a:pPr>
            <a:r>
              <a:rPr kumimoji="0" lang="en-US" altLang="en-US" sz="1800" b="1" i="0" u="sng" strike="noStrike" cap="none" normalizeH="0" baseline="0">
                <a:ln>
                  <a:noFill/>
                </a:ln>
                <a:solidFill>
                  <a:schemeClr val="tx1"/>
                </a:solidFill>
                <a:effectLst/>
                <a:latin typeface="Arial" panose="020B0604020202020204" pitchFamily="34" charset="0"/>
              </a:rPr>
              <a:t>T</a:t>
            </a:r>
            <a:r>
              <a:rPr kumimoji="0" lang="en-US" altLang="en-US" sz="1800" b="0" i="0" u="none" strike="noStrike" cap="none" normalizeH="0" baseline="0">
                <a:ln>
                  <a:noFill/>
                </a:ln>
                <a:solidFill>
                  <a:schemeClr val="tx1"/>
                </a:solidFill>
                <a:effectLst/>
                <a:latin typeface="Arial" panose="020B0604020202020204" pitchFamily="34" charset="0"/>
              </a:rPr>
              <a:t>homas Benson, </a:t>
            </a:r>
            <a:r>
              <a:rPr kumimoji="0" lang="en-US" altLang="en-US" sz="1800" b="1" i="0" u="sng" strike="noStrike" cap="none" normalizeH="0" baseline="0">
                <a:ln>
                  <a:noFill/>
                </a:ln>
                <a:solidFill>
                  <a:schemeClr val="tx1"/>
                </a:solidFill>
                <a:effectLst/>
                <a:latin typeface="Arial" panose="020B0604020202020204" pitchFamily="34" charset="0"/>
              </a:rPr>
              <a:t>R</a:t>
            </a:r>
            <a:r>
              <a:rPr kumimoji="0" lang="en-US" altLang="en-US" sz="1800" b="0" i="0" u="none" strike="noStrike" cap="none" normalizeH="0" baseline="0">
                <a:ln>
                  <a:noFill/>
                </a:ln>
                <a:solidFill>
                  <a:schemeClr val="tx1"/>
                </a:solidFill>
                <a:effectLst/>
                <a:latin typeface="Arial" panose="020B0604020202020204" pitchFamily="34" charset="0"/>
              </a:rPr>
              <a:t>ajiv Prasad, </a:t>
            </a:r>
            <a:r>
              <a:rPr kumimoji="0" lang="en-US" altLang="en-US" sz="1800" b="1" i="0" u="sng" strike="noStrike" cap="none" normalizeH="0" baseline="0">
                <a:ln>
                  <a:noFill/>
                </a:ln>
                <a:solidFill>
                  <a:schemeClr val="tx1"/>
                </a:solidFill>
                <a:effectLst/>
                <a:latin typeface="Arial" panose="020B0604020202020204" pitchFamily="34" charset="0"/>
              </a:rPr>
              <a:t>A</a:t>
            </a:r>
            <a:r>
              <a:rPr kumimoji="0" lang="en-US" altLang="en-US" sz="1800" b="0" i="0" u="none" strike="noStrike" cap="none" normalizeH="0" baseline="0">
                <a:ln>
                  <a:noFill/>
                </a:ln>
                <a:solidFill>
                  <a:schemeClr val="tx1"/>
                </a:solidFill>
                <a:effectLst/>
                <a:latin typeface="Arial" panose="020B0604020202020204" pitchFamily="34" charset="0"/>
              </a:rPr>
              <a:t>nastasia Bernat, </a:t>
            </a:r>
            <a:r>
              <a:rPr kumimoji="0" lang="en-US" altLang="en-US" sz="1800" b="1" i="0" u="sng" strike="noStrike" cap="none" normalizeH="0" baseline="0">
                <a:ln>
                  <a:noFill/>
                </a:ln>
                <a:solidFill>
                  <a:schemeClr val="tx1"/>
                </a:solidFill>
                <a:effectLst/>
                <a:latin typeface="Arial" panose="020B0604020202020204" pitchFamily="34" charset="0"/>
              </a:rPr>
              <a:t>C</a:t>
            </a:r>
            <a:r>
              <a:rPr kumimoji="0" lang="en-US" altLang="en-US" sz="1800" b="0" i="0" u="none" strike="noStrike" cap="none" normalizeH="0" baseline="0">
                <a:ln>
                  <a:noFill/>
                </a:ln>
                <a:solidFill>
                  <a:schemeClr val="tx1"/>
                </a:solidFill>
                <a:effectLst/>
                <a:latin typeface="Arial" panose="020B0604020202020204" pitchFamily="34" charset="0"/>
              </a:rPr>
              <a:t>ole Woodford, and </a:t>
            </a:r>
            <a:r>
              <a:rPr kumimoji="0" lang="en-US" altLang="en-US" sz="1800" b="1" i="0" u="sng" strike="noStrike" cap="none" normalizeH="0" baseline="0">
                <a:ln>
                  <a:noFill/>
                </a:ln>
                <a:solidFill>
                  <a:schemeClr val="tx1"/>
                </a:solidFill>
                <a:effectLst/>
                <a:latin typeface="Arial" panose="020B0604020202020204" pitchFamily="34" charset="0"/>
              </a:rPr>
              <a:t>K</a:t>
            </a:r>
            <a:r>
              <a:rPr kumimoji="0" lang="en-US" altLang="en-US" sz="1800" b="0" i="0" u="none" strike="noStrike" cap="none" normalizeH="0" baseline="0">
                <a:ln>
                  <a:noFill/>
                </a:ln>
                <a:solidFill>
                  <a:schemeClr val="tx1"/>
                </a:solidFill>
                <a:effectLst/>
                <a:latin typeface="Arial" panose="020B0604020202020204" pitchFamily="34" charset="0"/>
              </a:rPr>
              <a:t>evin Atkinson</a:t>
            </a:r>
          </a:p>
        </p:txBody>
      </p:sp>
    </p:spTree>
    <p:extLst>
      <p:ext uri="{BB962C8B-B14F-4D97-AF65-F5344CB8AC3E}">
        <p14:creationId xmlns:p14="http://schemas.microsoft.com/office/powerpoint/2010/main" val="115215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0BD2FD-1A79-4E55-9458-9294D45BDD02}"/>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2</a:t>
            </a:fld>
            <a:endParaRPr lang="en-US"/>
          </a:p>
        </p:txBody>
      </p:sp>
      <p:grpSp>
        <p:nvGrpSpPr>
          <p:cNvPr id="5" name="Group 4">
            <a:extLst>
              <a:ext uri="{FF2B5EF4-FFF2-40B4-BE49-F238E27FC236}">
                <a16:creationId xmlns:a16="http://schemas.microsoft.com/office/drawing/2014/main" id="{E0323359-975D-B188-E456-116754CBD0AB}"/>
              </a:ext>
            </a:extLst>
          </p:cNvPr>
          <p:cNvGrpSpPr/>
          <p:nvPr/>
        </p:nvGrpSpPr>
        <p:grpSpPr>
          <a:xfrm>
            <a:off x="5671716" y="543832"/>
            <a:ext cx="8775803" cy="7429526"/>
            <a:chOff x="5671716" y="543832"/>
            <a:chExt cx="8775803" cy="7429526"/>
          </a:xfrm>
        </p:grpSpPr>
        <p:sp>
          <p:nvSpPr>
            <p:cNvPr id="7" name="Freeform: Shape 6">
              <a:extLst>
                <a:ext uri="{FF2B5EF4-FFF2-40B4-BE49-F238E27FC236}">
                  <a16:creationId xmlns:a16="http://schemas.microsoft.com/office/drawing/2014/main" id="{98F0CB05-CCA4-F2F6-8FCA-5EB1FC7A5D8E}"/>
                </a:ext>
              </a:extLst>
            </p:cNvPr>
            <p:cNvSpPr/>
            <p:nvPr/>
          </p:nvSpPr>
          <p:spPr>
            <a:xfrm>
              <a:off x="5671716" y="543832"/>
              <a:ext cx="8775803" cy="548640"/>
            </a:xfrm>
            <a:custGeom>
              <a:avLst/>
              <a:gdLst>
                <a:gd name="csX0" fmla="*/ 0 w 8775803"/>
                <a:gd name="csY0" fmla="*/ 91442 h 548640"/>
                <a:gd name="csX1" fmla="*/ 91442 w 8775803"/>
                <a:gd name="csY1" fmla="*/ 0 h 548640"/>
                <a:gd name="csX2" fmla="*/ 8684361 w 8775803"/>
                <a:gd name="csY2" fmla="*/ 0 h 548640"/>
                <a:gd name="csX3" fmla="*/ 8775803 w 8775803"/>
                <a:gd name="csY3" fmla="*/ 91442 h 548640"/>
                <a:gd name="csX4" fmla="*/ 8775803 w 8775803"/>
                <a:gd name="csY4" fmla="*/ 457198 h 548640"/>
                <a:gd name="csX5" fmla="*/ 8684361 w 8775803"/>
                <a:gd name="csY5" fmla="*/ 548640 h 548640"/>
                <a:gd name="csX6" fmla="*/ 91442 w 8775803"/>
                <a:gd name="csY6" fmla="*/ 548640 h 548640"/>
                <a:gd name="csX7" fmla="*/ 0 w 8775803"/>
                <a:gd name="csY7" fmla="*/ 457198 h 548640"/>
                <a:gd name="csX8" fmla="*/ 0 w 8775803"/>
                <a:gd name="csY8" fmla="*/ 91442 h 548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775803" h="548640">
                  <a:moveTo>
                    <a:pt x="0" y="91442"/>
                  </a:moveTo>
                  <a:cubicBezTo>
                    <a:pt x="0" y="40940"/>
                    <a:pt x="40940" y="0"/>
                    <a:pt x="91442" y="0"/>
                  </a:cubicBezTo>
                  <a:lnTo>
                    <a:pt x="8684361" y="0"/>
                  </a:lnTo>
                  <a:cubicBezTo>
                    <a:pt x="8734863" y="0"/>
                    <a:pt x="8775803" y="40940"/>
                    <a:pt x="8775803" y="91442"/>
                  </a:cubicBezTo>
                  <a:lnTo>
                    <a:pt x="8775803" y="457198"/>
                  </a:lnTo>
                  <a:cubicBezTo>
                    <a:pt x="8775803" y="507700"/>
                    <a:pt x="8734863" y="548640"/>
                    <a:pt x="8684361" y="548640"/>
                  </a:cubicBezTo>
                  <a:lnTo>
                    <a:pt x="91442" y="548640"/>
                  </a:lnTo>
                  <a:cubicBezTo>
                    <a:pt x="40940" y="548640"/>
                    <a:pt x="0" y="507700"/>
                    <a:pt x="0" y="457198"/>
                  </a:cubicBezTo>
                  <a:lnTo>
                    <a:pt x="0" y="91442"/>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4412" tIns="114412" rIns="114412" bIns="114412" numCol="1" spcCol="1270" anchor="ctr" anchorCtr="0">
              <a:noAutofit/>
            </a:bodyPr>
            <a:lstStyle/>
            <a:p>
              <a:pPr marL="0" lvl="0" indent="0" algn="l" defTabSz="1022350">
                <a:lnSpc>
                  <a:spcPct val="90000"/>
                </a:lnSpc>
                <a:spcBef>
                  <a:spcPct val="0"/>
                </a:spcBef>
                <a:spcAft>
                  <a:spcPct val="35000"/>
                </a:spcAft>
                <a:buNone/>
              </a:pPr>
              <a:r>
                <a:rPr lang="en-US" sz="2300" kern="1200"/>
                <a:t>Problem</a:t>
              </a:r>
            </a:p>
          </p:txBody>
        </p:sp>
        <p:sp>
          <p:nvSpPr>
            <p:cNvPr id="9" name="Freeform: Shape 8">
              <a:extLst>
                <a:ext uri="{FF2B5EF4-FFF2-40B4-BE49-F238E27FC236}">
                  <a16:creationId xmlns:a16="http://schemas.microsoft.com/office/drawing/2014/main" id="{26DDA75D-A29A-95B9-12EE-BCFE6C3F5B5B}"/>
                </a:ext>
              </a:extLst>
            </p:cNvPr>
            <p:cNvSpPr/>
            <p:nvPr/>
          </p:nvSpPr>
          <p:spPr>
            <a:xfrm>
              <a:off x="5671716" y="1092472"/>
              <a:ext cx="8775803" cy="1810215"/>
            </a:xfrm>
            <a:custGeom>
              <a:avLst/>
              <a:gdLst>
                <a:gd name="csX0" fmla="*/ 0 w 8775803"/>
                <a:gd name="csY0" fmla="*/ 0 h 1810215"/>
                <a:gd name="csX1" fmla="*/ 8775803 w 8775803"/>
                <a:gd name="csY1" fmla="*/ 0 h 1810215"/>
                <a:gd name="csX2" fmla="*/ 8775803 w 8775803"/>
                <a:gd name="csY2" fmla="*/ 1810215 h 1810215"/>
                <a:gd name="csX3" fmla="*/ 0 w 8775803"/>
                <a:gd name="csY3" fmla="*/ 1810215 h 1810215"/>
                <a:gd name="csX4" fmla="*/ 0 w 8775803"/>
                <a:gd name="csY4" fmla="*/ 0 h 1810215"/>
              </a:gdLst>
              <a:ahLst/>
              <a:cxnLst>
                <a:cxn ang="0">
                  <a:pos x="csX0" y="csY0"/>
                </a:cxn>
                <a:cxn ang="0">
                  <a:pos x="csX1" y="csY1"/>
                </a:cxn>
                <a:cxn ang="0">
                  <a:pos x="csX2" y="csY2"/>
                </a:cxn>
                <a:cxn ang="0">
                  <a:pos x="csX3" y="csY3"/>
                </a:cxn>
                <a:cxn ang="0">
                  <a:pos x="csX4" y="csY4"/>
                </a:cxn>
              </a:cxnLst>
              <a:rect l="l" t="t" r="r" b="b"/>
              <a:pathLst>
                <a:path w="8775803" h="1810215">
                  <a:moveTo>
                    <a:pt x="0" y="0"/>
                  </a:moveTo>
                  <a:lnTo>
                    <a:pt x="8775803" y="0"/>
                  </a:lnTo>
                  <a:lnTo>
                    <a:pt x="8775803" y="1810215"/>
                  </a:lnTo>
                  <a:lnTo>
                    <a:pt x="0" y="18102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8632" tIns="29210" rIns="163576" bIns="29210" numCol="1" spcCol="1270" anchor="t" anchorCtr="0">
              <a:noAutofit/>
            </a:bodyPr>
            <a:lstStyle/>
            <a:p>
              <a:pPr marL="171450" lvl="1" indent="-171450" algn="l" defTabSz="800100">
                <a:lnSpc>
                  <a:spcPct val="90000"/>
                </a:lnSpc>
                <a:spcBef>
                  <a:spcPct val="0"/>
                </a:spcBef>
                <a:spcAft>
                  <a:spcPts val="0"/>
                </a:spcAft>
                <a:buChar char="•"/>
              </a:pPr>
              <a:r>
                <a:rPr lang="en-US" sz="2400" kern="1200"/>
                <a:t>Current and planned data centers – siting process does not account for extreme weather risks and doing so could help improve climate resiliency, mitigate energy supply disruptions, and reduce cooling costs.</a:t>
              </a:r>
            </a:p>
            <a:p>
              <a:pPr marL="171450" lvl="1" indent="-171450" algn="l" defTabSz="800100">
                <a:lnSpc>
                  <a:spcPct val="90000"/>
                </a:lnSpc>
                <a:spcBef>
                  <a:spcPct val="0"/>
                </a:spcBef>
                <a:spcAft>
                  <a:spcPts val="0"/>
                </a:spcAft>
                <a:buChar char="•"/>
              </a:pPr>
              <a:r>
                <a:rPr lang="en-US" sz="2400" kern="1200"/>
                <a:t>New features from the dataset -&gt; inform data center siting with this new information.</a:t>
              </a:r>
              <a:endParaRPr lang="en-US" sz="2800" kern="1200"/>
            </a:p>
          </p:txBody>
        </p:sp>
        <p:sp>
          <p:nvSpPr>
            <p:cNvPr id="10" name="Freeform: Shape 9">
              <a:extLst>
                <a:ext uri="{FF2B5EF4-FFF2-40B4-BE49-F238E27FC236}">
                  <a16:creationId xmlns:a16="http://schemas.microsoft.com/office/drawing/2014/main" id="{CA5DEF50-E37E-3E41-FCC7-72D902609CAB}"/>
                </a:ext>
              </a:extLst>
            </p:cNvPr>
            <p:cNvSpPr/>
            <p:nvPr/>
          </p:nvSpPr>
          <p:spPr>
            <a:xfrm>
              <a:off x="5671716" y="3451327"/>
              <a:ext cx="8775803" cy="580292"/>
            </a:xfrm>
            <a:custGeom>
              <a:avLst/>
              <a:gdLst>
                <a:gd name="csX0" fmla="*/ 0 w 8775803"/>
                <a:gd name="csY0" fmla="*/ 96717 h 580292"/>
                <a:gd name="csX1" fmla="*/ 96717 w 8775803"/>
                <a:gd name="csY1" fmla="*/ 0 h 580292"/>
                <a:gd name="csX2" fmla="*/ 8679086 w 8775803"/>
                <a:gd name="csY2" fmla="*/ 0 h 580292"/>
                <a:gd name="csX3" fmla="*/ 8775803 w 8775803"/>
                <a:gd name="csY3" fmla="*/ 96717 h 580292"/>
                <a:gd name="csX4" fmla="*/ 8775803 w 8775803"/>
                <a:gd name="csY4" fmla="*/ 483575 h 580292"/>
                <a:gd name="csX5" fmla="*/ 8679086 w 8775803"/>
                <a:gd name="csY5" fmla="*/ 580292 h 580292"/>
                <a:gd name="csX6" fmla="*/ 96717 w 8775803"/>
                <a:gd name="csY6" fmla="*/ 580292 h 580292"/>
                <a:gd name="csX7" fmla="*/ 0 w 8775803"/>
                <a:gd name="csY7" fmla="*/ 483575 h 580292"/>
                <a:gd name="csX8" fmla="*/ 0 w 8775803"/>
                <a:gd name="csY8" fmla="*/ 96717 h 580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775803" h="580292">
                  <a:moveTo>
                    <a:pt x="0" y="96717"/>
                  </a:moveTo>
                  <a:cubicBezTo>
                    <a:pt x="0" y="43302"/>
                    <a:pt x="43302" y="0"/>
                    <a:pt x="96717" y="0"/>
                  </a:cubicBezTo>
                  <a:lnTo>
                    <a:pt x="8679086" y="0"/>
                  </a:lnTo>
                  <a:cubicBezTo>
                    <a:pt x="8732501" y="0"/>
                    <a:pt x="8775803" y="43302"/>
                    <a:pt x="8775803" y="96717"/>
                  </a:cubicBezTo>
                  <a:lnTo>
                    <a:pt x="8775803" y="483575"/>
                  </a:lnTo>
                  <a:cubicBezTo>
                    <a:pt x="8775803" y="536990"/>
                    <a:pt x="8732501" y="580292"/>
                    <a:pt x="8679086" y="580292"/>
                  </a:cubicBezTo>
                  <a:lnTo>
                    <a:pt x="96717" y="580292"/>
                  </a:lnTo>
                  <a:cubicBezTo>
                    <a:pt x="43302" y="580292"/>
                    <a:pt x="0" y="536990"/>
                    <a:pt x="0" y="483575"/>
                  </a:cubicBezTo>
                  <a:lnTo>
                    <a:pt x="0" y="9671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5958" tIns="115958" rIns="115958" bIns="115958" numCol="1" spcCol="1270" anchor="ctr" anchorCtr="0">
              <a:noAutofit/>
            </a:bodyPr>
            <a:lstStyle/>
            <a:p>
              <a:pPr marL="0" lvl="0" indent="0" algn="l" defTabSz="1022350">
                <a:lnSpc>
                  <a:spcPct val="90000"/>
                </a:lnSpc>
                <a:spcBef>
                  <a:spcPct val="0"/>
                </a:spcBef>
                <a:spcAft>
                  <a:spcPct val="35000"/>
                </a:spcAft>
                <a:buNone/>
              </a:pPr>
              <a:r>
                <a:rPr lang="en-US" sz="2300" kern="1200"/>
                <a:t>Goal</a:t>
              </a:r>
            </a:p>
          </p:txBody>
        </p:sp>
        <p:sp>
          <p:nvSpPr>
            <p:cNvPr id="11" name="Freeform: Shape 10">
              <a:extLst>
                <a:ext uri="{FF2B5EF4-FFF2-40B4-BE49-F238E27FC236}">
                  <a16:creationId xmlns:a16="http://schemas.microsoft.com/office/drawing/2014/main" id="{16CBB5DB-7768-7EBD-2747-E9D7CB39C13D}"/>
                </a:ext>
              </a:extLst>
            </p:cNvPr>
            <p:cNvSpPr/>
            <p:nvPr/>
          </p:nvSpPr>
          <p:spPr>
            <a:xfrm>
              <a:off x="5671716" y="4062234"/>
              <a:ext cx="8775803" cy="1810214"/>
            </a:xfrm>
            <a:custGeom>
              <a:avLst/>
              <a:gdLst>
                <a:gd name="csX0" fmla="*/ 0 w 8775803"/>
                <a:gd name="csY0" fmla="*/ 0 h 2451737"/>
                <a:gd name="csX1" fmla="*/ 8775803 w 8775803"/>
                <a:gd name="csY1" fmla="*/ 0 h 2451737"/>
                <a:gd name="csX2" fmla="*/ 8775803 w 8775803"/>
                <a:gd name="csY2" fmla="*/ 2451737 h 2451737"/>
                <a:gd name="csX3" fmla="*/ 0 w 8775803"/>
                <a:gd name="csY3" fmla="*/ 2451737 h 2451737"/>
                <a:gd name="csX4" fmla="*/ 0 w 8775803"/>
                <a:gd name="csY4" fmla="*/ 0 h 2451737"/>
              </a:gdLst>
              <a:ahLst/>
              <a:cxnLst>
                <a:cxn ang="0">
                  <a:pos x="csX0" y="csY0"/>
                </a:cxn>
                <a:cxn ang="0">
                  <a:pos x="csX1" y="csY1"/>
                </a:cxn>
                <a:cxn ang="0">
                  <a:pos x="csX2" y="csY2"/>
                </a:cxn>
                <a:cxn ang="0">
                  <a:pos x="csX3" y="csY3"/>
                </a:cxn>
                <a:cxn ang="0">
                  <a:pos x="csX4" y="csY4"/>
                </a:cxn>
              </a:cxnLst>
              <a:rect l="l" t="t" r="r" b="b"/>
              <a:pathLst>
                <a:path w="8775803" h="2451737">
                  <a:moveTo>
                    <a:pt x="0" y="0"/>
                  </a:moveTo>
                  <a:lnTo>
                    <a:pt x="8775803" y="0"/>
                  </a:lnTo>
                  <a:lnTo>
                    <a:pt x="8775803" y="2451737"/>
                  </a:lnTo>
                  <a:lnTo>
                    <a:pt x="0" y="245173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8632" tIns="29210" rIns="163576" bIns="29210" numCol="1" spcCol="1270" anchor="t" anchorCtr="0">
              <a:noAutofit/>
            </a:bodyPr>
            <a:lstStyle/>
            <a:p>
              <a:pPr marL="171450" lvl="1" indent="-171450" algn="l" defTabSz="800100">
                <a:lnSpc>
                  <a:spcPct val="90000"/>
                </a:lnSpc>
                <a:spcBef>
                  <a:spcPct val="0"/>
                </a:spcBef>
                <a:spcAft>
                  <a:spcPts val="0"/>
                </a:spcAft>
                <a:buChar char="•"/>
              </a:pPr>
              <a:r>
                <a:rPr lang="en-US" sz="2400" kern="1200"/>
                <a:t>Build a model to turn extreme weather data into a geospatial layer with projected variables (e.g., future heatwaves) and integrate into PNNL’s </a:t>
              </a:r>
              <a:r>
                <a:rPr lang="en-US" sz="2400" kern="1200">
                  <a:hlinkClick r:id="rId3"/>
                </a:rPr>
                <a:t>IM3 Data Center Atlas</a:t>
              </a:r>
              <a:r>
                <a:rPr lang="en-US" sz="2400" kern="1200"/>
                <a:t> and use this new layer to assess current and planned data center sites against these risks.</a:t>
              </a:r>
            </a:p>
          </p:txBody>
        </p:sp>
        <p:sp>
          <p:nvSpPr>
            <p:cNvPr id="12" name="Freeform: Shape 11">
              <a:extLst>
                <a:ext uri="{FF2B5EF4-FFF2-40B4-BE49-F238E27FC236}">
                  <a16:creationId xmlns:a16="http://schemas.microsoft.com/office/drawing/2014/main" id="{60AD0317-7413-B704-BFA2-43FF8CB561D8}"/>
                </a:ext>
              </a:extLst>
            </p:cNvPr>
            <p:cNvSpPr/>
            <p:nvPr/>
          </p:nvSpPr>
          <p:spPr>
            <a:xfrm>
              <a:off x="5671716" y="5934717"/>
              <a:ext cx="8775803" cy="569976"/>
            </a:xfrm>
            <a:custGeom>
              <a:avLst/>
              <a:gdLst>
                <a:gd name="csX0" fmla="*/ 0 w 8775803"/>
                <a:gd name="csY0" fmla="*/ 94998 h 569976"/>
                <a:gd name="csX1" fmla="*/ 94998 w 8775803"/>
                <a:gd name="csY1" fmla="*/ 0 h 569976"/>
                <a:gd name="csX2" fmla="*/ 8680805 w 8775803"/>
                <a:gd name="csY2" fmla="*/ 0 h 569976"/>
                <a:gd name="csX3" fmla="*/ 8775803 w 8775803"/>
                <a:gd name="csY3" fmla="*/ 94998 h 569976"/>
                <a:gd name="csX4" fmla="*/ 8775803 w 8775803"/>
                <a:gd name="csY4" fmla="*/ 474978 h 569976"/>
                <a:gd name="csX5" fmla="*/ 8680805 w 8775803"/>
                <a:gd name="csY5" fmla="*/ 569976 h 569976"/>
                <a:gd name="csX6" fmla="*/ 94998 w 8775803"/>
                <a:gd name="csY6" fmla="*/ 569976 h 569976"/>
                <a:gd name="csX7" fmla="*/ 0 w 8775803"/>
                <a:gd name="csY7" fmla="*/ 474978 h 569976"/>
                <a:gd name="csX8" fmla="*/ 0 w 8775803"/>
                <a:gd name="csY8" fmla="*/ 94998 h 569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775803" h="569976">
                  <a:moveTo>
                    <a:pt x="0" y="94998"/>
                  </a:moveTo>
                  <a:cubicBezTo>
                    <a:pt x="0" y="42532"/>
                    <a:pt x="42532" y="0"/>
                    <a:pt x="94998" y="0"/>
                  </a:cubicBezTo>
                  <a:lnTo>
                    <a:pt x="8680805" y="0"/>
                  </a:lnTo>
                  <a:cubicBezTo>
                    <a:pt x="8733271" y="0"/>
                    <a:pt x="8775803" y="42532"/>
                    <a:pt x="8775803" y="94998"/>
                  </a:cubicBezTo>
                  <a:lnTo>
                    <a:pt x="8775803" y="474978"/>
                  </a:lnTo>
                  <a:cubicBezTo>
                    <a:pt x="8775803" y="527444"/>
                    <a:pt x="8733271" y="569976"/>
                    <a:pt x="8680805" y="569976"/>
                  </a:cubicBezTo>
                  <a:lnTo>
                    <a:pt x="94998" y="569976"/>
                  </a:lnTo>
                  <a:cubicBezTo>
                    <a:pt x="42532" y="569976"/>
                    <a:pt x="0" y="527444"/>
                    <a:pt x="0" y="474978"/>
                  </a:cubicBezTo>
                  <a:lnTo>
                    <a:pt x="0" y="94998"/>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5454" tIns="115454" rIns="115454" bIns="115454" numCol="1" spcCol="1270" anchor="ctr" anchorCtr="0">
              <a:noAutofit/>
            </a:bodyPr>
            <a:lstStyle/>
            <a:p>
              <a:pPr marL="0" lvl="0" indent="0" algn="l" defTabSz="1022350">
                <a:lnSpc>
                  <a:spcPct val="90000"/>
                </a:lnSpc>
                <a:spcBef>
                  <a:spcPct val="0"/>
                </a:spcBef>
                <a:spcAft>
                  <a:spcPct val="35000"/>
                </a:spcAft>
                <a:buNone/>
              </a:pPr>
              <a:r>
                <a:rPr lang="en-US" sz="2300" kern="1200"/>
                <a:t>Success Criteria</a:t>
              </a:r>
            </a:p>
          </p:txBody>
        </p:sp>
        <p:sp>
          <p:nvSpPr>
            <p:cNvPr id="13" name="Freeform: Shape 12">
              <a:extLst>
                <a:ext uri="{FF2B5EF4-FFF2-40B4-BE49-F238E27FC236}">
                  <a16:creationId xmlns:a16="http://schemas.microsoft.com/office/drawing/2014/main" id="{D56475E2-BD7B-076D-DCE8-65AEDB9F2A29}"/>
                </a:ext>
              </a:extLst>
            </p:cNvPr>
            <p:cNvSpPr/>
            <p:nvPr/>
          </p:nvSpPr>
          <p:spPr>
            <a:xfrm>
              <a:off x="5671716" y="6504693"/>
              <a:ext cx="8775803" cy="1468665"/>
            </a:xfrm>
            <a:custGeom>
              <a:avLst/>
              <a:gdLst>
                <a:gd name="csX0" fmla="*/ 0 w 8775803"/>
                <a:gd name="csY0" fmla="*/ 0 h 1468665"/>
                <a:gd name="csX1" fmla="*/ 8775803 w 8775803"/>
                <a:gd name="csY1" fmla="*/ 0 h 1468665"/>
                <a:gd name="csX2" fmla="*/ 8775803 w 8775803"/>
                <a:gd name="csY2" fmla="*/ 1468665 h 1468665"/>
                <a:gd name="csX3" fmla="*/ 0 w 8775803"/>
                <a:gd name="csY3" fmla="*/ 1468665 h 1468665"/>
                <a:gd name="csX4" fmla="*/ 0 w 8775803"/>
                <a:gd name="csY4" fmla="*/ 0 h 1468665"/>
              </a:gdLst>
              <a:ahLst/>
              <a:cxnLst>
                <a:cxn ang="0">
                  <a:pos x="csX0" y="csY0"/>
                </a:cxn>
                <a:cxn ang="0">
                  <a:pos x="csX1" y="csY1"/>
                </a:cxn>
                <a:cxn ang="0">
                  <a:pos x="csX2" y="csY2"/>
                </a:cxn>
                <a:cxn ang="0">
                  <a:pos x="csX3" y="csY3"/>
                </a:cxn>
                <a:cxn ang="0">
                  <a:pos x="csX4" y="csY4"/>
                </a:cxn>
              </a:cxnLst>
              <a:rect l="l" t="t" r="r" b="b"/>
              <a:pathLst>
                <a:path w="8775803" h="1468665">
                  <a:moveTo>
                    <a:pt x="0" y="0"/>
                  </a:moveTo>
                  <a:lnTo>
                    <a:pt x="8775803" y="0"/>
                  </a:lnTo>
                  <a:lnTo>
                    <a:pt x="8775803" y="1468665"/>
                  </a:lnTo>
                  <a:lnTo>
                    <a:pt x="0" y="146866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78632" tIns="29210" rIns="163576" bIns="29210" numCol="1" spcCol="1270" anchor="t" anchorCtr="0">
              <a:noAutofit/>
            </a:bodyPr>
            <a:lstStyle/>
            <a:p>
              <a:pPr marL="171450" lvl="1" indent="-171450" algn="l" defTabSz="800100">
                <a:lnSpc>
                  <a:spcPct val="90000"/>
                </a:lnSpc>
                <a:spcBef>
                  <a:spcPct val="0"/>
                </a:spcBef>
                <a:spcAft>
                  <a:spcPts val="0"/>
                </a:spcAft>
                <a:buChar char="•"/>
              </a:pPr>
              <a:r>
                <a:rPr lang="en-US" sz="2400" kern="1200"/>
                <a:t>The Atlas should reliably communicate whether current and planned data centers would be or are climate-resilient.</a:t>
              </a:r>
            </a:p>
            <a:p>
              <a:pPr marL="171450" lvl="1" indent="-171450" algn="l" defTabSz="800100">
                <a:lnSpc>
                  <a:spcPct val="90000"/>
                </a:lnSpc>
                <a:spcBef>
                  <a:spcPct val="0"/>
                </a:spcBef>
                <a:spcAft>
                  <a:spcPts val="0"/>
                </a:spcAft>
                <a:buChar char="•"/>
              </a:pPr>
              <a:r>
                <a:rPr lang="en-US" sz="2400" kern="1200"/>
                <a:t>Consistent and reliable projections.</a:t>
              </a:r>
            </a:p>
            <a:p>
              <a:pPr marL="171450" lvl="1" indent="-171450" algn="l" defTabSz="800100">
                <a:lnSpc>
                  <a:spcPct val="90000"/>
                </a:lnSpc>
                <a:spcBef>
                  <a:spcPct val="0"/>
                </a:spcBef>
                <a:spcAft>
                  <a:spcPts val="0"/>
                </a:spcAft>
                <a:buChar char="•"/>
              </a:pPr>
              <a:r>
                <a:rPr lang="en-US" sz="2400"/>
                <a:t>F1 and AUC as key metrics.</a:t>
              </a:r>
              <a:endParaRPr lang="en-US" sz="2400" kern="1200"/>
            </a:p>
          </p:txBody>
        </p:sp>
      </p:grpSp>
      <p:pic>
        <p:nvPicPr>
          <p:cNvPr id="6" name="Picture 5">
            <a:extLst>
              <a:ext uri="{FF2B5EF4-FFF2-40B4-BE49-F238E27FC236}">
                <a16:creationId xmlns:a16="http://schemas.microsoft.com/office/drawing/2014/main" id="{35469D79-B28F-4C44-4F79-54E0C3A78FEB}"/>
              </a:ext>
            </a:extLst>
          </p:cNvPr>
          <p:cNvPicPr>
            <a:picLocks noChangeAspect="1"/>
          </p:cNvPicPr>
          <p:nvPr/>
        </p:nvPicPr>
        <p:blipFill>
          <a:blip r:embed="rId4"/>
          <a:stretch>
            <a:fillRect/>
          </a:stretch>
        </p:blipFill>
        <p:spPr>
          <a:xfrm>
            <a:off x="84423" y="4258595"/>
            <a:ext cx="5465138" cy="3001297"/>
          </a:xfrm>
          <a:prstGeom prst="rect">
            <a:avLst/>
          </a:prstGeom>
        </p:spPr>
      </p:pic>
      <p:pic>
        <p:nvPicPr>
          <p:cNvPr id="4" name="Picture 3">
            <a:extLst>
              <a:ext uri="{FF2B5EF4-FFF2-40B4-BE49-F238E27FC236}">
                <a16:creationId xmlns:a16="http://schemas.microsoft.com/office/drawing/2014/main" id="{0BE72621-8C99-F35B-943A-C9C27855EE6B}"/>
              </a:ext>
            </a:extLst>
          </p:cNvPr>
          <p:cNvPicPr>
            <a:picLocks noChangeAspect="1"/>
          </p:cNvPicPr>
          <p:nvPr/>
        </p:nvPicPr>
        <p:blipFill>
          <a:blip r:embed="rId5"/>
          <a:stretch>
            <a:fillRect/>
          </a:stretch>
        </p:blipFill>
        <p:spPr>
          <a:xfrm>
            <a:off x="353962" y="87868"/>
            <a:ext cx="3676516" cy="4416867"/>
          </a:xfrm>
          <a:prstGeom prst="rect">
            <a:avLst/>
          </a:prstGeom>
        </p:spPr>
      </p:pic>
      <p:sp>
        <p:nvSpPr>
          <p:cNvPr id="2" name="TextBox 1">
            <a:extLst>
              <a:ext uri="{FF2B5EF4-FFF2-40B4-BE49-F238E27FC236}">
                <a16:creationId xmlns:a16="http://schemas.microsoft.com/office/drawing/2014/main" id="{5407470C-A796-48CD-C0FD-B6890FA55AC9}"/>
              </a:ext>
            </a:extLst>
          </p:cNvPr>
          <p:cNvSpPr txBox="1"/>
          <p:nvPr/>
        </p:nvSpPr>
        <p:spPr>
          <a:xfrm>
            <a:off x="988142" y="7403068"/>
            <a:ext cx="4561419" cy="646331"/>
          </a:xfrm>
          <a:prstGeom prst="rect">
            <a:avLst/>
          </a:prstGeom>
          <a:noFill/>
        </p:spPr>
        <p:txBody>
          <a:bodyPr wrap="square" rtlCol="0">
            <a:spAutoFit/>
          </a:bodyPr>
          <a:lstStyle/>
          <a:p>
            <a:r>
              <a:rPr lang="en-US" sz="1800"/>
              <a:t>Screenshots from the IM3 Data Center Atlas – layers and map visualization tool.</a:t>
            </a:r>
          </a:p>
        </p:txBody>
      </p:sp>
    </p:spTree>
    <p:extLst>
      <p:ext uri="{BB962C8B-B14F-4D97-AF65-F5344CB8AC3E}">
        <p14:creationId xmlns:p14="http://schemas.microsoft.com/office/powerpoint/2010/main" val="316935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DBE0F3-60C4-4D75-B1FC-C0F4D46BCBD6}"/>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3</a:t>
            </a:fld>
            <a:endParaRPr lang="en-US"/>
          </a:p>
        </p:txBody>
      </p:sp>
      <p:sp>
        <p:nvSpPr>
          <p:cNvPr id="5" name="Title 4">
            <a:extLst>
              <a:ext uri="{FF2B5EF4-FFF2-40B4-BE49-F238E27FC236}">
                <a16:creationId xmlns:a16="http://schemas.microsoft.com/office/drawing/2014/main" id="{3D76ADE9-B85B-471B-9A97-17044AC9D778}"/>
              </a:ext>
            </a:extLst>
          </p:cNvPr>
          <p:cNvSpPr>
            <a:spLocks noGrp="1"/>
          </p:cNvSpPr>
          <p:nvPr>
            <p:ph type="title"/>
          </p:nvPr>
        </p:nvSpPr>
        <p:spPr>
          <a:xfrm>
            <a:off x="1371599" y="2295525"/>
            <a:ext cx="4572001" cy="1590675"/>
          </a:xfrm>
        </p:spPr>
        <p:txBody>
          <a:bodyPr anchor="b">
            <a:normAutofit/>
          </a:bodyPr>
          <a:lstStyle/>
          <a:p>
            <a:r>
              <a:rPr lang="en-US"/>
              <a:t>Data Overview &amp; Challenges</a:t>
            </a:r>
          </a:p>
        </p:txBody>
      </p:sp>
      <p:graphicFrame>
        <p:nvGraphicFramePr>
          <p:cNvPr id="8" name="Content Placeholder 2">
            <a:extLst>
              <a:ext uri="{FF2B5EF4-FFF2-40B4-BE49-F238E27FC236}">
                <a16:creationId xmlns:a16="http://schemas.microsoft.com/office/drawing/2014/main" id="{B9A30787-ADC0-F60E-31ED-51B43288EB07}"/>
              </a:ext>
            </a:extLst>
          </p:cNvPr>
          <p:cNvGraphicFramePr>
            <a:graphicFrameLocks noGrp="1"/>
          </p:cNvGraphicFramePr>
          <p:nvPr>
            <p:ph sz="quarter" idx="20"/>
            <p:extLst>
              <p:ext uri="{D42A27DB-BD31-4B8C-83A1-F6EECF244321}">
                <p14:modId xmlns:p14="http://schemas.microsoft.com/office/powerpoint/2010/main" val="1738461572"/>
              </p:ext>
            </p:extLst>
          </p:nvPr>
        </p:nvGraphicFramePr>
        <p:xfrm>
          <a:off x="6430641" y="457199"/>
          <a:ext cx="8016877" cy="731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C924BAB9-351F-1ECF-1264-E3189F70720B}"/>
              </a:ext>
            </a:extLst>
          </p:cNvPr>
          <p:cNvPicPr>
            <a:picLocks noChangeAspect="1"/>
          </p:cNvPicPr>
          <p:nvPr/>
        </p:nvPicPr>
        <p:blipFill>
          <a:blip r:embed="rId8"/>
          <a:stretch>
            <a:fillRect/>
          </a:stretch>
        </p:blipFill>
        <p:spPr>
          <a:xfrm>
            <a:off x="182882" y="4114798"/>
            <a:ext cx="6105834" cy="3052917"/>
          </a:xfrm>
          <a:prstGeom prst="rect">
            <a:avLst/>
          </a:prstGeom>
        </p:spPr>
      </p:pic>
      <p:sp>
        <p:nvSpPr>
          <p:cNvPr id="7" name="TextBox 6">
            <a:extLst>
              <a:ext uri="{FF2B5EF4-FFF2-40B4-BE49-F238E27FC236}">
                <a16:creationId xmlns:a16="http://schemas.microsoft.com/office/drawing/2014/main" id="{3BA0099D-3104-7D26-66FB-581985F8B71E}"/>
              </a:ext>
            </a:extLst>
          </p:cNvPr>
          <p:cNvSpPr txBox="1"/>
          <p:nvPr/>
        </p:nvSpPr>
        <p:spPr>
          <a:xfrm>
            <a:off x="899652" y="7300452"/>
            <a:ext cx="5530987" cy="646331"/>
          </a:xfrm>
          <a:prstGeom prst="rect">
            <a:avLst/>
          </a:prstGeom>
          <a:noFill/>
        </p:spPr>
        <p:txBody>
          <a:bodyPr wrap="square" rtlCol="0">
            <a:spAutoFit/>
          </a:bodyPr>
          <a:lstStyle/>
          <a:p>
            <a:r>
              <a:rPr lang="en-US" sz="1800"/>
              <a:t>Original dataset image (a map of NERC subregions with county-level mean temperatures).</a:t>
            </a:r>
          </a:p>
        </p:txBody>
      </p:sp>
    </p:spTree>
    <p:extLst>
      <p:ext uri="{BB962C8B-B14F-4D97-AF65-F5344CB8AC3E}">
        <p14:creationId xmlns:p14="http://schemas.microsoft.com/office/powerpoint/2010/main" val="1189409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61E7DF-2D5A-4EF0-9E9E-047227DE4DB5}"/>
              </a:ext>
            </a:extLst>
          </p:cNvPr>
          <p:cNvSpPr>
            <a:spLocks noGrp="1"/>
          </p:cNvSpPr>
          <p:nvPr>
            <p:ph type="sldNum" sz="quarter" idx="12"/>
          </p:nvPr>
        </p:nvSpPr>
        <p:spPr>
          <a:xfrm>
            <a:off x="13994296" y="7772400"/>
            <a:ext cx="453223" cy="457200"/>
          </a:xfrm>
        </p:spPr>
        <p:txBody>
          <a:bodyPr anchor="ctr">
            <a:normAutofit/>
          </a:bodyPr>
          <a:lstStyle/>
          <a:p>
            <a:fld id="{FE7A4BB3-E848-5A44-82DF-322201952CD8}" type="slidenum">
              <a:rPr lang="en-US" smtClean="0"/>
              <a:pPr/>
              <a:t>4</a:t>
            </a:fld>
            <a:endParaRPr lang="en-US"/>
          </a:p>
        </p:txBody>
      </p:sp>
      <p:sp>
        <p:nvSpPr>
          <p:cNvPr id="3" name="Title 2">
            <a:extLst>
              <a:ext uri="{FF2B5EF4-FFF2-40B4-BE49-F238E27FC236}">
                <a16:creationId xmlns:a16="http://schemas.microsoft.com/office/drawing/2014/main" id="{6D50AF6E-CF6A-429E-A4B2-32D2D767B73B}"/>
              </a:ext>
            </a:extLst>
          </p:cNvPr>
          <p:cNvSpPr>
            <a:spLocks noGrp="1"/>
          </p:cNvSpPr>
          <p:nvPr>
            <p:ph type="title"/>
          </p:nvPr>
        </p:nvSpPr>
        <p:spPr>
          <a:xfrm>
            <a:off x="3200400" y="270933"/>
            <a:ext cx="10972800" cy="1310979"/>
          </a:xfrm>
        </p:spPr>
        <p:txBody>
          <a:bodyPr anchor="b">
            <a:normAutofit/>
          </a:bodyPr>
          <a:lstStyle/>
          <a:p>
            <a:r>
              <a:rPr lang="en-US"/>
              <a:t>Approach Overview</a:t>
            </a:r>
          </a:p>
        </p:txBody>
      </p:sp>
      <p:sp>
        <p:nvSpPr>
          <p:cNvPr id="10" name="Content Placeholder 3">
            <a:extLst>
              <a:ext uri="{FF2B5EF4-FFF2-40B4-BE49-F238E27FC236}">
                <a16:creationId xmlns:a16="http://schemas.microsoft.com/office/drawing/2014/main" id="{1B07C569-8948-630C-9FAD-145CA23DA773}"/>
              </a:ext>
            </a:extLst>
          </p:cNvPr>
          <p:cNvSpPr>
            <a:spLocks noGrp="1"/>
          </p:cNvSpPr>
          <p:nvPr>
            <p:ph sz="quarter" idx="20"/>
          </p:nvPr>
        </p:nvSpPr>
        <p:spPr>
          <a:xfrm>
            <a:off x="9491662" y="4430713"/>
            <a:ext cx="4762500" cy="3017837"/>
          </a:xfrm>
        </p:spPr>
        <p:txBody>
          <a:bodyPr lIns="91440" tIns="45720" rIns="91440" bIns="45720" anchor="t"/>
          <a:lstStyle/>
          <a:p>
            <a:r>
              <a:rPr lang="en-US" sz="1600" b="1" dirty="0"/>
              <a:t>Model Selection</a:t>
            </a:r>
          </a:p>
          <a:p>
            <a:pPr lvl="1"/>
            <a:r>
              <a:rPr lang="en-US" sz="1600" dirty="0"/>
              <a:t>Logistical Regression (Scikit-learn)</a:t>
            </a:r>
          </a:p>
          <a:p>
            <a:pPr lvl="2"/>
            <a:r>
              <a:rPr lang="en-US" sz="1600" dirty="0"/>
              <a:t>Continuous data set</a:t>
            </a:r>
          </a:p>
          <a:p>
            <a:pPr lvl="1"/>
            <a:r>
              <a:rPr lang="en-US" sz="1600" dirty="0" err="1"/>
              <a:t>XGBoost</a:t>
            </a:r>
            <a:r>
              <a:rPr lang="en-US" sz="1600" dirty="0"/>
              <a:t> (Classifier)</a:t>
            </a:r>
          </a:p>
          <a:p>
            <a:pPr lvl="2"/>
            <a:r>
              <a:rPr lang="en-US" sz="1600" dirty="0"/>
              <a:t>Classification – </a:t>
            </a:r>
            <a:r>
              <a:rPr lang="en-US" sz="1600"/>
              <a:t>High risk</a:t>
            </a:r>
            <a:r>
              <a:rPr lang="en-US" sz="1600" dirty="0"/>
              <a:t> event</a:t>
            </a:r>
          </a:p>
          <a:p>
            <a:pPr lvl="2"/>
            <a:r>
              <a:rPr lang="en-US" sz="1600" dirty="0"/>
              <a:t>Suited to tabular, numeric records</a:t>
            </a:r>
          </a:p>
          <a:p>
            <a:r>
              <a:rPr lang="en-US" sz="1600" b="1" dirty="0"/>
              <a:t>Split</a:t>
            </a:r>
          </a:p>
          <a:p>
            <a:pPr lvl="1"/>
            <a:r>
              <a:rPr lang="en-US" sz="1600" dirty="0"/>
              <a:t>Train 70</a:t>
            </a:r>
            <a:r>
              <a:rPr lang="en-US" sz="1600"/>
              <a:t>%</a:t>
            </a:r>
            <a:r>
              <a:rPr lang="en-US" sz="1600" dirty="0"/>
              <a:t> / Validation 15</a:t>
            </a:r>
            <a:r>
              <a:rPr lang="en-US" sz="1600"/>
              <a:t>%</a:t>
            </a:r>
            <a:r>
              <a:rPr lang="en-US" sz="1600" dirty="0"/>
              <a:t> / Testing 15</a:t>
            </a:r>
            <a:r>
              <a:rPr lang="en-US" sz="1600"/>
              <a:t>%</a:t>
            </a:r>
            <a:endParaRPr lang="en-US" sz="1600" dirty="0"/>
          </a:p>
          <a:p>
            <a:r>
              <a:rPr lang="en-US" sz="1600" b="1" dirty="0"/>
              <a:t>Hyperparameter combinations</a:t>
            </a:r>
          </a:p>
          <a:p>
            <a:pPr lvl="1"/>
            <a:r>
              <a:rPr lang="en-US" sz="1600" dirty="0"/>
              <a:t>Multiple sets</a:t>
            </a:r>
          </a:p>
          <a:p>
            <a:pPr lvl="1"/>
            <a:r>
              <a:rPr lang="en-US" sz="1600" dirty="0"/>
              <a:t>F1 score for selection criterion</a:t>
            </a:r>
          </a:p>
        </p:txBody>
      </p:sp>
      <p:sp>
        <p:nvSpPr>
          <p:cNvPr id="11" name="Content Placeholder 3">
            <a:extLst>
              <a:ext uri="{FF2B5EF4-FFF2-40B4-BE49-F238E27FC236}">
                <a16:creationId xmlns:a16="http://schemas.microsoft.com/office/drawing/2014/main" id="{08ED7A2A-2BE3-BB15-B87E-70D501CF0BFB}"/>
              </a:ext>
            </a:extLst>
          </p:cNvPr>
          <p:cNvSpPr txBox="1">
            <a:spLocks/>
          </p:cNvSpPr>
          <p:nvPr/>
        </p:nvSpPr>
        <p:spPr>
          <a:xfrm>
            <a:off x="1524000" y="1727200"/>
            <a:ext cx="7967662" cy="5969000"/>
          </a:xfrm>
          <a:prstGeom prst="rect">
            <a:avLst/>
          </a:prstGeom>
        </p:spPr>
        <p:txBody>
          <a:bodyPr lIns="91440" tIns="45720" rIns="91440" bIns="45720" anchor="t"/>
          <a:lstStyle>
            <a:lvl1pPr marL="274320" indent="-274320" algn="l" defTabSz="1097280" rtl="0" eaLnBrk="1" latinLnBrk="0" hangingPunct="1">
              <a:lnSpc>
                <a:spcPct val="90000"/>
              </a:lnSpc>
              <a:spcBef>
                <a:spcPts val="12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822960" indent="-274320" algn="l" defTabSz="1097280" rtl="0" eaLnBrk="1" latinLnBrk="0" hangingPunct="1">
              <a:lnSpc>
                <a:spcPct val="90000"/>
              </a:lnSpc>
              <a:spcBef>
                <a:spcPts val="6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371600" indent="-274320" algn="l" defTabSz="1097280" rtl="0" eaLnBrk="1" latinLnBrk="0" hangingPunct="1">
              <a:lnSpc>
                <a:spcPct val="90000"/>
              </a:lnSpc>
              <a:spcBef>
                <a:spcPts val="6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3pPr>
            <a:lvl4pPr marL="1920240" indent="-274320" algn="l" defTabSz="1097280" rtl="0" eaLnBrk="1" latinLnBrk="0" hangingPunct="1">
              <a:lnSpc>
                <a:spcPct val="90000"/>
              </a:lnSpc>
              <a:spcBef>
                <a:spcPts val="6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468880" indent="-274320" algn="l" defTabSz="1097280" rtl="0" eaLnBrk="1" latinLnBrk="0" hangingPunct="1">
              <a:lnSpc>
                <a:spcPct val="90000"/>
              </a:lnSpc>
              <a:spcBef>
                <a:spcPts val="60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lang="en-US" sz="1600" b="1" dirty="0"/>
              <a:t>Cleaned and standardized .zip archives into consistent CSVs</a:t>
            </a:r>
          </a:p>
          <a:p>
            <a:pPr lvl="1"/>
            <a:r>
              <a:rPr lang="en-US" sz="1600" dirty="0"/>
              <a:t>Remove junk/non-data rows</a:t>
            </a:r>
          </a:p>
          <a:p>
            <a:pPr lvl="1"/>
            <a:r>
              <a:rPr lang="en-US" sz="1600" dirty="0"/>
              <a:t>Convert columns to appropriate data types</a:t>
            </a:r>
          </a:p>
          <a:p>
            <a:pPr lvl="1"/>
            <a:r>
              <a:rPr lang="en-US" sz="1600" dirty="0"/>
              <a:t>Drop duplicates</a:t>
            </a:r>
          </a:p>
          <a:p>
            <a:pPr lvl="1"/>
            <a:r>
              <a:rPr lang="en-US" sz="1600" dirty="0"/>
              <a:t>Filters miscategorized data (heat events in cold-snap files)</a:t>
            </a:r>
          </a:p>
          <a:p>
            <a:r>
              <a:rPr lang="en-US" sz="1600" b="1" dirty="0"/>
              <a:t>Features added</a:t>
            </a:r>
          </a:p>
          <a:p>
            <a:pPr lvl="1"/>
            <a:r>
              <a:rPr lang="en-US" sz="1600" dirty="0"/>
              <a:t>Inter-event recovery interval days</a:t>
            </a:r>
          </a:p>
          <a:p>
            <a:pPr lvl="2"/>
            <a:r>
              <a:rPr lang="en-US" sz="1600" dirty="0"/>
              <a:t>Gap in days between the current event end date and the next event start date within the same region</a:t>
            </a:r>
          </a:p>
          <a:p>
            <a:pPr lvl="1"/>
            <a:r>
              <a:rPr lang="en-US" sz="1600" dirty="0"/>
              <a:t>Cumulative heat stress index</a:t>
            </a:r>
          </a:p>
          <a:p>
            <a:pPr lvl="2"/>
            <a:r>
              <a:rPr lang="en-US" sz="1600" dirty="0"/>
              <a:t>Running cumulative stress index within each region-year, based on event temperature multiplied by duration</a:t>
            </a:r>
          </a:p>
          <a:p>
            <a:pPr lvl="1"/>
            <a:r>
              <a:rPr lang="en-US" sz="1600" dirty="0"/>
              <a:t>Yearly max heat wave intensity</a:t>
            </a:r>
          </a:p>
          <a:p>
            <a:pPr lvl="2"/>
            <a:r>
              <a:rPr lang="en-US" sz="1600" dirty="0"/>
              <a:t>Maximum event temperature observed for the region in that calendar year</a:t>
            </a:r>
          </a:p>
          <a:p>
            <a:pPr lvl="1"/>
            <a:r>
              <a:rPr lang="en-US" sz="1600" dirty="0"/>
              <a:t>Yearly max heat wave duration</a:t>
            </a:r>
          </a:p>
          <a:p>
            <a:pPr lvl="2"/>
            <a:r>
              <a:rPr lang="en-US" sz="1600" dirty="0"/>
              <a:t>Maximum event duration observed for the region in that calendar year</a:t>
            </a:r>
          </a:p>
          <a:p>
            <a:pPr lvl="1"/>
            <a:r>
              <a:rPr lang="en-US" sz="1600" dirty="0"/>
              <a:t>Yearly max heat wave intensity trend</a:t>
            </a:r>
          </a:p>
          <a:p>
            <a:pPr lvl="2"/>
            <a:r>
              <a:rPr lang="en-US" sz="1600" dirty="0"/>
              <a:t>Year-over-year change in yearly maximum intensity within each region</a:t>
            </a:r>
          </a:p>
          <a:p>
            <a:pPr lvl="1"/>
            <a:r>
              <a:rPr lang="en-US" sz="1600" dirty="0"/>
              <a:t>Yearly max heat wave duration trend</a:t>
            </a:r>
          </a:p>
          <a:p>
            <a:pPr lvl="2"/>
            <a:r>
              <a:rPr lang="en-US" sz="1600" dirty="0"/>
              <a:t>Year-over-year change in yearly maximum duration within each region</a:t>
            </a:r>
          </a:p>
        </p:txBody>
      </p:sp>
      <p:pic>
        <p:nvPicPr>
          <p:cNvPr id="13" name="Graphic 12" descr="Magnifying glass with solid fill">
            <a:extLst>
              <a:ext uri="{FF2B5EF4-FFF2-40B4-BE49-F238E27FC236}">
                <a16:creationId xmlns:a16="http://schemas.microsoft.com/office/drawing/2014/main" id="{A8AA67C7-73F2-A9DA-3E34-8BCAD8525A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98151" y="889000"/>
            <a:ext cx="3225800" cy="3225800"/>
          </a:xfrm>
          <a:prstGeom prst="rect">
            <a:avLst/>
          </a:prstGeom>
        </p:spPr>
      </p:pic>
    </p:spTree>
    <p:extLst>
      <p:ext uri="{BB962C8B-B14F-4D97-AF65-F5344CB8AC3E}">
        <p14:creationId xmlns:p14="http://schemas.microsoft.com/office/powerpoint/2010/main" val="3300410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90C5C-1AAF-4909-DCDF-833A8B62E4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C176F5-2C8D-8F6D-A4A8-9D2559D4DE28}"/>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5</a:t>
            </a:fld>
            <a:endParaRPr lang="en-US"/>
          </a:p>
        </p:txBody>
      </p:sp>
      <p:pic>
        <p:nvPicPr>
          <p:cNvPr id="6" name="Content Placeholder 5">
            <a:extLst>
              <a:ext uri="{FF2B5EF4-FFF2-40B4-BE49-F238E27FC236}">
                <a16:creationId xmlns:a16="http://schemas.microsoft.com/office/drawing/2014/main" id="{93D23B98-8048-904F-9938-019637E5B4D2}"/>
              </a:ext>
            </a:extLst>
          </p:cNvPr>
          <p:cNvPicPr>
            <a:picLocks noGrp="1" noChangeAspect="1"/>
          </p:cNvPicPr>
          <p:nvPr>
            <p:ph sz="quarter" idx="21"/>
          </p:nvPr>
        </p:nvPicPr>
        <p:blipFill>
          <a:blip r:embed="rId3"/>
          <a:stretch>
            <a:fillRect/>
          </a:stretch>
        </p:blipFill>
        <p:spPr>
          <a:xfrm>
            <a:off x="7155245" y="1537433"/>
            <a:ext cx="6929168" cy="4027000"/>
          </a:xfrm>
          <a:prstGeom prst="rect">
            <a:avLst/>
          </a:prstGeom>
        </p:spPr>
      </p:pic>
      <p:sp>
        <p:nvSpPr>
          <p:cNvPr id="3" name="Title 2">
            <a:extLst>
              <a:ext uri="{FF2B5EF4-FFF2-40B4-BE49-F238E27FC236}">
                <a16:creationId xmlns:a16="http://schemas.microsoft.com/office/drawing/2014/main" id="{46C61009-4A2B-D1C6-1BFF-03AB0B01C4CD}"/>
              </a:ext>
            </a:extLst>
          </p:cNvPr>
          <p:cNvSpPr>
            <a:spLocks noGrp="1"/>
          </p:cNvSpPr>
          <p:nvPr>
            <p:ph type="title"/>
          </p:nvPr>
        </p:nvSpPr>
        <p:spPr>
          <a:xfrm>
            <a:off x="3014341" y="295275"/>
            <a:ext cx="7302501" cy="1247775"/>
          </a:xfrm>
        </p:spPr>
        <p:txBody>
          <a:bodyPr anchor="b">
            <a:normAutofit/>
          </a:bodyPr>
          <a:lstStyle/>
          <a:p>
            <a:r>
              <a:rPr lang="en-US"/>
              <a:t>ML Results &amp; Insights</a:t>
            </a:r>
          </a:p>
        </p:txBody>
      </p:sp>
      <p:graphicFrame>
        <p:nvGraphicFramePr>
          <p:cNvPr id="14" name="Content Placeholder 4">
            <a:extLst>
              <a:ext uri="{FF2B5EF4-FFF2-40B4-BE49-F238E27FC236}">
                <a16:creationId xmlns:a16="http://schemas.microsoft.com/office/drawing/2014/main" id="{DBE50A64-D005-A13A-A751-D7A471A1D3A4}"/>
              </a:ext>
            </a:extLst>
          </p:cNvPr>
          <p:cNvGraphicFramePr>
            <a:graphicFrameLocks noGrp="1"/>
          </p:cNvGraphicFramePr>
          <p:nvPr>
            <p:ph sz="quarter" idx="20"/>
            <p:extLst>
              <p:ext uri="{D42A27DB-BD31-4B8C-83A1-F6EECF244321}">
                <p14:modId xmlns:p14="http://schemas.microsoft.com/office/powerpoint/2010/main" val="3467680682"/>
              </p:ext>
            </p:extLst>
          </p:nvPr>
        </p:nvGraphicFramePr>
        <p:xfrm>
          <a:off x="1086691" y="5121275"/>
          <a:ext cx="7772400" cy="28130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A5C8FD82-D3B2-E82D-8C44-3B6A5CEA2380}"/>
              </a:ext>
            </a:extLst>
          </p:cNvPr>
          <p:cNvPicPr>
            <a:picLocks noChangeAspect="1"/>
          </p:cNvPicPr>
          <p:nvPr/>
        </p:nvPicPr>
        <p:blipFill>
          <a:blip r:embed="rId9"/>
          <a:stretch>
            <a:fillRect/>
          </a:stretch>
        </p:blipFill>
        <p:spPr>
          <a:xfrm>
            <a:off x="1324956" y="1537433"/>
            <a:ext cx="5119773" cy="3583842"/>
          </a:xfrm>
          <a:prstGeom prst="rect">
            <a:avLst/>
          </a:prstGeom>
        </p:spPr>
      </p:pic>
      <p:sp>
        <p:nvSpPr>
          <p:cNvPr id="9" name="TextBox 8">
            <a:extLst>
              <a:ext uri="{FF2B5EF4-FFF2-40B4-BE49-F238E27FC236}">
                <a16:creationId xmlns:a16="http://schemas.microsoft.com/office/drawing/2014/main" id="{9A2FF1DC-29EF-5544-9A1C-8CD8D41F76AB}"/>
              </a:ext>
            </a:extLst>
          </p:cNvPr>
          <p:cNvSpPr txBox="1"/>
          <p:nvPr/>
        </p:nvSpPr>
        <p:spPr>
          <a:xfrm>
            <a:off x="9008076" y="6021761"/>
            <a:ext cx="5439443" cy="1569660"/>
          </a:xfrm>
          <a:prstGeom prst="rect">
            <a:avLst/>
          </a:prstGeom>
          <a:noFill/>
        </p:spPr>
        <p:txBody>
          <a:bodyPr wrap="square" rtlCol="0">
            <a:spAutoFit/>
          </a:bodyPr>
          <a:lstStyle/>
          <a:p>
            <a:r>
              <a:rPr lang="en-US" sz="1600" b="1"/>
              <a:t>False negatives</a:t>
            </a:r>
            <a:r>
              <a:rPr lang="en-US" sz="1600"/>
              <a:t> of 24,517 (6,846 truly high risk) records:</a:t>
            </a:r>
            <a:br>
              <a:rPr lang="en-US" sz="1600"/>
            </a:br>
            <a:endParaRPr lang="en-US" sz="1600"/>
          </a:p>
          <a:p>
            <a:r>
              <a:rPr lang="en-US" sz="1600" err="1"/>
              <a:t>XGBoost</a:t>
            </a:r>
            <a:r>
              <a:rPr lang="en-US" sz="1600"/>
              <a:t>: 2,566 (37.5% miss rate)</a:t>
            </a:r>
          </a:p>
          <a:p>
            <a:r>
              <a:rPr lang="en-US" sz="1600"/>
              <a:t>Logistic Regression: 1,007 (14.7% miss rate)</a:t>
            </a:r>
          </a:p>
          <a:p>
            <a:endParaRPr lang="en-US" sz="1600"/>
          </a:p>
          <a:p>
            <a:endParaRPr lang="en-US" sz="1600"/>
          </a:p>
        </p:txBody>
      </p:sp>
    </p:spTree>
    <p:extLst>
      <p:ext uri="{BB962C8B-B14F-4D97-AF65-F5344CB8AC3E}">
        <p14:creationId xmlns:p14="http://schemas.microsoft.com/office/powerpoint/2010/main" val="27110270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74E6ED-CA26-5EE4-8CB5-011300498FEF}"/>
              </a:ext>
            </a:extLst>
          </p:cNvPr>
          <p:cNvSpPr>
            <a:spLocks noGrp="1"/>
          </p:cNvSpPr>
          <p:nvPr>
            <p:ph type="sldNum" sz="quarter" idx="12"/>
          </p:nvPr>
        </p:nvSpPr>
        <p:spPr/>
        <p:txBody>
          <a:bodyPr/>
          <a:lstStyle/>
          <a:p>
            <a:fld id="{FE7A4BB3-E848-5A44-82DF-322201952CD8}" type="slidenum">
              <a:rPr lang="en-US" smtClean="0"/>
              <a:pPr/>
              <a:t>6</a:t>
            </a:fld>
            <a:endParaRPr lang="en-US"/>
          </a:p>
        </p:txBody>
      </p:sp>
      <p:sp>
        <p:nvSpPr>
          <p:cNvPr id="3" name="Content Placeholder 2">
            <a:extLst>
              <a:ext uri="{FF2B5EF4-FFF2-40B4-BE49-F238E27FC236}">
                <a16:creationId xmlns:a16="http://schemas.microsoft.com/office/drawing/2014/main" id="{9DD11B2B-49CB-68A0-C2D1-B92FC2B8AD3E}"/>
              </a:ext>
            </a:extLst>
          </p:cNvPr>
          <p:cNvSpPr>
            <a:spLocks noGrp="1"/>
          </p:cNvSpPr>
          <p:nvPr>
            <p:ph sz="quarter" idx="20"/>
          </p:nvPr>
        </p:nvSpPr>
        <p:spPr>
          <a:xfrm>
            <a:off x="6514495" y="1734533"/>
            <a:ext cx="7772400" cy="6622328"/>
          </a:xfrm>
        </p:spPr>
        <p:txBody>
          <a:bodyPr lIns="91440" tIns="45720" rIns="91440" bIns="45720" anchor="t"/>
          <a:lstStyle/>
          <a:p>
            <a:endParaRPr lang="en-US" sz="1600" b="1" dirty="0"/>
          </a:p>
          <a:p>
            <a:r>
              <a:rPr lang="en-US" sz="1600" b="1" dirty="0"/>
              <a:t>Approach / Strategy</a:t>
            </a:r>
          </a:p>
          <a:p>
            <a:pPr lvl="1"/>
            <a:r>
              <a:rPr lang="en-US" sz="1600" dirty="0"/>
              <a:t>Create prompts for LLMs, by LLMs</a:t>
            </a:r>
          </a:p>
          <a:p>
            <a:pPr lvl="1"/>
            <a:r>
              <a:rPr lang="en-US" sz="1600" dirty="0"/>
              <a:t>Structured output (JSON, 1 or 0)</a:t>
            </a:r>
          </a:p>
          <a:p>
            <a:pPr lvl="1"/>
            <a:r>
              <a:rPr lang="en-US" sz="1600" dirty="0"/>
              <a:t>Few-shot examples provided</a:t>
            </a:r>
          </a:p>
          <a:p>
            <a:pPr marL="548640" lvl="1" indent="0">
              <a:buNone/>
            </a:pPr>
            <a:endParaRPr lang="en-US" sz="1600" dirty="0"/>
          </a:p>
          <a:p>
            <a:r>
              <a:rPr lang="en-US" sz="1600" b="1" dirty="0"/>
              <a:t>Results</a:t>
            </a:r>
          </a:p>
          <a:p>
            <a:pPr lvl="1"/>
            <a:r>
              <a:rPr lang="en-US" sz="1600" dirty="0"/>
              <a:t>Gemma 3 – 67% of events correctly categorized</a:t>
            </a:r>
          </a:p>
          <a:p>
            <a:pPr lvl="1"/>
            <a:r>
              <a:rPr lang="en-US" sz="1600" dirty="0"/>
              <a:t>Phi 3.5 mini – 63 % of events correctly categorized</a:t>
            </a:r>
          </a:p>
          <a:p>
            <a:pPr lvl="1"/>
            <a:r>
              <a:rPr lang="en-US" sz="1600" dirty="0"/>
              <a:t>Phi mini </a:t>
            </a:r>
            <a:r>
              <a:rPr lang="en-US" sz="1600" dirty="0" err="1"/>
              <a:t>moe</a:t>
            </a:r>
            <a:r>
              <a:rPr lang="en-US" sz="1600" dirty="0"/>
              <a:t> – 24 % of events correctly categorized</a:t>
            </a:r>
          </a:p>
          <a:p>
            <a:pPr marL="548640" lvl="1" indent="0">
              <a:buNone/>
            </a:pPr>
            <a:endParaRPr lang="en-US" sz="1600" b="1" dirty="0"/>
          </a:p>
          <a:p>
            <a:r>
              <a:rPr lang="en-US" sz="1600" b="1" dirty="0"/>
              <a:t>Issues</a:t>
            </a:r>
          </a:p>
          <a:p>
            <a:pPr lvl="1"/>
            <a:r>
              <a:rPr lang="en-US" sz="1600" dirty="0"/>
              <a:t>Hallucinations (Gemini 2.5 pro hallucinated the percentage to be 56% vs 67% actual)</a:t>
            </a:r>
          </a:p>
          <a:p>
            <a:pPr lvl="1"/>
            <a:r>
              <a:rPr lang="en-US" sz="1600" dirty="0"/>
              <a:t>Our “high risk” events are only 11.6% of data, prompt indicates 1/3</a:t>
            </a:r>
          </a:p>
          <a:p>
            <a:endParaRPr lang="en-US" sz="1600" b="1" dirty="0"/>
          </a:p>
        </p:txBody>
      </p:sp>
      <p:sp>
        <p:nvSpPr>
          <p:cNvPr id="5" name="Title 4">
            <a:extLst>
              <a:ext uri="{FF2B5EF4-FFF2-40B4-BE49-F238E27FC236}">
                <a16:creationId xmlns:a16="http://schemas.microsoft.com/office/drawing/2014/main" id="{3967EB58-95B1-26AE-E58C-6D83761E926B}"/>
              </a:ext>
            </a:extLst>
          </p:cNvPr>
          <p:cNvSpPr>
            <a:spLocks noGrp="1"/>
          </p:cNvSpPr>
          <p:nvPr>
            <p:ph type="title"/>
          </p:nvPr>
        </p:nvSpPr>
        <p:spPr>
          <a:xfrm>
            <a:off x="3144622" y="255425"/>
            <a:ext cx="6782587" cy="1303748"/>
          </a:xfrm>
        </p:spPr>
        <p:txBody>
          <a:bodyPr/>
          <a:lstStyle/>
          <a:p>
            <a:r>
              <a:rPr lang="en-US" dirty="0"/>
              <a:t>LLM Approach &amp; Results</a:t>
            </a:r>
          </a:p>
        </p:txBody>
      </p:sp>
      <p:pic>
        <p:nvPicPr>
          <p:cNvPr id="7" name="Picture 6">
            <a:extLst>
              <a:ext uri="{FF2B5EF4-FFF2-40B4-BE49-F238E27FC236}">
                <a16:creationId xmlns:a16="http://schemas.microsoft.com/office/drawing/2014/main" id="{EAD28417-C843-9D58-0536-39C93036064F}"/>
              </a:ext>
            </a:extLst>
          </p:cNvPr>
          <p:cNvPicPr>
            <a:picLocks noChangeAspect="1"/>
          </p:cNvPicPr>
          <p:nvPr/>
        </p:nvPicPr>
        <p:blipFill>
          <a:blip r:embed="rId3"/>
          <a:stretch>
            <a:fillRect/>
          </a:stretch>
        </p:blipFill>
        <p:spPr>
          <a:xfrm>
            <a:off x="1239624" y="5984853"/>
            <a:ext cx="3214540" cy="1526540"/>
          </a:xfrm>
          <a:prstGeom prst="rect">
            <a:avLst/>
          </a:prstGeom>
        </p:spPr>
      </p:pic>
      <p:pic>
        <p:nvPicPr>
          <p:cNvPr id="15" name="Picture 14">
            <a:extLst>
              <a:ext uri="{FF2B5EF4-FFF2-40B4-BE49-F238E27FC236}">
                <a16:creationId xmlns:a16="http://schemas.microsoft.com/office/drawing/2014/main" id="{42749880-AA28-7367-D48B-FB8DAEEBD600}"/>
              </a:ext>
            </a:extLst>
          </p:cNvPr>
          <p:cNvPicPr>
            <a:picLocks noChangeAspect="1"/>
          </p:cNvPicPr>
          <p:nvPr/>
        </p:nvPicPr>
        <p:blipFill>
          <a:blip r:embed="rId4"/>
          <a:stretch>
            <a:fillRect/>
          </a:stretch>
        </p:blipFill>
        <p:spPr>
          <a:xfrm>
            <a:off x="1223283" y="3335511"/>
            <a:ext cx="5033523" cy="2574904"/>
          </a:xfrm>
          <a:prstGeom prst="rect">
            <a:avLst/>
          </a:prstGeom>
        </p:spPr>
      </p:pic>
      <p:sp>
        <p:nvSpPr>
          <p:cNvPr id="16" name="Content Placeholder 3">
            <a:extLst>
              <a:ext uri="{FF2B5EF4-FFF2-40B4-BE49-F238E27FC236}">
                <a16:creationId xmlns:a16="http://schemas.microsoft.com/office/drawing/2014/main" id="{91195970-A6BE-0FF7-A291-F3BC34717245}"/>
              </a:ext>
            </a:extLst>
          </p:cNvPr>
          <p:cNvSpPr txBox="1">
            <a:spLocks/>
          </p:cNvSpPr>
          <p:nvPr/>
        </p:nvSpPr>
        <p:spPr>
          <a:xfrm>
            <a:off x="2325272" y="524149"/>
            <a:ext cx="4572001" cy="1210384"/>
          </a:xfrm>
          <a:prstGeom prst="rect">
            <a:avLst/>
          </a:prstGeom>
        </p:spPr>
        <p:txBody>
          <a:bodyPr lIns="91440" tIns="45720" rIns="91440" bIns="45720" anchor="t"/>
          <a:lstStyle>
            <a:lvl1pPr marL="274320" indent="-274320" algn="l" defTabSz="1097280" rtl="0" eaLnBrk="1" latinLnBrk="0" hangingPunct="1">
              <a:lnSpc>
                <a:spcPct val="90000"/>
              </a:lnSpc>
              <a:spcBef>
                <a:spcPts val="12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822960" indent="-274320" algn="l" defTabSz="1097280" rtl="0" eaLnBrk="1" latinLnBrk="0" hangingPunct="1">
              <a:lnSpc>
                <a:spcPct val="90000"/>
              </a:lnSpc>
              <a:spcBef>
                <a:spcPts val="6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371600" indent="-274320" algn="l" defTabSz="1097280" rtl="0" eaLnBrk="1" latinLnBrk="0" hangingPunct="1">
              <a:lnSpc>
                <a:spcPct val="90000"/>
              </a:lnSpc>
              <a:spcBef>
                <a:spcPts val="6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3pPr>
            <a:lvl4pPr marL="1920240" indent="-274320" algn="l" defTabSz="1097280" rtl="0" eaLnBrk="1" latinLnBrk="0" hangingPunct="1">
              <a:lnSpc>
                <a:spcPct val="90000"/>
              </a:lnSpc>
              <a:spcBef>
                <a:spcPts val="6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468880" indent="-274320" algn="l" defTabSz="1097280" rtl="0" eaLnBrk="1" latinLnBrk="0" hangingPunct="1">
              <a:lnSpc>
                <a:spcPct val="90000"/>
              </a:lnSpc>
              <a:spcBef>
                <a:spcPts val="60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548640" lvl="1" indent="0">
              <a:buNone/>
            </a:pPr>
            <a:endParaRPr lang="en-US" sz="1600" dirty="0"/>
          </a:p>
        </p:txBody>
      </p:sp>
      <p:sp>
        <p:nvSpPr>
          <p:cNvPr id="18" name="Content Placeholder 2">
            <a:extLst>
              <a:ext uri="{FF2B5EF4-FFF2-40B4-BE49-F238E27FC236}">
                <a16:creationId xmlns:a16="http://schemas.microsoft.com/office/drawing/2014/main" id="{BF3DA030-B143-F4DC-0B9F-798905C732AC}"/>
              </a:ext>
            </a:extLst>
          </p:cNvPr>
          <p:cNvSpPr txBox="1">
            <a:spLocks/>
          </p:cNvSpPr>
          <p:nvPr/>
        </p:nvSpPr>
        <p:spPr>
          <a:xfrm>
            <a:off x="1305532" y="1559173"/>
            <a:ext cx="4869026" cy="1909891"/>
          </a:xfrm>
          <a:prstGeom prst="rect">
            <a:avLst/>
          </a:prstGeom>
        </p:spPr>
        <p:txBody>
          <a:bodyPr lIns="91440" tIns="45720" rIns="91440" bIns="45720" anchor="t"/>
          <a:lstStyle>
            <a:lvl1pPr marL="274320" indent="-274320" algn="l" defTabSz="1097280" rtl="0" eaLnBrk="1" latinLnBrk="0" hangingPunct="1">
              <a:lnSpc>
                <a:spcPct val="90000"/>
              </a:lnSpc>
              <a:spcBef>
                <a:spcPts val="12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822960" indent="-274320" algn="l" defTabSz="1097280" rtl="0" eaLnBrk="1" latinLnBrk="0" hangingPunct="1">
              <a:lnSpc>
                <a:spcPct val="90000"/>
              </a:lnSpc>
              <a:spcBef>
                <a:spcPts val="6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371600" indent="-274320" algn="l" defTabSz="1097280" rtl="0" eaLnBrk="1" latinLnBrk="0" hangingPunct="1">
              <a:lnSpc>
                <a:spcPct val="90000"/>
              </a:lnSpc>
              <a:spcBef>
                <a:spcPts val="6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3pPr>
            <a:lvl4pPr marL="1920240" indent="-274320" algn="l" defTabSz="1097280" rtl="0" eaLnBrk="1" latinLnBrk="0" hangingPunct="1">
              <a:lnSpc>
                <a:spcPct val="90000"/>
              </a:lnSpc>
              <a:spcBef>
                <a:spcPts val="6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468880" indent="-274320" algn="l" defTabSz="1097280" rtl="0" eaLnBrk="1" latinLnBrk="0" hangingPunct="1">
              <a:lnSpc>
                <a:spcPct val="90000"/>
              </a:lnSpc>
              <a:spcBef>
                <a:spcPts val="60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endParaRPr lang="en-US" sz="1600" b="1" dirty="0"/>
          </a:p>
          <a:p>
            <a:r>
              <a:rPr lang="en-US" sz="1600" b="1" dirty="0"/>
              <a:t>Prompt</a:t>
            </a:r>
          </a:p>
          <a:p>
            <a:pPr lvl="1"/>
            <a:r>
              <a:rPr lang="en-US" sz="1600" dirty="0"/>
              <a:t>Gave it a role</a:t>
            </a:r>
          </a:p>
          <a:p>
            <a:pPr lvl="1"/>
            <a:r>
              <a:rPr lang="en-US" sz="1600" dirty="0"/>
              <a:t>Description of Data Fields</a:t>
            </a:r>
          </a:p>
          <a:p>
            <a:pPr lvl="1"/>
            <a:r>
              <a:rPr lang="en-US" sz="1600" dirty="0"/>
              <a:t>Simple Assignment</a:t>
            </a:r>
            <a:endParaRPr lang="en-US" sz="1600" b="1" dirty="0"/>
          </a:p>
          <a:p>
            <a:endParaRPr lang="en-US" sz="1600" b="1" dirty="0"/>
          </a:p>
        </p:txBody>
      </p:sp>
    </p:spTree>
    <p:extLst>
      <p:ext uri="{BB962C8B-B14F-4D97-AF65-F5344CB8AC3E}">
        <p14:creationId xmlns:p14="http://schemas.microsoft.com/office/powerpoint/2010/main" val="2679890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A5881-5801-4248-5377-924EAF7A8F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BDBEA7-14D2-E869-8CB4-FBDFA4142EC0}"/>
              </a:ext>
            </a:extLst>
          </p:cNvPr>
          <p:cNvSpPr>
            <a:spLocks noGrp="1"/>
          </p:cNvSpPr>
          <p:nvPr>
            <p:ph type="sldNum" sz="quarter" idx="12"/>
          </p:nvPr>
        </p:nvSpPr>
        <p:spPr/>
        <p:txBody>
          <a:bodyPr/>
          <a:lstStyle/>
          <a:p>
            <a:fld id="{FE7A4BB3-E848-5A44-82DF-322201952CD8}" type="slidenum">
              <a:rPr lang="en-US" smtClean="0"/>
              <a:pPr/>
              <a:t>7</a:t>
            </a:fld>
            <a:endParaRPr lang="en-US"/>
          </a:p>
        </p:txBody>
      </p:sp>
      <p:sp>
        <p:nvSpPr>
          <p:cNvPr id="5" name="Title 4">
            <a:extLst>
              <a:ext uri="{FF2B5EF4-FFF2-40B4-BE49-F238E27FC236}">
                <a16:creationId xmlns:a16="http://schemas.microsoft.com/office/drawing/2014/main" id="{555E1587-ADEB-5D14-35EB-77656F35B6AD}"/>
              </a:ext>
            </a:extLst>
          </p:cNvPr>
          <p:cNvSpPr>
            <a:spLocks noGrp="1"/>
          </p:cNvSpPr>
          <p:nvPr>
            <p:ph type="title"/>
          </p:nvPr>
        </p:nvSpPr>
        <p:spPr>
          <a:xfrm>
            <a:off x="2965620" y="753762"/>
            <a:ext cx="8180174" cy="864973"/>
          </a:xfrm>
        </p:spPr>
        <p:txBody>
          <a:bodyPr/>
          <a:lstStyle/>
          <a:p>
            <a:r>
              <a:rPr lang="en-US"/>
              <a:t>ML vs LLM Comparison</a:t>
            </a:r>
          </a:p>
        </p:txBody>
      </p:sp>
      <p:graphicFrame>
        <p:nvGraphicFramePr>
          <p:cNvPr id="8" name="Content Placeholder 7">
            <a:extLst>
              <a:ext uri="{FF2B5EF4-FFF2-40B4-BE49-F238E27FC236}">
                <a16:creationId xmlns:a16="http://schemas.microsoft.com/office/drawing/2014/main" id="{83F9E865-7C96-1979-A43F-D693B2CEEA53}"/>
              </a:ext>
            </a:extLst>
          </p:cNvPr>
          <p:cNvGraphicFramePr>
            <a:graphicFrameLocks noGrp="1"/>
          </p:cNvGraphicFramePr>
          <p:nvPr>
            <p:ph sz="quarter" idx="20"/>
            <p:extLst>
              <p:ext uri="{D42A27DB-BD31-4B8C-83A1-F6EECF244321}">
                <p14:modId xmlns:p14="http://schemas.microsoft.com/office/powerpoint/2010/main" val="3068928259"/>
              </p:ext>
            </p:extLst>
          </p:nvPr>
        </p:nvGraphicFramePr>
        <p:xfrm>
          <a:off x="2073897" y="2530460"/>
          <a:ext cx="11604331" cy="3787330"/>
        </p:xfrm>
        <a:graphic>
          <a:graphicData uri="http://schemas.openxmlformats.org/drawingml/2006/table">
            <a:tbl>
              <a:tblPr/>
              <a:tblGrid>
                <a:gridCol w="3856645">
                  <a:extLst>
                    <a:ext uri="{9D8B030D-6E8A-4147-A177-3AD203B41FA5}">
                      <a16:colId xmlns:a16="http://schemas.microsoft.com/office/drawing/2014/main" val="1723699818"/>
                    </a:ext>
                  </a:extLst>
                </a:gridCol>
                <a:gridCol w="3873843">
                  <a:extLst>
                    <a:ext uri="{9D8B030D-6E8A-4147-A177-3AD203B41FA5}">
                      <a16:colId xmlns:a16="http://schemas.microsoft.com/office/drawing/2014/main" val="2004994898"/>
                    </a:ext>
                  </a:extLst>
                </a:gridCol>
                <a:gridCol w="3873843">
                  <a:extLst>
                    <a:ext uri="{9D8B030D-6E8A-4147-A177-3AD203B41FA5}">
                      <a16:colId xmlns:a16="http://schemas.microsoft.com/office/drawing/2014/main" val="2174544937"/>
                    </a:ext>
                  </a:extLst>
                </a:gridCol>
              </a:tblGrid>
              <a:tr h="757466">
                <a:tc>
                  <a:txBody>
                    <a:bodyPr/>
                    <a:lstStyle/>
                    <a:p>
                      <a:pPr>
                        <a:buNone/>
                      </a:pPr>
                      <a:r>
                        <a:rPr lang="en-US" sz="2200" b="1" kern="1200" dirty="0">
                          <a:solidFill>
                            <a:srgbClr val="616265">
                              <a:hueOff val="0"/>
                              <a:satOff val="0"/>
                              <a:lumOff val="0"/>
                              <a:alphaOff val="0"/>
                            </a:srgbClr>
                          </a:solidFill>
                          <a:latin typeface="Arial"/>
                          <a:ea typeface="+mn-ea"/>
                          <a:cs typeface="+mn-cs"/>
                        </a:rPr>
                        <a:t>Criteria</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200" b="1" kern="1200" dirty="0">
                          <a:solidFill>
                            <a:srgbClr val="616265">
                              <a:hueOff val="0"/>
                              <a:satOff val="0"/>
                              <a:lumOff val="0"/>
                              <a:alphaOff val="0"/>
                            </a:srgbClr>
                          </a:solidFill>
                          <a:latin typeface="Arial"/>
                          <a:ea typeface="+mn-ea"/>
                          <a:cs typeface="+mn-cs"/>
                        </a:rPr>
                        <a:t>ML Model</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200" b="1" kern="1200" dirty="0">
                          <a:solidFill>
                            <a:srgbClr val="616265">
                              <a:hueOff val="0"/>
                              <a:satOff val="0"/>
                              <a:lumOff val="0"/>
                              <a:alphaOff val="0"/>
                            </a:srgbClr>
                          </a:solidFill>
                          <a:latin typeface="Arial"/>
                          <a:ea typeface="+mn-ea"/>
                          <a:cs typeface="+mn-cs"/>
                        </a:rPr>
                        <a:t>LLM Approach</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780305"/>
                  </a:ext>
                </a:extLst>
              </a:tr>
              <a:tr h="757466">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Accuracy (test data)</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a:solidFill>
                            <a:schemeClr val="tx1"/>
                          </a:solidFill>
                          <a:latin typeface="Arial" panose="020B0604020202020204" pitchFamily="34" charset="0"/>
                          <a:ea typeface="+mn-ea"/>
                          <a:cs typeface="Arial" panose="020B0604020202020204" pitchFamily="34" charset="0"/>
                        </a:rPr>
                        <a:t>88% (XGBoost)</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67% (Gemma 3)</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8181637"/>
                  </a:ext>
                </a:extLst>
              </a:tr>
              <a:tr h="757466">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Speed (run test)</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Fast (minutes)</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Slower (Hours)</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165913"/>
                  </a:ext>
                </a:extLst>
              </a:tr>
              <a:tr h="757466">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Effort</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Medium setup (LLM generated scripts)</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Medium setup (LLM generated notebook)</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2673759"/>
                  </a:ext>
                </a:extLst>
              </a:tr>
              <a:tr h="757466">
                <a:tc>
                  <a:txBody>
                    <a:bodyPr/>
                    <a:lstStyle/>
                    <a:p>
                      <a:pPr>
                        <a:buNone/>
                      </a:pPr>
                      <a:r>
                        <a:rPr lang="en-US" sz="1600" kern="1200">
                          <a:solidFill>
                            <a:schemeClr val="tx1"/>
                          </a:solidFill>
                          <a:latin typeface="Arial" panose="020B0604020202020204" pitchFamily="34" charset="0"/>
                          <a:ea typeface="+mn-ea"/>
                          <a:cs typeface="Arial" panose="020B0604020202020204" pitchFamily="34" charset="0"/>
                        </a:rPr>
                        <a:t>Flexibility</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Low (Code/Training)</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kern="1200" dirty="0">
                          <a:solidFill>
                            <a:schemeClr val="tx1"/>
                          </a:solidFill>
                          <a:latin typeface="Arial" panose="020B0604020202020204" pitchFamily="34" charset="0"/>
                          <a:ea typeface="+mn-ea"/>
                          <a:cs typeface="Arial" panose="020B0604020202020204" pitchFamily="34" charset="0"/>
                        </a:rPr>
                        <a:t>High (Natural Lang.)</a:t>
                      </a:r>
                    </a:p>
                  </a:txBody>
                  <a:tcPr marL="56327" marR="56327" marT="28164" marB="281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4093621"/>
                  </a:ext>
                </a:extLst>
              </a:tr>
            </a:tbl>
          </a:graphicData>
        </a:graphic>
      </p:graphicFrame>
    </p:spTree>
    <p:extLst>
      <p:ext uri="{BB962C8B-B14F-4D97-AF65-F5344CB8AC3E}">
        <p14:creationId xmlns:p14="http://schemas.microsoft.com/office/powerpoint/2010/main" val="3368561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46CEDC-F026-CD03-00ED-2472ED08E50E}"/>
              </a:ext>
            </a:extLst>
          </p:cNvPr>
          <p:cNvSpPr>
            <a:spLocks noGrp="1"/>
          </p:cNvSpPr>
          <p:nvPr>
            <p:ph type="sldNum" sz="quarter" idx="12"/>
          </p:nvPr>
        </p:nvSpPr>
        <p:spPr>
          <a:xfrm>
            <a:off x="13994296" y="7772400"/>
            <a:ext cx="453223" cy="457200"/>
          </a:xfrm>
        </p:spPr>
        <p:txBody>
          <a:bodyPr anchor="ctr">
            <a:normAutofit/>
          </a:bodyPr>
          <a:lstStyle/>
          <a:p>
            <a:pPr>
              <a:spcAft>
                <a:spcPts val="600"/>
              </a:spcAft>
            </a:pPr>
            <a:fld id="{FE7A4BB3-E848-5A44-82DF-322201952CD8}" type="slidenum">
              <a:rPr lang="en-US" smtClean="0"/>
              <a:pPr>
                <a:spcAft>
                  <a:spcPts val="600"/>
                </a:spcAft>
              </a:pPr>
              <a:t>8</a:t>
            </a:fld>
            <a:endParaRPr lang="en-US"/>
          </a:p>
        </p:txBody>
      </p:sp>
      <p:sp>
        <p:nvSpPr>
          <p:cNvPr id="5" name="Title 4">
            <a:extLst>
              <a:ext uri="{FF2B5EF4-FFF2-40B4-BE49-F238E27FC236}">
                <a16:creationId xmlns:a16="http://schemas.microsoft.com/office/drawing/2014/main" id="{508EAC9F-0908-381B-F06D-A8B9F94199D6}"/>
              </a:ext>
            </a:extLst>
          </p:cNvPr>
          <p:cNvSpPr>
            <a:spLocks noGrp="1"/>
          </p:cNvSpPr>
          <p:nvPr>
            <p:ph type="title"/>
          </p:nvPr>
        </p:nvSpPr>
        <p:spPr>
          <a:xfrm>
            <a:off x="1149170" y="2524124"/>
            <a:ext cx="2688631" cy="1590675"/>
          </a:xfrm>
        </p:spPr>
        <p:txBody>
          <a:bodyPr anchor="b">
            <a:normAutofit/>
          </a:bodyPr>
          <a:lstStyle/>
          <a:p>
            <a:r>
              <a:rPr lang="en-US"/>
              <a:t>Insights &amp; Closing</a:t>
            </a:r>
          </a:p>
        </p:txBody>
      </p:sp>
      <p:graphicFrame>
        <p:nvGraphicFramePr>
          <p:cNvPr id="7" name="Content Placeholder 2">
            <a:extLst>
              <a:ext uri="{FF2B5EF4-FFF2-40B4-BE49-F238E27FC236}">
                <a16:creationId xmlns:a16="http://schemas.microsoft.com/office/drawing/2014/main" id="{BAABE6D3-929E-6ECF-F694-8CF0F30609A1}"/>
              </a:ext>
            </a:extLst>
          </p:cNvPr>
          <p:cNvGraphicFramePr>
            <a:graphicFrameLocks noGrp="1"/>
          </p:cNvGraphicFramePr>
          <p:nvPr>
            <p:ph sz="quarter" idx="20"/>
            <p:extLst>
              <p:ext uri="{D42A27DB-BD31-4B8C-83A1-F6EECF244321}">
                <p14:modId xmlns:p14="http://schemas.microsoft.com/office/powerpoint/2010/main" val="3470703632"/>
              </p:ext>
            </p:extLst>
          </p:nvPr>
        </p:nvGraphicFramePr>
        <p:xfrm>
          <a:off x="3837801" y="430967"/>
          <a:ext cx="10442403" cy="7367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50374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9F83CF-FC98-7CD8-B2F3-30A1BFA6A623}"/>
              </a:ext>
            </a:extLst>
          </p:cNvPr>
          <p:cNvSpPr>
            <a:spLocks noGrp="1"/>
          </p:cNvSpPr>
          <p:nvPr>
            <p:ph type="sldNum" sz="quarter" idx="12"/>
          </p:nvPr>
        </p:nvSpPr>
        <p:spPr/>
        <p:txBody>
          <a:bodyPr/>
          <a:lstStyle/>
          <a:p>
            <a:fld id="{FE7A4BB3-E848-5A44-82DF-322201952CD8}" type="slidenum">
              <a:rPr lang="en-US" smtClean="0"/>
              <a:pPr/>
              <a:t>9</a:t>
            </a:fld>
            <a:endParaRPr lang="en-US"/>
          </a:p>
        </p:txBody>
      </p:sp>
      <p:sp>
        <p:nvSpPr>
          <p:cNvPr id="5" name="Title 4">
            <a:extLst>
              <a:ext uri="{FF2B5EF4-FFF2-40B4-BE49-F238E27FC236}">
                <a16:creationId xmlns:a16="http://schemas.microsoft.com/office/drawing/2014/main" id="{2CCB3341-9549-9629-804D-30650AB90D6C}"/>
              </a:ext>
            </a:extLst>
          </p:cNvPr>
          <p:cNvSpPr>
            <a:spLocks noGrp="1"/>
          </p:cNvSpPr>
          <p:nvPr>
            <p:ph type="title"/>
          </p:nvPr>
        </p:nvSpPr>
        <p:spPr/>
        <p:txBody>
          <a:bodyPr/>
          <a:lstStyle/>
          <a:p>
            <a:r>
              <a:rPr lang="en-US" dirty="0"/>
              <a:t>Key Learning Milestones</a:t>
            </a:r>
          </a:p>
        </p:txBody>
      </p:sp>
      <p:sp>
        <p:nvSpPr>
          <p:cNvPr id="6" name="Content Placeholder 5">
            <a:extLst>
              <a:ext uri="{FF2B5EF4-FFF2-40B4-BE49-F238E27FC236}">
                <a16:creationId xmlns:a16="http://schemas.microsoft.com/office/drawing/2014/main" id="{C87DA94C-641B-9E66-77E9-1176AEA4F191}"/>
              </a:ext>
            </a:extLst>
          </p:cNvPr>
          <p:cNvSpPr>
            <a:spLocks noGrp="1"/>
          </p:cNvSpPr>
          <p:nvPr>
            <p:ph sz="quarter" idx="20"/>
          </p:nvPr>
        </p:nvSpPr>
        <p:spPr/>
        <p:txBody>
          <a:bodyPr/>
          <a:lstStyle/>
          <a:p>
            <a:r>
              <a:rPr lang="en-US" b="1" dirty="0"/>
              <a:t>Thomas: </a:t>
            </a:r>
            <a:r>
              <a:rPr lang="en-US" dirty="0"/>
              <a:t>Learned how to more effectively prompt an LLM, improved understanding of how to clean datasets with the help of AI, and </a:t>
            </a:r>
            <a:r>
              <a:rPr lang="en-US"/>
              <a:t>developed a basic</a:t>
            </a:r>
            <a:r>
              <a:rPr lang="en-US" dirty="0"/>
              <a:t> awareness of ML models and algorithms and their different applications.</a:t>
            </a:r>
            <a:endParaRPr lang="en-US" b="1" dirty="0"/>
          </a:p>
          <a:p>
            <a:r>
              <a:rPr lang="en-US" b="1" dirty="0"/>
              <a:t>Rajiv: </a:t>
            </a:r>
            <a:r>
              <a:rPr lang="en-US" dirty="0"/>
              <a:t>Learned that ML models can produce reasonably good predictions even with limited specificity in features.</a:t>
            </a:r>
          </a:p>
          <a:p>
            <a:r>
              <a:rPr lang="en-US" b="1" dirty="0"/>
              <a:t>Anastasia: </a:t>
            </a:r>
            <a:r>
              <a:rPr lang="en-US" dirty="0"/>
              <a:t>Learned how LLMs may only marginally improve with strong prompting when using multimodal data.</a:t>
            </a:r>
          </a:p>
          <a:p>
            <a:r>
              <a:rPr lang="en-US" b="1" dirty="0"/>
              <a:t>Cole: </a:t>
            </a:r>
            <a:r>
              <a:rPr lang="en-US" dirty="0"/>
              <a:t>Learned that building a baseline classification model can be surprisingly quick using libraries like </a:t>
            </a:r>
            <a:r>
              <a:rPr lang="en-US" dirty="0" err="1"/>
              <a:t>XGBoost</a:t>
            </a:r>
            <a:r>
              <a:rPr lang="en-US" dirty="0"/>
              <a:t>.</a:t>
            </a:r>
          </a:p>
          <a:p>
            <a:r>
              <a:rPr lang="en-US" b="1" dirty="0"/>
              <a:t>Kevin: </a:t>
            </a:r>
            <a:r>
              <a:rPr lang="en-US" dirty="0"/>
              <a:t>Learned differences between the use of ML models and LLMs and how to better utilize LLMs to complete tasks that have data involved.</a:t>
            </a:r>
          </a:p>
          <a:p>
            <a:endParaRPr lang="en-US" dirty="0"/>
          </a:p>
        </p:txBody>
      </p:sp>
    </p:spTree>
    <p:extLst>
      <p:ext uri="{BB962C8B-B14F-4D97-AF65-F5344CB8AC3E}">
        <p14:creationId xmlns:p14="http://schemas.microsoft.com/office/powerpoint/2010/main" val="3204803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433BB6-ACB2-4953-9ADC-C0F78F3BD058}"/>
              </a:ext>
            </a:extLst>
          </p:cNvPr>
          <p:cNvSpPr>
            <a:spLocks noGrp="1"/>
          </p:cNvSpPr>
          <p:nvPr>
            <p:ph type="sldNum" sz="quarter" idx="12"/>
          </p:nvPr>
        </p:nvSpPr>
        <p:spPr/>
        <p:txBody>
          <a:bodyPr/>
          <a:lstStyle/>
          <a:p>
            <a:fld id="{FE7A4BB3-E848-5A44-82DF-322201952CD8}" type="slidenum">
              <a:rPr lang="en-US" smtClean="0"/>
              <a:pPr/>
              <a:t>10</a:t>
            </a:fld>
            <a:endParaRPr lang="en-US"/>
          </a:p>
        </p:txBody>
      </p:sp>
    </p:spTree>
    <p:extLst>
      <p:ext uri="{BB962C8B-B14F-4D97-AF65-F5344CB8AC3E}">
        <p14:creationId xmlns:p14="http://schemas.microsoft.com/office/powerpoint/2010/main" val="75739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NNL_Option_4">
  <a:themeElements>
    <a:clrScheme name="PNNL">
      <a:dk1>
        <a:srgbClr val="616265"/>
      </a:dk1>
      <a:lt1>
        <a:srgbClr val="FFFFFF"/>
      </a:lt1>
      <a:dk2>
        <a:srgbClr val="D77600"/>
      </a:dk2>
      <a:lt2>
        <a:srgbClr val="B3B3B3"/>
      </a:lt2>
      <a:accent1>
        <a:srgbClr val="A63F1E"/>
      </a:accent1>
      <a:accent2>
        <a:srgbClr val="191C1F"/>
      </a:accent2>
      <a:accent3>
        <a:srgbClr val="F4AA00"/>
      </a:accent3>
      <a:accent4>
        <a:srgbClr val="007836"/>
      </a:accent4>
      <a:accent5>
        <a:srgbClr val="C10435"/>
      </a:accent5>
      <a:accent6>
        <a:srgbClr val="00338E"/>
      </a:accent6>
      <a:hlink>
        <a:srgbClr val="003698"/>
      </a:hlink>
      <a:folHlink>
        <a:srgbClr val="8A0752"/>
      </a:folHlink>
    </a:clrScheme>
    <a:fontScheme name="PNNL_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NNL_11" id="{337D310C-1272-4F30-9DED-56441803F0A1}" vid="{1F81E3C5-E229-4038-8C61-9A314EB358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B2EB9474BCC524194DF8AB69AF98367" ma:contentTypeVersion="11" ma:contentTypeDescription="Create a new document." ma:contentTypeScope="" ma:versionID="d7b015066b057df51e2bd18f3670a8ba">
  <xsd:schema xmlns:xsd="http://www.w3.org/2001/XMLSchema" xmlns:xs="http://www.w3.org/2001/XMLSchema" xmlns:p="http://schemas.microsoft.com/office/2006/metadata/properties" xmlns:ns2="be29f02d-c038-4345-b16b-5963e734fea8" xmlns:ns3="57e9471f-e923-43d3-91de-663b24ddc458" targetNamespace="http://schemas.microsoft.com/office/2006/metadata/properties" ma:root="true" ma:fieldsID="07b75cdb79a64d1a70b4766cabd81225" ns2:_="" ns3:_="">
    <xsd:import namespace="be29f02d-c038-4345-b16b-5963e734fea8"/>
    <xsd:import namespace="57e9471f-e923-43d3-91de-663b24ddc4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29f02d-c038-4345-b16b-5963e734fe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60f1aaf-6244-4bb9-9bf9-38bf3738530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7e9471f-e923-43d3-91de-663b24ddc45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bcb3334-e986-457f-ba1e-f599899c508e}" ma:internalName="TaxCatchAll" ma:showField="CatchAllData" ma:web="57e9471f-e923-43d3-91de-663b24ddc4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7e9471f-e923-43d3-91de-663b24ddc458" xsi:nil="true"/>
    <lcf76f155ced4ddcb4097134ff3c332f xmlns="be29f02d-c038-4345-b16b-5963e734fea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4278FBF-7C70-4D1D-8879-E2D3A0A4D875}">
  <ds:schemaRefs>
    <ds:schemaRef ds:uri="http://schemas.microsoft.com/sharepoint/v3/contenttype/forms"/>
  </ds:schemaRefs>
</ds:datastoreItem>
</file>

<file path=customXml/itemProps2.xml><?xml version="1.0" encoding="utf-8"?>
<ds:datastoreItem xmlns:ds="http://schemas.openxmlformats.org/officeDocument/2006/customXml" ds:itemID="{6DEC9FA0-4F2A-4545-9675-B1749B648E89}">
  <ds:schemaRefs>
    <ds:schemaRef ds:uri="57e9471f-e923-43d3-91de-663b24ddc458"/>
    <ds:schemaRef ds:uri="be29f02d-c038-4345-b16b-5963e734fea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1901827-57F5-4317-8C1B-3AC7FE388F0A}">
  <ds:schemaRefs>
    <ds:schemaRef ds:uri="http://schemas.microsoft.com/office/infopath/2007/PartnerControls"/>
    <ds:schemaRef ds:uri="http://schemas.microsoft.com/office/2006/metadata/properties"/>
    <ds:schemaRef ds:uri="http://purl.org/dc/dcmitype/"/>
    <ds:schemaRef ds:uri="http://purl.org/dc/elements/1.1/"/>
    <ds:schemaRef ds:uri="http://schemas.microsoft.com/office/2006/documentManagement/types"/>
    <ds:schemaRef ds:uri="be29f02d-c038-4345-b16b-5963e734fea8"/>
    <ds:schemaRef ds:uri="http://www.w3.org/XML/1998/namespace"/>
    <ds:schemaRef ds:uri="http://purl.org/dc/terms/"/>
    <ds:schemaRef ds:uri="http://schemas.openxmlformats.org/package/2006/metadata/core-properties"/>
    <ds:schemaRef ds:uri="57e9471f-e923-43d3-91de-663b24ddc458"/>
  </ds:schemaRefs>
</ds:datastoreItem>
</file>

<file path=docProps/app.xml><?xml version="1.0" encoding="utf-8"?>
<Properties xmlns="http://schemas.openxmlformats.org/officeDocument/2006/extended-properties" xmlns:vt="http://schemas.openxmlformats.org/officeDocument/2006/docPropsVTypes">
  <Template>PNNL_11</Template>
  <TotalTime>0</TotalTime>
  <Words>1728</Words>
  <Application>Microsoft Office PowerPoint</Application>
  <PresentationFormat>Custom</PresentationFormat>
  <Paragraphs>168</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PNNL_Option_4</vt:lpstr>
      <vt:lpstr>TRACK: Extreme Weather and Data Center Siting</vt:lpstr>
      <vt:lpstr>PowerPoint Presentation</vt:lpstr>
      <vt:lpstr>Data Overview &amp; Challenges</vt:lpstr>
      <vt:lpstr>Approach Overview</vt:lpstr>
      <vt:lpstr>ML Results &amp; Insights</vt:lpstr>
      <vt:lpstr>LLM Approach &amp; Results</vt:lpstr>
      <vt:lpstr>ML vs LLM Comparison</vt:lpstr>
      <vt:lpstr>Insights &amp; Closing</vt:lpstr>
      <vt:lpstr>Key Learning Milestones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Hou, Hongfei</dc:creator>
  <cp:lastModifiedBy>Atkinson, Kevin A</cp:lastModifiedBy>
  <cp:revision>2</cp:revision>
  <dcterms:created xsi:type="dcterms:W3CDTF">2026-04-09T16:09:17Z</dcterms:created>
  <dcterms:modified xsi:type="dcterms:W3CDTF">2026-04-23T19:30:08Z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0x0101003B2EB9474BCC524194DF8AB69AF98367</vt:lpwstr>
  </property>
  <property fmtid="{D5CDD505-2E9C-101B-9397-08002B2CF9AE}" pid="3" name="MediaServiceImageTags">
    <vt:lpwstr/>
  </property>
</Properties>
</file>