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4"/>
  </p:sldMasterIdLst>
  <p:notesMasterIdLst>
    <p:notesMasterId r:id="rId16"/>
  </p:notesMasterIdLst>
  <p:handoutMasterIdLst>
    <p:handoutMasterId r:id="rId17"/>
  </p:handoutMasterIdLst>
  <p:sldIdLst>
    <p:sldId id="260" r:id="rId5"/>
    <p:sldId id="270" r:id="rId6"/>
    <p:sldId id="271" r:id="rId7"/>
    <p:sldId id="278" r:id="rId8"/>
    <p:sldId id="279" r:id="rId9"/>
    <p:sldId id="280" r:id="rId10"/>
    <p:sldId id="274" r:id="rId11"/>
    <p:sldId id="275" r:id="rId12"/>
    <p:sldId id="276" r:id="rId13"/>
    <p:sldId id="277" r:id="rId14"/>
    <p:sldId id="268" r:id="rId15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20C524-F7A6-DBD8-FEA8-FE51F5B21EDE}" name="Vesty, Dana B" initials="DV" userId="S::dana.vesty@pnnl.gov::1f5304c0-7be6-48e8-b25a-9982bffeeaac" providerId="AD"/>
  <p188:author id="{23355F43-9A57-D835-08AE-7099F04B6365}" name="Chen, Tse-Chun" initials="TC" userId="S::tse-chun.chen@pnnl.gov::7d1668d5-7b6c-460b-b3f2-2c3fd842fe7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19500"/>
    <a:srgbClr val="007836"/>
    <a:srgbClr val="BE0F34"/>
    <a:srgbClr val="820150"/>
    <a:srgbClr val="502D7F"/>
    <a:srgbClr val="00338E"/>
    <a:srgbClr val="0081AB"/>
    <a:srgbClr val="758F9D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E76F85-6168-46FE-B879-5421AC3846E6}" v="36" dt="2026-04-22T17:24:49.550"/>
    <p1510:client id="{260D01D1-8262-4FFA-AE0C-88ACB09F0596}" v="1201" dt="2026-04-23T13:16:12.968"/>
    <p1510:client id="{3A016E13-F93A-43DF-B9DE-351449EC2329}" v="986" dt="2026-04-22T20:51:30.540"/>
    <p1510:client id="{540E027D-7E4A-4704-96F2-32F5A5412364}" v="639" dt="2026-04-23T18:04:06.832"/>
    <p1510:client id="{99BE10DC-6568-4C3C-880E-E92889D80E22}" v="3688" dt="2026-04-23T16:48:56.162"/>
    <p1510:client id="{C0A1A651-CB48-F14F-BEE5-E35629650020}" v="976" dt="2026-04-22T17:19:19.489"/>
    <p1510:client id="{FA97F939-FF4D-45AD-BA64-B303376E27D3}" v="3" dt="2026-04-23T17:54:52.657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9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389006-4297-48A9-957E-04BCD684FD18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DC74E4C-6BBB-4B39-948B-51CBFC4A4DF8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Problem</a:t>
          </a:r>
        </a:p>
      </dgm:t>
    </dgm:pt>
    <dgm:pt modelId="{F0D10889-77C2-4E69-9529-9D13974F81EF}" type="parTrans" cxnId="{3298E9BA-774E-4CF1-B8B5-4498BA47D829}">
      <dgm:prSet/>
      <dgm:spPr/>
      <dgm:t>
        <a:bodyPr/>
        <a:lstStyle/>
        <a:p>
          <a:endParaRPr lang="en-US"/>
        </a:p>
      </dgm:t>
    </dgm:pt>
    <dgm:pt modelId="{EB5B282C-2EEE-440B-83C3-ED7048545583}" type="sibTrans" cxnId="{3298E9BA-774E-4CF1-B8B5-4498BA47D829}">
      <dgm:prSet/>
      <dgm:spPr/>
      <dgm:t>
        <a:bodyPr/>
        <a:lstStyle/>
        <a:p>
          <a:endParaRPr lang="en-US"/>
        </a:p>
      </dgm:t>
    </dgm:pt>
    <dgm:pt modelId="{6515D45F-E76C-4ED4-B350-9FAC6FA1D132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87DAAE4-B0D4-4314-A883-8BC77B8650FE}" type="parTrans" cxnId="{0B39A2BD-C245-490D-944B-4086E77E7E86}">
      <dgm:prSet/>
      <dgm:spPr/>
      <dgm:t>
        <a:bodyPr/>
        <a:lstStyle/>
        <a:p>
          <a:endParaRPr lang="en-US"/>
        </a:p>
      </dgm:t>
    </dgm:pt>
    <dgm:pt modelId="{BA761556-2638-4042-88A3-E60C7F811CAE}" type="sibTrans" cxnId="{0B39A2BD-C245-490D-944B-4086E77E7E86}">
      <dgm:prSet/>
      <dgm:spPr/>
      <dgm:t>
        <a:bodyPr/>
        <a:lstStyle/>
        <a:p>
          <a:endParaRPr lang="en-US"/>
        </a:p>
      </dgm:t>
    </dgm:pt>
    <dgm:pt modelId="{79330B22-699C-481D-BEBA-3D6C17E689C2}">
      <dgm:prSet/>
      <dgm:spPr/>
      <dgm:t>
        <a:bodyPr/>
        <a:lstStyle/>
        <a:p>
          <a:r>
            <a:rPr lang="en-US" b="0" i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Aim to predict the temporal evolution for different injection rates, time spans, or hot water temperatures. 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085B82A-2B45-4CEF-B358-FEFD097C53CF}" type="parTrans" cxnId="{51E7C049-48C7-4424-ADBC-FD22C96A68AA}">
      <dgm:prSet/>
      <dgm:spPr/>
      <dgm:t>
        <a:bodyPr/>
        <a:lstStyle/>
        <a:p>
          <a:endParaRPr lang="en-US"/>
        </a:p>
      </dgm:t>
    </dgm:pt>
    <dgm:pt modelId="{C547A69B-55E0-43E3-8D06-A267A7317504}" type="sibTrans" cxnId="{51E7C049-48C7-4424-ADBC-FD22C96A68AA}">
      <dgm:prSet/>
      <dgm:spPr/>
      <dgm:t>
        <a:bodyPr/>
        <a:lstStyle/>
        <a:p>
          <a:endParaRPr lang="en-US"/>
        </a:p>
      </dgm:t>
    </dgm:pt>
    <dgm:pt modelId="{D5A5BCD9-6B50-407E-865C-17255D1E21CC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Goal</a:t>
          </a:r>
        </a:p>
      </dgm:t>
    </dgm:pt>
    <dgm:pt modelId="{1024109B-51D0-4D89-B172-E9E428A9BED9}" type="parTrans" cxnId="{99BFD16F-E822-43DC-AA22-CCF22CE6A9C7}">
      <dgm:prSet/>
      <dgm:spPr/>
      <dgm:t>
        <a:bodyPr/>
        <a:lstStyle/>
        <a:p>
          <a:endParaRPr lang="en-US"/>
        </a:p>
      </dgm:t>
    </dgm:pt>
    <dgm:pt modelId="{EDCB5C1F-B57E-4BFE-8FF4-FD1F4B1B5998}" type="sibTrans" cxnId="{99BFD16F-E822-43DC-AA22-CCF22CE6A9C7}">
      <dgm:prSet/>
      <dgm:spPr/>
      <dgm:t>
        <a:bodyPr/>
        <a:lstStyle/>
        <a:p>
          <a:endParaRPr lang="en-US"/>
        </a:p>
      </dgm:t>
    </dgm:pt>
    <dgm:pt modelId="{1CBFEE5D-925B-494A-A304-D259D7FF53C1}">
      <dgm:prSet/>
      <dgm:spPr/>
      <dgm:t>
        <a:bodyPr/>
        <a:lstStyle/>
        <a:p>
          <a:r>
            <a:rPr lang="en-US" b="0" i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Train models to determine where and how water flows as a proxy of the fracture network.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589F97A-F30C-4C51-A122-CF63DF2C6D30}" type="parTrans" cxnId="{EF7ADBD2-4953-4453-9180-A03F4BDD3E09}">
      <dgm:prSet/>
      <dgm:spPr/>
      <dgm:t>
        <a:bodyPr/>
        <a:lstStyle/>
        <a:p>
          <a:endParaRPr lang="en-US"/>
        </a:p>
      </dgm:t>
    </dgm:pt>
    <dgm:pt modelId="{D02BE59A-E1A6-483D-9D5A-D163E806BE1E}" type="sibTrans" cxnId="{EF7ADBD2-4953-4453-9180-A03F4BDD3E09}">
      <dgm:prSet/>
      <dgm:spPr/>
      <dgm:t>
        <a:bodyPr/>
        <a:lstStyle/>
        <a:p>
          <a:endParaRPr lang="en-US"/>
        </a:p>
      </dgm:t>
    </dgm:pt>
    <dgm:pt modelId="{742E2C71-BF3E-41E7-883B-8342B5AAA4F7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Success Criteria</a:t>
          </a:r>
        </a:p>
      </dgm:t>
    </dgm:pt>
    <dgm:pt modelId="{DE7DCCCD-14CB-4938-B4C4-5625F46D6B5F}" type="parTrans" cxnId="{8531A715-5AEC-4771-9BD3-C38E81A694FA}">
      <dgm:prSet/>
      <dgm:spPr/>
      <dgm:t>
        <a:bodyPr/>
        <a:lstStyle/>
        <a:p>
          <a:endParaRPr lang="en-US"/>
        </a:p>
      </dgm:t>
    </dgm:pt>
    <dgm:pt modelId="{5E20C091-157B-4606-8ACE-548A07DF080C}" type="sibTrans" cxnId="{8531A715-5AEC-4771-9BD3-C38E81A694FA}">
      <dgm:prSet/>
      <dgm:spPr/>
      <dgm:t>
        <a:bodyPr/>
        <a:lstStyle/>
        <a:p>
          <a:endParaRPr lang="en-US"/>
        </a:p>
      </dgm:t>
    </dgm:pt>
    <dgm:pt modelId="{056E6498-D95F-4779-957B-AA72E6122940}">
      <dgm:prSet/>
      <dgm:spPr/>
      <dgm:t>
        <a:bodyPr/>
        <a:lstStyle/>
        <a:p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Comparing to the persistence model</a:t>
          </a:r>
        </a:p>
      </dgm:t>
    </dgm:pt>
    <dgm:pt modelId="{A02328E8-3AFB-4EFD-94A3-89B9633C1DEF}" type="parTrans" cxnId="{9F119092-B202-43A7-8537-184E13547B8F}">
      <dgm:prSet/>
      <dgm:spPr/>
      <dgm:t>
        <a:bodyPr/>
        <a:lstStyle/>
        <a:p>
          <a:endParaRPr lang="en-US"/>
        </a:p>
      </dgm:t>
    </dgm:pt>
    <dgm:pt modelId="{5B2A285A-B567-4AEE-84D6-19DFB7764C5F}" type="sibTrans" cxnId="{9F119092-B202-43A7-8537-184E13547B8F}">
      <dgm:prSet/>
      <dgm:spPr/>
      <dgm:t>
        <a:bodyPr/>
        <a:lstStyle/>
        <a:p>
          <a:endParaRPr lang="en-US"/>
        </a:p>
      </dgm:t>
    </dgm:pt>
    <dgm:pt modelId="{DE4CE69B-AF6F-46F7-BBE6-142232115199}">
      <dgm:prSet/>
      <dgm:spPr/>
      <dgm:t>
        <a:bodyPr/>
        <a:lstStyle/>
        <a:p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Fair ML vs LLM comparison</a:t>
          </a:r>
        </a:p>
      </dgm:t>
    </dgm:pt>
    <dgm:pt modelId="{54303E14-844D-4059-95B2-CF9D6DA66C3F}" type="parTrans" cxnId="{948314FE-EC5E-41ED-98AD-C3332381B1CC}">
      <dgm:prSet/>
      <dgm:spPr/>
      <dgm:t>
        <a:bodyPr/>
        <a:lstStyle/>
        <a:p>
          <a:endParaRPr lang="en-US"/>
        </a:p>
      </dgm:t>
    </dgm:pt>
    <dgm:pt modelId="{F97A61AD-414C-4B48-BB1D-FB335F978EB4}" type="sibTrans" cxnId="{948314FE-EC5E-41ED-98AD-C3332381B1CC}">
      <dgm:prSet/>
      <dgm:spPr/>
      <dgm:t>
        <a:bodyPr/>
        <a:lstStyle/>
        <a:p>
          <a:endParaRPr lang="en-US"/>
        </a:p>
      </dgm:t>
    </dgm:pt>
    <dgm:pt modelId="{4DAACF09-9424-42D2-9536-70AA7C541931}">
      <dgm:prSet/>
      <dgm:spPr/>
      <dgm:t>
        <a:bodyPr/>
        <a:lstStyle/>
        <a:p>
          <a:r>
            <a:rPr lang="en-US" b="0" i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Allows for a more efficient FTES injection design for extracting heat from deep underground in similar, metamorphic geologic settings.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3D45996-4937-42F8-AF21-99BC76C8A396}" type="parTrans" cxnId="{3ACC5AC4-E36C-46D9-A003-B9478EF82F1C}">
      <dgm:prSet/>
      <dgm:spPr/>
      <dgm:t>
        <a:bodyPr/>
        <a:lstStyle/>
        <a:p>
          <a:endParaRPr lang="en-US"/>
        </a:p>
      </dgm:t>
    </dgm:pt>
    <dgm:pt modelId="{264CAF27-3E75-4C54-B4CB-305A0EDAC01F}" type="sibTrans" cxnId="{3ACC5AC4-E36C-46D9-A003-B9478EF82F1C}">
      <dgm:prSet/>
      <dgm:spPr/>
      <dgm:t>
        <a:bodyPr/>
        <a:lstStyle/>
        <a:p>
          <a:endParaRPr lang="en-US"/>
        </a:p>
      </dgm:t>
    </dgm:pt>
    <dgm:pt modelId="{D5F547D0-1520-48CB-A77B-2347DE166DA6}">
      <dgm:prSet/>
      <dgm:spPr/>
      <dgm:t>
        <a:bodyPr/>
        <a:lstStyle/>
        <a:p>
          <a:r>
            <a:rPr lang="en-US" b="0" i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Predict production well temperatures based on injection conditions and historical thermal response.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8D8BB18-6A30-4C40-B802-019A0B34330B}" type="parTrans" cxnId="{3ADA7303-4DFF-4C72-8AF7-34F5A47D8298}">
      <dgm:prSet/>
      <dgm:spPr/>
      <dgm:t>
        <a:bodyPr/>
        <a:lstStyle/>
        <a:p>
          <a:endParaRPr lang="en-US"/>
        </a:p>
      </dgm:t>
    </dgm:pt>
    <dgm:pt modelId="{1D2EAC6B-B6CD-4C8A-B69F-F26C1A14AF0A}" type="sibTrans" cxnId="{3ADA7303-4DFF-4C72-8AF7-34F5A47D8298}">
      <dgm:prSet/>
      <dgm:spPr/>
      <dgm:t>
        <a:bodyPr/>
        <a:lstStyle/>
        <a:p>
          <a:endParaRPr lang="en-US"/>
        </a:p>
      </dgm:t>
    </dgm:pt>
    <dgm:pt modelId="{2B6E02FB-67CA-4086-B103-4D16F900B806}">
      <dgm:prSet custT="1"/>
      <dgm:spPr/>
      <dgm:t>
        <a:bodyPr/>
        <a:lstStyle/>
        <a:p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(R2 to be higher than persistence model)</a:t>
          </a:r>
        </a:p>
      </dgm:t>
    </dgm:pt>
    <dgm:pt modelId="{343E0066-428F-4A8D-B72F-AC0D124EF157}" type="parTrans" cxnId="{CBF09235-540A-4B2C-ABB0-3284084D9E48}">
      <dgm:prSet/>
      <dgm:spPr/>
      <dgm:t>
        <a:bodyPr/>
        <a:lstStyle/>
        <a:p>
          <a:endParaRPr lang="en-US"/>
        </a:p>
      </dgm:t>
    </dgm:pt>
    <dgm:pt modelId="{30671C99-CE2D-484E-915C-85354CEEB1A1}" type="sibTrans" cxnId="{CBF09235-540A-4B2C-ABB0-3284084D9E48}">
      <dgm:prSet/>
      <dgm:spPr/>
      <dgm:t>
        <a:bodyPr/>
        <a:lstStyle/>
        <a:p>
          <a:endParaRPr lang="en-US"/>
        </a:p>
      </dgm:t>
    </dgm:pt>
    <dgm:pt modelId="{B6D3CE4A-FB5F-4AED-A0B6-55990621D9B8}" type="pres">
      <dgm:prSet presAssocID="{46389006-4297-48A9-957E-04BCD684FD18}" presName="linear" presStyleCnt="0">
        <dgm:presLayoutVars>
          <dgm:animLvl val="lvl"/>
          <dgm:resizeHandles val="exact"/>
        </dgm:presLayoutVars>
      </dgm:prSet>
      <dgm:spPr/>
    </dgm:pt>
    <dgm:pt modelId="{A14DC285-AA31-495B-852B-1A9BA2A8CDAB}" type="pres">
      <dgm:prSet presAssocID="{4DC74E4C-6BBB-4B39-948B-51CBFC4A4DF8}" presName="parentText" presStyleLbl="node1" presStyleIdx="0" presStyleCnt="3" custScaleY="72470" custLinFactNeighborY="29292">
        <dgm:presLayoutVars>
          <dgm:chMax val="0"/>
          <dgm:bulletEnabled val="1"/>
        </dgm:presLayoutVars>
      </dgm:prSet>
      <dgm:spPr/>
    </dgm:pt>
    <dgm:pt modelId="{06652109-65F9-4E5C-916E-335E99EF96A9}" type="pres">
      <dgm:prSet presAssocID="{4DC74E4C-6BBB-4B39-948B-51CBFC4A4DF8}" presName="childText" presStyleLbl="revTx" presStyleIdx="0" presStyleCnt="3" custLinFactY="65645" custLinFactNeighborY="100000">
        <dgm:presLayoutVars>
          <dgm:bulletEnabled val="1"/>
        </dgm:presLayoutVars>
      </dgm:prSet>
      <dgm:spPr/>
    </dgm:pt>
    <dgm:pt modelId="{AA7085D8-100E-4791-8A0A-79B853ED3F6E}" type="pres">
      <dgm:prSet presAssocID="{D5A5BCD9-6B50-407E-865C-17255D1E21CC}" presName="parentText" presStyleLbl="node1" presStyleIdx="1" presStyleCnt="3" custScaleY="75148" custLinFactNeighborY="-20671">
        <dgm:presLayoutVars>
          <dgm:chMax val="0"/>
          <dgm:bulletEnabled val="1"/>
        </dgm:presLayoutVars>
      </dgm:prSet>
      <dgm:spPr/>
    </dgm:pt>
    <dgm:pt modelId="{D247E857-4D74-4A0A-8738-DA4BF8B57AD5}" type="pres">
      <dgm:prSet presAssocID="{D5A5BCD9-6B50-407E-865C-17255D1E21CC}" presName="childText" presStyleLbl="revTx" presStyleIdx="1" presStyleCnt="3" custScaleY="135439" custLinFactY="-71989" custLinFactNeighborX="1114" custLinFactNeighborY="-100000">
        <dgm:presLayoutVars>
          <dgm:bulletEnabled val="1"/>
        </dgm:presLayoutVars>
      </dgm:prSet>
      <dgm:spPr/>
    </dgm:pt>
    <dgm:pt modelId="{9FF5E077-601D-49D5-9F29-06EE4CF49A2B}" type="pres">
      <dgm:prSet presAssocID="{742E2C71-BF3E-41E7-883B-8342B5AAA4F7}" presName="parentText" presStyleLbl="node1" presStyleIdx="2" presStyleCnt="3" custScaleY="73812" custLinFactY="-43458" custLinFactNeighborY="-100000">
        <dgm:presLayoutVars>
          <dgm:chMax val="0"/>
          <dgm:bulletEnabled val="1"/>
        </dgm:presLayoutVars>
      </dgm:prSet>
      <dgm:spPr/>
    </dgm:pt>
    <dgm:pt modelId="{00352403-9404-4AE3-AB65-3EAFFE013E65}" type="pres">
      <dgm:prSet presAssocID="{742E2C71-BF3E-41E7-883B-8342B5AAA4F7}" presName="childText" presStyleLbl="revTx" presStyleIdx="2" presStyleCnt="3" custLinFactY="-26922" custLinFactNeighborY="-100000">
        <dgm:presLayoutVars>
          <dgm:bulletEnabled val="1"/>
        </dgm:presLayoutVars>
      </dgm:prSet>
      <dgm:spPr/>
    </dgm:pt>
  </dgm:ptLst>
  <dgm:cxnLst>
    <dgm:cxn modelId="{3ADA7303-4DFF-4C72-8AF7-34F5A47D8298}" srcId="{D5A5BCD9-6B50-407E-865C-17255D1E21CC}" destId="{D5F547D0-1520-48CB-A77B-2347DE166DA6}" srcOrd="1" destOrd="0" parTransId="{78D8BB18-6A30-4C40-B802-019A0B34330B}" sibTransId="{1D2EAC6B-B6CD-4C8A-B69F-F26C1A14AF0A}"/>
    <dgm:cxn modelId="{E08B8D11-9066-42D2-ABCB-F03A1D255F65}" type="presOf" srcId="{1CBFEE5D-925B-494A-A304-D259D7FF53C1}" destId="{D247E857-4D74-4A0A-8738-DA4BF8B57AD5}" srcOrd="0" destOrd="0" presId="urn:microsoft.com/office/officeart/2005/8/layout/vList2"/>
    <dgm:cxn modelId="{8531A715-5AEC-4771-9BD3-C38E81A694FA}" srcId="{46389006-4297-48A9-957E-04BCD684FD18}" destId="{742E2C71-BF3E-41E7-883B-8342B5AAA4F7}" srcOrd="2" destOrd="0" parTransId="{DE7DCCCD-14CB-4938-B4C4-5625F46D6B5F}" sibTransId="{5E20C091-157B-4606-8ACE-548A07DF080C}"/>
    <dgm:cxn modelId="{DAFF671B-E843-4D9C-89D8-D5606B8A3453}" type="presOf" srcId="{79330B22-699C-481D-BEBA-3D6C17E689C2}" destId="{06652109-65F9-4E5C-916E-335E99EF96A9}" srcOrd="0" destOrd="1" presId="urn:microsoft.com/office/officeart/2005/8/layout/vList2"/>
    <dgm:cxn modelId="{EC796F2E-7318-4C87-988E-1B83ADDBFDD7}" type="presOf" srcId="{D5F547D0-1520-48CB-A77B-2347DE166DA6}" destId="{D247E857-4D74-4A0A-8738-DA4BF8B57AD5}" srcOrd="0" destOrd="1" presId="urn:microsoft.com/office/officeart/2005/8/layout/vList2"/>
    <dgm:cxn modelId="{CBF09235-540A-4B2C-ABB0-3284084D9E48}" srcId="{056E6498-D95F-4779-957B-AA72E6122940}" destId="{2B6E02FB-67CA-4086-B103-4D16F900B806}" srcOrd="0" destOrd="0" parTransId="{343E0066-428F-4A8D-B72F-AC0D124EF157}" sibTransId="{30671C99-CE2D-484E-915C-85354CEEB1A1}"/>
    <dgm:cxn modelId="{EA334F38-38F3-4D9B-ABFC-45E4E6776B61}" type="presOf" srcId="{742E2C71-BF3E-41E7-883B-8342B5AAA4F7}" destId="{9FF5E077-601D-49D5-9F29-06EE4CF49A2B}" srcOrd="0" destOrd="0" presId="urn:microsoft.com/office/officeart/2005/8/layout/vList2"/>
    <dgm:cxn modelId="{B4EFAD3A-E5BC-4E1A-A6CA-E8C3BD29892A}" type="presOf" srcId="{D5A5BCD9-6B50-407E-865C-17255D1E21CC}" destId="{AA7085D8-100E-4791-8A0A-79B853ED3F6E}" srcOrd="0" destOrd="0" presId="urn:microsoft.com/office/officeart/2005/8/layout/vList2"/>
    <dgm:cxn modelId="{7CBD3763-A201-4D85-9650-276EB40361F4}" type="presOf" srcId="{2B6E02FB-67CA-4086-B103-4D16F900B806}" destId="{00352403-9404-4AE3-AB65-3EAFFE013E65}" srcOrd="0" destOrd="1" presId="urn:microsoft.com/office/officeart/2005/8/layout/vList2"/>
    <dgm:cxn modelId="{214C8066-AE59-428E-A747-63D41382717D}" type="presOf" srcId="{46389006-4297-48A9-957E-04BCD684FD18}" destId="{B6D3CE4A-FB5F-4AED-A0B6-55990621D9B8}" srcOrd="0" destOrd="0" presId="urn:microsoft.com/office/officeart/2005/8/layout/vList2"/>
    <dgm:cxn modelId="{41897869-4B6E-40DF-AC2E-B9F62E6A1F60}" type="presOf" srcId="{6515D45F-E76C-4ED4-B350-9FAC6FA1D132}" destId="{06652109-65F9-4E5C-916E-335E99EF96A9}" srcOrd="0" destOrd="0" presId="urn:microsoft.com/office/officeart/2005/8/layout/vList2"/>
    <dgm:cxn modelId="{51E7C049-48C7-4424-ADBC-FD22C96A68AA}" srcId="{4DC74E4C-6BBB-4B39-948B-51CBFC4A4DF8}" destId="{79330B22-699C-481D-BEBA-3D6C17E689C2}" srcOrd="1" destOrd="0" parTransId="{A085B82A-2B45-4CEF-B358-FEFD097C53CF}" sibTransId="{C547A69B-55E0-43E3-8D06-A267A7317504}"/>
    <dgm:cxn modelId="{99BFD16F-E822-43DC-AA22-CCF22CE6A9C7}" srcId="{46389006-4297-48A9-957E-04BCD684FD18}" destId="{D5A5BCD9-6B50-407E-865C-17255D1E21CC}" srcOrd="1" destOrd="0" parTransId="{1024109B-51D0-4D89-B172-E9E428A9BED9}" sibTransId="{EDCB5C1F-B57E-4BFE-8FF4-FD1F4B1B5998}"/>
    <dgm:cxn modelId="{CD97138A-4D74-4B00-8309-E20324A24892}" type="presOf" srcId="{056E6498-D95F-4779-957B-AA72E6122940}" destId="{00352403-9404-4AE3-AB65-3EAFFE013E65}" srcOrd="0" destOrd="0" presId="urn:microsoft.com/office/officeart/2005/8/layout/vList2"/>
    <dgm:cxn modelId="{9F119092-B202-43A7-8537-184E13547B8F}" srcId="{742E2C71-BF3E-41E7-883B-8342B5AAA4F7}" destId="{056E6498-D95F-4779-957B-AA72E6122940}" srcOrd="0" destOrd="0" parTransId="{A02328E8-3AFB-4EFD-94A3-89B9633C1DEF}" sibTransId="{5B2A285A-B567-4AEE-84D6-19DFB7764C5F}"/>
    <dgm:cxn modelId="{76A1F1B6-8777-4437-A92D-BA317453FAEA}" type="presOf" srcId="{4DC74E4C-6BBB-4B39-948B-51CBFC4A4DF8}" destId="{A14DC285-AA31-495B-852B-1A9BA2A8CDAB}" srcOrd="0" destOrd="0" presId="urn:microsoft.com/office/officeart/2005/8/layout/vList2"/>
    <dgm:cxn modelId="{3298E9BA-774E-4CF1-B8B5-4498BA47D829}" srcId="{46389006-4297-48A9-957E-04BCD684FD18}" destId="{4DC74E4C-6BBB-4B39-948B-51CBFC4A4DF8}" srcOrd="0" destOrd="0" parTransId="{F0D10889-77C2-4E69-9529-9D13974F81EF}" sibTransId="{EB5B282C-2EEE-440B-83C3-ED7048545583}"/>
    <dgm:cxn modelId="{0B39A2BD-C245-490D-944B-4086E77E7E86}" srcId="{4DC74E4C-6BBB-4B39-948B-51CBFC4A4DF8}" destId="{6515D45F-E76C-4ED4-B350-9FAC6FA1D132}" srcOrd="0" destOrd="0" parTransId="{587DAAE4-B0D4-4314-A883-8BC77B8650FE}" sibTransId="{BA761556-2638-4042-88A3-E60C7F811CAE}"/>
    <dgm:cxn modelId="{3ACC5AC4-E36C-46D9-A003-B9478EF82F1C}" srcId="{4DC74E4C-6BBB-4B39-948B-51CBFC4A4DF8}" destId="{4DAACF09-9424-42D2-9536-70AA7C541931}" srcOrd="2" destOrd="0" parTransId="{E3D45996-4937-42F8-AF21-99BC76C8A396}" sibTransId="{264CAF27-3E75-4C54-B4CB-305A0EDAC01F}"/>
    <dgm:cxn modelId="{EF7ADBD2-4953-4453-9180-A03F4BDD3E09}" srcId="{D5A5BCD9-6B50-407E-865C-17255D1E21CC}" destId="{1CBFEE5D-925B-494A-A304-D259D7FF53C1}" srcOrd="0" destOrd="0" parTransId="{7589F97A-F30C-4C51-A122-CF63DF2C6D30}" sibTransId="{D02BE59A-E1A6-483D-9D5A-D163E806BE1E}"/>
    <dgm:cxn modelId="{D19E57D4-8178-4C8E-8EDD-C4FAB3C895B2}" type="presOf" srcId="{DE4CE69B-AF6F-46F7-BBE6-142232115199}" destId="{00352403-9404-4AE3-AB65-3EAFFE013E65}" srcOrd="0" destOrd="2" presId="urn:microsoft.com/office/officeart/2005/8/layout/vList2"/>
    <dgm:cxn modelId="{18771BF5-000F-4A32-BD8B-0CEFC75ECFD5}" type="presOf" srcId="{4DAACF09-9424-42D2-9536-70AA7C541931}" destId="{06652109-65F9-4E5C-916E-335E99EF96A9}" srcOrd="0" destOrd="2" presId="urn:microsoft.com/office/officeart/2005/8/layout/vList2"/>
    <dgm:cxn modelId="{948314FE-EC5E-41ED-98AD-C3332381B1CC}" srcId="{742E2C71-BF3E-41E7-883B-8342B5AAA4F7}" destId="{DE4CE69B-AF6F-46F7-BBE6-142232115199}" srcOrd="1" destOrd="0" parTransId="{54303E14-844D-4059-95B2-CF9D6DA66C3F}" sibTransId="{F97A61AD-414C-4B48-BB1D-FB335F978EB4}"/>
    <dgm:cxn modelId="{1AE4C8FF-5886-4FBC-9907-9E5650FDE5A1}" type="presParOf" srcId="{B6D3CE4A-FB5F-4AED-A0B6-55990621D9B8}" destId="{A14DC285-AA31-495B-852B-1A9BA2A8CDAB}" srcOrd="0" destOrd="0" presId="urn:microsoft.com/office/officeart/2005/8/layout/vList2"/>
    <dgm:cxn modelId="{37DC6465-C05F-43B2-A9E6-B212429B6E26}" type="presParOf" srcId="{B6D3CE4A-FB5F-4AED-A0B6-55990621D9B8}" destId="{06652109-65F9-4E5C-916E-335E99EF96A9}" srcOrd="1" destOrd="0" presId="urn:microsoft.com/office/officeart/2005/8/layout/vList2"/>
    <dgm:cxn modelId="{6143B746-BCAE-4807-8A2E-79815F51F70E}" type="presParOf" srcId="{B6D3CE4A-FB5F-4AED-A0B6-55990621D9B8}" destId="{AA7085D8-100E-4791-8A0A-79B853ED3F6E}" srcOrd="2" destOrd="0" presId="urn:microsoft.com/office/officeart/2005/8/layout/vList2"/>
    <dgm:cxn modelId="{817C558C-3743-4400-9F41-0609A7882361}" type="presParOf" srcId="{B6D3CE4A-FB5F-4AED-A0B6-55990621D9B8}" destId="{D247E857-4D74-4A0A-8738-DA4BF8B57AD5}" srcOrd="3" destOrd="0" presId="urn:microsoft.com/office/officeart/2005/8/layout/vList2"/>
    <dgm:cxn modelId="{4A3C29A9-C830-41FB-8FA3-BC135EC21A5F}" type="presParOf" srcId="{B6D3CE4A-FB5F-4AED-A0B6-55990621D9B8}" destId="{9FF5E077-601D-49D5-9F29-06EE4CF49A2B}" srcOrd="4" destOrd="0" presId="urn:microsoft.com/office/officeart/2005/8/layout/vList2"/>
    <dgm:cxn modelId="{40D49ED4-CB79-4ECE-AE1B-79FB075963A5}" type="presParOf" srcId="{B6D3CE4A-FB5F-4AED-A0B6-55990621D9B8}" destId="{00352403-9404-4AE3-AB65-3EAFFE013E65}" srcOrd="5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73F088-FF82-48F5-87BA-BEC97B04840F}" type="doc">
      <dgm:prSet loTypeId="urn:microsoft.com/office/officeart/2005/8/layout/list1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F0D0D7F-D949-430E-A08B-127EBFFD189B}">
      <dgm:prSet phldr="0" custT="1"/>
      <dgm:spPr/>
      <dgm:t>
        <a:bodyPr/>
        <a:lstStyle/>
        <a:p>
          <a:pPr rtl="0">
            <a:spcAft>
              <a:spcPts val="600"/>
            </a:spcAft>
          </a:pPr>
          <a:r>
            <a:rPr lang="en-US" sz="1800">
              <a:latin typeface="+mn-lt"/>
              <a:ea typeface="Calibri"/>
              <a:cs typeface="Calibri"/>
            </a:rPr>
            <a:t>Source: DEMO Fractured-rock Thermal Energy Storage (FTES) Test 1 in the Sanford Underground Research Facility (SURF),  from Dec 2024 – Feb 2025 (hot water injection)</a:t>
          </a:r>
        </a:p>
      </dgm:t>
    </dgm:pt>
    <dgm:pt modelId="{B2A5B6CE-0580-4216-AF42-95FDC9F99F30}" type="parTrans" cxnId="{5CD6BC95-4100-4D61-937E-EEDEC753E9C8}">
      <dgm:prSet/>
      <dgm:spPr/>
      <dgm:t>
        <a:bodyPr/>
        <a:lstStyle/>
        <a:p>
          <a:endParaRPr lang="en-US"/>
        </a:p>
      </dgm:t>
    </dgm:pt>
    <dgm:pt modelId="{AF382945-D83F-4BC4-851E-40520F204D77}" type="sibTrans" cxnId="{5CD6BC95-4100-4D61-937E-EEDEC753E9C8}">
      <dgm:prSet/>
      <dgm:spPr/>
      <dgm:t>
        <a:bodyPr/>
        <a:lstStyle/>
        <a:p>
          <a:endParaRPr lang="en-US"/>
        </a:p>
      </dgm:t>
    </dgm:pt>
    <dgm:pt modelId="{C98620AE-FEA8-4FD5-8258-F4910EEFBE6C}">
      <dgm:prSet custT="1"/>
      <dgm:spPr/>
      <dgm:t>
        <a:bodyPr/>
        <a:lstStyle/>
        <a:p>
          <a:r>
            <a:rPr lang="en-US" sz="2800" b="1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Dataset</a:t>
          </a:r>
          <a:endParaRPr lang="en-US" sz="280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A723E26-88BB-4C3D-A719-66AABD722EC7}" type="parTrans" cxnId="{A473F65C-AD0F-4CE8-83B2-CBBCF285A4C9}">
      <dgm:prSet/>
      <dgm:spPr/>
      <dgm:t>
        <a:bodyPr/>
        <a:lstStyle/>
        <a:p>
          <a:endParaRPr lang="en-US"/>
        </a:p>
      </dgm:t>
    </dgm:pt>
    <dgm:pt modelId="{3104273B-C31C-42BD-AE30-A87893D2ACD4}" type="sibTrans" cxnId="{A473F65C-AD0F-4CE8-83B2-CBBCF285A4C9}">
      <dgm:prSet/>
      <dgm:spPr/>
      <dgm:t>
        <a:bodyPr/>
        <a:lstStyle/>
        <a:p>
          <a:endParaRPr lang="en-US"/>
        </a:p>
      </dgm:t>
    </dgm:pt>
    <dgm:pt modelId="{4A56D211-4842-4EAE-895B-15554B406851}">
      <dgm:prSet phldr="0" custT="1"/>
      <dgm:spPr/>
      <dgm:t>
        <a:bodyPr/>
        <a:lstStyle/>
        <a:p>
          <a:pPr rtl="0">
            <a:spcAft>
              <a:spcPts val="600"/>
            </a:spcAft>
          </a:pPr>
          <a:r>
            <a:rPr lang="en-US" sz="1800">
              <a:latin typeface="+mn-lt"/>
              <a:ea typeface="Calibri"/>
              <a:cs typeface="Calibri"/>
            </a:rPr>
            <a:t>Size: ≈2k hourly records; ≈100K 1-minute records resampled from 6.3 GB 1-second dataset</a:t>
          </a:r>
        </a:p>
      </dgm:t>
    </dgm:pt>
    <dgm:pt modelId="{C5B08229-FE78-496B-8FC8-BB7F7AE898CE}" type="parTrans" cxnId="{D34D7B7C-D436-407F-A5F4-45C3BB3EECDE}">
      <dgm:prSet/>
      <dgm:spPr/>
      <dgm:t>
        <a:bodyPr/>
        <a:lstStyle/>
        <a:p>
          <a:endParaRPr lang="en-US"/>
        </a:p>
      </dgm:t>
    </dgm:pt>
    <dgm:pt modelId="{9E73FCCB-C61A-4C11-9292-36E196F71789}" type="sibTrans" cxnId="{D34D7B7C-D436-407F-A5F4-45C3BB3EECDE}">
      <dgm:prSet/>
      <dgm:spPr/>
      <dgm:t>
        <a:bodyPr/>
        <a:lstStyle/>
        <a:p>
          <a:endParaRPr lang="en-US"/>
        </a:p>
      </dgm:t>
    </dgm:pt>
    <dgm:pt modelId="{4612472F-BC5C-45D0-BE55-A0E921317331}">
      <dgm:prSet phldr="0" custT="1"/>
      <dgm:spPr/>
      <dgm:t>
        <a:bodyPr/>
        <a:lstStyle/>
        <a:p>
          <a:pPr rtl="0">
            <a:spcAft>
              <a:spcPts val="600"/>
            </a:spcAft>
          </a:pPr>
          <a:r>
            <a:rPr lang="en-US" sz="1800">
              <a:latin typeface="+mn-lt"/>
              <a:ea typeface="Calibri"/>
              <a:cs typeface="Calibri"/>
            </a:rPr>
            <a:t>Features: Temperature, pressure, flow rate &amp; electrical conductivity across 5 boreholes  (TC = injection well | TL, TN = production wells | TU, TS = monitor wells), and engineered ML features</a:t>
          </a:r>
        </a:p>
      </dgm:t>
    </dgm:pt>
    <dgm:pt modelId="{81F08485-D8D9-4821-B45E-ED5B4491820B}" type="parTrans" cxnId="{501948E7-0D00-4AF2-8115-AE0FB009589D}">
      <dgm:prSet/>
      <dgm:spPr/>
      <dgm:t>
        <a:bodyPr/>
        <a:lstStyle/>
        <a:p>
          <a:endParaRPr lang="en-US"/>
        </a:p>
      </dgm:t>
    </dgm:pt>
    <dgm:pt modelId="{0BF34DDF-57F4-4E1E-BA96-0D16B665B278}" type="sibTrans" cxnId="{501948E7-0D00-4AF2-8115-AE0FB009589D}">
      <dgm:prSet/>
      <dgm:spPr/>
      <dgm:t>
        <a:bodyPr/>
        <a:lstStyle/>
        <a:p>
          <a:endParaRPr lang="en-US"/>
        </a:p>
      </dgm:t>
    </dgm:pt>
    <dgm:pt modelId="{957A6705-A5F1-4562-85A2-1513053F8CE7}">
      <dgm:prSet custT="1"/>
      <dgm:spPr/>
      <dgm:t>
        <a:bodyPr/>
        <a:lstStyle/>
        <a:p>
          <a:r>
            <a:rPr lang="en-US" sz="2800" b="1"/>
            <a:t>Challenges</a:t>
          </a:r>
        </a:p>
      </dgm:t>
    </dgm:pt>
    <dgm:pt modelId="{E2C25C33-52CB-4DDE-AA74-2D69FFAD039A}" type="parTrans" cxnId="{7C6DE46B-F93B-4E9A-A8F8-0D0FF93B5F9C}">
      <dgm:prSet/>
      <dgm:spPr/>
      <dgm:t>
        <a:bodyPr/>
        <a:lstStyle/>
        <a:p>
          <a:endParaRPr lang="en-US"/>
        </a:p>
      </dgm:t>
    </dgm:pt>
    <dgm:pt modelId="{569C9944-EA7D-42A1-8511-DCC75778ABED}" type="sibTrans" cxnId="{7C6DE46B-F93B-4E9A-A8F8-0D0FF93B5F9C}">
      <dgm:prSet/>
      <dgm:spPr/>
      <dgm:t>
        <a:bodyPr/>
        <a:lstStyle/>
        <a:p>
          <a:endParaRPr lang="en-US"/>
        </a:p>
      </dgm:t>
    </dgm:pt>
    <dgm:pt modelId="{17115EB7-E2F1-404E-A613-7F07865AAF1B}">
      <dgm:prSet custT="1"/>
      <dgm:spPr/>
      <dgm:t>
        <a:bodyPr/>
        <a:lstStyle/>
        <a:p>
          <a:pPr>
            <a:spcAft>
              <a:spcPts val="600"/>
            </a:spcAft>
            <a:buFont typeface="Arial" panose="020B0604020202020204" pitchFamily="34" charset="0"/>
            <a:buChar char="•"/>
          </a:pPr>
          <a:r>
            <a:rPr lang="en-US" sz="1800"/>
            <a:t>Missing / inconsistent values:  116 duplicate timestamps removed; pressure sensors &gt;99% null after cleaning (injection-side instruments operating outside rated range were dropped)</a:t>
          </a:r>
        </a:p>
      </dgm:t>
    </dgm:pt>
    <dgm:pt modelId="{DE2B53D6-827F-4469-A0D4-5405F321A257}" type="parTrans" cxnId="{73211BED-4A9B-401F-9400-A2FEF20BB228}">
      <dgm:prSet/>
      <dgm:spPr/>
      <dgm:t>
        <a:bodyPr/>
        <a:lstStyle/>
        <a:p>
          <a:endParaRPr lang="en-US"/>
        </a:p>
      </dgm:t>
    </dgm:pt>
    <dgm:pt modelId="{46AEB5FF-ED6F-4B4A-8E00-0F05FA2A39DA}" type="sibTrans" cxnId="{73211BED-4A9B-401F-9400-A2FEF20BB228}">
      <dgm:prSet/>
      <dgm:spPr/>
      <dgm:t>
        <a:bodyPr/>
        <a:lstStyle/>
        <a:p>
          <a:endParaRPr lang="en-US"/>
        </a:p>
      </dgm:t>
    </dgm:pt>
    <dgm:pt modelId="{CE969DCB-A76F-4290-8275-1332508B2CFE}">
      <dgm:prSet custT="1"/>
      <dgm:spPr/>
      <dgm:t>
        <a:bodyPr/>
        <a:lstStyle/>
        <a:p>
          <a:pPr>
            <a:spcAft>
              <a:spcPts val="600"/>
            </a:spcAft>
          </a:pPr>
          <a:r>
            <a:rPr lang="en-US" sz="1800"/>
            <a:t>Limited edge-case coverage:  Single 72-day test with one injection well and two producers, ∴ model generalization is constrained to similar fracture geometry and injection conditions</a:t>
          </a:r>
        </a:p>
      </dgm:t>
    </dgm:pt>
    <dgm:pt modelId="{E44C5EBA-393A-446D-8078-86C501693691}" type="parTrans" cxnId="{1632BCE6-6DC0-48E5-99E1-4C830DA7BD70}">
      <dgm:prSet/>
      <dgm:spPr/>
      <dgm:t>
        <a:bodyPr/>
        <a:lstStyle/>
        <a:p>
          <a:endParaRPr lang="en-US"/>
        </a:p>
      </dgm:t>
    </dgm:pt>
    <dgm:pt modelId="{466F22C8-01DF-4163-8F79-93782A45E2CA}" type="sibTrans" cxnId="{1632BCE6-6DC0-48E5-99E1-4C830DA7BD70}">
      <dgm:prSet/>
      <dgm:spPr/>
      <dgm:t>
        <a:bodyPr/>
        <a:lstStyle/>
        <a:p>
          <a:endParaRPr lang="en-US"/>
        </a:p>
      </dgm:t>
    </dgm:pt>
    <dgm:pt modelId="{C37C5465-0117-4D8C-993B-80AC83A8B090}">
      <dgm:prSet custT="1"/>
      <dgm:spPr/>
      <dgm:t>
        <a:bodyPr/>
        <a:lstStyle/>
        <a:p>
          <a:pPr>
            <a:spcAft>
              <a:spcPts val="600"/>
            </a:spcAft>
          </a:pPr>
          <a:r>
            <a:rPr lang="en-US" sz="1800" b="1"/>
            <a:t>Zero-value artifact:  Zeros in 1-second temperature data were not caught by the original TEMP_MIN = –5 °C threshold and were included in 1-minute averages, pulling down means and creating false downward temperature spikes. Fix: TEMP_MIN updated to 0 °C (identified in team meeting April 10 and resolved shortly after.)</a:t>
          </a:r>
        </a:p>
      </dgm:t>
    </dgm:pt>
    <dgm:pt modelId="{185823AC-70E5-4A98-BD1F-204D135E57B2}" type="parTrans" cxnId="{C5C973C8-52FF-4D49-B1DE-3656A9739FC3}">
      <dgm:prSet/>
      <dgm:spPr/>
      <dgm:t>
        <a:bodyPr/>
        <a:lstStyle/>
        <a:p>
          <a:endParaRPr lang="en-US"/>
        </a:p>
      </dgm:t>
    </dgm:pt>
    <dgm:pt modelId="{FC55E180-6C09-408D-81CF-2B3581619144}" type="sibTrans" cxnId="{C5C973C8-52FF-4D49-B1DE-3656A9739FC3}">
      <dgm:prSet/>
      <dgm:spPr/>
      <dgm:t>
        <a:bodyPr/>
        <a:lstStyle/>
        <a:p>
          <a:endParaRPr lang="en-US"/>
        </a:p>
      </dgm:t>
    </dgm:pt>
    <dgm:pt modelId="{913BEAE2-BBFB-4D0E-9480-F2F6E61775E8}" type="pres">
      <dgm:prSet presAssocID="{9E73F088-FF82-48F5-87BA-BEC97B04840F}" presName="linear" presStyleCnt="0">
        <dgm:presLayoutVars>
          <dgm:dir/>
          <dgm:animLvl val="lvl"/>
          <dgm:resizeHandles val="exact"/>
        </dgm:presLayoutVars>
      </dgm:prSet>
      <dgm:spPr/>
    </dgm:pt>
    <dgm:pt modelId="{F86A033B-AB1F-4E35-875A-1C0AEAB23A46}" type="pres">
      <dgm:prSet presAssocID="{C98620AE-FEA8-4FD5-8258-F4910EEFBE6C}" presName="parentLin" presStyleCnt="0"/>
      <dgm:spPr/>
    </dgm:pt>
    <dgm:pt modelId="{C6BCFBDA-7556-4EAD-B3E8-45A200310C5E}" type="pres">
      <dgm:prSet presAssocID="{C98620AE-FEA8-4FD5-8258-F4910EEFBE6C}" presName="parentLeftMargin" presStyleLbl="node1" presStyleIdx="0" presStyleCnt="2"/>
      <dgm:spPr/>
    </dgm:pt>
    <dgm:pt modelId="{86EF778E-19CA-419C-B3B3-A875992416B4}" type="pres">
      <dgm:prSet presAssocID="{C98620AE-FEA8-4FD5-8258-F4910EEFBE6C}" presName="parentText" presStyleLbl="node1" presStyleIdx="0" presStyleCnt="2" custLinFactNeighborX="6536" custLinFactNeighborY="2647">
        <dgm:presLayoutVars>
          <dgm:chMax val="0"/>
          <dgm:bulletEnabled val="1"/>
        </dgm:presLayoutVars>
      </dgm:prSet>
      <dgm:spPr/>
    </dgm:pt>
    <dgm:pt modelId="{F0DF3703-B768-4362-8B8E-F0504AF22357}" type="pres">
      <dgm:prSet presAssocID="{C98620AE-FEA8-4FD5-8258-F4910EEFBE6C}" presName="negativeSpace" presStyleCnt="0"/>
      <dgm:spPr/>
    </dgm:pt>
    <dgm:pt modelId="{CEBE5F0C-8059-4302-9C7B-55A36B25A4EB}" type="pres">
      <dgm:prSet presAssocID="{C98620AE-FEA8-4FD5-8258-F4910EEFBE6C}" presName="childText" presStyleLbl="conFgAcc1" presStyleIdx="0" presStyleCnt="2">
        <dgm:presLayoutVars>
          <dgm:bulletEnabled val="1"/>
        </dgm:presLayoutVars>
      </dgm:prSet>
      <dgm:spPr/>
    </dgm:pt>
    <dgm:pt modelId="{C22E3631-E3A9-4232-8EA5-100E6912D282}" type="pres">
      <dgm:prSet presAssocID="{3104273B-C31C-42BD-AE30-A87893D2ACD4}" presName="spaceBetweenRectangles" presStyleCnt="0"/>
      <dgm:spPr/>
    </dgm:pt>
    <dgm:pt modelId="{A3E95480-E10A-4643-B469-A121486BF935}" type="pres">
      <dgm:prSet presAssocID="{957A6705-A5F1-4562-85A2-1513053F8CE7}" presName="parentLin" presStyleCnt="0"/>
      <dgm:spPr/>
    </dgm:pt>
    <dgm:pt modelId="{BE93CDC7-0E0B-4E37-922F-9256E990782A}" type="pres">
      <dgm:prSet presAssocID="{957A6705-A5F1-4562-85A2-1513053F8CE7}" presName="parentLeftMargin" presStyleLbl="node1" presStyleIdx="0" presStyleCnt="2"/>
      <dgm:spPr/>
    </dgm:pt>
    <dgm:pt modelId="{6C0D85A5-D779-402F-8CD1-E8F1873DBC9E}" type="pres">
      <dgm:prSet presAssocID="{957A6705-A5F1-4562-85A2-1513053F8CE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E20BFBB-7F74-46AD-A566-AE1D46A1ED7A}" type="pres">
      <dgm:prSet presAssocID="{957A6705-A5F1-4562-85A2-1513053F8CE7}" presName="negativeSpace" presStyleCnt="0"/>
      <dgm:spPr/>
    </dgm:pt>
    <dgm:pt modelId="{051C4FBB-11A6-4467-B418-B6EA913156D1}" type="pres">
      <dgm:prSet presAssocID="{957A6705-A5F1-4562-85A2-1513053F8CE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1BF7D20-E71C-4CC2-A6A6-660F61011E71}" type="presOf" srcId="{4612472F-BC5C-45D0-BE55-A0E921317331}" destId="{CEBE5F0C-8059-4302-9C7B-55A36B25A4EB}" srcOrd="0" destOrd="2" presId="urn:microsoft.com/office/officeart/2005/8/layout/list1"/>
    <dgm:cxn modelId="{0B32652F-B5B7-422A-BEC7-79D9065EDF01}" type="presOf" srcId="{4A56D211-4842-4EAE-895B-15554B406851}" destId="{CEBE5F0C-8059-4302-9C7B-55A36B25A4EB}" srcOrd="0" destOrd="1" presId="urn:microsoft.com/office/officeart/2005/8/layout/list1"/>
    <dgm:cxn modelId="{8EC38934-1020-44AD-9CEB-7BCE93F09C78}" type="presOf" srcId="{17115EB7-E2F1-404E-A613-7F07865AAF1B}" destId="{051C4FBB-11A6-4467-B418-B6EA913156D1}" srcOrd="0" destOrd="0" presId="urn:microsoft.com/office/officeart/2005/8/layout/list1"/>
    <dgm:cxn modelId="{FBF3A135-95C3-45AC-8900-28CE3962E18E}" type="presOf" srcId="{C98620AE-FEA8-4FD5-8258-F4910EEFBE6C}" destId="{86EF778E-19CA-419C-B3B3-A875992416B4}" srcOrd="1" destOrd="0" presId="urn:microsoft.com/office/officeart/2005/8/layout/list1"/>
    <dgm:cxn modelId="{A473F65C-AD0F-4CE8-83B2-CBBCF285A4C9}" srcId="{9E73F088-FF82-48F5-87BA-BEC97B04840F}" destId="{C98620AE-FEA8-4FD5-8258-F4910EEFBE6C}" srcOrd="0" destOrd="0" parTransId="{4A723E26-88BB-4C3D-A719-66AABD722EC7}" sibTransId="{3104273B-C31C-42BD-AE30-A87893D2ACD4}"/>
    <dgm:cxn modelId="{89E98E43-9FE0-4C41-8365-22EC64A69FCB}" type="presOf" srcId="{C98620AE-FEA8-4FD5-8258-F4910EEFBE6C}" destId="{C6BCFBDA-7556-4EAD-B3E8-45A200310C5E}" srcOrd="0" destOrd="0" presId="urn:microsoft.com/office/officeart/2005/8/layout/list1"/>
    <dgm:cxn modelId="{7C6DE46B-F93B-4E9A-A8F8-0D0FF93B5F9C}" srcId="{9E73F088-FF82-48F5-87BA-BEC97B04840F}" destId="{957A6705-A5F1-4562-85A2-1513053F8CE7}" srcOrd="1" destOrd="0" parTransId="{E2C25C33-52CB-4DDE-AA74-2D69FFAD039A}" sibTransId="{569C9944-EA7D-42A1-8511-DCC75778ABED}"/>
    <dgm:cxn modelId="{A24CC26C-E7E0-4F65-B00F-791CCFF709A1}" type="presOf" srcId="{5F0D0D7F-D949-430E-A08B-127EBFFD189B}" destId="{CEBE5F0C-8059-4302-9C7B-55A36B25A4EB}" srcOrd="0" destOrd="0" presId="urn:microsoft.com/office/officeart/2005/8/layout/list1"/>
    <dgm:cxn modelId="{D34D7B7C-D436-407F-A5F4-45C3BB3EECDE}" srcId="{C98620AE-FEA8-4FD5-8258-F4910EEFBE6C}" destId="{4A56D211-4842-4EAE-895B-15554B406851}" srcOrd="1" destOrd="0" parTransId="{C5B08229-FE78-496B-8FC8-BB7F7AE898CE}" sibTransId="{9E73FCCB-C61A-4C11-9292-36E196F71789}"/>
    <dgm:cxn modelId="{C47AF07D-19DA-44D9-B31A-5D4DA5146599}" type="presOf" srcId="{CE969DCB-A76F-4290-8275-1332508B2CFE}" destId="{051C4FBB-11A6-4467-B418-B6EA913156D1}" srcOrd="0" destOrd="1" presId="urn:microsoft.com/office/officeart/2005/8/layout/list1"/>
    <dgm:cxn modelId="{5CD6BC95-4100-4D61-937E-EEDEC753E9C8}" srcId="{C98620AE-FEA8-4FD5-8258-F4910EEFBE6C}" destId="{5F0D0D7F-D949-430E-A08B-127EBFFD189B}" srcOrd="0" destOrd="0" parTransId="{B2A5B6CE-0580-4216-AF42-95FDC9F99F30}" sibTransId="{AF382945-D83F-4BC4-851E-40520F204D77}"/>
    <dgm:cxn modelId="{5E0A5EB2-EA3A-4F81-9643-3BF7A4043AE5}" type="presOf" srcId="{957A6705-A5F1-4562-85A2-1513053F8CE7}" destId="{BE93CDC7-0E0B-4E37-922F-9256E990782A}" srcOrd="0" destOrd="0" presId="urn:microsoft.com/office/officeart/2005/8/layout/list1"/>
    <dgm:cxn modelId="{C5C973C8-52FF-4D49-B1DE-3656A9739FC3}" srcId="{957A6705-A5F1-4562-85A2-1513053F8CE7}" destId="{C37C5465-0117-4D8C-993B-80AC83A8B090}" srcOrd="2" destOrd="0" parTransId="{185823AC-70E5-4A98-BD1F-204D135E57B2}" sibTransId="{FC55E180-6C09-408D-81CF-2B3581619144}"/>
    <dgm:cxn modelId="{F6C5D0D5-29FC-4F37-B4C4-C7F83DC5B6CE}" type="presOf" srcId="{9E73F088-FF82-48F5-87BA-BEC97B04840F}" destId="{913BEAE2-BBFB-4D0E-9480-F2F6E61775E8}" srcOrd="0" destOrd="0" presId="urn:microsoft.com/office/officeart/2005/8/layout/list1"/>
    <dgm:cxn modelId="{081547DB-2F2E-491D-A241-955AF0F58432}" type="presOf" srcId="{C37C5465-0117-4D8C-993B-80AC83A8B090}" destId="{051C4FBB-11A6-4467-B418-B6EA913156D1}" srcOrd="0" destOrd="2" presId="urn:microsoft.com/office/officeart/2005/8/layout/list1"/>
    <dgm:cxn modelId="{1632BCE6-6DC0-48E5-99E1-4C830DA7BD70}" srcId="{957A6705-A5F1-4562-85A2-1513053F8CE7}" destId="{CE969DCB-A76F-4290-8275-1332508B2CFE}" srcOrd="1" destOrd="0" parTransId="{E44C5EBA-393A-446D-8078-86C501693691}" sibTransId="{466F22C8-01DF-4163-8F79-93782A45E2CA}"/>
    <dgm:cxn modelId="{501948E7-0D00-4AF2-8115-AE0FB009589D}" srcId="{C98620AE-FEA8-4FD5-8258-F4910EEFBE6C}" destId="{4612472F-BC5C-45D0-BE55-A0E921317331}" srcOrd="2" destOrd="0" parTransId="{81F08485-D8D9-4821-B45E-ED5B4491820B}" sibTransId="{0BF34DDF-57F4-4E1E-BA96-0D16B665B278}"/>
    <dgm:cxn modelId="{66484EE7-8E40-4B89-B980-FD5A135B7E87}" type="presOf" srcId="{957A6705-A5F1-4562-85A2-1513053F8CE7}" destId="{6C0D85A5-D779-402F-8CD1-E8F1873DBC9E}" srcOrd="1" destOrd="0" presId="urn:microsoft.com/office/officeart/2005/8/layout/list1"/>
    <dgm:cxn modelId="{73211BED-4A9B-401F-9400-A2FEF20BB228}" srcId="{957A6705-A5F1-4562-85A2-1513053F8CE7}" destId="{17115EB7-E2F1-404E-A613-7F07865AAF1B}" srcOrd="0" destOrd="0" parTransId="{DE2B53D6-827F-4469-A0D4-5405F321A257}" sibTransId="{46AEB5FF-ED6F-4B4A-8E00-0F05FA2A39DA}"/>
    <dgm:cxn modelId="{166E8D1B-0A8C-4A6B-AE8B-BED941F51EBD}" type="presParOf" srcId="{913BEAE2-BBFB-4D0E-9480-F2F6E61775E8}" destId="{F86A033B-AB1F-4E35-875A-1C0AEAB23A46}" srcOrd="0" destOrd="0" presId="urn:microsoft.com/office/officeart/2005/8/layout/list1"/>
    <dgm:cxn modelId="{D08D79B5-C35B-41C4-A1DA-B598494D5D01}" type="presParOf" srcId="{F86A033B-AB1F-4E35-875A-1C0AEAB23A46}" destId="{C6BCFBDA-7556-4EAD-B3E8-45A200310C5E}" srcOrd="0" destOrd="0" presId="urn:microsoft.com/office/officeart/2005/8/layout/list1"/>
    <dgm:cxn modelId="{F30C073B-1CA4-4A66-93CA-1EF39108E11A}" type="presParOf" srcId="{F86A033B-AB1F-4E35-875A-1C0AEAB23A46}" destId="{86EF778E-19CA-419C-B3B3-A875992416B4}" srcOrd="1" destOrd="0" presId="urn:microsoft.com/office/officeart/2005/8/layout/list1"/>
    <dgm:cxn modelId="{0A92C5BD-D322-4343-8E78-E259A0106CE1}" type="presParOf" srcId="{913BEAE2-BBFB-4D0E-9480-F2F6E61775E8}" destId="{F0DF3703-B768-4362-8B8E-F0504AF22357}" srcOrd="1" destOrd="0" presId="urn:microsoft.com/office/officeart/2005/8/layout/list1"/>
    <dgm:cxn modelId="{5F4BA7AA-4D63-4172-B176-A00F887F0161}" type="presParOf" srcId="{913BEAE2-BBFB-4D0E-9480-F2F6E61775E8}" destId="{CEBE5F0C-8059-4302-9C7B-55A36B25A4EB}" srcOrd="2" destOrd="0" presId="urn:microsoft.com/office/officeart/2005/8/layout/list1"/>
    <dgm:cxn modelId="{74137476-58CE-41AD-AAE6-1F3BEB8E065F}" type="presParOf" srcId="{913BEAE2-BBFB-4D0E-9480-F2F6E61775E8}" destId="{C22E3631-E3A9-4232-8EA5-100E6912D282}" srcOrd="3" destOrd="0" presId="urn:microsoft.com/office/officeart/2005/8/layout/list1"/>
    <dgm:cxn modelId="{E903170A-75E1-4961-9FD1-EC7C5516BE51}" type="presParOf" srcId="{913BEAE2-BBFB-4D0E-9480-F2F6E61775E8}" destId="{A3E95480-E10A-4643-B469-A121486BF935}" srcOrd="4" destOrd="0" presId="urn:microsoft.com/office/officeart/2005/8/layout/list1"/>
    <dgm:cxn modelId="{CEF0027A-32EB-4393-A7E2-991C86C9FE70}" type="presParOf" srcId="{A3E95480-E10A-4643-B469-A121486BF935}" destId="{BE93CDC7-0E0B-4E37-922F-9256E990782A}" srcOrd="0" destOrd="0" presId="urn:microsoft.com/office/officeart/2005/8/layout/list1"/>
    <dgm:cxn modelId="{7BDB7EE9-0829-4FF8-89E0-04953A7F814A}" type="presParOf" srcId="{A3E95480-E10A-4643-B469-A121486BF935}" destId="{6C0D85A5-D779-402F-8CD1-E8F1873DBC9E}" srcOrd="1" destOrd="0" presId="urn:microsoft.com/office/officeart/2005/8/layout/list1"/>
    <dgm:cxn modelId="{E784FCB9-92F8-4E6A-9D2D-52DF6AB5004F}" type="presParOf" srcId="{913BEAE2-BBFB-4D0E-9480-F2F6E61775E8}" destId="{BE20BFBB-7F74-46AD-A566-AE1D46A1ED7A}" srcOrd="5" destOrd="0" presId="urn:microsoft.com/office/officeart/2005/8/layout/list1"/>
    <dgm:cxn modelId="{20F547F8-D303-42EA-AE3E-0165BFD079CE}" type="presParOf" srcId="{913BEAE2-BBFB-4D0E-9480-F2F6E61775E8}" destId="{051C4FBB-11A6-4467-B418-B6EA913156D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5CE701-DC77-4C0F-9B9D-7B0AC2AB70BA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E70E508-D13B-49A9-B961-8E24DECF181A}">
      <dgm:prSet/>
      <dgm:spPr/>
      <dgm:t>
        <a:bodyPr/>
        <a:lstStyle/>
        <a:p>
          <a:r>
            <a: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Demo / System Flow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344337D-9CBC-407C-8256-A32F27F1F8CE}" type="parTrans" cxnId="{361912B4-9FF6-40E1-BD5A-652F2FD721F4}">
      <dgm:prSet/>
      <dgm:spPr/>
      <dgm:t>
        <a:bodyPr/>
        <a:lstStyle/>
        <a:p>
          <a:endParaRPr lang="en-US"/>
        </a:p>
      </dgm:t>
    </dgm:pt>
    <dgm:pt modelId="{80F05ABF-352D-4606-B511-A0672479346E}" type="sibTrans" cxnId="{361912B4-9FF6-40E1-BD5A-652F2FD721F4}">
      <dgm:prSet/>
      <dgm:spPr/>
      <dgm:t>
        <a:bodyPr/>
        <a:lstStyle/>
        <a:p>
          <a:endParaRPr lang="en-US"/>
        </a:p>
      </dgm:t>
    </dgm:pt>
    <dgm:pt modelId="{98344FD4-4E3C-4634-85CC-BAB87EC25BD1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Input → Model → Output </a:t>
          </a:r>
        </a:p>
      </dgm:t>
    </dgm:pt>
    <dgm:pt modelId="{AB86C21E-729A-46A2-8D86-DF1750522392}" type="parTrans" cxnId="{0448917E-22FC-4B49-AABF-F035D5DC1F03}">
      <dgm:prSet/>
      <dgm:spPr/>
      <dgm:t>
        <a:bodyPr/>
        <a:lstStyle/>
        <a:p>
          <a:endParaRPr lang="en-US"/>
        </a:p>
      </dgm:t>
    </dgm:pt>
    <dgm:pt modelId="{6E846614-D932-46B9-A76A-F603039C68A0}" type="sibTrans" cxnId="{0448917E-22FC-4B49-AABF-F035D5DC1F03}">
      <dgm:prSet/>
      <dgm:spPr/>
      <dgm:t>
        <a:bodyPr/>
        <a:lstStyle/>
        <a:p>
          <a:endParaRPr lang="en-US"/>
        </a:p>
      </dgm:t>
    </dgm:pt>
    <dgm:pt modelId="{5BB6B48D-C1ED-47D4-ADBF-13590F097AA2}">
      <dgm:prSet/>
      <dgm:spPr/>
      <dgm:t>
        <a:bodyPr/>
        <a:lstStyle/>
        <a:p>
          <a:r>
            <a: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Key Insights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361955C-00AB-4406-B31D-E8619B790642}" type="parTrans" cxnId="{A5648AF5-738D-46A1-8207-6B6CABBE8BD2}">
      <dgm:prSet/>
      <dgm:spPr/>
      <dgm:t>
        <a:bodyPr/>
        <a:lstStyle/>
        <a:p>
          <a:endParaRPr lang="en-US"/>
        </a:p>
      </dgm:t>
    </dgm:pt>
    <dgm:pt modelId="{C9E0EA96-CA11-4A37-955B-1D8ADEDF5999}" type="sibTrans" cxnId="{A5648AF5-738D-46A1-8207-6B6CABBE8BD2}">
      <dgm:prSet/>
      <dgm:spPr/>
      <dgm:t>
        <a:bodyPr/>
        <a:lstStyle/>
        <a:p>
          <a:endParaRPr lang="en-US"/>
        </a:p>
      </dgm:t>
    </dgm:pt>
    <dgm:pt modelId="{A45934A0-9088-4333-B2BA-5C90AD20CA2B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quality strongly impacts results </a:t>
          </a:r>
        </a:p>
      </dgm:t>
    </dgm:pt>
    <dgm:pt modelId="{ABFEAE10-A247-4CAB-8685-9E8F1CD4651C}" type="parTrans" cxnId="{FA73AE2E-BFA8-4430-9767-C673828427A5}">
      <dgm:prSet/>
      <dgm:spPr/>
      <dgm:t>
        <a:bodyPr/>
        <a:lstStyle/>
        <a:p>
          <a:endParaRPr lang="en-US"/>
        </a:p>
      </dgm:t>
    </dgm:pt>
    <dgm:pt modelId="{A2085891-A360-4BE3-9EE9-427C11964A73}" type="sibTrans" cxnId="{FA73AE2E-BFA8-4430-9767-C673828427A5}">
      <dgm:prSet/>
      <dgm:spPr/>
      <dgm:t>
        <a:bodyPr/>
        <a:lstStyle/>
        <a:p>
          <a:endParaRPr lang="en-US"/>
        </a:p>
      </dgm:t>
    </dgm:pt>
    <dgm:pt modelId="{EB0F23C4-24DF-4263-A8FE-E18B1281156B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ML is more reliable for structured tasks </a:t>
          </a:r>
        </a:p>
      </dgm:t>
    </dgm:pt>
    <dgm:pt modelId="{1A3A55BD-CAD5-461F-B80B-3E32095C12F3}" type="parTrans" cxnId="{0A4BA251-D152-4E1D-BC98-6D0F3D0D5ABA}">
      <dgm:prSet/>
      <dgm:spPr/>
      <dgm:t>
        <a:bodyPr/>
        <a:lstStyle/>
        <a:p>
          <a:endParaRPr lang="en-US"/>
        </a:p>
      </dgm:t>
    </dgm:pt>
    <dgm:pt modelId="{1389DC6D-AF6B-479E-9F52-32F4D62287B2}" type="sibTrans" cxnId="{0A4BA251-D152-4E1D-BC98-6D0F3D0D5ABA}">
      <dgm:prSet/>
      <dgm:spPr/>
      <dgm:t>
        <a:bodyPr/>
        <a:lstStyle/>
        <a:p>
          <a:endParaRPr lang="en-US"/>
        </a:p>
      </dgm:t>
    </dgm:pt>
    <dgm:pt modelId="{909F97E3-33E7-4587-957A-E1C511274B7F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LLM performance depends on prompt design </a:t>
          </a:r>
        </a:p>
      </dgm:t>
    </dgm:pt>
    <dgm:pt modelId="{DBE1865C-2675-4E12-88F0-E57BF831E27E}" type="parTrans" cxnId="{5F67EF3C-7E56-435B-B182-274F991AE646}">
      <dgm:prSet/>
      <dgm:spPr/>
      <dgm:t>
        <a:bodyPr/>
        <a:lstStyle/>
        <a:p>
          <a:endParaRPr lang="en-US"/>
        </a:p>
      </dgm:t>
    </dgm:pt>
    <dgm:pt modelId="{ECC09CCC-389C-4F99-97FC-02D961A94283}" type="sibTrans" cxnId="{5F67EF3C-7E56-435B-B182-274F991AE646}">
      <dgm:prSet/>
      <dgm:spPr/>
      <dgm:t>
        <a:bodyPr/>
        <a:lstStyle/>
        <a:p>
          <a:endParaRPr lang="en-US"/>
        </a:p>
      </dgm:t>
    </dgm:pt>
    <dgm:pt modelId="{04C4008F-28EA-4A0A-803B-F2C72D230AB1}">
      <dgm:prSet/>
      <dgm:spPr/>
      <dgm:t>
        <a:bodyPr/>
        <a:lstStyle/>
        <a:p>
          <a:r>
            <a: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Limitations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7206184-ED15-41C3-8825-AD46AAA506FE}" type="parTrans" cxnId="{9D840691-1355-4866-B5E5-42BA79F2D3F7}">
      <dgm:prSet/>
      <dgm:spPr/>
      <dgm:t>
        <a:bodyPr/>
        <a:lstStyle/>
        <a:p>
          <a:endParaRPr lang="en-US"/>
        </a:p>
      </dgm:t>
    </dgm:pt>
    <dgm:pt modelId="{0A406D4B-F52D-4280-AC9B-5C04FE789563}" type="sibTrans" cxnId="{9D840691-1355-4866-B5E5-42BA79F2D3F7}">
      <dgm:prSet/>
      <dgm:spPr/>
      <dgm:t>
        <a:bodyPr/>
        <a:lstStyle/>
        <a:p>
          <a:endParaRPr lang="en-US"/>
        </a:p>
      </dgm:t>
    </dgm:pt>
    <dgm:pt modelId="{3D0B94FD-FC9A-4A80-A268-6FB7F338E737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bias / size </a:t>
          </a:r>
        </a:p>
      </dgm:t>
    </dgm:pt>
    <dgm:pt modelId="{DB6E16C6-9793-43DC-9982-A1E0863CC137}" type="parTrans" cxnId="{C8C060A0-A1E4-4417-AF18-0CCE08C3E603}">
      <dgm:prSet/>
      <dgm:spPr/>
      <dgm:t>
        <a:bodyPr/>
        <a:lstStyle/>
        <a:p>
          <a:endParaRPr lang="en-US"/>
        </a:p>
      </dgm:t>
    </dgm:pt>
    <dgm:pt modelId="{86F7D0A1-5E75-4DA9-94DD-D924A70CBF45}" type="sibTrans" cxnId="{C8C060A0-A1E4-4417-AF18-0CCE08C3E603}">
      <dgm:prSet/>
      <dgm:spPr/>
      <dgm:t>
        <a:bodyPr/>
        <a:lstStyle/>
        <a:p>
          <a:endParaRPr lang="en-US"/>
        </a:p>
      </dgm:t>
    </dgm:pt>
    <dgm:pt modelId="{FB81AB53-8E0F-4942-96C9-09C3683A72B0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generalization </a:t>
          </a:r>
        </a:p>
      </dgm:t>
    </dgm:pt>
    <dgm:pt modelId="{C47D4910-FBDF-4947-A6B7-F9ECC9E7EE56}" type="parTrans" cxnId="{642C0144-E8FC-4371-8C18-0C452B5B6BAF}">
      <dgm:prSet/>
      <dgm:spPr/>
      <dgm:t>
        <a:bodyPr/>
        <a:lstStyle/>
        <a:p>
          <a:endParaRPr lang="en-US"/>
        </a:p>
      </dgm:t>
    </dgm:pt>
    <dgm:pt modelId="{B8A4C2B1-F27F-4022-B6E7-F1C8D68D3957}" type="sibTrans" cxnId="{642C0144-E8FC-4371-8C18-0C452B5B6BAF}">
      <dgm:prSet/>
      <dgm:spPr/>
      <dgm:t>
        <a:bodyPr/>
        <a:lstStyle/>
        <a:p>
          <a:endParaRPr lang="en-US"/>
        </a:p>
      </dgm:t>
    </dgm:pt>
    <dgm:pt modelId="{C28AEEB8-ED8B-4C65-85C0-AE4F749D7527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LLM variability </a:t>
          </a:r>
        </a:p>
      </dgm:t>
    </dgm:pt>
    <dgm:pt modelId="{6E96D5B6-0399-4918-B356-0C1BCBB536F7}" type="parTrans" cxnId="{7F5161D6-A3FC-49E6-99A7-48C84A327D12}">
      <dgm:prSet/>
      <dgm:spPr/>
      <dgm:t>
        <a:bodyPr/>
        <a:lstStyle/>
        <a:p>
          <a:endParaRPr lang="en-US"/>
        </a:p>
      </dgm:t>
    </dgm:pt>
    <dgm:pt modelId="{F9B63333-16E9-448D-925E-B3001F67B579}" type="sibTrans" cxnId="{7F5161D6-A3FC-49E6-99A7-48C84A327D12}">
      <dgm:prSet/>
      <dgm:spPr/>
      <dgm:t>
        <a:bodyPr/>
        <a:lstStyle/>
        <a:p>
          <a:endParaRPr lang="en-US"/>
        </a:p>
      </dgm:t>
    </dgm:pt>
    <dgm:pt modelId="{D6D33840-388B-4ED5-96FF-E2CF28ECC52D}">
      <dgm:prSet/>
      <dgm:spPr/>
      <dgm:t>
        <a:bodyPr/>
        <a:lstStyle/>
        <a:p>
          <a:r>
            <a: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Future Work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042AB3A-4A6C-4D11-946A-5298F414F909}" type="parTrans" cxnId="{CEBE1915-E10A-47E2-AEFB-8890B52E8963}">
      <dgm:prSet/>
      <dgm:spPr/>
      <dgm:t>
        <a:bodyPr/>
        <a:lstStyle/>
        <a:p>
          <a:endParaRPr lang="en-US"/>
        </a:p>
      </dgm:t>
    </dgm:pt>
    <dgm:pt modelId="{B76A996E-F52F-4232-B9D7-58980719F3D0}" type="sibTrans" cxnId="{CEBE1915-E10A-47E2-AEFB-8890B52E8963}">
      <dgm:prSet/>
      <dgm:spPr/>
      <dgm:t>
        <a:bodyPr/>
        <a:lstStyle/>
        <a:p>
          <a:endParaRPr lang="en-US"/>
        </a:p>
      </dgm:t>
    </dgm:pt>
    <dgm:pt modelId="{4CF362D1-BEF4-45B2-948B-FC61EF614B89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Improve features and data </a:t>
          </a:r>
        </a:p>
      </dgm:t>
    </dgm:pt>
    <dgm:pt modelId="{C4911C0E-97B2-4EC5-AAF1-101A7ADEA8BF}" type="parTrans" cxnId="{82FBE673-E2B9-4A4D-AB18-A0BA0EAADEF7}">
      <dgm:prSet/>
      <dgm:spPr/>
      <dgm:t>
        <a:bodyPr/>
        <a:lstStyle/>
        <a:p>
          <a:endParaRPr lang="en-US"/>
        </a:p>
      </dgm:t>
    </dgm:pt>
    <dgm:pt modelId="{9521305F-6A5D-4C23-9A5C-776BB152ED60}" type="sibTrans" cxnId="{82FBE673-E2B9-4A4D-AB18-A0BA0EAADEF7}">
      <dgm:prSet/>
      <dgm:spPr/>
      <dgm:t>
        <a:bodyPr/>
        <a:lstStyle/>
        <a:p>
          <a:endParaRPr lang="en-US"/>
        </a:p>
      </dgm:t>
    </dgm:pt>
    <dgm:pt modelId="{F6744CB3-F8F5-4409-9DA4-25A1F26CB4AD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Refine prompts / models </a:t>
          </a:r>
        </a:p>
      </dgm:t>
    </dgm:pt>
    <dgm:pt modelId="{EC08BF16-14CB-491D-8EEB-773ABE0B854D}" type="parTrans" cxnId="{5766C32F-CA0D-40EC-99E8-43B7CD8B4920}">
      <dgm:prSet/>
      <dgm:spPr/>
      <dgm:t>
        <a:bodyPr/>
        <a:lstStyle/>
        <a:p>
          <a:endParaRPr lang="en-US"/>
        </a:p>
      </dgm:t>
    </dgm:pt>
    <dgm:pt modelId="{2B6B8DBF-2E09-4FB3-84FB-91A2630D3774}" type="sibTrans" cxnId="{5766C32F-CA0D-40EC-99E8-43B7CD8B4920}">
      <dgm:prSet/>
      <dgm:spPr/>
      <dgm:t>
        <a:bodyPr/>
        <a:lstStyle/>
        <a:p>
          <a:endParaRPr lang="en-US"/>
        </a:p>
      </dgm:t>
    </dgm:pt>
    <dgm:pt modelId="{F67A49CA-B82F-405B-96D6-B28F66A0B551}" type="pres">
      <dgm:prSet presAssocID="{505CE701-DC77-4C0F-9B9D-7B0AC2AB70BA}" presName="linear" presStyleCnt="0">
        <dgm:presLayoutVars>
          <dgm:animLvl val="lvl"/>
          <dgm:resizeHandles val="exact"/>
        </dgm:presLayoutVars>
      </dgm:prSet>
      <dgm:spPr/>
    </dgm:pt>
    <dgm:pt modelId="{4B1A4B99-5FD5-4D81-8F05-F93010C06E2B}" type="pres">
      <dgm:prSet presAssocID="{5E70E508-D13B-49A9-B961-8E24DECF18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A7D0413-03D7-4814-9722-F4A02B937650}" type="pres">
      <dgm:prSet presAssocID="{5E70E508-D13B-49A9-B961-8E24DECF181A}" presName="childText" presStyleLbl="revTx" presStyleIdx="0" presStyleCnt="4">
        <dgm:presLayoutVars>
          <dgm:bulletEnabled val="1"/>
        </dgm:presLayoutVars>
      </dgm:prSet>
      <dgm:spPr/>
    </dgm:pt>
    <dgm:pt modelId="{6E240B25-77B0-4DB9-AF5E-E73D171BFA49}" type="pres">
      <dgm:prSet presAssocID="{5BB6B48D-C1ED-47D4-ADBF-13590F097AA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68952F-7E79-4348-811B-FAADFD65556B}" type="pres">
      <dgm:prSet presAssocID="{5BB6B48D-C1ED-47D4-ADBF-13590F097AA2}" presName="childText" presStyleLbl="revTx" presStyleIdx="1" presStyleCnt="4">
        <dgm:presLayoutVars>
          <dgm:bulletEnabled val="1"/>
        </dgm:presLayoutVars>
      </dgm:prSet>
      <dgm:spPr/>
    </dgm:pt>
    <dgm:pt modelId="{A98C1C5B-574A-4518-8E2C-62B6094E43E4}" type="pres">
      <dgm:prSet presAssocID="{04C4008F-28EA-4A0A-803B-F2C72D230A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29B89B-B912-472C-94CF-76FB081D1D58}" type="pres">
      <dgm:prSet presAssocID="{04C4008F-28EA-4A0A-803B-F2C72D230AB1}" presName="childText" presStyleLbl="revTx" presStyleIdx="2" presStyleCnt="4">
        <dgm:presLayoutVars>
          <dgm:bulletEnabled val="1"/>
        </dgm:presLayoutVars>
      </dgm:prSet>
      <dgm:spPr/>
    </dgm:pt>
    <dgm:pt modelId="{AB2682BC-C21A-4072-8D08-112CFC358897}" type="pres">
      <dgm:prSet presAssocID="{D6D33840-388B-4ED5-96FF-E2CF28ECC52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12CA236-17C1-413E-BD96-1AA7BFEDE173}" type="pres">
      <dgm:prSet presAssocID="{D6D33840-388B-4ED5-96FF-E2CF28ECC52D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EBE1915-E10A-47E2-AEFB-8890B52E8963}" srcId="{505CE701-DC77-4C0F-9B9D-7B0AC2AB70BA}" destId="{D6D33840-388B-4ED5-96FF-E2CF28ECC52D}" srcOrd="3" destOrd="0" parTransId="{A042AB3A-4A6C-4D11-946A-5298F414F909}" sibTransId="{B76A996E-F52F-4232-B9D7-58980719F3D0}"/>
    <dgm:cxn modelId="{1984301B-A006-4772-8A2C-DC843A32AC15}" type="presOf" srcId="{5E70E508-D13B-49A9-B961-8E24DECF181A}" destId="{4B1A4B99-5FD5-4D81-8F05-F93010C06E2B}" srcOrd="0" destOrd="0" presId="urn:microsoft.com/office/officeart/2005/8/layout/vList2"/>
    <dgm:cxn modelId="{A1A79A21-370C-40A2-AFA2-E4323186F453}" type="presOf" srcId="{505CE701-DC77-4C0F-9B9D-7B0AC2AB70BA}" destId="{F67A49CA-B82F-405B-96D6-B28F66A0B551}" srcOrd="0" destOrd="0" presId="urn:microsoft.com/office/officeart/2005/8/layout/vList2"/>
    <dgm:cxn modelId="{FA73AE2E-BFA8-4430-9767-C673828427A5}" srcId="{5BB6B48D-C1ED-47D4-ADBF-13590F097AA2}" destId="{A45934A0-9088-4333-B2BA-5C90AD20CA2B}" srcOrd="0" destOrd="0" parTransId="{ABFEAE10-A247-4CAB-8685-9E8F1CD4651C}" sibTransId="{A2085891-A360-4BE3-9EE9-427C11964A73}"/>
    <dgm:cxn modelId="{5766C32F-CA0D-40EC-99E8-43B7CD8B4920}" srcId="{D6D33840-388B-4ED5-96FF-E2CF28ECC52D}" destId="{F6744CB3-F8F5-4409-9DA4-25A1F26CB4AD}" srcOrd="1" destOrd="0" parTransId="{EC08BF16-14CB-491D-8EEB-773ABE0B854D}" sibTransId="{2B6B8DBF-2E09-4FB3-84FB-91A2630D3774}"/>
    <dgm:cxn modelId="{315BAC3A-32F2-4163-8BA8-3A75EF0E1E64}" type="presOf" srcId="{F6744CB3-F8F5-4409-9DA4-25A1F26CB4AD}" destId="{B12CA236-17C1-413E-BD96-1AA7BFEDE173}" srcOrd="0" destOrd="1" presId="urn:microsoft.com/office/officeart/2005/8/layout/vList2"/>
    <dgm:cxn modelId="{5F67EF3C-7E56-435B-B182-274F991AE646}" srcId="{5BB6B48D-C1ED-47D4-ADBF-13590F097AA2}" destId="{909F97E3-33E7-4587-957A-E1C511274B7F}" srcOrd="2" destOrd="0" parTransId="{DBE1865C-2675-4E12-88F0-E57BF831E27E}" sibTransId="{ECC09CCC-389C-4F99-97FC-02D961A94283}"/>
    <dgm:cxn modelId="{642C0144-E8FC-4371-8C18-0C452B5B6BAF}" srcId="{04C4008F-28EA-4A0A-803B-F2C72D230AB1}" destId="{FB81AB53-8E0F-4942-96C9-09C3683A72B0}" srcOrd="1" destOrd="0" parTransId="{C47D4910-FBDF-4947-A6B7-F9ECC9E7EE56}" sibTransId="{B8A4C2B1-F27F-4022-B6E7-F1C8D68D3957}"/>
    <dgm:cxn modelId="{7EB46565-2BCF-4ED5-957D-B26C20249817}" type="presOf" srcId="{98344FD4-4E3C-4634-85CC-BAB87EC25BD1}" destId="{FA7D0413-03D7-4814-9722-F4A02B937650}" srcOrd="0" destOrd="0" presId="urn:microsoft.com/office/officeart/2005/8/layout/vList2"/>
    <dgm:cxn modelId="{421EC945-306D-44BB-8D8D-1E39BCF72E0B}" type="presOf" srcId="{D6D33840-388B-4ED5-96FF-E2CF28ECC52D}" destId="{AB2682BC-C21A-4072-8D08-112CFC358897}" srcOrd="0" destOrd="0" presId="urn:microsoft.com/office/officeart/2005/8/layout/vList2"/>
    <dgm:cxn modelId="{972CF46C-E62A-47E1-9997-487AA5041550}" type="presOf" srcId="{FB81AB53-8E0F-4942-96C9-09C3683A72B0}" destId="{8F29B89B-B912-472C-94CF-76FB081D1D58}" srcOrd="0" destOrd="1" presId="urn:microsoft.com/office/officeart/2005/8/layout/vList2"/>
    <dgm:cxn modelId="{0A4BA251-D152-4E1D-BC98-6D0F3D0D5ABA}" srcId="{5BB6B48D-C1ED-47D4-ADBF-13590F097AA2}" destId="{EB0F23C4-24DF-4263-A8FE-E18B1281156B}" srcOrd="1" destOrd="0" parTransId="{1A3A55BD-CAD5-461F-B80B-3E32095C12F3}" sibTransId="{1389DC6D-AF6B-479E-9F52-32F4D62287B2}"/>
    <dgm:cxn modelId="{82FBE673-E2B9-4A4D-AB18-A0BA0EAADEF7}" srcId="{D6D33840-388B-4ED5-96FF-E2CF28ECC52D}" destId="{4CF362D1-BEF4-45B2-948B-FC61EF614B89}" srcOrd="0" destOrd="0" parTransId="{C4911C0E-97B2-4EC5-AAF1-101A7ADEA8BF}" sibTransId="{9521305F-6A5D-4C23-9A5C-776BB152ED60}"/>
    <dgm:cxn modelId="{0448917E-22FC-4B49-AABF-F035D5DC1F03}" srcId="{5E70E508-D13B-49A9-B961-8E24DECF181A}" destId="{98344FD4-4E3C-4634-85CC-BAB87EC25BD1}" srcOrd="0" destOrd="0" parTransId="{AB86C21E-729A-46A2-8D86-DF1750522392}" sibTransId="{6E846614-D932-46B9-A76A-F603039C68A0}"/>
    <dgm:cxn modelId="{9D840691-1355-4866-B5E5-42BA79F2D3F7}" srcId="{505CE701-DC77-4C0F-9B9D-7B0AC2AB70BA}" destId="{04C4008F-28EA-4A0A-803B-F2C72D230AB1}" srcOrd="2" destOrd="0" parTransId="{F7206184-ED15-41C3-8825-AD46AAA506FE}" sibTransId="{0A406D4B-F52D-4280-AC9B-5C04FE789563}"/>
    <dgm:cxn modelId="{D4598C9F-3439-4D05-88C5-01710FEAAE49}" type="presOf" srcId="{909F97E3-33E7-4587-957A-E1C511274B7F}" destId="{9068952F-7E79-4348-811B-FAADFD65556B}" srcOrd="0" destOrd="2" presId="urn:microsoft.com/office/officeart/2005/8/layout/vList2"/>
    <dgm:cxn modelId="{C8C060A0-A1E4-4417-AF18-0CCE08C3E603}" srcId="{04C4008F-28EA-4A0A-803B-F2C72D230AB1}" destId="{3D0B94FD-FC9A-4A80-A268-6FB7F338E737}" srcOrd="0" destOrd="0" parTransId="{DB6E16C6-9793-43DC-9982-A1E0863CC137}" sibTransId="{86F7D0A1-5E75-4DA9-94DD-D924A70CBF45}"/>
    <dgm:cxn modelId="{280350A9-7004-45AE-B1AB-12D7485C993E}" type="presOf" srcId="{4CF362D1-BEF4-45B2-948B-FC61EF614B89}" destId="{B12CA236-17C1-413E-BD96-1AA7BFEDE173}" srcOrd="0" destOrd="0" presId="urn:microsoft.com/office/officeart/2005/8/layout/vList2"/>
    <dgm:cxn modelId="{63426DAD-ECE9-4D31-8B8E-3B7A1E7D0EC6}" type="presOf" srcId="{EB0F23C4-24DF-4263-A8FE-E18B1281156B}" destId="{9068952F-7E79-4348-811B-FAADFD65556B}" srcOrd="0" destOrd="1" presId="urn:microsoft.com/office/officeart/2005/8/layout/vList2"/>
    <dgm:cxn modelId="{361912B4-9FF6-40E1-BD5A-652F2FD721F4}" srcId="{505CE701-DC77-4C0F-9B9D-7B0AC2AB70BA}" destId="{5E70E508-D13B-49A9-B961-8E24DECF181A}" srcOrd="0" destOrd="0" parTransId="{8344337D-9CBC-407C-8256-A32F27F1F8CE}" sibTransId="{80F05ABF-352D-4606-B511-A0672479346E}"/>
    <dgm:cxn modelId="{C741F2CC-2DEE-4AC9-B83E-EF0A376A0EF9}" type="presOf" srcId="{C28AEEB8-ED8B-4C65-85C0-AE4F749D7527}" destId="{8F29B89B-B912-472C-94CF-76FB081D1D58}" srcOrd="0" destOrd="2" presId="urn:microsoft.com/office/officeart/2005/8/layout/vList2"/>
    <dgm:cxn modelId="{8C845ED4-50D3-4670-93BD-E49E32289DB2}" type="presOf" srcId="{04C4008F-28EA-4A0A-803B-F2C72D230AB1}" destId="{A98C1C5B-574A-4518-8E2C-62B6094E43E4}" srcOrd="0" destOrd="0" presId="urn:microsoft.com/office/officeart/2005/8/layout/vList2"/>
    <dgm:cxn modelId="{7F5161D6-A3FC-49E6-99A7-48C84A327D12}" srcId="{04C4008F-28EA-4A0A-803B-F2C72D230AB1}" destId="{C28AEEB8-ED8B-4C65-85C0-AE4F749D7527}" srcOrd="2" destOrd="0" parTransId="{6E96D5B6-0399-4918-B356-0C1BCBB536F7}" sibTransId="{F9B63333-16E9-448D-925E-B3001F67B579}"/>
    <dgm:cxn modelId="{6BFC4EE9-516A-4116-9941-D066E4F2FE57}" type="presOf" srcId="{5BB6B48D-C1ED-47D4-ADBF-13590F097AA2}" destId="{6E240B25-77B0-4DB9-AF5E-E73D171BFA49}" srcOrd="0" destOrd="0" presId="urn:microsoft.com/office/officeart/2005/8/layout/vList2"/>
    <dgm:cxn modelId="{A74620EA-BE35-448D-8AB8-AAEE36E8BFCD}" type="presOf" srcId="{3D0B94FD-FC9A-4A80-A268-6FB7F338E737}" destId="{8F29B89B-B912-472C-94CF-76FB081D1D58}" srcOrd="0" destOrd="0" presId="urn:microsoft.com/office/officeart/2005/8/layout/vList2"/>
    <dgm:cxn modelId="{4A9658EA-8BC3-419D-BEF4-0C92D2688B2B}" type="presOf" srcId="{A45934A0-9088-4333-B2BA-5C90AD20CA2B}" destId="{9068952F-7E79-4348-811B-FAADFD65556B}" srcOrd="0" destOrd="0" presId="urn:microsoft.com/office/officeart/2005/8/layout/vList2"/>
    <dgm:cxn modelId="{A5648AF5-738D-46A1-8207-6B6CABBE8BD2}" srcId="{505CE701-DC77-4C0F-9B9D-7B0AC2AB70BA}" destId="{5BB6B48D-C1ED-47D4-ADBF-13590F097AA2}" srcOrd="1" destOrd="0" parTransId="{9361955C-00AB-4406-B31D-E8619B790642}" sibTransId="{C9E0EA96-CA11-4A37-955B-1D8ADEDF5999}"/>
    <dgm:cxn modelId="{F21C053B-E7A2-4693-90B0-0C6FBDA6F849}" type="presParOf" srcId="{F67A49CA-B82F-405B-96D6-B28F66A0B551}" destId="{4B1A4B99-5FD5-4D81-8F05-F93010C06E2B}" srcOrd="0" destOrd="0" presId="urn:microsoft.com/office/officeart/2005/8/layout/vList2"/>
    <dgm:cxn modelId="{4B8AE59C-7B10-49C2-8439-22730A9E966B}" type="presParOf" srcId="{F67A49CA-B82F-405B-96D6-B28F66A0B551}" destId="{FA7D0413-03D7-4814-9722-F4A02B937650}" srcOrd="1" destOrd="0" presId="urn:microsoft.com/office/officeart/2005/8/layout/vList2"/>
    <dgm:cxn modelId="{7C78C425-4392-4BA2-9F7B-DDEE62D456FE}" type="presParOf" srcId="{F67A49CA-B82F-405B-96D6-B28F66A0B551}" destId="{6E240B25-77B0-4DB9-AF5E-E73D171BFA49}" srcOrd="2" destOrd="0" presId="urn:microsoft.com/office/officeart/2005/8/layout/vList2"/>
    <dgm:cxn modelId="{D58AFFC4-C3B8-492E-A20C-6A3A9A6541EF}" type="presParOf" srcId="{F67A49CA-B82F-405B-96D6-B28F66A0B551}" destId="{9068952F-7E79-4348-811B-FAADFD65556B}" srcOrd="3" destOrd="0" presId="urn:microsoft.com/office/officeart/2005/8/layout/vList2"/>
    <dgm:cxn modelId="{8B8ECC94-B262-4692-B037-E0F1008917DA}" type="presParOf" srcId="{F67A49CA-B82F-405B-96D6-B28F66A0B551}" destId="{A98C1C5B-574A-4518-8E2C-62B6094E43E4}" srcOrd="4" destOrd="0" presId="urn:microsoft.com/office/officeart/2005/8/layout/vList2"/>
    <dgm:cxn modelId="{0DB854F2-3A62-490F-8B39-62280DF72543}" type="presParOf" srcId="{F67A49CA-B82F-405B-96D6-B28F66A0B551}" destId="{8F29B89B-B912-472C-94CF-76FB081D1D58}" srcOrd="5" destOrd="0" presId="urn:microsoft.com/office/officeart/2005/8/layout/vList2"/>
    <dgm:cxn modelId="{3242977E-01D1-4512-AC77-96C9B682DC9A}" type="presParOf" srcId="{F67A49CA-B82F-405B-96D6-B28F66A0B551}" destId="{AB2682BC-C21A-4072-8D08-112CFC358897}" srcOrd="6" destOrd="0" presId="urn:microsoft.com/office/officeart/2005/8/layout/vList2"/>
    <dgm:cxn modelId="{13036746-96D3-4E14-91E1-D6727BCE2128}" type="presParOf" srcId="{F67A49CA-B82F-405B-96D6-B28F66A0B551}" destId="{B12CA236-17C1-413E-BD96-1AA7BFEDE17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4DC285-AA31-495B-852B-1A9BA2A8CDAB}">
      <dsp:nvSpPr>
        <dsp:cNvPr id="0" name=""/>
        <dsp:cNvSpPr/>
      </dsp:nvSpPr>
      <dsp:spPr>
        <a:xfrm>
          <a:off x="0" y="793169"/>
          <a:ext cx="10882796" cy="6257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Problem</a:t>
          </a:r>
        </a:p>
      </dsp:txBody>
      <dsp:txXfrm>
        <a:off x="30547" y="823716"/>
        <a:ext cx="10821702" cy="564655"/>
      </dsp:txXfrm>
    </dsp:sp>
    <dsp:sp modelId="{06652109-65F9-4E5C-916E-335E99EF96A9}">
      <dsp:nvSpPr>
        <dsp:cNvPr id="0" name=""/>
        <dsp:cNvSpPr/>
      </dsp:nvSpPr>
      <dsp:spPr>
        <a:xfrm>
          <a:off x="0" y="3095086"/>
          <a:ext cx="10882796" cy="22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52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0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Aim to predict the temporal evolution for different injection rates, time spans, or hot water temperatures. </a:t>
          </a:r>
          <a:endParaRPr lang="en-US" sz="20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Allows for a more efficient FTES injection design for extracting heat from deep underground in similar, metamorphic geologic settings.</a:t>
          </a:r>
          <a:endParaRPr lang="en-US" sz="20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3095086"/>
        <a:ext cx="10882796" cy="2235600"/>
      </dsp:txXfrm>
    </dsp:sp>
    <dsp:sp modelId="{AA7085D8-100E-4791-8A0A-79B853ED3F6E}">
      <dsp:nvSpPr>
        <dsp:cNvPr id="0" name=""/>
        <dsp:cNvSpPr/>
      </dsp:nvSpPr>
      <dsp:spPr>
        <a:xfrm>
          <a:off x="0" y="2637672"/>
          <a:ext cx="10882796" cy="64887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Goal</a:t>
          </a:r>
        </a:p>
      </dsp:txBody>
      <dsp:txXfrm>
        <a:off x="31675" y="2669347"/>
        <a:ext cx="10819446" cy="585522"/>
      </dsp:txXfrm>
    </dsp:sp>
    <dsp:sp modelId="{D247E857-4D74-4A0A-8738-DA4BF8B57AD5}">
      <dsp:nvSpPr>
        <dsp:cNvPr id="0" name=""/>
        <dsp:cNvSpPr/>
      </dsp:nvSpPr>
      <dsp:spPr>
        <a:xfrm>
          <a:off x="0" y="1524394"/>
          <a:ext cx="10882796" cy="237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52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Train models to determine where and how water flows as a proxy of the fracture network.</a:t>
          </a:r>
          <a:endParaRPr lang="en-US" sz="20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Predict production well temperatures based on injection conditions and historical thermal response.</a:t>
          </a:r>
          <a:endParaRPr lang="en-US" sz="20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1524394"/>
        <a:ext cx="10882796" cy="2371834"/>
      </dsp:txXfrm>
    </dsp:sp>
    <dsp:sp modelId="{9FF5E077-601D-49D5-9F29-06EE4CF49A2B}">
      <dsp:nvSpPr>
        <dsp:cNvPr id="0" name=""/>
        <dsp:cNvSpPr/>
      </dsp:nvSpPr>
      <dsp:spPr>
        <a:xfrm>
          <a:off x="0" y="4732262"/>
          <a:ext cx="10882796" cy="6373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Success Criteria</a:t>
          </a:r>
        </a:p>
      </dsp:txBody>
      <dsp:txXfrm>
        <a:off x="31112" y="4763374"/>
        <a:ext cx="10820572" cy="575113"/>
      </dsp:txXfrm>
    </dsp:sp>
    <dsp:sp modelId="{00352403-9404-4AE3-AB65-3EAFFE013E65}">
      <dsp:nvSpPr>
        <dsp:cNvPr id="0" name=""/>
        <dsp:cNvSpPr/>
      </dsp:nvSpPr>
      <dsp:spPr>
        <a:xfrm>
          <a:off x="0" y="5548489"/>
          <a:ext cx="10882796" cy="912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52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Comparing to the persistence model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(R2 to be higher than persistence model)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Fair ML vs LLM comparison</a:t>
          </a:r>
        </a:p>
      </dsp:txBody>
      <dsp:txXfrm>
        <a:off x="0" y="5548489"/>
        <a:ext cx="10882796" cy="9128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E5F0C-8059-4302-9C7B-55A36B25A4EB}">
      <dsp:nvSpPr>
        <dsp:cNvPr id="0" name=""/>
        <dsp:cNvSpPr/>
      </dsp:nvSpPr>
      <dsp:spPr>
        <a:xfrm>
          <a:off x="0" y="296099"/>
          <a:ext cx="7772400" cy="283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3225" tIns="416560" rIns="603225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1800" kern="1200">
              <a:latin typeface="+mn-lt"/>
              <a:ea typeface="Calibri"/>
              <a:cs typeface="Calibri"/>
            </a:rPr>
            <a:t>Source: DEMO Fractured-rock Thermal Energy Storage (FTES) Test 1 in the Sanford Underground Research Facility (SURF),  from Dec 2024 – Feb 2025 (hot water injection)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1800" kern="1200">
              <a:latin typeface="+mn-lt"/>
              <a:ea typeface="Calibri"/>
              <a:cs typeface="Calibri"/>
            </a:rPr>
            <a:t>Size: ≈2k hourly records; ≈100K 1-minute records resampled from 6.3 GB 1-second dataset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1800" kern="1200">
              <a:latin typeface="+mn-lt"/>
              <a:ea typeface="Calibri"/>
              <a:cs typeface="Calibri"/>
            </a:rPr>
            <a:t>Features: Temperature, pressure, flow rate &amp; electrical conductivity across 5 boreholes  (TC = injection well | TL, TN = production wells | TU, TS = monitor wells), and engineered ML features</a:t>
          </a:r>
        </a:p>
      </dsp:txBody>
      <dsp:txXfrm>
        <a:off x="0" y="296099"/>
        <a:ext cx="7772400" cy="2835000"/>
      </dsp:txXfrm>
    </dsp:sp>
    <dsp:sp modelId="{86EF778E-19CA-419C-B3B3-A875992416B4}">
      <dsp:nvSpPr>
        <dsp:cNvPr id="0" name=""/>
        <dsp:cNvSpPr/>
      </dsp:nvSpPr>
      <dsp:spPr>
        <a:xfrm>
          <a:off x="414020" y="16527"/>
          <a:ext cx="544068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+mn-lt"/>
              <a:ea typeface="Calibri" panose="020F0502020204030204" pitchFamily="34" charset="0"/>
              <a:cs typeface="Calibri" panose="020F0502020204030204" pitchFamily="34" charset="0"/>
            </a:rPr>
            <a:t>Dataset</a:t>
          </a:r>
          <a:endParaRPr lang="en-US" sz="2800" kern="1200">
            <a:latin typeface="+mn-lt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42841" y="45348"/>
        <a:ext cx="5383038" cy="532758"/>
      </dsp:txXfrm>
    </dsp:sp>
    <dsp:sp modelId="{051C4FBB-11A6-4467-B418-B6EA913156D1}">
      <dsp:nvSpPr>
        <dsp:cNvPr id="0" name=""/>
        <dsp:cNvSpPr/>
      </dsp:nvSpPr>
      <dsp:spPr>
        <a:xfrm>
          <a:off x="0" y="3534300"/>
          <a:ext cx="7772400" cy="378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3225" tIns="416560" rIns="60322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Arial" panose="020B0604020202020204" pitchFamily="34" charset="0"/>
            <a:buChar char="•"/>
          </a:pPr>
          <a:r>
            <a:rPr lang="en-US" sz="1800" kern="1200"/>
            <a:t>Missing / inconsistent values:  116 duplicate timestamps removed; pressure sensors &gt;99% null after cleaning (injection-side instruments operating outside rated range were dropped)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1800" kern="1200"/>
            <a:t>Limited edge-case coverage:  Single 72-day test with one injection well and two producers, ∴ model generalization is constrained to similar fracture geometry and injection conditions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1800" b="1" kern="1200"/>
            <a:t>Zero-value artifact:  Zeros in 1-second temperature data were not caught by the original TEMP_MIN = –5 °C threshold and were included in 1-minute averages, pulling down means and creating false downward temperature spikes. Fix: TEMP_MIN updated to 0 °C (identified in team meeting April 10 and resolved shortly after.)</a:t>
          </a:r>
        </a:p>
      </dsp:txBody>
      <dsp:txXfrm>
        <a:off x="0" y="3534300"/>
        <a:ext cx="7772400" cy="3780000"/>
      </dsp:txXfrm>
    </dsp:sp>
    <dsp:sp modelId="{6C0D85A5-D779-402F-8CD1-E8F1873DBC9E}">
      <dsp:nvSpPr>
        <dsp:cNvPr id="0" name=""/>
        <dsp:cNvSpPr/>
      </dsp:nvSpPr>
      <dsp:spPr>
        <a:xfrm>
          <a:off x="388620" y="3239099"/>
          <a:ext cx="544068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645" tIns="0" rIns="20564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Challenges</a:t>
          </a:r>
        </a:p>
      </dsp:txBody>
      <dsp:txXfrm>
        <a:off x="417441" y="3267920"/>
        <a:ext cx="5383038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A4B99-5FD5-4D81-8F05-F93010C06E2B}">
      <dsp:nvSpPr>
        <dsp:cNvPr id="0" name=""/>
        <dsp:cNvSpPr/>
      </dsp:nvSpPr>
      <dsp:spPr>
        <a:xfrm>
          <a:off x="0" y="135359"/>
          <a:ext cx="7772400" cy="767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Demo / System Flow</a:t>
          </a:r>
          <a:endParaRPr lang="en-US" sz="32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7467" y="172826"/>
        <a:ext cx="7697466" cy="692586"/>
      </dsp:txXfrm>
    </dsp:sp>
    <dsp:sp modelId="{FA7D0413-03D7-4814-9722-F4A02B937650}">
      <dsp:nvSpPr>
        <dsp:cNvPr id="0" name=""/>
        <dsp:cNvSpPr/>
      </dsp:nvSpPr>
      <dsp:spPr>
        <a:xfrm>
          <a:off x="0" y="902879"/>
          <a:ext cx="7772400" cy="5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Input → Model → Output </a:t>
          </a:r>
        </a:p>
      </dsp:txBody>
      <dsp:txXfrm>
        <a:off x="0" y="902879"/>
        <a:ext cx="7772400" cy="529920"/>
      </dsp:txXfrm>
    </dsp:sp>
    <dsp:sp modelId="{6E240B25-77B0-4DB9-AF5E-E73D171BFA49}">
      <dsp:nvSpPr>
        <dsp:cNvPr id="0" name=""/>
        <dsp:cNvSpPr/>
      </dsp:nvSpPr>
      <dsp:spPr>
        <a:xfrm>
          <a:off x="0" y="1432799"/>
          <a:ext cx="7772400" cy="767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Key Insights</a:t>
          </a:r>
          <a:endParaRPr lang="en-US" sz="32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7467" y="1470266"/>
        <a:ext cx="7697466" cy="692586"/>
      </dsp:txXfrm>
    </dsp:sp>
    <dsp:sp modelId="{9068952F-7E79-4348-811B-FAADFD65556B}">
      <dsp:nvSpPr>
        <dsp:cNvPr id="0" name=""/>
        <dsp:cNvSpPr/>
      </dsp:nvSpPr>
      <dsp:spPr>
        <a:xfrm>
          <a:off x="0" y="2200319"/>
          <a:ext cx="7772400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quality strongly impacts results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ML is more reliable for structured tasks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LLM performance depends on prompt design </a:t>
          </a:r>
        </a:p>
      </dsp:txBody>
      <dsp:txXfrm>
        <a:off x="0" y="2200319"/>
        <a:ext cx="7772400" cy="1291680"/>
      </dsp:txXfrm>
    </dsp:sp>
    <dsp:sp modelId="{A98C1C5B-574A-4518-8E2C-62B6094E43E4}">
      <dsp:nvSpPr>
        <dsp:cNvPr id="0" name=""/>
        <dsp:cNvSpPr/>
      </dsp:nvSpPr>
      <dsp:spPr>
        <a:xfrm>
          <a:off x="0" y="3491999"/>
          <a:ext cx="7772400" cy="767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Limitations</a:t>
          </a:r>
          <a:endParaRPr lang="en-US" sz="32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7467" y="3529466"/>
        <a:ext cx="7697466" cy="692586"/>
      </dsp:txXfrm>
    </dsp:sp>
    <dsp:sp modelId="{8F29B89B-B912-472C-94CF-76FB081D1D58}">
      <dsp:nvSpPr>
        <dsp:cNvPr id="0" name=""/>
        <dsp:cNvSpPr/>
      </dsp:nvSpPr>
      <dsp:spPr>
        <a:xfrm>
          <a:off x="0" y="4259520"/>
          <a:ext cx="7772400" cy="129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bias / size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generalization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LLM variability </a:t>
          </a:r>
        </a:p>
      </dsp:txBody>
      <dsp:txXfrm>
        <a:off x="0" y="4259520"/>
        <a:ext cx="7772400" cy="1291680"/>
      </dsp:txXfrm>
    </dsp:sp>
    <dsp:sp modelId="{AB2682BC-C21A-4072-8D08-112CFC358897}">
      <dsp:nvSpPr>
        <dsp:cNvPr id="0" name=""/>
        <dsp:cNvSpPr/>
      </dsp:nvSpPr>
      <dsp:spPr>
        <a:xfrm>
          <a:off x="0" y="5551200"/>
          <a:ext cx="7772400" cy="767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Future Work</a:t>
          </a:r>
          <a:endParaRPr lang="en-US" sz="32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7467" y="5588667"/>
        <a:ext cx="7697466" cy="692586"/>
      </dsp:txXfrm>
    </dsp:sp>
    <dsp:sp modelId="{B12CA236-17C1-413E-BD96-1AA7BFEDE173}">
      <dsp:nvSpPr>
        <dsp:cNvPr id="0" name=""/>
        <dsp:cNvSpPr/>
      </dsp:nvSpPr>
      <dsp:spPr>
        <a:xfrm>
          <a:off x="0" y="6318720"/>
          <a:ext cx="7772400" cy="8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Improve features and data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Refine prompts / models </a:t>
          </a:r>
        </a:p>
      </dsp:txBody>
      <dsp:txXfrm>
        <a:off x="0" y="6318720"/>
        <a:ext cx="7772400" cy="861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A69A9C-1087-184F-8370-423E175D9D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90E3D-F5E5-0D40-B323-A25B85CF9E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50B8-2EF8-564F-AE86-D84E6C503530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3AA97-2F38-5340-B685-1E0EA3E358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732F3-25A6-284F-A24C-5FD21AE6BE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8BA3-E235-9946-9A4D-07E907F68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00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C8D20-1945-7145-91A2-3D134BDA25E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104DB-87CA-D64F-AB86-DB2520DD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5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Image: Abstract Data Visualization – Stock Photo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61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 The problem we addressed is [problem], which leads to [impact].</a:t>
            </a:r>
            <a:br>
              <a:rPr lang="en-US"/>
            </a:br>
            <a:r>
              <a:rPr lang="en-US"/>
              <a:t>Our goal was to build a model that can [task].</a:t>
            </a:r>
            <a:br>
              <a:rPr lang="en-US"/>
            </a:br>
            <a:r>
              <a:rPr lang="en-US"/>
              <a:t>We defined success using [metric], while also ensuring results were consistent and comparable across ML and LLM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2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 We used [dataset], which includes [key features].</a:t>
            </a:r>
            <a:br>
              <a:rPr lang="en-US"/>
            </a:br>
            <a:r>
              <a:rPr lang="en-US"/>
              <a:t>However, we encountered challenges such as missing values and potential bias in [area].</a:t>
            </a:r>
            <a:br>
              <a:rPr lang="en-US"/>
            </a:br>
            <a:r>
              <a:rPr lang="en-US"/>
              <a:t>These issues directly influenced how we prepared the data and selected our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19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6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/>
              <a:t>Talking points:</a:t>
            </a:r>
          </a:p>
          <a:p>
            <a:pPr marL="171450" indent="-171450">
              <a:buFontTx/>
              <a:buChar char="-"/>
            </a:pPr>
            <a:r>
              <a:rPr lang="en-US"/>
              <a:t>Target_lag_15 has a very high feature importance for the +240 prediction horizon; I am not sure physically why this would be the case and this relationship is suspect.  </a:t>
            </a:r>
          </a:p>
          <a:p>
            <a:pPr marL="628650" lvl="1" indent="-171450">
              <a:buFontTx/>
              <a:buChar char="-"/>
            </a:pPr>
            <a:r>
              <a:rPr lang="en-US"/>
              <a:t>Probably needs more investigating to tease out what is happening and review of other engineered features.</a:t>
            </a:r>
          </a:p>
          <a:p>
            <a:pPr marL="171450" indent="-171450">
              <a:buFontTx/>
              <a:buChar char="-"/>
            </a:pPr>
            <a:r>
              <a:rPr lang="en-US"/>
              <a:t>The fact that net_flow_rolling_6h has a high feature importance is suspect because </a:t>
            </a:r>
            <a:r>
              <a:rPr lang="en-US" err="1"/>
              <a:t>cumulative_heat_input</a:t>
            </a:r>
            <a:r>
              <a:rPr lang="en-US"/>
              <a:t> (which also includes flow) has the same feature importance across each prediction horizon – this shows that the prediction horizon doesn’t matter at the injector to predict what is happening at the producing wells.  </a:t>
            </a:r>
          </a:p>
          <a:p>
            <a:pPr marL="628650" lvl="1" indent="-171450">
              <a:buFontTx/>
              <a:buChar char="-"/>
            </a:pPr>
            <a:r>
              <a:rPr lang="en-US"/>
              <a:t>Probably needs more investigating and refinement to tease out what is happening here.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82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 We then used an LLM to perform the same task. We designed prompts with structured outputs and used few-shot examples to improve consistency. The LLM achieved [metric] of [value].It handled flexible inputs well, but we observed issues like inconsistent formatting and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16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3BC3-CC7E-7FE4-6E1B-FC2EE88C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BEAEF-A798-D3FD-350B-B7D545C34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33605-F685-1CE5-F09E-023FD0622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 This slide highlights the key tradeoffs. </a:t>
            </a:r>
          </a:p>
          <a:p>
            <a:r>
              <a:rPr lang="en-US"/>
              <a:t>The ML model achieved higher accuracy and consistency, making it more reliable for structured predictions. The LLM is more flexible and faster to prototype, but less consistent. </a:t>
            </a:r>
          </a:p>
          <a:p>
            <a:r>
              <a:rPr lang="en-US"/>
              <a:t>So the key takeaway is: ML is better for control and reliability, while LLM is better for flexibility and rapid development.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3695F-A7DA-2D17-3D49-94C7EAC26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04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Notes:</a:t>
            </a:r>
          </a:p>
          <a:p>
            <a:r>
              <a:rPr lang="en-US" b="0"/>
              <a:t>Here’s a quick look at our system.</a:t>
            </a:r>
          </a:p>
          <a:p>
            <a:r>
              <a:rPr lang="en-US" b="0"/>
              <a:t>[Walk through demo briefly]</a:t>
            </a:r>
          </a:p>
          <a:p>
            <a:r>
              <a:rPr lang="en-US" b="0"/>
              <a:t>From this project, we learned that data quality is critical, ML models are more reliable for structured tasks, and LLM performance depends heavily on prompt design.</a:t>
            </a:r>
          </a:p>
          <a:p>
            <a:r>
              <a:rPr lang="en-US" b="0"/>
              <a:t>Some limitations include [bias, data size, variability].</a:t>
            </a:r>
          </a:p>
          <a:p>
            <a:r>
              <a:rPr lang="en-US" b="0"/>
              <a:t>In the future, we would improve this by [next steps].</a:t>
            </a:r>
          </a:p>
          <a:p>
            <a:r>
              <a:rPr lang="en-US" b="0"/>
              <a:t>Overall, this project demonstrates how AI can be applied to [real-world impact].</a:t>
            </a:r>
          </a:p>
          <a:p>
            <a:r>
              <a:rPr lang="en-US" b="0"/>
              <a:t>Thank you—happy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92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Plain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36B83B-A5E4-524E-96A9-DFC12D58F12A}"/>
              </a:ext>
            </a:extLst>
          </p:cNvPr>
          <p:cNvSpPr/>
          <p:nvPr userDrawn="1"/>
        </p:nvSpPr>
        <p:spPr>
          <a:xfrm>
            <a:off x="914400" y="0"/>
            <a:ext cx="54864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DF1AC-1D08-B945-A034-B740A35902F9}"/>
              </a:ext>
            </a:extLst>
          </p:cNvPr>
          <p:cNvSpPr txBox="1"/>
          <p:nvPr userDrawn="1"/>
        </p:nvSpPr>
        <p:spPr>
          <a:xfrm>
            <a:off x="1371600" y="7543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rgbClr val="616265">
                    <a:alpha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PNNL is operated by Battelle for the U.S. Department of Energy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743200"/>
            <a:ext cx="4572000" cy="1828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4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061D5F4-8719-384B-945C-9A27060F99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0529" y="5669280"/>
            <a:ext cx="4572000" cy="2743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r">
              <a:buNone/>
              <a:defRPr sz="18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/>
              <a:t>Click to add presenter’s name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3E2D432E-6648-6643-9C6E-38B1EFF5EE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5983356"/>
            <a:ext cx="4572000" cy="2743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r">
              <a:buNone/>
              <a:defRPr sz="1600">
                <a:solidFill>
                  <a:srgbClr val="61626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/>
              <a:t>Click to add presenter’s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5389B-4BB4-1644-9B7E-35A85D0C1E3B}"/>
              </a:ext>
            </a:extLst>
          </p:cNvPr>
          <p:cNvSpPr txBox="1"/>
          <p:nvPr userDrawn="1"/>
        </p:nvSpPr>
        <p:spPr>
          <a:xfrm>
            <a:off x="3710609" y="-12457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A7D3E1-BCC3-C843-81A0-EA4EDFB445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237744"/>
            <a:ext cx="1280160" cy="1249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617363-F73D-B74F-9647-C9D747AC70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420790" y="7188454"/>
            <a:ext cx="1005840" cy="2886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90C8FB-601C-A04C-84F7-213A857D3E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81865" y="7255063"/>
            <a:ext cx="929809" cy="155448"/>
          </a:xfrm>
          <a:prstGeom prst="rect">
            <a:avLst/>
          </a:prstGeom>
        </p:spPr>
      </p:pic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9D9DB338-5D5C-4ACA-9ECF-C3E34C441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51641" y="4915645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4F8E3-4ED9-44B4-99E6-8A3D2CF8D415}" type="datetime4">
              <a:rPr lang="en-US" smtClean="0"/>
              <a:t>April 23, 2026</a:t>
            </a:fld>
            <a:endParaRPr lang="en-US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F55B65E8-4040-44D0-A4FE-A050FD948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9037" y="773011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05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6026595-8D7E-D24C-9263-B65316A326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0800" y="457200"/>
            <a:ext cx="7772400" cy="73152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338E046-DF9E-FC49-A812-491AB80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D0CE8D1-2F12-5A44-A6B5-2CD466F52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6858000"/>
            <a:ext cx="77724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9B87A2-8960-403D-AE0D-D54946272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2295525"/>
            <a:ext cx="4572001" cy="1590675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29354FF4-9871-4E1B-A45A-ABAA2BE2B69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394459" y="4373033"/>
            <a:ext cx="4572000" cy="3429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822960" indent="-274320">
              <a:buFont typeface="Wingdings" panose="05000000000000000000" pitchFamily="2" charset="2"/>
              <a:buChar char="§"/>
              <a:defRPr sz="2400"/>
            </a:lvl2pPr>
            <a:lvl3pPr marL="1371600" indent="-274320">
              <a:buFont typeface="Wingdings" panose="05000000000000000000" pitchFamily="2" charset="2"/>
              <a:buChar char="ü"/>
              <a:defRPr sz="2000"/>
            </a:lvl3pPr>
            <a:lvl4pPr>
              <a:defRPr sz="1800"/>
            </a:lvl4pPr>
            <a:lvl5pPr marL="2468880" indent="-27432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47EFCEB6-2E27-4C42-A1E5-AC8A8BA83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A86FAFB9-0DC0-4AB0-9E8B-6EC7C8ABA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28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338E046-DF9E-FC49-A812-491AB80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0C408BC-A7DE-4A08-AD26-56414D2DD80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0642" y="457199"/>
            <a:ext cx="7772400" cy="7315200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960" indent="-27432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274320">
              <a:buFont typeface="Wingdings" panose="05000000000000000000" pitchFamily="2" charset="2"/>
              <a:buChar char="ü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68880" indent="-27432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3C58F0F-5237-4527-BB8E-6EEF623543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394459" y="4373033"/>
            <a:ext cx="4572000" cy="3429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822960" indent="-274320">
              <a:buFont typeface="Wingdings" panose="05000000000000000000" pitchFamily="2" charset="2"/>
              <a:buChar char="§"/>
              <a:defRPr sz="2400"/>
            </a:lvl2pPr>
            <a:lvl3pPr marL="1371600" indent="-274320">
              <a:buFont typeface="Wingdings" panose="05000000000000000000" pitchFamily="2" charset="2"/>
              <a:buChar char="ü"/>
              <a:defRPr sz="2000"/>
            </a:lvl3pPr>
            <a:lvl4pPr>
              <a:defRPr sz="1800"/>
            </a:lvl4pPr>
            <a:lvl5pPr marL="2468880" indent="-27432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">
            <a:extLst>
              <a:ext uri="{FF2B5EF4-FFF2-40B4-BE49-F238E27FC236}">
                <a16:creationId xmlns:a16="http://schemas.microsoft.com/office/drawing/2014/main" id="{33D0FD2D-15F4-4320-9C04-2023CAB47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08FBEF60-4239-4E67-A385-B22B813AD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7614967-FAA9-4DA9-B7DE-539AA8923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2295525"/>
            <a:ext cx="4572001" cy="1590675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990347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6EEDE-6486-774B-B0E3-751BBA42CE35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1406DC-BAEC-4717-8F68-46C92F166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70933"/>
            <a:ext cx="10972800" cy="1310979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28E3363-7137-4431-9927-3AE087A5B2B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2057399"/>
            <a:ext cx="12801600" cy="5486401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960" indent="-27432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274320">
              <a:buFont typeface="Wingdings" panose="05000000000000000000" pitchFamily="2" charset="2"/>
              <a:buChar char="ü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68880" indent="-27432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76F451D-D169-4CA9-91EE-97F19A35C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A19F790-0343-4862-A140-1B409986B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92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Pictur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0800" y="4572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D00854A-4EC7-2D48-A025-5B0B48548B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515600" y="4572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67A8C708-D197-CF47-8089-89928BE1E3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00800" y="43434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C4D2EBC-B863-FD49-A9DF-1381563078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5600" y="43434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93B472-4A32-7C41-A565-485FDC3EB8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29718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9F7807A-D120-BD49-9CBD-9174F26D79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0800" y="68580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8ED17FC-CAF8-9A40-9A88-897DEF9CF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15600" y="29718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A16FA60-8BA9-8B4A-86AA-F8336C26C7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15600" y="68580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7DC2EC3E-C641-FD49-9F15-878B1AFFFD9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648737A-DE0E-48DB-87F0-65418715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2295525"/>
            <a:ext cx="4572001" cy="1590675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97DA340F-6103-4F2C-B3B8-8D8A524DC1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394459" y="4373033"/>
            <a:ext cx="4572000" cy="3429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822960" indent="-274320">
              <a:buFont typeface="Wingdings" panose="05000000000000000000" pitchFamily="2" charset="2"/>
              <a:buChar char="§"/>
              <a:defRPr sz="2400"/>
            </a:lvl2pPr>
            <a:lvl3pPr marL="1371600" indent="-274320">
              <a:buFont typeface="Wingdings" panose="05000000000000000000" pitchFamily="2" charset="2"/>
              <a:buChar char="ü"/>
              <a:defRPr sz="2000"/>
            </a:lvl3pPr>
            <a:lvl4pPr>
              <a:defRPr sz="1800"/>
            </a:lvl4pPr>
            <a:lvl5pPr marL="2468880" indent="-27432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1">
            <a:extLst>
              <a:ext uri="{FF2B5EF4-FFF2-40B4-BE49-F238E27FC236}">
                <a16:creationId xmlns:a16="http://schemas.microsoft.com/office/drawing/2014/main" id="{EE384947-F0AD-4E73-95AD-CAD4DEE44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8259C4D6-850D-4393-9434-3F69451FB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2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icture Grid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0" y="539496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E341CF1-EFF3-A64D-A9D4-B96C8CD8F3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74320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0629C78-28FC-874B-96C1-DFAAFF975D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7860" y="539496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089EEED-3863-BD48-BCCB-4D264015DA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860" y="274320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EF5B44F-191D-F44D-8AB3-0B9E4AF4B4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04120" y="539496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26442AE-D905-374C-9CB4-1A1F44C08C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04120" y="274320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BE105C-2ECB-0B46-923F-378B0A5AEB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1600" y="429768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B0900D4-1543-834B-AE27-9A72FD91B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160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64FB6B4-B0C6-5949-9F2B-7BCB7B2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7860" y="429768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DD81E0-346D-A544-A838-A6991588A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786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DB91CB5-0E93-FA44-9508-60493542C7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104120" y="429768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2F736B8-F799-F047-BE4E-297E64A75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412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83198DF-9C78-DD40-9CE1-2BC11B888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E0A6ECC-C9D0-4240-B978-69D09F2C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70933"/>
            <a:ext cx="10972800" cy="1310979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0" name="Date Placeholder 1">
            <a:extLst>
              <a:ext uri="{FF2B5EF4-FFF2-40B4-BE49-F238E27FC236}">
                <a16:creationId xmlns:a16="http://schemas.microsoft.com/office/drawing/2014/main" id="{E4CF0CE7-333F-4604-B518-6F7EE2AA8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1" name="Footer Placeholder 2">
            <a:extLst>
              <a:ext uri="{FF2B5EF4-FFF2-40B4-BE49-F238E27FC236}">
                <a16:creationId xmlns:a16="http://schemas.microsoft.com/office/drawing/2014/main" id="{21303C4E-FB0C-4A46-BF34-C99D885AA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Content Placeholder 4">
            <a:extLst>
              <a:ext uri="{FF2B5EF4-FFF2-40B4-BE49-F238E27FC236}">
                <a16:creationId xmlns:a16="http://schemas.microsoft.com/office/drawing/2014/main" id="{C14080C3-5390-4F4E-9C88-2C080B5CE5D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371600" y="2194560"/>
            <a:ext cx="12801600" cy="525886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960" indent="-27432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274320">
              <a:buFont typeface="Wingdings" panose="05000000000000000000" pitchFamily="2" charset="2"/>
              <a:buChar char="ü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68880" indent="-27432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81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ictur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0" y="5060515"/>
            <a:ext cx="4069080" cy="271188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E341CF1-EFF3-A64D-A9D4-B96C8CD8F3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066544"/>
            <a:ext cx="4069080" cy="271576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0629C78-28FC-874B-96C1-DFAAFF975D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7860" y="5060515"/>
            <a:ext cx="4069080" cy="271188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089EEED-3863-BD48-BCCB-4D264015DA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860" y="2066544"/>
            <a:ext cx="4069080" cy="271576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EF5B44F-191D-F44D-8AB3-0B9E4AF4B4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04120" y="5060515"/>
            <a:ext cx="4069080" cy="271188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26442AE-D905-374C-9CB4-1A1F44C08C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04120" y="2066544"/>
            <a:ext cx="4069080" cy="271576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BE105C-2ECB-0B46-923F-378B0A5AEB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1600" y="3959352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B0900D4-1543-834B-AE27-9A72FD91B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160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64FB6B4-B0C6-5949-9F2B-7BCB7B2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7860" y="3959352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DD81E0-346D-A544-A838-A6991588A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786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DB91CB5-0E93-FA44-9508-60493542C7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104120" y="3959352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2F736B8-F799-F047-BE4E-297E64A75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412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83198DF-9C78-DD40-9CE1-2BC11B888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1">
            <a:extLst>
              <a:ext uri="{FF2B5EF4-FFF2-40B4-BE49-F238E27FC236}">
                <a16:creationId xmlns:a16="http://schemas.microsoft.com/office/drawing/2014/main" id="{68F188F7-153E-49D5-8DFC-190252047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578EF931-9BED-4D2C-8850-F588C3E36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B7AD090-7EA2-424E-A15B-B80A20326A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70933"/>
            <a:ext cx="10972800" cy="1310979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82923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6EEDE-6486-774B-B0E3-751BBA42CE35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28E1ED-1888-403E-AAF0-8053EF9DF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EE7B1-A6C1-4E39-8665-A73ED03F32E1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27E8059-8EC0-42A2-8A9E-251427CDC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45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/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6D1A4-6DD7-B54C-AB7B-63074374BB93}"/>
              </a:ext>
            </a:extLst>
          </p:cNvPr>
          <p:cNvSpPr txBox="1"/>
          <p:nvPr userDrawn="1"/>
        </p:nvSpPr>
        <p:spPr>
          <a:xfrm>
            <a:off x="1371600" y="2057400"/>
            <a:ext cx="4572000" cy="54864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62A8373-42F9-431F-865E-129CCA004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7" y="7772400"/>
            <a:ext cx="547155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65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29221F-20F2-144C-A638-0A6C756C26C9}"/>
              </a:ext>
            </a:extLst>
          </p:cNvPr>
          <p:cNvSpPr/>
          <p:nvPr userDrawn="1"/>
        </p:nvSpPr>
        <p:spPr>
          <a:xfrm>
            <a:off x="914400" y="0"/>
            <a:ext cx="54864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88D28A-E737-5049-8A98-3AC3A6EA2CD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371600" y="237744"/>
            <a:ext cx="1280160" cy="124922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AA279-64AD-4C24-987C-D056E5350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9037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0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D0D9-1CAC-4FBD-8120-CBD5A07EB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945219"/>
            <a:ext cx="4572000" cy="1828800"/>
          </a:xfrm>
        </p:spPr>
        <p:txBody>
          <a:bodyPr/>
          <a:lstStyle/>
          <a:p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Evaluation of Deep Geothermal Reservoir Potential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86310-1A8B-41C6-8ABF-4E94922462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</a:t>
            </a:r>
            <a:r>
              <a:rPr lang="en-US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ByteMe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696A4F-5314-46CD-B205-CC2D44570D6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E130ED9-0C27-4EF1-9F86-D29E4EA507BE}" type="datetime4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April 23, 2026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0D8098E-28A2-E13C-F122-887DC5A71E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265"/>
          <a:stretch>
            <a:fillRect/>
          </a:stretch>
        </p:blipFill>
        <p:spPr>
          <a:xfrm>
            <a:off x="3062839" y="1318546"/>
            <a:ext cx="2915931" cy="160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54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BD2FD-1A79-4E55-9458-9294D45B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7A4BB3-E848-5A44-82DF-322201952CD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912E2371-C8AA-AC9E-6BDA-33A2FFA7878B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3503834368"/>
              </p:ext>
            </p:extLst>
          </p:nvPr>
        </p:nvGraphicFramePr>
        <p:xfrm>
          <a:off x="3111500" y="292100"/>
          <a:ext cx="10882796" cy="7708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58710428-B196-82DE-6DCB-0B4364301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A9FF62-73E7-0FF4-613A-977F811297D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796" t="28196" r="45322" b="27469"/>
          <a:stretch>
            <a:fillRect/>
          </a:stretch>
        </p:blipFill>
        <p:spPr>
          <a:xfrm>
            <a:off x="8674100" y="4940299"/>
            <a:ext cx="1550539" cy="3004167"/>
          </a:xfrm>
          <a:prstGeom prst="rect">
            <a:avLst/>
          </a:prstGeom>
        </p:spPr>
      </p:pic>
      <p:pic>
        <p:nvPicPr>
          <p:cNvPr id="9" name="Picture 2" descr="EGSSURF">
            <a:extLst>
              <a:ext uri="{FF2B5EF4-FFF2-40B4-BE49-F238E27FC236}">
                <a16:creationId xmlns:a16="http://schemas.microsoft.com/office/drawing/2014/main" id="{1D3169CD-CCE6-81EF-C39A-EC8125AE6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639" y="4940300"/>
            <a:ext cx="3996268" cy="2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6F1170-5E50-CC4D-6DA0-3F41A9052784}"/>
              </a:ext>
            </a:extLst>
          </p:cNvPr>
          <p:cNvSpPr txBox="1"/>
          <p:nvPr/>
        </p:nvSpPr>
        <p:spPr>
          <a:xfrm>
            <a:off x="6614237" y="7891046"/>
            <a:ext cx="9540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https://www.pnnl.gov/news-media/surfing-underground-test-geothermal-energy-potential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C2D83C-39EA-491B-67AD-C10757C97588}"/>
              </a:ext>
            </a:extLst>
          </p:cNvPr>
          <p:cNvSpPr txBox="1"/>
          <p:nvPr/>
        </p:nvSpPr>
        <p:spPr>
          <a:xfrm>
            <a:off x="3111500" y="266700"/>
            <a:ext cx="1029970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the temporal evolution of temperature and flow in a multi-well fracture thermal energy storage (FTES)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4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DBE0F3-60C4-4D75-B1FC-C0F4D46B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7A4BB3-E848-5A44-82DF-322201952CD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76ADE9-B85B-471B-9A97-17044AC9D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1640" y="480646"/>
            <a:ext cx="3710176" cy="1053241"/>
          </a:xfrm>
        </p:spPr>
        <p:txBody>
          <a:bodyPr anchor="b">
            <a:normAutofit fontScale="90000"/>
          </a:bodyPr>
          <a:lstStyle/>
          <a:p>
            <a:r>
              <a:rPr lang="en-US"/>
              <a:t>Data Overview &amp; Challenges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9A30787-ADC0-F60E-31ED-51B43288EB07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3408868381"/>
              </p:ext>
            </p:extLst>
          </p:nvPr>
        </p:nvGraphicFramePr>
        <p:xfrm>
          <a:off x="6675119" y="826475"/>
          <a:ext cx="7772400" cy="731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B0AD8A-3076-325E-4A5A-B1C063350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202090"/>
              </p:ext>
            </p:extLst>
          </p:nvPr>
        </p:nvGraphicFramePr>
        <p:xfrm>
          <a:off x="234461" y="2356666"/>
          <a:ext cx="6160476" cy="4546085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{85BE263C-DBD7-4A20-BB59-AAB30ACAA65A}</a:tableStyleId>
              </a:tblPr>
              <a:tblGrid>
                <a:gridCol w="1617785">
                  <a:extLst>
                    <a:ext uri="{9D8B030D-6E8A-4147-A177-3AD203B41FA5}">
                      <a16:colId xmlns:a16="http://schemas.microsoft.com/office/drawing/2014/main" val="3959022395"/>
                    </a:ext>
                  </a:extLst>
                </a:gridCol>
                <a:gridCol w="1430499">
                  <a:extLst>
                    <a:ext uri="{9D8B030D-6E8A-4147-A177-3AD203B41FA5}">
                      <a16:colId xmlns:a16="http://schemas.microsoft.com/office/drawing/2014/main" val="3268217465"/>
                    </a:ext>
                  </a:extLst>
                </a:gridCol>
                <a:gridCol w="3112192">
                  <a:extLst>
                    <a:ext uri="{9D8B030D-6E8A-4147-A177-3AD203B41FA5}">
                      <a16:colId xmlns:a16="http://schemas.microsoft.com/office/drawing/2014/main" val="2781898908"/>
                    </a:ext>
                  </a:extLst>
                </a:gridCol>
              </a:tblGrid>
              <a:tr h="4166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Column name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7743" marR="277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Plain name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7743" marR="277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What it tells the model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7743" marR="27743" marT="0" marB="0"/>
                </a:tc>
                <a:extLst>
                  <a:ext uri="{0D108BD9-81ED-4DB2-BD59-A6C34878D82A}">
                    <a16:rowId xmlns:a16="http://schemas.microsoft.com/office/drawing/2014/main" val="2814709756"/>
                  </a:ext>
                </a:extLst>
              </a:tr>
              <a:tr h="1699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elapsed_injection_min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7743" marR="277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Minutes since injection start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7743" marR="277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How many minutes have passed since hot-water injection began on Dec 13? Early in the experiment the rock is cold and far from equilibrium; later it has been charged with heat and behaves differently. This feature gives the model a sense of "where we are" in the experiment.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7743" marR="27743" marT="0" marB="0"/>
                </a:tc>
                <a:extLst>
                  <a:ext uri="{0D108BD9-81ED-4DB2-BD59-A6C34878D82A}">
                    <a16:rowId xmlns:a16="http://schemas.microsoft.com/office/drawing/2014/main" val="2084146281"/>
                  </a:ext>
                </a:extLst>
              </a:tr>
              <a:tr h="17445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cumulative_heat_input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7743" marR="277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Running total of heat delivered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7743" marR="277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 running sum of (flow rate × injection temperature × time step) since injection began. Think of it as the odometer of heat delivered. Units are °C·L·s. This is more physically correct than just counting liters pumped, because 60 °C water carries more thermal energy than 40 °C water at the same flow rate.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7743" marR="27743" marT="0" marB="0"/>
                </a:tc>
                <a:extLst>
                  <a:ext uri="{0D108BD9-81ED-4DB2-BD59-A6C34878D82A}">
                    <a16:rowId xmlns:a16="http://schemas.microsoft.com/office/drawing/2014/main" val="36027569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DB6E9A-8069-70B4-C8D4-80AE914297C9}"/>
              </a:ext>
            </a:extLst>
          </p:cNvPr>
          <p:cNvSpPr txBox="1"/>
          <p:nvPr/>
        </p:nvSpPr>
        <p:spPr>
          <a:xfrm>
            <a:off x="890954" y="6902751"/>
            <a:ext cx="550398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i="1"/>
              <a:t>Exemplar engineered features based on thermal state of system</a:t>
            </a:r>
          </a:p>
        </p:txBody>
      </p:sp>
    </p:spTree>
    <p:extLst>
      <p:ext uri="{BB962C8B-B14F-4D97-AF65-F5344CB8AC3E}">
        <p14:creationId xmlns:p14="http://schemas.microsoft.com/office/powerpoint/2010/main" val="170969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9060D6-F699-7A34-FAA8-F94FF766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EA751-5139-B102-4DBD-43221D9182FE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/>
              <a:t>Data Preparation</a:t>
            </a:r>
          </a:p>
          <a:p>
            <a:r>
              <a:rPr lang="en-US"/>
              <a:t>Engineered features: cumulative heat input, elapsed injection time, rolling net flow, thermal gradient and temperature-difference features, cyclical hour features, and </a:t>
            </a:r>
            <a:r>
              <a:rPr lang="en-US" b="1"/>
              <a:t>lagged target/flow variables at 15, 30, and 60 steps</a:t>
            </a:r>
            <a:r>
              <a:rPr lang="en-US"/>
              <a:t>.</a:t>
            </a:r>
          </a:p>
          <a:p>
            <a:r>
              <a:rPr lang="en-US"/>
              <a:t>Targets were framed as multi-horizon forecasts of </a:t>
            </a:r>
            <a:r>
              <a:rPr lang="en-US" b="1"/>
              <a:t>temperature change (delta) </a:t>
            </a:r>
            <a:r>
              <a:rPr lang="en-US"/>
              <a:t>at 15, 60, 240, and 1440 steps ahead.</a:t>
            </a:r>
          </a:p>
          <a:p>
            <a:pPr marL="0" indent="0">
              <a:buNone/>
            </a:pPr>
            <a:r>
              <a:rPr lang="en-US" sz="3200" b="1"/>
              <a:t>Workflow</a:t>
            </a:r>
            <a:endParaRPr lang="en-US" b="1"/>
          </a:p>
          <a:p>
            <a:r>
              <a:rPr lang="en-US"/>
              <a:t>Time-based </a:t>
            </a:r>
            <a:r>
              <a:rPr lang="en-US" b="1"/>
              <a:t>train / validation / test </a:t>
            </a:r>
            <a:r>
              <a:rPr lang="en-US"/>
              <a:t>split to preserve sequence structure</a:t>
            </a:r>
          </a:p>
          <a:p>
            <a:r>
              <a:rPr lang="en-US"/>
              <a:t>Hyperparameter tuning was performed with a </a:t>
            </a:r>
            <a:r>
              <a:rPr lang="en-US" b="1"/>
              <a:t>10-iteration random search </a:t>
            </a:r>
            <a:r>
              <a:rPr lang="en-US"/>
              <a:t>over model-specific settings such as tree depth, estimators, learning rate, hidden size, number of layers, and transformer heads.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7BBC2-C583-9EC0-5808-7921003E63A6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Multiple model families combining </a:t>
            </a:r>
            <a:r>
              <a:rPr lang="en-US" b="1"/>
              <a:t>interpretable</a:t>
            </a:r>
            <a:r>
              <a:rPr lang="en-US"/>
              <a:t> </a:t>
            </a:r>
            <a:r>
              <a:rPr lang="en-US" b="1"/>
              <a:t>ML</a:t>
            </a:r>
            <a:r>
              <a:rPr lang="en-US"/>
              <a:t> models and </a:t>
            </a:r>
            <a:r>
              <a:rPr lang="en-US" b="1"/>
              <a:t>DL</a:t>
            </a:r>
            <a:r>
              <a:rPr lang="en-US"/>
              <a:t> </a:t>
            </a:r>
            <a:r>
              <a:rPr lang="en-US" b="1"/>
              <a:t>sequence</a:t>
            </a:r>
            <a:r>
              <a:rPr lang="en-US"/>
              <a:t> models:</a:t>
            </a:r>
          </a:p>
          <a:p>
            <a:r>
              <a:rPr lang="en-US"/>
              <a:t>Multi-output Random Forest, Multi-output </a:t>
            </a:r>
            <a:r>
              <a:rPr lang="en-US" err="1"/>
              <a:t>XGBoost</a:t>
            </a:r>
            <a:r>
              <a:rPr lang="en-US"/>
              <a:t>, MLP, LSTM, and Transformer.</a:t>
            </a:r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A64B0D-0887-2F81-1390-94A7C39C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ML approach overview</a:t>
            </a:r>
          </a:p>
        </p:txBody>
      </p:sp>
    </p:spTree>
    <p:extLst>
      <p:ext uri="{BB962C8B-B14F-4D97-AF65-F5344CB8AC3E}">
        <p14:creationId xmlns:p14="http://schemas.microsoft.com/office/powerpoint/2010/main" val="26973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54A0C0-210A-7BE3-7CF4-41A13796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799D5E-3981-6EB9-1407-F662178E4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41D590-8E53-7C7F-EFED-DF35285CB67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218261" y="4362599"/>
            <a:ext cx="12954939" cy="3596068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/>
              <a:t>Short horizon (15m)</a:t>
            </a:r>
            <a:r>
              <a:rPr lang="en-US" sz="2400"/>
              <a:t>: The Persistent baseline and MLP are effectively tied for best performance, with MSE near 0.000231 and R² near 0.9852.</a:t>
            </a:r>
          </a:p>
          <a:p>
            <a:r>
              <a:rPr lang="en-US" sz="2400" b="1"/>
              <a:t>Medium horizon (60m)</a:t>
            </a:r>
            <a:r>
              <a:rPr lang="en-US" sz="2400"/>
              <a:t>: The Transformer delivers the best overall result, but only by a very small margin over the Persistent baseline and MLP.</a:t>
            </a:r>
          </a:p>
          <a:p>
            <a:r>
              <a:rPr lang="en-US" sz="2400" b="1"/>
              <a:t>Intermediate horizon (240m)</a:t>
            </a:r>
            <a:r>
              <a:rPr lang="en-US" sz="2400"/>
              <a:t>: The MLP is the strongest model, with the best MSE (0.000240) and best R² (0.9846).</a:t>
            </a:r>
          </a:p>
          <a:p>
            <a:r>
              <a:rPr lang="en-US" sz="2400" b="1"/>
              <a:t>Long horizon (1440m)</a:t>
            </a:r>
            <a:r>
              <a:rPr lang="en-US" sz="2400"/>
              <a:t>: Multi-</a:t>
            </a:r>
            <a:r>
              <a:rPr lang="en-US" sz="2400" err="1"/>
              <a:t>XGBoost</a:t>
            </a:r>
            <a:r>
              <a:rPr lang="en-US" sz="2400"/>
              <a:t> performs best, reaching the lowest MSE (0.028087) and highest R² (0.1787), though the Persistent baseline remains very competitive.</a:t>
            </a:r>
          </a:p>
          <a:p>
            <a:r>
              <a:rPr lang="en-US" sz="2400" b="1"/>
              <a:t>LSTM</a:t>
            </a:r>
            <a:r>
              <a:rPr lang="en-US" sz="2400"/>
              <a:t>: Performs well at short horizons but degrades noticeably at 240m relative to the other models.</a:t>
            </a:r>
          </a:p>
          <a:p>
            <a:r>
              <a:rPr lang="en-US" sz="2400" b="1"/>
              <a:t>Overall takeaway</a:t>
            </a:r>
            <a:r>
              <a:rPr lang="en-US" sz="2400"/>
              <a:t>: All methods perform strongly through 240m, but 1440m forecasting remains substantially harder and only slightly better than the naive persistence baseline.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45A6A1-3AF8-35D2-91B6-340081006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749" y="394919"/>
            <a:ext cx="12234268" cy="358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65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C9AACE-4CEA-C449-B858-9E1F6AFAD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631BE7-3CE1-D73D-951E-A50B9EA6E27D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404B8B-BFEC-9593-8B87-3FE656D096A7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/>
              <a:t>Predicting </a:t>
            </a:r>
            <a:r>
              <a:rPr lang="en-US" b="1"/>
              <a:t>temperature change (delta)</a:t>
            </a:r>
            <a:r>
              <a:rPr lang="en-US"/>
              <a:t> addresses out of distribution issue in this data with </a:t>
            </a:r>
            <a:r>
              <a:rPr lang="en-US" b="1"/>
              <a:t>trend.</a:t>
            </a:r>
          </a:p>
          <a:p>
            <a:r>
              <a:rPr lang="en-US" b="1"/>
              <a:t>Shift of importance </a:t>
            </a:r>
            <a:r>
              <a:rPr lang="en-US"/>
              <a:t>in features for predicting different time horizon</a:t>
            </a:r>
          </a:p>
          <a:p>
            <a:pPr marL="548640" lvl="1" indent="0">
              <a:buNone/>
            </a:pP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C88EB1-9E24-CE99-EDA2-5A9841AD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Visuals and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1F5F4-51DC-B921-D601-EC258950B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36" y="3429249"/>
            <a:ext cx="7543411" cy="4800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AAB34E-519F-C29B-963D-42CF69AD1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641" y="98221"/>
            <a:ext cx="7772400" cy="33310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92F0C4-BEFC-B6EA-F4B5-D55E37FFFD0A}"/>
              </a:ext>
            </a:extLst>
          </p:cNvPr>
          <p:cNvSpPr txBox="1"/>
          <p:nvPr/>
        </p:nvSpPr>
        <p:spPr>
          <a:xfrm>
            <a:off x="9035512" y="1941582"/>
            <a:ext cx="5167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/>
              <a:t>Prediction error for 15min horizon; </a:t>
            </a:r>
            <a:br>
              <a:rPr lang="en-US" sz="2000"/>
            </a:br>
            <a:r>
              <a:rPr lang="en-US" sz="2000"/>
              <a:t>All models are tracking with each other well.</a:t>
            </a:r>
          </a:p>
        </p:txBody>
      </p:sp>
    </p:spTree>
    <p:extLst>
      <p:ext uri="{BB962C8B-B14F-4D97-AF65-F5344CB8AC3E}">
        <p14:creationId xmlns:p14="http://schemas.microsoft.com/office/powerpoint/2010/main" val="929475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74E6ED-CA26-5EE4-8CB5-01130049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11B2B-49CB-68A0-C2D1-B92FC2B8AD3E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Prompt-based predictions </a:t>
            </a: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outputs (JSON) </a:t>
            </a:r>
          </a:p>
          <a:p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prompt construction</a:t>
            </a:r>
          </a:p>
          <a:p>
            <a:pPr lvl="2"/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Verbose vs. compact style</a:t>
            </a:r>
          </a:p>
          <a:p>
            <a:pPr lvl="2"/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Zero-shot, few-shot (1, 5, 10, 20) </a:t>
            </a: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 auto prompt design loop</a:t>
            </a:r>
          </a:p>
          <a:p>
            <a:pPr lvl="2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model designs its own prompting strategy and iterates with feedback from the previous round</a:t>
            </a:r>
          </a:p>
          <a:p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setup overall: gemma-3-12b-it + verbose_10</a:t>
            </a:r>
          </a:p>
          <a:p>
            <a:pPr lvl="2"/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prompts outperformed auto prompts</a:t>
            </a: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MSE: 0.0002 – 0.0013</a:t>
            </a: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R2: 0.897 – 0.986</a:t>
            </a:r>
          </a:p>
          <a:p>
            <a:r>
              <a:rPr 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Inconsistent formatting </a:t>
            </a: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Hallucinations -&gt; wild predictions</a:t>
            </a: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prompts may cause model to lose track and degrade</a:t>
            </a:r>
          </a:p>
          <a:p>
            <a:pPr lvl="1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Indeterministic, even with temperature and seed set to 0</a:t>
            </a:r>
          </a:p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67EB58-95B1-26AE-E58C-6D83761E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Approach &amp; Results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EAD08C7-C65C-C67A-1B6A-072A070A4390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4019114876"/>
              </p:ext>
            </p:extLst>
          </p:nvPr>
        </p:nvGraphicFramePr>
        <p:xfrm>
          <a:off x="1201602" y="4343401"/>
          <a:ext cx="4985519" cy="3429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594">
                  <a:extLst>
                    <a:ext uri="{9D8B030D-6E8A-4147-A177-3AD203B41FA5}">
                      <a16:colId xmlns:a16="http://schemas.microsoft.com/office/drawing/2014/main" val="2110667161"/>
                    </a:ext>
                  </a:extLst>
                </a:gridCol>
                <a:gridCol w="1474975">
                  <a:extLst>
                    <a:ext uri="{9D8B030D-6E8A-4147-A177-3AD203B41FA5}">
                      <a16:colId xmlns:a16="http://schemas.microsoft.com/office/drawing/2014/main" val="959525223"/>
                    </a:ext>
                  </a:extLst>
                </a:gridCol>
                <a:gridCol w="1474975">
                  <a:extLst>
                    <a:ext uri="{9D8B030D-6E8A-4147-A177-3AD203B41FA5}">
                      <a16:colId xmlns:a16="http://schemas.microsoft.com/office/drawing/2014/main" val="2415515075"/>
                    </a:ext>
                  </a:extLst>
                </a:gridCol>
                <a:gridCol w="1474975">
                  <a:extLst>
                    <a:ext uri="{9D8B030D-6E8A-4147-A177-3AD203B41FA5}">
                      <a16:colId xmlns:a16="http://schemas.microsoft.com/office/drawing/2014/main" val="375873786"/>
                    </a:ext>
                  </a:extLst>
                </a:gridCol>
              </a:tblGrid>
              <a:tr h="4872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gemma-3-12b-it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Phi-3.5-mini-instruct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Phi-mini-MoE-instruct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ctr"/>
                </a:tc>
                <a:extLst>
                  <a:ext uri="{0D108BD9-81ED-4DB2-BD59-A6C34878D82A}">
                    <a16:rowId xmlns:a16="http://schemas.microsoft.com/office/drawing/2014/main" val="694160029"/>
                  </a:ext>
                </a:extLst>
              </a:tr>
              <a:tr h="326861">
                <a:tc rowSpan="9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|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|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|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verbose_10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extLst>
                  <a:ext uri="{0D108BD9-81ED-4DB2-BD59-A6C34878D82A}">
                    <a16:rowId xmlns:a16="http://schemas.microsoft.com/office/drawing/2014/main" val="427004791"/>
                  </a:ext>
                </a:extLst>
              </a:tr>
              <a:tr h="32686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extLst>
                  <a:ext uri="{0D108BD9-81ED-4DB2-BD59-A6C34878D82A}">
                    <a16:rowId xmlns:a16="http://schemas.microsoft.com/office/drawing/2014/main" val="3297602478"/>
                  </a:ext>
                </a:extLst>
              </a:tr>
              <a:tr h="32686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verbose_zeroshot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extLst>
                  <a:ext uri="{0D108BD9-81ED-4DB2-BD59-A6C34878D82A}">
                    <a16:rowId xmlns:a16="http://schemas.microsoft.com/office/drawing/2014/main" val="2276563786"/>
                  </a:ext>
                </a:extLst>
              </a:tr>
              <a:tr h="32686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extLst>
                  <a:ext uri="{0D108BD9-81ED-4DB2-BD59-A6C34878D82A}">
                    <a16:rowId xmlns:a16="http://schemas.microsoft.com/office/drawing/2014/main" val="1117541644"/>
                  </a:ext>
                </a:extLst>
              </a:tr>
              <a:tr h="32686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compact_zeroshot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extLst>
                  <a:ext uri="{0D108BD9-81ED-4DB2-BD59-A6C34878D82A}">
                    <a16:rowId xmlns:a16="http://schemas.microsoft.com/office/drawing/2014/main" val="3241406154"/>
                  </a:ext>
                </a:extLst>
              </a:tr>
              <a:tr h="32686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extLst>
                  <a:ext uri="{0D108BD9-81ED-4DB2-BD59-A6C34878D82A}">
                    <a16:rowId xmlns:a16="http://schemas.microsoft.com/office/drawing/2014/main" val="2319822880"/>
                  </a:ext>
                </a:extLst>
              </a:tr>
              <a:tr h="32686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compact_zeroshot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extLst>
                  <a:ext uri="{0D108BD9-81ED-4DB2-BD59-A6C34878D82A}">
                    <a16:rowId xmlns:a16="http://schemas.microsoft.com/office/drawing/2014/main" val="1310370503"/>
                  </a:ext>
                </a:extLst>
              </a:tr>
              <a:tr h="32686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verbose_zeroshot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extLst>
                  <a:ext uri="{0D108BD9-81ED-4DB2-BD59-A6C34878D82A}">
                    <a16:rowId xmlns:a16="http://schemas.microsoft.com/office/drawing/2014/main" val="3467432876"/>
                  </a:ext>
                </a:extLst>
              </a:tr>
              <a:tr h="32686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verbose_zeroshot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compact_zeroshot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075" marR="6075" marT="6075" marB="9144" anchor="b"/>
                </a:tc>
                <a:extLst>
                  <a:ext uri="{0D108BD9-81ED-4DB2-BD59-A6C34878D82A}">
                    <a16:rowId xmlns:a16="http://schemas.microsoft.com/office/drawing/2014/main" val="3617001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890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A5881-5801-4248-5377-924EAF7A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BDBEA7-14D2-E869-8CB4-FBDFA414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5E1587-ADEB-5D14-35EB-77656F35B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620" y="753762"/>
            <a:ext cx="8180174" cy="864973"/>
          </a:xfrm>
        </p:spPr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vs LLM Comparison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33370C8-B992-5708-AEA7-A67C03C6FDC5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1830327314"/>
              </p:ext>
            </p:extLst>
          </p:nvPr>
        </p:nvGraphicFramePr>
        <p:xfrm>
          <a:off x="1820034" y="2055583"/>
          <a:ext cx="11156486" cy="43619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86209">
                  <a:extLst>
                    <a:ext uri="{9D8B030D-6E8A-4147-A177-3AD203B41FA5}">
                      <a16:colId xmlns:a16="http://schemas.microsoft.com/office/drawing/2014/main" val="1934029743"/>
                    </a:ext>
                  </a:extLst>
                </a:gridCol>
                <a:gridCol w="986209">
                  <a:extLst>
                    <a:ext uri="{9D8B030D-6E8A-4147-A177-3AD203B41FA5}">
                      <a16:colId xmlns:a16="http://schemas.microsoft.com/office/drawing/2014/main" val="744936964"/>
                    </a:ext>
                  </a:extLst>
                </a:gridCol>
                <a:gridCol w="1020452">
                  <a:extLst>
                    <a:ext uri="{9D8B030D-6E8A-4147-A177-3AD203B41FA5}">
                      <a16:colId xmlns:a16="http://schemas.microsoft.com/office/drawing/2014/main" val="950369632"/>
                    </a:ext>
                  </a:extLst>
                </a:gridCol>
                <a:gridCol w="1020452">
                  <a:extLst>
                    <a:ext uri="{9D8B030D-6E8A-4147-A177-3AD203B41FA5}">
                      <a16:colId xmlns:a16="http://schemas.microsoft.com/office/drawing/2014/main" val="2532229508"/>
                    </a:ext>
                  </a:extLst>
                </a:gridCol>
                <a:gridCol w="1020452">
                  <a:extLst>
                    <a:ext uri="{9D8B030D-6E8A-4147-A177-3AD203B41FA5}">
                      <a16:colId xmlns:a16="http://schemas.microsoft.com/office/drawing/2014/main" val="3032380497"/>
                    </a:ext>
                  </a:extLst>
                </a:gridCol>
                <a:gridCol w="1020452">
                  <a:extLst>
                    <a:ext uri="{9D8B030D-6E8A-4147-A177-3AD203B41FA5}">
                      <a16:colId xmlns:a16="http://schemas.microsoft.com/office/drawing/2014/main" val="2980554624"/>
                    </a:ext>
                  </a:extLst>
                </a:gridCol>
                <a:gridCol w="1020452">
                  <a:extLst>
                    <a:ext uri="{9D8B030D-6E8A-4147-A177-3AD203B41FA5}">
                      <a16:colId xmlns:a16="http://schemas.microsoft.com/office/drawing/2014/main" val="3332349880"/>
                    </a:ext>
                  </a:extLst>
                </a:gridCol>
                <a:gridCol w="1020452">
                  <a:extLst>
                    <a:ext uri="{9D8B030D-6E8A-4147-A177-3AD203B41FA5}">
                      <a16:colId xmlns:a16="http://schemas.microsoft.com/office/drawing/2014/main" val="1182321146"/>
                    </a:ext>
                  </a:extLst>
                </a:gridCol>
                <a:gridCol w="1020452">
                  <a:extLst>
                    <a:ext uri="{9D8B030D-6E8A-4147-A177-3AD203B41FA5}">
                      <a16:colId xmlns:a16="http://schemas.microsoft.com/office/drawing/2014/main" val="111257162"/>
                    </a:ext>
                  </a:extLst>
                </a:gridCol>
                <a:gridCol w="1020452">
                  <a:extLst>
                    <a:ext uri="{9D8B030D-6E8A-4147-A177-3AD203B41FA5}">
                      <a16:colId xmlns:a16="http://schemas.microsoft.com/office/drawing/2014/main" val="285746294"/>
                    </a:ext>
                  </a:extLst>
                </a:gridCol>
                <a:gridCol w="1020452">
                  <a:extLst>
                    <a:ext uri="{9D8B030D-6E8A-4147-A177-3AD203B41FA5}">
                      <a16:colId xmlns:a16="http://schemas.microsoft.com/office/drawing/2014/main" val="3157881999"/>
                    </a:ext>
                  </a:extLst>
                </a:gridCol>
              </a:tblGrid>
              <a:tr h="3355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Horizon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MSE_Manual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R2_Manual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MSE_ML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R2_ML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MSE_Persist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R2_Persist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MSE_Auto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R2_Auto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Best_R2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3548299652"/>
                  </a:ext>
                </a:extLst>
              </a:tr>
              <a:tr h="335534">
                <a:tc rowSpan="4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gemma-3-12b-it</a:t>
                      </a: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0.000255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0.981689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0.891559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0.000338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0.97573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1.024761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-72.530774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accent1"/>
                          </a:solidFill>
                          <a:effectLst/>
                        </a:rPr>
                        <a:t>Manual LLM</a:t>
                      </a:r>
                      <a:endParaRPr lang="en-US" sz="1050" b="1" i="0" u="none" strike="noStrike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368601689"/>
                  </a:ext>
                </a:extLst>
              </a:tr>
              <a:tr h="335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60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0.000194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0.985994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0.001105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0.920094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0.000281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0.979662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1.025754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-73.203785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accent1"/>
                          </a:solidFill>
                          <a:effectLst/>
                        </a:rPr>
                        <a:t>Manual LLM</a:t>
                      </a:r>
                      <a:endParaRPr lang="en-US" sz="1050" b="1" i="0" u="none" strike="noStrike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1590697741"/>
                  </a:ext>
                </a:extLst>
              </a:tr>
              <a:tr h="335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240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0.000443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0.966926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0.001568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0.882855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0.000313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0.976638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1.025949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-75.672262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Persistence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1693796715"/>
                  </a:ext>
                </a:extLst>
              </a:tr>
              <a:tr h="335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1440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0.001345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0.896565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0.914574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0.00109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0.91622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1.034243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-78.523336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Persistence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2736953928"/>
                  </a:ext>
                </a:extLst>
              </a:tr>
              <a:tr h="335534">
                <a:tc rowSpan="4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phi-3.5-mini-instruct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0.972003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0.891559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0.000338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0.97573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0.002691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0.837785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Persistence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3872788696"/>
                  </a:ext>
                </a:extLst>
              </a:tr>
              <a:tr h="335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60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0.000346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0.974972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0.001105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0.920094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0.000281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0.979662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0.003307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0.79904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Persistence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4163994249"/>
                  </a:ext>
                </a:extLst>
              </a:tr>
              <a:tr h="335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240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0.954322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0.001568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0.882855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0.000313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0.976638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0.005315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0.666334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Persistence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248451806"/>
                  </a:ext>
                </a:extLst>
              </a:tr>
              <a:tr h="335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1440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0.001527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0.88259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0.914574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0.00109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0.91622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0.011031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0.287542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Persistence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3581503235"/>
                  </a:ext>
                </a:extLst>
              </a:tr>
              <a:tr h="335534">
                <a:tc rowSpan="4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phi-mini-</a:t>
                      </a:r>
                      <a:r>
                        <a:rPr lang="en-US" sz="105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moe</a:t>
                      </a: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-instruct</a:t>
                      </a: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0.982062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0.891559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0.000338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0.97573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0.000282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0.979747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accent1"/>
                          </a:solidFill>
                          <a:effectLst/>
                        </a:rPr>
                        <a:t>Manual LLM</a:t>
                      </a:r>
                      <a:endParaRPr lang="en-US" sz="1050" b="1" i="0" u="none" strike="noStrike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3285195834"/>
                  </a:ext>
                </a:extLst>
              </a:tr>
              <a:tr h="335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60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0.000225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0.983693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0.001105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0.920094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0.000281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0.979662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0.000252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0.981776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accent1"/>
                          </a:solidFill>
                          <a:effectLst/>
                        </a:rPr>
                        <a:t>Manual LLM</a:t>
                      </a:r>
                      <a:endParaRPr lang="en-US" sz="1050" b="1" i="0" u="none" strike="noStrike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2391830930"/>
                  </a:ext>
                </a:extLst>
              </a:tr>
              <a:tr h="335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240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0.000297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0.9778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0.001568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0.882855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0.000313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0.976638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0.000614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0.954134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chemeClr val="accent1"/>
                          </a:solidFill>
                          <a:effectLst/>
                        </a:rPr>
                        <a:t>Manual LLM</a:t>
                      </a:r>
                      <a:endParaRPr lang="en-US" sz="1050" b="1" i="0" u="none" strike="noStrike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1523212273"/>
                  </a:ext>
                </a:extLst>
              </a:tr>
              <a:tr h="335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1440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0.001471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0.886932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0.914574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0.00109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0.91622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0.001695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0.869675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Persistence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9144" anchor="ctr"/>
                </a:tc>
                <a:extLst>
                  <a:ext uri="{0D108BD9-81ED-4DB2-BD59-A6C34878D82A}">
                    <a16:rowId xmlns:a16="http://schemas.microsoft.com/office/drawing/2014/main" val="925960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090B43-5155-2D50-307E-883FB227DAA1}"/>
              </a:ext>
            </a:extLst>
          </p:cNvPr>
          <p:cNvSpPr txBox="1"/>
          <p:nvPr/>
        </p:nvSpPr>
        <p:spPr>
          <a:xfrm>
            <a:off x="1748472" y="6623437"/>
            <a:ext cx="119122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LLMs outperform ML on every horizon except 1440m.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Neither LLMs nor ML consistently beat the persistence baseline.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accuracy and consistency vary a lot depending on the model and prompt.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setup effort is lower than ML, takes longer to run, and may achieve surprisingly good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ABA3A-D2F7-FA7A-D0AC-CF8FC77DE19B}"/>
              </a:ext>
            </a:extLst>
          </p:cNvPr>
          <p:cNvSpPr txBox="1"/>
          <p:nvPr/>
        </p:nvSpPr>
        <p:spPr>
          <a:xfrm>
            <a:off x="10924277" y="1591550"/>
            <a:ext cx="197073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 sample test</a:t>
            </a:r>
          </a:p>
        </p:txBody>
      </p:sp>
    </p:spTree>
    <p:extLst>
      <p:ext uri="{BB962C8B-B14F-4D97-AF65-F5344CB8AC3E}">
        <p14:creationId xmlns:p14="http://schemas.microsoft.com/office/powerpoint/2010/main" val="3368561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46CEDC-F026-CD03-00ED-2472ED08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7A4BB3-E848-5A44-82DF-322201952CD8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8EAC9F-0908-381B-F06D-A8B9F941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318138"/>
            <a:ext cx="4755963" cy="1590675"/>
          </a:xfrm>
        </p:spPr>
        <p:txBody>
          <a:bodyPr anchor="b"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Demo, Insights &amp; Closing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AABE6D3-929E-6ECF-F694-8CF0F30609A1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4285427455"/>
              </p:ext>
            </p:extLst>
          </p:nvPr>
        </p:nvGraphicFramePr>
        <p:xfrm>
          <a:off x="6430642" y="457199"/>
          <a:ext cx="7772400" cy="731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5037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B62B-C30B-17EE-89E1-B8B93DF4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704285-02CD-1058-A29C-61AF6AD2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7A4BB3-E848-5A44-82DF-322201952CD8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BF646BE-9EB0-BCD7-E711-CD88B014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252645"/>
            <a:ext cx="10972800" cy="1310979"/>
          </a:xfrm>
        </p:spPr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</a:t>
            </a:r>
            <a:r>
              <a:rPr lang="en-US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ByteMe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0601AB-B3BB-7B7F-635D-5E3C7834DE8B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1823252331"/>
              </p:ext>
            </p:extLst>
          </p:nvPr>
        </p:nvGraphicFramePr>
        <p:xfrm>
          <a:off x="2894095" y="2271724"/>
          <a:ext cx="9867909" cy="53661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255724">
                  <a:extLst>
                    <a:ext uri="{9D8B030D-6E8A-4147-A177-3AD203B41FA5}">
                      <a16:colId xmlns:a16="http://schemas.microsoft.com/office/drawing/2014/main" val="3843931001"/>
                    </a:ext>
                  </a:extLst>
                </a:gridCol>
                <a:gridCol w="6612185">
                  <a:extLst>
                    <a:ext uri="{9D8B030D-6E8A-4147-A177-3AD203B41FA5}">
                      <a16:colId xmlns:a16="http://schemas.microsoft.com/office/drawing/2014/main" val="1095135772"/>
                    </a:ext>
                  </a:extLst>
                </a:gridCol>
              </a:tblGrid>
              <a:tr h="852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Member</a:t>
                      </a:r>
                    </a:p>
                  </a:txBody>
                  <a:tcPr marL="59412" marR="59412" marT="27421" marB="27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Lessons Learned</a:t>
                      </a:r>
                    </a:p>
                  </a:txBody>
                  <a:tcPr marL="59412" marR="59412" marT="27421" marB="27421" anchor="ctr"/>
                </a:tc>
                <a:extLst>
                  <a:ext uri="{0D108BD9-81ED-4DB2-BD59-A6C34878D82A}">
                    <a16:rowId xmlns:a16="http://schemas.microsoft.com/office/drawing/2014/main" val="2529859175"/>
                  </a:ext>
                </a:extLst>
              </a:tr>
              <a:tr h="852281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Judy Robinson</a:t>
                      </a:r>
                      <a:b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Geophysicist, PM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412" marR="59412" marT="27421" marB="27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Some of the F-scores in the ML feature importance were not expected and need more investigation, especially the relationship between the lagged variables and the prediction horizons.</a:t>
                      </a:r>
                    </a:p>
                  </a:txBody>
                  <a:tcPr marL="59412" marR="59412" marT="27421" marB="27421" anchor="ctr"/>
                </a:tc>
                <a:extLst>
                  <a:ext uri="{0D108BD9-81ED-4DB2-BD59-A6C34878D82A}">
                    <a16:rowId xmlns:a16="http://schemas.microsoft.com/office/drawing/2014/main" val="2464766221"/>
                  </a:ext>
                </a:extLst>
              </a:tr>
              <a:tr h="852281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Heather Sabella</a:t>
                      </a:r>
                      <a:b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 Engineer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412" marR="59412" marT="27421" marB="27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Garbage in, garbage out! Poor quality input data will inevitably produce poor model results. V&amp;V are crucial steps!</a:t>
                      </a:r>
                    </a:p>
                  </a:txBody>
                  <a:tcPr marL="59412" marR="59412" marT="27421" marB="27421" anchor="ctr"/>
                </a:tc>
                <a:extLst>
                  <a:ext uri="{0D108BD9-81ED-4DB2-BD59-A6C34878D82A}">
                    <a16:rowId xmlns:a16="http://schemas.microsoft.com/office/drawing/2014/main" val="4064574270"/>
                  </a:ext>
                </a:extLst>
              </a:tr>
              <a:tr h="852281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Tse-Chun Chen</a:t>
                      </a:r>
                      <a:b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Scientist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412" marR="59412" marT="27421" marB="27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Persistence (analog prediction) is always a good baseline to examine. More inputs/features/complexity does not necessarily yield better results. </a:t>
                      </a:r>
                    </a:p>
                  </a:txBody>
                  <a:tcPr marL="59412" marR="59412" marT="27421" marB="27421" anchor="ctr"/>
                </a:tc>
                <a:extLst>
                  <a:ext uri="{0D108BD9-81ED-4DB2-BD59-A6C34878D82A}">
                    <a16:rowId xmlns:a16="http://schemas.microsoft.com/office/drawing/2014/main" val="2491749246"/>
                  </a:ext>
                </a:extLst>
              </a:tr>
              <a:tr h="852281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(Xue) Michelle Li</a:t>
                      </a:r>
                      <a:b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Geospatial &amp; Earth Scientist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412" marR="59412" marT="27421" marB="27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Each LLM has its own “personality”, so getting the best results may require tailoring our prompts to the specific model.</a:t>
                      </a:r>
                    </a:p>
                  </a:txBody>
                  <a:tcPr marL="59412" marR="59412" marT="27421" marB="27421" anchor="ctr"/>
                </a:tc>
                <a:extLst>
                  <a:ext uri="{0D108BD9-81ED-4DB2-BD59-A6C34878D82A}">
                    <a16:rowId xmlns:a16="http://schemas.microsoft.com/office/drawing/2014/main" val="3223297306"/>
                  </a:ext>
                </a:extLst>
              </a:tr>
              <a:tr h="1053695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Dana Vesty</a:t>
                      </a:r>
                      <a:b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Terrestrial Ecologist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412" marR="59412" marT="27421" marB="274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is a useful tool but expertise is critical to understanding the data and the content created. </a:t>
                      </a:r>
                    </a:p>
                  </a:txBody>
                  <a:tcPr marL="59412" marR="59412" marT="27421" marB="27421" anchor="ctr"/>
                </a:tc>
                <a:extLst>
                  <a:ext uri="{0D108BD9-81ED-4DB2-BD59-A6C34878D82A}">
                    <a16:rowId xmlns:a16="http://schemas.microsoft.com/office/drawing/2014/main" val="197524754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97EAD50-9901-6899-BBC2-454A75A90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3061" y="3218328"/>
            <a:ext cx="1644735" cy="15685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AD96DD-C06E-50BE-2EAE-10081058D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549" y="6074553"/>
            <a:ext cx="1568531" cy="15304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2FB752-9154-B8CA-D699-BAD511871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446" y="4153979"/>
            <a:ext cx="1644735" cy="15875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22CE43-95B4-576B-FF56-AD0F90F5C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6057" y="5159306"/>
            <a:ext cx="1600282" cy="15875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A714884-28D4-C076-FBB2-7BBF0F4844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654" y="2361034"/>
            <a:ext cx="1676486" cy="171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89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33BB6-ACB2-4953-9ADC-C0F78F3B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95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NNL_Option_4">
  <a:themeElements>
    <a:clrScheme name="PNNL">
      <a:dk1>
        <a:srgbClr val="616265"/>
      </a:dk1>
      <a:lt1>
        <a:srgbClr val="FFFFFF"/>
      </a:lt1>
      <a:dk2>
        <a:srgbClr val="D77600"/>
      </a:dk2>
      <a:lt2>
        <a:srgbClr val="B3B3B3"/>
      </a:lt2>
      <a:accent1>
        <a:srgbClr val="A63F1E"/>
      </a:accent1>
      <a:accent2>
        <a:srgbClr val="191C1F"/>
      </a:accent2>
      <a:accent3>
        <a:srgbClr val="F4AA00"/>
      </a:accent3>
      <a:accent4>
        <a:srgbClr val="007836"/>
      </a:accent4>
      <a:accent5>
        <a:srgbClr val="C10435"/>
      </a:accent5>
      <a:accent6>
        <a:srgbClr val="00338E"/>
      </a:accent6>
      <a:hlink>
        <a:srgbClr val="003698"/>
      </a:hlink>
      <a:folHlink>
        <a:srgbClr val="8A0752"/>
      </a:folHlink>
    </a:clrScheme>
    <a:fontScheme name="PNNL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NNL_12" id="{4094C88D-87EB-4F03-8E54-6EFE75891D0B}" vid="{70271413-EC96-44AE-AED0-CA11A19BF6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29f02d-c038-4345-b16b-5963e734fea8">
      <Terms xmlns="http://schemas.microsoft.com/office/infopath/2007/PartnerControls"/>
    </lcf76f155ced4ddcb4097134ff3c332f>
    <TaxCatchAll xmlns="57e9471f-e923-43d3-91de-663b24ddc4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EB9474BCC524194DF8AB69AF98367" ma:contentTypeVersion="11" ma:contentTypeDescription="Create a new document." ma:contentTypeScope="" ma:versionID="d7b015066b057df51e2bd18f3670a8ba">
  <xsd:schema xmlns:xsd="http://www.w3.org/2001/XMLSchema" xmlns:xs="http://www.w3.org/2001/XMLSchema" xmlns:p="http://schemas.microsoft.com/office/2006/metadata/properties" xmlns:ns2="be29f02d-c038-4345-b16b-5963e734fea8" xmlns:ns3="57e9471f-e923-43d3-91de-663b24ddc458" targetNamespace="http://schemas.microsoft.com/office/2006/metadata/properties" ma:root="true" ma:fieldsID="07b75cdb79a64d1a70b4766cabd81225" ns2:_="" ns3:_="">
    <xsd:import namespace="be29f02d-c038-4345-b16b-5963e734fea8"/>
    <xsd:import namespace="57e9471f-e923-43d3-91de-663b24ddc4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9f02d-c038-4345-b16b-5963e734fe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60f1aaf-6244-4bb9-9bf9-38bf373853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e9471f-e923-43d3-91de-663b24ddc4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bcb3334-e986-457f-ba1e-f599899c508e}" ma:internalName="TaxCatchAll" ma:showField="CatchAllData" ma:web="57e9471f-e923-43d3-91de-663b24ddc4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04E054-8DE3-4C28-B93B-F917D655A6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81AED9-704B-4298-A17C-A40C4DACDF71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57e9471f-e923-43d3-91de-663b24ddc458"/>
    <ds:schemaRef ds:uri="http://www.w3.org/XML/1998/namespace"/>
    <ds:schemaRef ds:uri="http://schemas.microsoft.com/office/2006/metadata/properties"/>
    <ds:schemaRef ds:uri="http://purl.org/dc/terms/"/>
    <ds:schemaRef ds:uri="http://schemas.openxmlformats.org/package/2006/metadata/core-properties"/>
    <ds:schemaRef ds:uri="be29f02d-c038-4345-b16b-5963e734fea8"/>
  </ds:schemaRefs>
</ds:datastoreItem>
</file>

<file path=customXml/itemProps3.xml><?xml version="1.0" encoding="utf-8"?>
<ds:datastoreItem xmlns:ds="http://schemas.openxmlformats.org/officeDocument/2006/customXml" ds:itemID="{A28D5E3E-242C-4A6B-977D-A1F272E96847}">
  <ds:schemaRefs>
    <ds:schemaRef ds:uri="57e9471f-e923-43d3-91de-663b24ddc458"/>
    <ds:schemaRef ds:uri="be29f02d-c038-4345-b16b-5963e734fe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pnnl_12</Template>
  <TotalTime>0</TotalTime>
  <Words>1928</Words>
  <Application>Microsoft Office PowerPoint</Application>
  <PresentationFormat>Custom</PresentationFormat>
  <Paragraphs>316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Wingdings</vt:lpstr>
      <vt:lpstr>PNNL_Option_4</vt:lpstr>
      <vt:lpstr>AI-Based Evaluation of Deep Geothermal Reservoir Potential</vt:lpstr>
      <vt:lpstr>PowerPoint Presentation</vt:lpstr>
      <vt:lpstr>Data Overview &amp; Challenges</vt:lpstr>
      <vt:lpstr>ML approach overview</vt:lpstr>
      <vt:lpstr>PowerPoint Presentation</vt:lpstr>
      <vt:lpstr>Visuals and insights</vt:lpstr>
      <vt:lpstr>LLM Approach &amp; Results</vt:lpstr>
      <vt:lpstr>ML vs LLM Comparison</vt:lpstr>
      <vt:lpstr>Demo, Insights &amp; Closing</vt:lpstr>
      <vt:lpstr>Team ByteMe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Sabella, Heather B</dc:creator>
  <cp:lastModifiedBy>Sabella, Heather B</cp:lastModifiedBy>
  <cp:revision>1</cp:revision>
  <dcterms:created xsi:type="dcterms:W3CDTF">2026-04-17T18:33:47Z</dcterms:created>
  <dcterms:modified xsi:type="dcterms:W3CDTF">2026-04-23T18:04:06Z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0x0101003B2EB9474BCC524194DF8AB69AF98367</vt:lpwstr>
  </property>
  <property fmtid="{D5CDD505-2E9C-101B-9397-08002B2CF9AE}" pid="3" name="MediaServiceImageTags">
    <vt:lpwstr/>
  </property>
</Properties>
</file>