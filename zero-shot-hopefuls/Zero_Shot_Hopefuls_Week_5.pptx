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96" d="100"/>
          <a:sy n="96" d="100"/>
        </p:scale>
        <p:origin x="89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9786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we're Team Zero Shot Hopefuls, and over the next ten minutes we'll walk you through how we built a one-week-ahead forecast for compound hazards — heatwaves and droughts occurring together — across the contiguous U.S. We'll cover the problem, the data, our methodology, results, how machine learning stacked up against LLMs on the same task, and what we learned along the way.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this matters. Climate change is making heatwaves, droughts, and wildfires co-occur more often, and the joint severity is worse than the sum of parts. But most forecasting systems still treat each hazard independently. The result: emergency managers get late, siloed signals and stay stuck in reactive mode. A compound forecast gives them lead time to pre-position resources and communicate risk before it lands.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task, formally: predict the probability of a compound heatwave-and-drought event one week ahead, at weekly resolution, per grid cell across CONUS. The label combines HI02 — a heatwave flag — with a PDSI drought category of 3 or lower. We set three success criteria up front: AUC-ROC of at least 0.95 on the held-out test set, well-calibrated probabilities, and a fair head-to-head with LLMs on exactly the same features and metrics.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PNNL AI-Ready benchmark — about 314,000 weekly grid-cell rows from 2001 to 2020, with 19 raw features covering temperature, drought indices, fire, and meteorology, plus 7 features we engineered. The hard part isn't size, it's the shape: only about 4% of weeks are compound events. So we're a rare-event problem with missing values, daily-to-weekly aggregation choices, and a dataset that cuts off before the extreme seasons of the last few years.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pipeline is four steps. One: clean and aggregate daily NetCDF data to weekly, handling binary and continuous features separately. Two: engineer seven features — wind speed, seasonal sine and cosine, a 7-day mean temperature, a 14-day drought trend, a 7-day max fire weather index, and a PDSI category. Three: a strictly chronological split — train on 2001 through 2015, validate on 2016 and 2017, test on 2018 through 2020 — so no future information ever leaks backward. Four: two models, chosen for what they each reveal. Logistic regression as an interpretable baseline, and LightGBM for non-linear interactions, explained with SHAP. And one operational choice: we tuned the decision threshold on validation up to 0.65 to prioritise recall.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results on the held-out test set. LightGBM lands at an AUC of 0.989 — it's almost perfectly ranking compound-event weeks above non-event weeks. Both models clear the 0.95 bar we set. LightGBM wins on F1 at 0.643 versus 0.579, on recall at 80% versus 66%, and on calibration — a Brier score of 0.020. Concretely, LightGBM catches 1,189 more real compound events than the logistic baseline on the same data. The one honest caveat: because only 4% of weeks are positive, absolute precision is capped — even a perfect model returns some false alarms at this base rate.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interpretability: we ran SHAP on the LightGBM model, and the top drivers are exactly what a climate scientist would hope to see. PDSI — Palmer Drought Severity Index — is the single strongest predictor. Then seasonal cosine and sine, which encode calendar timing; HI02, the heatwave flag; the 14-day drought trend; and SPEI. The direction also matches physical intuition: more negative PDSI pushes the SHAP value up, meaning the model has learned that deeper drought raises compound-event probability. It's not picking up spurious correlations.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LLM side. We ran three locally-hosted models — Phi-3.5-mini, Phi-mini-MoE, and gemma-3-12b — on the same 1,000-row stratified test sample. We presented each feature with a name, value, units, and a domain range, and constrained output to strict JSON. We tested four prompt variants: zero-shot and few-shot, with all 26 features and with just the top-8 SHAP features. Parse success was 100% across the board. But the content broke down. The best LLM — Phi-3.5-mini — got to F1 0.464 and AUC 0.832. The other two over-predicted positives so aggressively that 85% of their alarms were false. And across all three, confidence calibration was inverted — they were more confident when wrong than when right. Their self-reported confidence is not a usable signal.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Head-to-head, on the same features, same data, same metrics: LightGBM beats the best LLM by about 39% on F1. It's faster per prediction, deterministic, better-calibrated, and explainable through SHAP. The only axes where LLMs win are setup effort and the fact that they need zero training data. So the honest framing is: for operational compound-hazard forecasting, ML is the clear choice. LLMs are useful for rapid prototyping when labeled data doesn't exist yet — Phi-3.5-mini reaching 0.46 F1 from prompts alone is a useful baseline.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things the model doesn't know, that we want to be upfront about. First, training ends in 2020 — the extreme fire and heat seasons since then are out-of-distribution. Second, the 4% base rate fundamentally caps precision, and our 0.65 threshold is an operational choice trading precision for recall. Third, our LLM comparison was constrained to 7-to-12-billion-parameter models running locally. Frontier models or a climate-domain fine-tune might narrow the gap. Next steps: add spatial features — latitude, longitude, elevation, land cover — test larger or fine-tuned LLMs, and explore a hybrid that pairs ML probabilities with LLM-generated risk narratives for emergency managers.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out, three insights about the problem itself. One: drought severity is the dominant signal — once PDSI drops below about -2, compound-event probability climbs sharply. Two: threshold choice reframes the product. Moving from 0.50 to 0.65 lifted recall from around 60% to 80%, which for a rare-event early warning is the difference between useful and not. Three: for structured numeric prediction, purpose-built ML still wins. Feature engineering and calibration compound in value; prompt engineering alone does not substitute for training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what each of us took away.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We're happy to dig into the methodology, the ML vs LLM tradeoffs, or where this pipeline would go next.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97631"/>
            <a:ext cx="18288000" cy="10287000"/>
          </a:xfrm>
          <a:prstGeom prst="rect">
            <a:avLst/>
          </a:prstGeom>
          <a:solidFill>
            <a:srgbClr val="0F1115"/>
          </a:solidFill>
          <a:ln/>
        </p:spPr>
        <p:txBody>
          <a:bodyPr/>
          <a:lstStyle/>
          <a:p>
            <a:endParaRPr lang="en-US"/>
          </a:p>
        </p:txBody>
      </p:sp>
      <p:sp>
        <p:nvSpPr>
          <p:cNvPr id="3" name="Text 1"/>
          <p:cNvSpPr/>
          <p:nvPr/>
        </p:nvSpPr>
        <p:spPr>
          <a:xfrm>
            <a:off x="952500" y="1071563"/>
            <a:ext cx="247650" cy="333375"/>
          </a:xfrm>
          <a:prstGeom prst="rect">
            <a:avLst/>
          </a:prstGeom>
          <a:noFill/>
          <a:ln/>
        </p:spPr>
        <p:txBody>
          <a:bodyPr wrap="square" lIns="25400" tIns="25400" rIns="25400" bIns="25400" rtlCol="0" anchor="t">
            <a:normAutofit/>
          </a:bodyPr>
          <a:lstStyle/>
          <a:p>
            <a:pPr marL="0" indent="0" algn="l">
              <a:buNone/>
            </a:pPr>
            <a:r>
              <a:rPr lang="en-US" sz="1800" b="1" kern="0" spc="360" dirty="0">
                <a:solidFill>
                  <a:srgbClr val="FF5A1F"/>
                </a:solidFill>
                <a:latin typeface="Arial" pitchFamily="34" charset="0"/>
                <a:ea typeface="Arial" pitchFamily="34" charset="-122"/>
                <a:cs typeface="Arial" pitchFamily="34" charset="-120"/>
              </a:rPr>
              <a:t>■</a:t>
            </a:r>
            <a:endParaRPr lang="en-US" sz="1800" dirty="0"/>
          </a:p>
        </p:txBody>
      </p:sp>
      <p:sp>
        <p:nvSpPr>
          <p:cNvPr id="4" name="Text 2"/>
          <p:cNvSpPr/>
          <p:nvPr/>
        </p:nvSpPr>
        <p:spPr>
          <a:xfrm>
            <a:off x="1295400" y="952500"/>
            <a:ext cx="8471276" cy="561975"/>
          </a:xfrm>
          <a:prstGeom prst="rect">
            <a:avLst/>
          </a:prstGeom>
          <a:noFill/>
          <a:ln/>
        </p:spPr>
        <p:txBody>
          <a:bodyPr wrap="square" lIns="0" tIns="0" rIns="0" bIns="0" rtlCol="0" anchor="t">
            <a:normAutofit/>
          </a:bodyPr>
          <a:lstStyle/>
          <a:p>
            <a:pPr marL="0" indent="0" algn="l">
              <a:buNone/>
            </a:pPr>
            <a:r>
              <a:rPr lang="en-US" sz="1800" kern="0" spc="360" dirty="0">
                <a:solidFill>
                  <a:srgbClr val="9AA0AB"/>
                </a:solidFill>
                <a:latin typeface="Arial" pitchFamily="34" charset="0"/>
                <a:ea typeface="Arial" pitchFamily="34" charset="-122"/>
                <a:cs typeface="Arial" pitchFamily="34" charset="-120"/>
              </a:rPr>
              <a:t>ESSD AI CHALLENGE · FINAL PRESENTATION · APR 27, 2026</a:t>
            </a:r>
            <a:endParaRPr lang="en-US" sz="1800" dirty="0"/>
          </a:p>
        </p:txBody>
      </p:sp>
      <p:sp>
        <p:nvSpPr>
          <p:cNvPr id="5" name="Text 3"/>
          <p:cNvSpPr/>
          <p:nvPr/>
        </p:nvSpPr>
        <p:spPr>
          <a:xfrm>
            <a:off x="952500" y="1485900"/>
            <a:ext cx="8858801" cy="333375"/>
          </a:xfrm>
          <a:prstGeom prst="rect">
            <a:avLst/>
          </a:prstGeom>
          <a:noFill/>
          <a:ln/>
        </p:spPr>
        <p:txBody>
          <a:bodyPr wrap="square" lIns="25400" tIns="25400" rIns="25400" bIns="25400" rtlCol="0" anchor="t">
            <a:normAutofit/>
          </a:bodyPr>
          <a:lstStyle/>
          <a:p>
            <a:pPr marL="0" indent="0" algn="l">
              <a:buNone/>
            </a:pPr>
            <a:r>
              <a:rPr lang="en-US" sz="1800" b="1" kern="0" spc="396" dirty="0">
                <a:solidFill>
                  <a:srgbClr val="FF5A1F"/>
                </a:solidFill>
                <a:latin typeface="Arial" pitchFamily="34" charset="0"/>
                <a:ea typeface="Arial" pitchFamily="34" charset="-122"/>
                <a:cs typeface="Arial" pitchFamily="34" charset="-120"/>
              </a:rPr>
              <a:t>TEAM ZERO SHOT HOPEFULS</a:t>
            </a:r>
            <a:endParaRPr lang="en-US" sz="1800" dirty="0"/>
          </a:p>
        </p:txBody>
      </p:sp>
      <p:sp>
        <p:nvSpPr>
          <p:cNvPr id="6" name="Text 4"/>
          <p:cNvSpPr/>
          <p:nvPr/>
        </p:nvSpPr>
        <p:spPr>
          <a:xfrm>
            <a:off x="967062" y="1872779"/>
            <a:ext cx="8858801" cy="4061371"/>
          </a:xfrm>
          <a:prstGeom prst="rect">
            <a:avLst/>
          </a:prstGeom>
          <a:noFill/>
          <a:ln/>
        </p:spPr>
        <p:txBody>
          <a:bodyPr wrap="square" lIns="25400" tIns="25400" rIns="25400" bIns="25400" rtlCol="0" anchor="t">
            <a:noAutofit/>
          </a:bodyPr>
          <a:lstStyle/>
          <a:p>
            <a:pPr marL="0" indent="0" algn="l">
              <a:lnSpc>
                <a:spcPct val="88000"/>
              </a:lnSpc>
              <a:buNone/>
            </a:pPr>
            <a:r>
              <a:rPr lang="en-US" sz="11000" b="1" kern="0" spc="-540" dirty="0">
                <a:solidFill>
                  <a:srgbClr val="F4EFE6"/>
                </a:solidFill>
                <a:latin typeface="Arial" pitchFamily="34" charset="0"/>
                <a:ea typeface="Arial" pitchFamily="34" charset="-122"/>
                <a:cs typeface="Arial" pitchFamily="34" charset="-120"/>
              </a:rPr>
              <a:t>Compound Hazard </a:t>
            </a:r>
            <a:r>
              <a:rPr lang="en-US" sz="11000" b="1" kern="0" spc="-540" dirty="0">
                <a:solidFill>
                  <a:srgbClr val="FF5A1F"/>
                </a:solidFill>
                <a:latin typeface="Arial" pitchFamily="34" charset="0"/>
                <a:ea typeface="Arial" pitchFamily="34" charset="-122"/>
                <a:cs typeface="Arial" pitchFamily="34" charset="-120"/>
              </a:rPr>
              <a:t>Forecasting.</a:t>
            </a:r>
            <a:endParaRPr lang="en-US" sz="11000" dirty="0"/>
          </a:p>
        </p:txBody>
      </p:sp>
      <p:sp>
        <p:nvSpPr>
          <p:cNvPr id="7" name="Text 5"/>
          <p:cNvSpPr/>
          <p:nvPr/>
        </p:nvSpPr>
        <p:spPr>
          <a:xfrm>
            <a:off x="967062" y="6317382"/>
            <a:ext cx="8829675" cy="130075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550" dirty="0">
                <a:solidFill>
                  <a:srgbClr val="9AA0AB"/>
                </a:solidFill>
                <a:latin typeface="Arial" pitchFamily="34" charset="0"/>
                <a:ea typeface="Arial" pitchFamily="34" charset="-122"/>
                <a:cs typeface="Arial" pitchFamily="34" charset="-120"/>
              </a:rPr>
              <a:t>A location-aware, one-week-ahead model for co-occurring heatwaves and droughts across the contiguous U.S. — benchmarked head-to-head against three small LLMs.</a:t>
            </a:r>
            <a:endParaRPr lang="en-US" sz="2550" dirty="0"/>
          </a:p>
        </p:txBody>
      </p:sp>
      <p:sp>
        <p:nvSpPr>
          <p:cNvPr id="8" name="Text 6"/>
          <p:cNvSpPr/>
          <p:nvPr/>
        </p:nvSpPr>
        <p:spPr>
          <a:xfrm>
            <a:off x="952500" y="7981504"/>
            <a:ext cx="2060525" cy="304800"/>
          </a:xfrm>
          <a:prstGeom prst="rect">
            <a:avLst/>
          </a:prstGeom>
          <a:noFill/>
          <a:ln/>
        </p:spPr>
        <p:txBody>
          <a:bodyPr wrap="square" lIns="25400" tIns="25400" rIns="25400" bIns="25400" rtlCol="0" anchor="t">
            <a:normAutofit lnSpcReduction="10000"/>
          </a:bodyPr>
          <a:lstStyle/>
          <a:p>
            <a:pPr marL="0" indent="0" algn="l">
              <a:buNone/>
            </a:pPr>
            <a:r>
              <a:rPr lang="en-US" sz="1800" kern="0" spc="156" dirty="0">
                <a:solidFill>
                  <a:srgbClr val="FF5A1F"/>
                </a:solidFill>
                <a:latin typeface="Arial" pitchFamily="34" charset="0"/>
                <a:ea typeface="Arial" pitchFamily="34" charset="-122"/>
                <a:cs typeface="Arial" pitchFamily="34" charset="-120"/>
              </a:rPr>
              <a:t>TEAM</a:t>
            </a:r>
            <a:endParaRPr lang="en-US" sz="1800" dirty="0"/>
          </a:p>
        </p:txBody>
      </p:sp>
      <p:sp>
        <p:nvSpPr>
          <p:cNvPr id="9" name="Text 7"/>
          <p:cNvSpPr/>
          <p:nvPr/>
        </p:nvSpPr>
        <p:spPr>
          <a:xfrm>
            <a:off x="952500" y="8343454"/>
            <a:ext cx="2060525" cy="15240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kern="0" spc="156" dirty="0">
                <a:solidFill>
                  <a:srgbClr val="F4EFE6"/>
                </a:solidFill>
                <a:latin typeface="Arial" pitchFamily="34" charset="0"/>
                <a:ea typeface="Arial" pitchFamily="34" charset="-122"/>
                <a:cs typeface="Arial" pitchFamily="34" charset="-120"/>
              </a:rPr>
              <a:t>Avi Joshi </a:t>
            </a:r>
          </a:p>
          <a:p>
            <a:pPr marL="0" indent="0" algn="l">
              <a:lnSpc>
                <a:spcPct val="150000"/>
              </a:lnSpc>
              <a:buNone/>
            </a:pPr>
            <a:r>
              <a:rPr lang="en-US" sz="1950" kern="0" spc="156" dirty="0">
                <a:solidFill>
                  <a:srgbClr val="F4EFE6"/>
                </a:solidFill>
                <a:latin typeface="Arial" pitchFamily="34" charset="0"/>
                <a:ea typeface="Arial" pitchFamily="34" charset="-122"/>
                <a:cs typeface="Arial" pitchFamily="34" charset="-120"/>
              </a:rPr>
              <a:t>Sarah Saslow Leah Hare Carolyn Pearce</a:t>
            </a:r>
            <a:endParaRPr lang="en-US" sz="1950" dirty="0"/>
          </a:p>
        </p:txBody>
      </p:sp>
      <p:sp>
        <p:nvSpPr>
          <p:cNvPr id="10" name="Text 8"/>
          <p:cNvSpPr/>
          <p:nvPr/>
        </p:nvSpPr>
        <p:spPr>
          <a:xfrm>
            <a:off x="3698825" y="7981504"/>
            <a:ext cx="4164203" cy="304800"/>
          </a:xfrm>
          <a:prstGeom prst="rect">
            <a:avLst/>
          </a:prstGeom>
          <a:noFill/>
          <a:ln/>
        </p:spPr>
        <p:txBody>
          <a:bodyPr wrap="square" lIns="25400" tIns="25400" rIns="25400" bIns="25400" rtlCol="0" anchor="t">
            <a:normAutofit lnSpcReduction="10000"/>
          </a:bodyPr>
          <a:lstStyle/>
          <a:p>
            <a:pPr marL="0" indent="0" algn="l">
              <a:buNone/>
            </a:pPr>
            <a:r>
              <a:rPr lang="en-US" sz="1800" kern="0" spc="156" dirty="0">
                <a:solidFill>
                  <a:srgbClr val="FF5A1F"/>
                </a:solidFill>
                <a:latin typeface="Arial" pitchFamily="34" charset="0"/>
                <a:ea typeface="Arial" pitchFamily="34" charset="-122"/>
                <a:cs typeface="Arial" pitchFamily="34" charset="-120"/>
              </a:rPr>
              <a:t>DATA</a:t>
            </a:r>
            <a:endParaRPr lang="en-US" sz="1800" dirty="0"/>
          </a:p>
        </p:txBody>
      </p:sp>
      <p:sp>
        <p:nvSpPr>
          <p:cNvPr id="11" name="Text 9"/>
          <p:cNvSpPr/>
          <p:nvPr/>
        </p:nvSpPr>
        <p:spPr>
          <a:xfrm>
            <a:off x="3698825" y="8343454"/>
            <a:ext cx="4164203" cy="115252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kern="0" spc="156" dirty="0">
                <a:solidFill>
                  <a:srgbClr val="F4EFE6"/>
                </a:solidFill>
                <a:latin typeface="Arial" pitchFamily="34" charset="0"/>
                <a:ea typeface="Arial" pitchFamily="34" charset="-122"/>
                <a:cs typeface="Arial" pitchFamily="34" charset="-120"/>
              </a:rPr>
              <a:t>PNNL AI-Ready Benchmark US Fires, Heatwaves, Droughts 2001 – 2020 · CONUS</a:t>
            </a:r>
            <a:endParaRPr lang="en-US" sz="1950" dirty="0"/>
          </a:p>
        </p:txBody>
      </p:sp>
      <p:sp>
        <p:nvSpPr>
          <p:cNvPr id="13" name="Shape 11"/>
          <p:cNvSpPr/>
          <p:nvPr/>
        </p:nvSpPr>
        <p:spPr>
          <a:xfrm>
            <a:off x="10505777" y="0"/>
            <a:ext cx="45719" cy="10268025"/>
          </a:xfrm>
          <a:prstGeom prst="rect">
            <a:avLst/>
          </a:prstGeom>
          <a:solidFill>
            <a:srgbClr val="2A2F3A"/>
          </a:solidFill>
          <a:ln/>
        </p:spPr>
        <p:txBody>
          <a:bodyPr/>
          <a:lstStyle/>
          <a:p>
            <a:endParaRPr lang="en-US"/>
          </a:p>
        </p:txBody>
      </p:sp>
      <p:sp>
        <p:nvSpPr>
          <p:cNvPr id="14" name="Text 12"/>
          <p:cNvSpPr/>
          <p:nvPr/>
        </p:nvSpPr>
        <p:spPr>
          <a:xfrm>
            <a:off x="10972502" y="457200"/>
            <a:ext cx="3518993" cy="304800"/>
          </a:xfrm>
          <a:prstGeom prst="rect">
            <a:avLst/>
          </a:prstGeom>
          <a:noFill/>
          <a:ln/>
        </p:spPr>
        <p:txBody>
          <a:bodyPr wrap="square" lIns="25400" tIns="25400" rIns="25400" bIns="25400" rtlCol="0" anchor="t">
            <a:normAutofit lnSpcReduction="10000"/>
          </a:bodyPr>
          <a:lstStyle/>
          <a:p>
            <a:pPr marL="0" indent="0" algn="l">
              <a:buNone/>
            </a:pPr>
            <a:r>
              <a:rPr lang="en-US" sz="1800" kern="0" spc="270" dirty="0">
                <a:solidFill>
                  <a:srgbClr val="9AA0AB"/>
                </a:solidFill>
                <a:latin typeface="Arial" pitchFamily="34" charset="0"/>
                <a:ea typeface="Arial" pitchFamily="34" charset="-122"/>
                <a:cs typeface="Arial" pitchFamily="34" charset="-120"/>
              </a:rPr>
              <a:t>GRID · COMPOUND RISK</a:t>
            </a:r>
            <a:endParaRPr lang="en-US" sz="1800" dirty="0"/>
          </a:p>
        </p:txBody>
      </p:sp>
      <p:sp>
        <p:nvSpPr>
          <p:cNvPr id="15" name="Text 13"/>
          <p:cNvSpPr/>
          <p:nvPr/>
        </p:nvSpPr>
        <p:spPr>
          <a:xfrm>
            <a:off x="16927860" y="457200"/>
            <a:ext cx="979140" cy="304800"/>
          </a:xfrm>
          <a:prstGeom prst="rect">
            <a:avLst/>
          </a:prstGeom>
          <a:noFill/>
          <a:ln/>
        </p:spPr>
        <p:txBody>
          <a:bodyPr wrap="square" lIns="25400" tIns="25400" rIns="25400" bIns="25400" rtlCol="0" anchor="t">
            <a:normAutofit lnSpcReduction="10000"/>
          </a:bodyPr>
          <a:lstStyle/>
          <a:p>
            <a:pPr marL="0" indent="0" algn="l">
              <a:buNone/>
            </a:pPr>
            <a:endParaRPr lang="en-US" sz="1800" dirty="0"/>
          </a:p>
        </p:txBody>
      </p:sp>
      <p:sp>
        <p:nvSpPr>
          <p:cNvPr id="16" name="Shape 14"/>
          <p:cNvSpPr/>
          <p:nvPr/>
        </p:nvSpPr>
        <p:spPr>
          <a:xfrm>
            <a:off x="10972502" y="990600"/>
            <a:ext cx="454372" cy="468809"/>
          </a:xfrm>
          <a:prstGeom prst="rect">
            <a:avLst/>
          </a:prstGeom>
          <a:solidFill>
            <a:srgbClr val="5C2A0E"/>
          </a:solidFill>
          <a:ln/>
        </p:spPr>
        <p:txBody>
          <a:bodyPr/>
          <a:lstStyle/>
          <a:p>
            <a:endParaRPr lang="en-US"/>
          </a:p>
        </p:txBody>
      </p:sp>
      <p:sp>
        <p:nvSpPr>
          <p:cNvPr id="17" name="Shape 15"/>
          <p:cNvSpPr/>
          <p:nvPr/>
        </p:nvSpPr>
        <p:spPr>
          <a:xfrm>
            <a:off x="11464975" y="990600"/>
            <a:ext cx="454521" cy="468809"/>
          </a:xfrm>
          <a:prstGeom prst="rect">
            <a:avLst/>
          </a:prstGeom>
          <a:solidFill>
            <a:srgbClr val="C9461A"/>
          </a:solidFill>
          <a:ln/>
        </p:spPr>
        <p:txBody>
          <a:bodyPr/>
          <a:lstStyle/>
          <a:p>
            <a:endParaRPr lang="en-US"/>
          </a:p>
        </p:txBody>
      </p:sp>
      <p:sp>
        <p:nvSpPr>
          <p:cNvPr id="18" name="Shape 16"/>
          <p:cNvSpPr/>
          <p:nvPr/>
        </p:nvSpPr>
        <p:spPr>
          <a:xfrm>
            <a:off x="11957596" y="990600"/>
            <a:ext cx="454521" cy="468809"/>
          </a:xfrm>
          <a:prstGeom prst="rect">
            <a:avLst/>
          </a:prstGeom>
          <a:solidFill>
            <a:srgbClr val="2A2F3A"/>
          </a:solidFill>
          <a:ln/>
        </p:spPr>
        <p:txBody>
          <a:bodyPr/>
          <a:lstStyle/>
          <a:p>
            <a:endParaRPr lang="en-US"/>
          </a:p>
        </p:txBody>
      </p:sp>
      <p:sp>
        <p:nvSpPr>
          <p:cNvPr id="19" name="Shape 17"/>
          <p:cNvSpPr/>
          <p:nvPr/>
        </p:nvSpPr>
        <p:spPr>
          <a:xfrm>
            <a:off x="12450217" y="990600"/>
            <a:ext cx="454521" cy="468809"/>
          </a:xfrm>
          <a:prstGeom prst="rect">
            <a:avLst/>
          </a:prstGeom>
          <a:solidFill>
            <a:srgbClr val="5C2A0E"/>
          </a:solidFill>
          <a:ln/>
        </p:spPr>
        <p:txBody>
          <a:bodyPr/>
          <a:lstStyle/>
          <a:p>
            <a:endParaRPr lang="en-US"/>
          </a:p>
        </p:txBody>
      </p:sp>
      <p:sp>
        <p:nvSpPr>
          <p:cNvPr id="20" name="Shape 18"/>
          <p:cNvSpPr/>
          <p:nvPr/>
        </p:nvSpPr>
        <p:spPr>
          <a:xfrm>
            <a:off x="12942838" y="990600"/>
            <a:ext cx="454521" cy="468809"/>
          </a:xfrm>
          <a:prstGeom prst="rect">
            <a:avLst/>
          </a:prstGeom>
          <a:solidFill>
            <a:srgbClr val="2A2F3A"/>
          </a:solidFill>
          <a:ln/>
        </p:spPr>
        <p:txBody>
          <a:bodyPr/>
          <a:lstStyle/>
          <a:p>
            <a:endParaRPr lang="en-US"/>
          </a:p>
        </p:txBody>
      </p:sp>
      <p:sp>
        <p:nvSpPr>
          <p:cNvPr id="21" name="Shape 19"/>
          <p:cNvSpPr/>
          <p:nvPr/>
        </p:nvSpPr>
        <p:spPr>
          <a:xfrm>
            <a:off x="13435459" y="990600"/>
            <a:ext cx="454521" cy="468809"/>
          </a:xfrm>
          <a:prstGeom prst="rect">
            <a:avLst/>
          </a:prstGeom>
          <a:solidFill>
            <a:srgbClr val="2A2F3A"/>
          </a:solidFill>
          <a:ln/>
        </p:spPr>
        <p:txBody>
          <a:bodyPr/>
          <a:lstStyle/>
          <a:p>
            <a:endParaRPr lang="en-US"/>
          </a:p>
        </p:txBody>
      </p:sp>
      <p:sp>
        <p:nvSpPr>
          <p:cNvPr id="22" name="Shape 20"/>
          <p:cNvSpPr/>
          <p:nvPr/>
        </p:nvSpPr>
        <p:spPr>
          <a:xfrm>
            <a:off x="13928080" y="990600"/>
            <a:ext cx="454521" cy="468809"/>
          </a:xfrm>
          <a:prstGeom prst="rect">
            <a:avLst/>
          </a:prstGeom>
          <a:solidFill>
            <a:srgbClr val="FF5A1F"/>
          </a:solidFill>
          <a:ln/>
        </p:spPr>
        <p:txBody>
          <a:bodyPr/>
          <a:lstStyle/>
          <a:p>
            <a:endParaRPr lang="en-US"/>
          </a:p>
        </p:txBody>
      </p:sp>
      <p:sp>
        <p:nvSpPr>
          <p:cNvPr id="23" name="Shape 21"/>
          <p:cNvSpPr/>
          <p:nvPr/>
        </p:nvSpPr>
        <p:spPr>
          <a:xfrm>
            <a:off x="14420701" y="990600"/>
            <a:ext cx="454372" cy="468809"/>
          </a:xfrm>
          <a:prstGeom prst="rect">
            <a:avLst/>
          </a:prstGeom>
          <a:solidFill>
            <a:srgbClr val="C9461A"/>
          </a:solidFill>
          <a:ln/>
        </p:spPr>
        <p:txBody>
          <a:bodyPr/>
          <a:lstStyle/>
          <a:p>
            <a:endParaRPr lang="en-US"/>
          </a:p>
        </p:txBody>
      </p:sp>
      <p:sp>
        <p:nvSpPr>
          <p:cNvPr id="24" name="Shape 22"/>
          <p:cNvSpPr/>
          <p:nvPr/>
        </p:nvSpPr>
        <p:spPr>
          <a:xfrm>
            <a:off x="14913173" y="990600"/>
            <a:ext cx="454521" cy="468809"/>
          </a:xfrm>
          <a:prstGeom prst="rect">
            <a:avLst/>
          </a:prstGeom>
          <a:solidFill>
            <a:srgbClr val="FFB347"/>
          </a:solidFill>
          <a:ln/>
        </p:spPr>
        <p:txBody>
          <a:bodyPr/>
          <a:lstStyle/>
          <a:p>
            <a:endParaRPr lang="en-US"/>
          </a:p>
        </p:txBody>
      </p:sp>
      <p:sp>
        <p:nvSpPr>
          <p:cNvPr id="25" name="Shape 23"/>
          <p:cNvSpPr/>
          <p:nvPr/>
        </p:nvSpPr>
        <p:spPr>
          <a:xfrm>
            <a:off x="15405795" y="990600"/>
            <a:ext cx="454521" cy="468809"/>
          </a:xfrm>
          <a:prstGeom prst="rect">
            <a:avLst/>
          </a:prstGeom>
          <a:solidFill>
            <a:srgbClr val="FFE08A"/>
          </a:solidFill>
          <a:ln/>
        </p:spPr>
        <p:txBody>
          <a:bodyPr/>
          <a:lstStyle/>
          <a:p>
            <a:endParaRPr lang="en-US"/>
          </a:p>
        </p:txBody>
      </p:sp>
      <p:sp>
        <p:nvSpPr>
          <p:cNvPr id="26" name="Shape 24"/>
          <p:cNvSpPr/>
          <p:nvPr/>
        </p:nvSpPr>
        <p:spPr>
          <a:xfrm>
            <a:off x="15898416" y="990600"/>
            <a:ext cx="454521" cy="468809"/>
          </a:xfrm>
          <a:prstGeom prst="rect">
            <a:avLst/>
          </a:prstGeom>
          <a:solidFill>
            <a:srgbClr val="2A2F3A"/>
          </a:solidFill>
          <a:ln/>
        </p:spPr>
        <p:txBody>
          <a:bodyPr/>
          <a:lstStyle/>
          <a:p>
            <a:endParaRPr lang="en-US"/>
          </a:p>
        </p:txBody>
      </p:sp>
      <p:sp>
        <p:nvSpPr>
          <p:cNvPr id="27" name="Shape 25"/>
          <p:cNvSpPr/>
          <p:nvPr/>
        </p:nvSpPr>
        <p:spPr>
          <a:xfrm>
            <a:off x="16391037" y="990600"/>
            <a:ext cx="454521" cy="468809"/>
          </a:xfrm>
          <a:prstGeom prst="rect">
            <a:avLst/>
          </a:prstGeom>
          <a:solidFill>
            <a:srgbClr val="2A2F3A"/>
          </a:solidFill>
          <a:ln/>
        </p:spPr>
        <p:txBody>
          <a:bodyPr/>
          <a:lstStyle/>
          <a:p>
            <a:endParaRPr lang="en-US"/>
          </a:p>
        </p:txBody>
      </p:sp>
      <p:sp>
        <p:nvSpPr>
          <p:cNvPr id="28" name="Shape 26"/>
          <p:cNvSpPr/>
          <p:nvPr/>
        </p:nvSpPr>
        <p:spPr>
          <a:xfrm>
            <a:off x="16883658" y="990600"/>
            <a:ext cx="454521" cy="468809"/>
          </a:xfrm>
          <a:prstGeom prst="rect">
            <a:avLst/>
          </a:prstGeom>
          <a:solidFill>
            <a:srgbClr val="5C2A0E"/>
          </a:solidFill>
          <a:ln/>
        </p:spPr>
        <p:txBody>
          <a:bodyPr/>
          <a:lstStyle/>
          <a:p>
            <a:endParaRPr lang="en-US"/>
          </a:p>
        </p:txBody>
      </p:sp>
      <p:sp>
        <p:nvSpPr>
          <p:cNvPr id="29" name="Shape 27"/>
          <p:cNvSpPr/>
          <p:nvPr/>
        </p:nvSpPr>
        <p:spPr>
          <a:xfrm>
            <a:off x="17376279" y="990600"/>
            <a:ext cx="454521" cy="468809"/>
          </a:xfrm>
          <a:prstGeom prst="rect">
            <a:avLst/>
          </a:prstGeom>
          <a:solidFill>
            <a:srgbClr val="FF5A1F"/>
          </a:solidFill>
          <a:ln/>
        </p:spPr>
        <p:txBody>
          <a:bodyPr/>
          <a:lstStyle/>
          <a:p>
            <a:endParaRPr lang="en-US"/>
          </a:p>
        </p:txBody>
      </p:sp>
      <p:sp>
        <p:nvSpPr>
          <p:cNvPr id="30" name="Shape 28"/>
          <p:cNvSpPr/>
          <p:nvPr/>
        </p:nvSpPr>
        <p:spPr>
          <a:xfrm>
            <a:off x="10972502" y="1497509"/>
            <a:ext cx="454372" cy="468809"/>
          </a:xfrm>
          <a:prstGeom prst="rect">
            <a:avLst/>
          </a:prstGeom>
          <a:solidFill>
            <a:srgbClr val="2A2F3A"/>
          </a:solidFill>
          <a:ln/>
        </p:spPr>
        <p:txBody>
          <a:bodyPr/>
          <a:lstStyle/>
          <a:p>
            <a:endParaRPr lang="en-US"/>
          </a:p>
        </p:txBody>
      </p:sp>
      <p:sp>
        <p:nvSpPr>
          <p:cNvPr id="31" name="Shape 29"/>
          <p:cNvSpPr/>
          <p:nvPr/>
        </p:nvSpPr>
        <p:spPr>
          <a:xfrm>
            <a:off x="11464975" y="1497509"/>
            <a:ext cx="454521" cy="468809"/>
          </a:xfrm>
          <a:prstGeom prst="rect">
            <a:avLst/>
          </a:prstGeom>
          <a:solidFill>
            <a:srgbClr val="5C2A0E"/>
          </a:solidFill>
          <a:ln/>
        </p:spPr>
        <p:txBody>
          <a:bodyPr/>
          <a:lstStyle/>
          <a:p>
            <a:endParaRPr lang="en-US"/>
          </a:p>
        </p:txBody>
      </p:sp>
      <p:sp>
        <p:nvSpPr>
          <p:cNvPr id="32" name="Shape 30"/>
          <p:cNvSpPr/>
          <p:nvPr/>
        </p:nvSpPr>
        <p:spPr>
          <a:xfrm>
            <a:off x="11957596" y="1497509"/>
            <a:ext cx="454521" cy="468809"/>
          </a:xfrm>
          <a:prstGeom prst="rect">
            <a:avLst/>
          </a:prstGeom>
          <a:solidFill>
            <a:srgbClr val="2A2F3A"/>
          </a:solidFill>
          <a:ln/>
        </p:spPr>
        <p:txBody>
          <a:bodyPr/>
          <a:lstStyle/>
          <a:p>
            <a:endParaRPr lang="en-US"/>
          </a:p>
        </p:txBody>
      </p:sp>
      <p:sp>
        <p:nvSpPr>
          <p:cNvPr id="33" name="Shape 31"/>
          <p:cNvSpPr/>
          <p:nvPr/>
        </p:nvSpPr>
        <p:spPr>
          <a:xfrm>
            <a:off x="12450217" y="1497509"/>
            <a:ext cx="454521" cy="468809"/>
          </a:xfrm>
          <a:prstGeom prst="rect">
            <a:avLst/>
          </a:prstGeom>
          <a:solidFill>
            <a:srgbClr val="FF5A1F"/>
          </a:solidFill>
          <a:ln/>
        </p:spPr>
        <p:txBody>
          <a:bodyPr/>
          <a:lstStyle/>
          <a:p>
            <a:endParaRPr lang="en-US"/>
          </a:p>
        </p:txBody>
      </p:sp>
      <p:sp>
        <p:nvSpPr>
          <p:cNvPr id="34" name="Shape 32"/>
          <p:cNvSpPr/>
          <p:nvPr/>
        </p:nvSpPr>
        <p:spPr>
          <a:xfrm>
            <a:off x="12942838" y="1497509"/>
            <a:ext cx="454521" cy="468809"/>
          </a:xfrm>
          <a:prstGeom prst="rect">
            <a:avLst/>
          </a:prstGeom>
          <a:solidFill>
            <a:srgbClr val="FF5A1F"/>
          </a:solidFill>
          <a:ln/>
        </p:spPr>
        <p:txBody>
          <a:bodyPr/>
          <a:lstStyle/>
          <a:p>
            <a:endParaRPr lang="en-US"/>
          </a:p>
        </p:txBody>
      </p:sp>
      <p:sp>
        <p:nvSpPr>
          <p:cNvPr id="35" name="Shape 33"/>
          <p:cNvSpPr/>
          <p:nvPr/>
        </p:nvSpPr>
        <p:spPr>
          <a:xfrm>
            <a:off x="13435459" y="1497509"/>
            <a:ext cx="454521" cy="468809"/>
          </a:xfrm>
          <a:prstGeom prst="rect">
            <a:avLst/>
          </a:prstGeom>
          <a:solidFill>
            <a:srgbClr val="5C2A0E"/>
          </a:solidFill>
          <a:ln/>
        </p:spPr>
        <p:txBody>
          <a:bodyPr/>
          <a:lstStyle/>
          <a:p>
            <a:endParaRPr lang="en-US"/>
          </a:p>
        </p:txBody>
      </p:sp>
      <p:sp>
        <p:nvSpPr>
          <p:cNvPr id="36" name="Shape 34"/>
          <p:cNvSpPr/>
          <p:nvPr/>
        </p:nvSpPr>
        <p:spPr>
          <a:xfrm>
            <a:off x="13928080" y="1497509"/>
            <a:ext cx="454521" cy="468809"/>
          </a:xfrm>
          <a:prstGeom prst="rect">
            <a:avLst/>
          </a:prstGeom>
          <a:solidFill>
            <a:srgbClr val="FFB347"/>
          </a:solidFill>
          <a:ln/>
        </p:spPr>
        <p:txBody>
          <a:bodyPr/>
          <a:lstStyle/>
          <a:p>
            <a:endParaRPr lang="en-US"/>
          </a:p>
        </p:txBody>
      </p:sp>
      <p:sp>
        <p:nvSpPr>
          <p:cNvPr id="37" name="Shape 35"/>
          <p:cNvSpPr/>
          <p:nvPr/>
        </p:nvSpPr>
        <p:spPr>
          <a:xfrm>
            <a:off x="14420701" y="1497509"/>
            <a:ext cx="454372" cy="468809"/>
          </a:xfrm>
          <a:prstGeom prst="rect">
            <a:avLst/>
          </a:prstGeom>
          <a:solidFill>
            <a:srgbClr val="5C2A0E"/>
          </a:solidFill>
          <a:ln/>
        </p:spPr>
        <p:txBody>
          <a:bodyPr/>
          <a:lstStyle/>
          <a:p>
            <a:endParaRPr lang="en-US"/>
          </a:p>
        </p:txBody>
      </p:sp>
      <p:sp>
        <p:nvSpPr>
          <p:cNvPr id="38" name="Shape 36"/>
          <p:cNvSpPr/>
          <p:nvPr/>
        </p:nvSpPr>
        <p:spPr>
          <a:xfrm>
            <a:off x="14913173" y="1497509"/>
            <a:ext cx="454521" cy="468809"/>
          </a:xfrm>
          <a:prstGeom prst="rect">
            <a:avLst/>
          </a:prstGeom>
          <a:solidFill>
            <a:srgbClr val="5C2A0E"/>
          </a:solidFill>
          <a:ln/>
        </p:spPr>
        <p:txBody>
          <a:bodyPr/>
          <a:lstStyle/>
          <a:p>
            <a:endParaRPr lang="en-US"/>
          </a:p>
        </p:txBody>
      </p:sp>
      <p:sp>
        <p:nvSpPr>
          <p:cNvPr id="39" name="Shape 37"/>
          <p:cNvSpPr/>
          <p:nvPr/>
        </p:nvSpPr>
        <p:spPr>
          <a:xfrm>
            <a:off x="15405795" y="1497509"/>
            <a:ext cx="454521" cy="468809"/>
          </a:xfrm>
          <a:prstGeom prst="rect">
            <a:avLst/>
          </a:prstGeom>
          <a:solidFill>
            <a:srgbClr val="2A2F3A"/>
          </a:solidFill>
          <a:ln/>
        </p:spPr>
        <p:txBody>
          <a:bodyPr/>
          <a:lstStyle/>
          <a:p>
            <a:endParaRPr lang="en-US"/>
          </a:p>
        </p:txBody>
      </p:sp>
      <p:sp>
        <p:nvSpPr>
          <p:cNvPr id="40" name="Shape 38"/>
          <p:cNvSpPr/>
          <p:nvPr/>
        </p:nvSpPr>
        <p:spPr>
          <a:xfrm>
            <a:off x="15898416" y="1497509"/>
            <a:ext cx="454521" cy="468809"/>
          </a:xfrm>
          <a:prstGeom prst="rect">
            <a:avLst/>
          </a:prstGeom>
          <a:solidFill>
            <a:srgbClr val="2A2F3A"/>
          </a:solidFill>
          <a:ln/>
        </p:spPr>
        <p:txBody>
          <a:bodyPr/>
          <a:lstStyle/>
          <a:p>
            <a:endParaRPr lang="en-US"/>
          </a:p>
        </p:txBody>
      </p:sp>
      <p:sp>
        <p:nvSpPr>
          <p:cNvPr id="41" name="Shape 39"/>
          <p:cNvSpPr/>
          <p:nvPr/>
        </p:nvSpPr>
        <p:spPr>
          <a:xfrm>
            <a:off x="16391037" y="1497509"/>
            <a:ext cx="454521" cy="468809"/>
          </a:xfrm>
          <a:prstGeom prst="rect">
            <a:avLst/>
          </a:prstGeom>
          <a:solidFill>
            <a:srgbClr val="2A2F3A"/>
          </a:solidFill>
          <a:ln/>
        </p:spPr>
        <p:txBody>
          <a:bodyPr/>
          <a:lstStyle/>
          <a:p>
            <a:endParaRPr lang="en-US"/>
          </a:p>
        </p:txBody>
      </p:sp>
      <p:sp>
        <p:nvSpPr>
          <p:cNvPr id="42" name="Shape 40"/>
          <p:cNvSpPr/>
          <p:nvPr/>
        </p:nvSpPr>
        <p:spPr>
          <a:xfrm>
            <a:off x="16883658" y="1497509"/>
            <a:ext cx="454521" cy="468809"/>
          </a:xfrm>
          <a:prstGeom prst="rect">
            <a:avLst/>
          </a:prstGeom>
          <a:solidFill>
            <a:srgbClr val="FFB347"/>
          </a:solidFill>
          <a:ln/>
        </p:spPr>
        <p:txBody>
          <a:bodyPr/>
          <a:lstStyle/>
          <a:p>
            <a:endParaRPr lang="en-US"/>
          </a:p>
        </p:txBody>
      </p:sp>
      <p:sp>
        <p:nvSpPr>
          <p:cNvPr id="43" name="Shape 41"/>
          <p:cNvSpPr/>
          <p:nvPr/>
        </p:nvSpPr>
        <p:spPr>
          <a:xfrm>
            <a:off x="17376279" y="1497509"/>
            <a:ext cx="454521" cy="468809"/>
          </a:xfrm>
          <a:prstGeom prst="rect">
            <a:avLst/>
          </a:prstGeom>
          <a:solidFill>
            <a:srgbClr val="FFE08A"/>
          </a:solidFill>
          <a:ln/>
        </p:spPr>
        <p:txBody>
          <a:bodyPr/>
          <a:lstStyle/>
          <a:p>
            <a:endParaRPr lang="en-US"/>
          </a:p>
        </p:txBody>
      </p:sp>
      <p:sp>
        <p:nvSpPr>
          <p:cNvPr id="44" name="Shape 42"/>
          <p:cNvSpPr/>
          <p:nvPr/>
        </p:nvSpPr>
        <p:spPr>
          <a:xfrm>
            <a:off x="10972502" y="2004417"/>
            <a:ext cx="454372" cy="468809"/>
          </a:xfrm>
          <a:prstGeom prst="rect">
            <a:avLst/>
          </a:prstGeom>
          <a:solidFill>
            <a:srgbClr val="2A2F3A"/>
          </a:solidFill>
          <a:ln/>
        </p:spPr>
        <p:txBody>
          <a:bodyPr/>
          <a:lstStyle/>
          <a:p>
            <a:endParaRPr lang="en-US"/>
          </a:p>
        </p:txBody>
      </p:sp>
      <p:sp>
        <p:nvSpPr>
          <p:cNvPr id="45" name="Shape 43"/>
          <p:cNvSpPr/>
          <p:nvPr/>
        </p:nvSpPr>
        <p:spPr>
          <a:xfrm>
            <a:off x="11464975" y="2004417"/>
            <a:ext cx="454521" cy="468809"/>
          </a:xfrm>
          <a:prstGeom prst="rect">
            <a:avLst/>
          </a:prstGeom>
          <a:solidFill>
            <a:srgbClr val="5C2A0E"/>
          </a:solidFill>
          <a:ln/>
        </p:spPr>
        <p:txBody>
          <a:bodyPr/>
          <a:lstStyle/>
          <a:p>
            <a:endParaRPr lang="en-US"/>
          </a:p>
        </p:txBody>
      </p:sp>
      <p:sp>
        <p:nvSpPr>
          <p:cNvPr id="46" name="Shape 44"/>
          <p:cNvSpPr/>
          <p:nvPr/>
        </p:nvSpPr>
        <p:spPr>
          <a:xfrm>
            <a:off x="11957596" y="2004417"/>
            <a:ext cx="454521" cy="468809"/>
          </a:xfrm>
          <a:prstGeom prst="rect">
            <a:avLst/>
          </a:prstGeom>
          <a:solidFill>
            <a:srgbClr val="C9461A"/>
          </a:solidFill>
          <a:ln/>
        </p:spPr>
        <p:txBody>
          <a:bodyPr/>
          <a:lstStyle/>
          <a:p>
            <a:endParaRPr lang="en-US"/>
          </a:p>
        </p:txBody>
      </p:sp>
      <p:sp>
        <p:nvSpPr>
          <p:cNvPr id="47" name="Shape 45"/>
          <p:cNvSpPr/>
          <p:nvPr/>
        </p:nvSpPr>
        <p:spPr>
          <a:xfrm>
            <a:off x="12450217" y="2004417"/>
            <a:ext cx="454521" cy="468809"/>
          </a:xfrm>
          <a:prstGeom prst="rect">
            <a:avLst/>
          </a:prstGeom>
          <a:solidFill>
            <a:srgbClr val="FFB347"/>
          </a:solidFill>
          <a:ln/>
        </p:spPr>
        <p:txBody>
          <a:bodyPr/>
          <a:lstStyle/>
          <a:p>
            <a:endParaRPr lang="en-US"/>
          </a:p>
        </p:txBody>
      </p:sp>
      <p:sp>
        <p:nvSpPr>
          <p:cNvPr id="48" name="Shape 46"/>
          <p:cNvSpPr/>
          <p:nvPr/>
        </p:nvSpPr>
        <p:spPr>
          <a:xfrm>
            <a:off x="12942838" y="2004417"/>
            <a:ext cx="454521" cy="468809"/>
          </a:xfrm>
          <a:prstGeom prst="rect">
            <a:avLst/>
          </a:prstGeom>
          <a:solidFill>
            <a:srgbClr val="5C2A0E"/>
          </a:solidFill>
          <a:ln/>
        </p:spPr>
        <p:txBody>
          <a:bodyPr/>
          <a:lstStyle/>
          <a:p>
            <a:endParaRPr lang="en-US"/>
          </a:p>
        </p:txBody>
      </p:sp>
      <p:sp>
        <p:nvSpPr>
          <p:cNvPr id="49" name="Shape 47"/>
          <p:cNvSpPr/>
          <p:nvPr/>
        </p:nvSpPr>
        <p:spPr>
          <a:xfrm>
            <a:off x="13435459" y="2004417"/>
            <a:ext cx="454521" cy="468809"/>
          </a:xfrm>
          <a:prstGeom prst="rect">
            <a:avLst/>
          </a:prstGeom>
          <a:solidFill>
            <a:srgbClr val="5C2A0E"/>
          </a:solidFill>
          <a:ln/>
        </p:spPr>
        <p:txBody>
          <a:bodyPr/>
          <a:lstStyle/>
          <a:p>
            <a:endParaRPr lang="en-US"/>
          </a:p>
        </p:txBody>
      </p:sp>
      <p:sp>
        <p:nvSpPr>
          <p:cNvPr id="50" name="Shape 48"/>
          <p:cNvSpPr/>
          <p:nvPr/>
        </p:nvSpPr>
        <p:spPr>
          <a:xfrm>
            <a:off x="13928080" y="2004417"/>
            <a:ext cx="454521" cy="468809"/>
          </a:xfrm>
          <a:prstGeom prst="rect">
            <a:avLst/>
          </a:prstGeom>
          <a:solidFill>
            <a:srgbClr val="FFE08A"/>
          </a:solidFill>
          <a:ln/>
        </p:spPr>
        <p:txBody>
          <a:bodyPr/>
          <a:lstStyle/>
          <a:p>
            <a:endParaRPr lang="en-US"/>
          </a:p>
        </p:txBody>
      </p:sp>
      <p:sp>
        <p:nvSpPr>
          <p:cNvPr id="51" name="Shape 49"/>
          <p:cNvSpPr/>
          <p:nvPr/>
        </p:nvSpPr>
        <p:spPr>
          <a:xfrm>
            <a:off x="14420701" y="2004417"/>
            <a:ext cx="454372" cy="468809"/>
          </a:xfrm>
          <a:prstGeom prst="rect">
            <a:avLst/>
          </a:prstGeom>
          <a:solidFill>
            <a:srgbClr val="2A2F3A"/>
          </a:solidFill>
          <a:ln/>
        </p:spPr>
        <p:txBody>
          <a:bodyPr/>
          <a:lstStyle/>
          <a:p>
            <a:endParaRPr lang="en-US"/>
          </a:p>
        </p:txBody>
      </p:sp>
      <p:sp>
        <p:nvSpPr>
          <p:cNvPr id="52" name="Shape 50"/>
          <p:cNvSpPr/>
          <p:nvPr/>
        </p:nvSpPr>
        <p:spPr>
          <a:xfrm>
            <a:off x="14913173" y="2004417"/>
            <a:ext cx="454521" cy="468809"/>
          </a:xfrm>
          <a:prstGeom prst="rect">
            <a:avLst/>
          </a:prstGeom>
          <a:solidFill>
            <a:srgbClr val="FFE08A"/>
          </a:solidFill>
          <a:ln/>
        </p:spPr>
        <p:txBody>
          <a:bodyPr/>
          <a:lstStyle/>
          <a:p>
            <a:endParaRPr lang="en-US"/>
          </a:p>
        </p:txBody>
      </p:sp>
      <p:sp>
        <p:nvSpPr>
          <p:cNvPr id="53" name="Shape 51"/>
          <p:cNvSpPr/>
          <p:nvPr/>
        </p:nvSpPr>
        <p:spPr>
          <a:xfrm>
            <a:off x="15405795" y="2004417"/>
            <a:ext cx="454521" cy="468809"/>
          </a:xfrm>
          <a:prstGeom prst="rect">
            <a:avLst/>
          </a:prstGeom>
          <a:solidFill>
            <a:srgbClr val="2A2F3A"/>
          </a:solidFill>
          <a:ln/>
        </p:spPr>
        <p:txBody>
          <a:bodyPr/>
          <a:lstStyle/>
          <a:p>
            <a:endParaRPr lang="en-US"/>
          </a:p>
        </p:txBody>
      </p:sp>
      <p:sp>
        <p:nvSpPr>
          <p:cNvPr id="54" name="Shape 52"/>
          <p:cNvSpPr/>
          <p:nvPr/>
        </p:nvSpPr>
        <p:spPr>
          <a:xfrm>
            <a:off x="15898416" y="2004417"/>
            <a:ext cx="454521" cy="468809"/>
          </a:xfrm>
          <a:prstGeom prst="rect">
            <a:avLst/>
          </a:prstGeom>
          <a:solidFill>
            <a:srgbClr val="2A2F3A"/>
          </a:solidFill>
          <a:ln/>
        </p:spPr>
        <p:txBody>
          <a:bodyPr/>
          <a:lstStyle/>
          <a:p>
            <a:endParaRPr lang="en-US"/>
          </a:p>
        </p:txBody>
      </p:sp>
      <p:sp>
        <p:nvSpPr>
          <p:cNvPr id="55" name="Shape 53"/>
          <p:cNvSpPr/>
          <p:nvPr/>
        </p:nvSpPr>
        <p:spPr>
          <a:xfrm>
            <a:off x="16391037" y="2004417"/>
            <a:ext cx="454521" cy="468809"/>
          </a:xfrm>
          <a:prstGeom prst="rect">
            <a:avLst/>
          </a:prstGeom>
          <a:solidFill>
            <a:srgbClr val="2A2F3A"/>
          </a:solidFill>
          <a:ln/>
        </p:spPr>
        <p:txBody>
          <a:bodyPr/>
          <a:lstStyle/>
          <a:p>
            <a:endParaRPr lang="en-US"/>
          </a:p>
        </p:txBody>
      </p:sp>
      <p:sp>
        <p:nvSpPr>
          <p:cNvPr id="56" name="Shape 54"/>
          <p:cNvSpPr/>
          <p:nvPr/>
        </p:nvSpPr>
        <p:spPr>
          <a:xfrm>
            <a:off x="16883658" y="2004417"/>
            <a:ext cx="454521" cy="468809"/>
          </a:xfrm>
          <a:prstGeom prst="rect">
            <a:avLst/>
          </a:prstGeom>
          <a:solidFill>
            <a:srgbClr val="FFB347"/>
          </a:solidFill>
          <a:ln/>
        </p:spPr>
        <p:txBody>
          <a:bodyPr/>
          <a:lstStyle/>
          <a:p>
            <a:endParaRPr lang="en-US"/>
          </a:p>
        </p:txBody>
      </p:sp>
      <p:sp>
        <p:nvSpPr>
          <p:cNvPr id="57" name="Shape 55"/>
          <p:cNvSpPr/>
          <p:nvPr/>
        </p:nvSpPr>
        <p:spPr>
          <a:xfrm>
            <a:off x="17376279" y="2004417"/>
            <a:ext cx="454521" cy="468809"/>
          </a:xfrm>
          <a:prstGeom prst="rect">
            <a:avLst/>
          </a:prstGeom>
          <a:solidFill>
            <a:srgbClr val="FFE08A"/>
          </a:solidFill>
          <a:ln/>
        </p:spPr>
        <p:txBody>
          <a:bodyPr/>
          <a:lstStyle/>
          <a:p>
            <a:endParaRPr lang="en-US"/>
          </a:p>
        </p:txBody>
      </p:sp>
      <p:sp>
        <p:nvSpPr>
          <p:cNvPr id="58" name="Shape 56"/>
          <p:cNvSpPr/>
          <p:nvPr/>
        </p:nvSpPr>
        <p:spPr>
          <a:xfrm>
            <a:off x="10972502" y="2511326"/>
            <a:ext cx="454372" cy="468809"/>
          </a:xfrm>
          <a:prstGeom prst="rect">
            <a:avLst/>
          </a:prstGeom>
          <a:solidFill>
            <a:srgbClr val="2A2F3A"/>
          </a:solidFill>
          <a:ln/>
        </p:spPr>
        <p:txBody>
          <a:bodyPr/>
          <a:lstStyle/>
          <a:p>
            <a:endParaRPr lang="en-US"/>
          </a:p>
        </p:txBody>
      </p:sp>
      <p:sp>
        <p:nvSpPr>
          <p:cNvPr id="59" name="Shape 57"/>
          <p:cNvSpPr/>
          <p:nvPr/>
        </p:nvSpPr>
        <p:spPr>
          <a:xfrm>
            <a:off x="11464975" y="2511326"/>
            <a:ext cx="454521" cy="468809"/>
          </a:xfrm>
          <a:prstGeom prst="rect">
            <a:avLst/>
          </a:prstGeom>
          <a:solidFill>
            <a:srgbClr val="5C2A0E"/>
          </a:solidFill>
          <a:ln/>
        </p:spPr>
        <p:txBody>
          <a:bodyPr/>
          <a:lstStyle/>
          <a:p>
            <a:endParaRPr lang="en-US"/>
          </a:p>
        </p:txBody>
      </p:sp>
      <p:sp>
        <p:nvSpPr>
          <p:cNvPr id="60" name="Shape 58"/>
          <p:cNvSpPr/>
          <p:nvPr/>
        </p:nvSpPr>
        <p:spPr>
          <a:xfrm>
            <a:off x="11957596" y="2511326"/>
            <a:ext cx="454521" cy="468809"/>
          </a:xfrm>
          <a:prstGeom prst="rect">
            <a:avLst/>
          </a:prstGeom>
          <a:solidFill>
            <a:srgbClr val="C9461A"/>
          </a:solidFill>
          <a:ln/>
        </p:spPr>
        <p:txBody>
          <a:bodyPr/>
          <a:lstStyle/>
          <a:p>
            <a:endParaRPr lang="en-US"/>
          </a:p>
        </p:txBody>
      </p:sp>
      <p:sp>
        <p:nvSpPr>
          <p:cNvPr id="61" name="Shape 59"/>
          <p:cNvSpPr/>
          <p:nvPr/>
        </p:nvSpPr>
        <p:spPr>
          <a:xfrm>
            <a:off x="12450217" y="2511326"/>
            <a:ext cx="454521" cy="468809"/>
          </a:xfrm>
          <a:prstGeom prst="rect">
            <a:avLst/>
          </a:prstGeom>
          <a:solidFill>
            <a:srgbClr val="FFE08A"/>
          </a:solidFill>
          <a:ln/>
        </p:spPr>
        <p:txBody>
          <a:bodyPr/>
          <a:lstStyle/>
          <a:p>
            <a:endParaRPr lang="en-US"/>
          </a:p>
        </p:txBody>
      </p:sp>
      <p:sp>
        <p:nvSpPr>
          <p:cNvPr id="62" name="Shape 60"/>
          <p:cNvSpPr/>
          <p:nvPr/>
        </p:nvSpPr>
        <p:spPr>
          <a:xfrm>
            <a:off x="12942838" y="2511326"/>
            <a:ext cx="454521" cy="468809"/>
          </a:xfrm>
          <a:prstGeom prst="rect">
            <a:avLst/>
          </a:prstGeom>
          <a:solidFill>
            <a:srgbClr val="2A2F3A"/>
          </a:solidFill>
          <a:ln/>
        </p:spPr>
        <p:txBody>
          <a:bodyPr/>
          <a:lstStyle/>
          <a:p>
            <a:endParaRPr lang="en-US"/>
          </a:p>
        </p:txBody>
      </p:sp>
      <p:sp>
        <p:nvSpPr>
          <p:cNvPr id="63" name="Shape 61"/>
          <p:cNvSpPr/>
          <p:nvPr/>
        </p:nvSpPr>
        <p:spPr>
          <a:xfrm>
            <a:off x="13435459" y="2511326"/>
            <a:ext cx="454521" cy="468809"/>
          </a:xfrm>
          <a:prstGeom prst="rect">
            <a:avLst/>
          </a:prstGeom>
          <a:solidFill>
            <a:srgbClr val="FF5A1F"/>
          </a:solidFill>
          <a:ln/>
        </p:spPr>
        <p:txBody>
          <a:bodyPr/>
          <a:lstStyle/>
          <a:p>
            <a:endParaRPr lang="en-US"/>
          </a:p>
        </p:txBody>
      </p:sp>
      <p:sp>
        <p:nvSpPr>
          <p:cNvPr id="64" name="Shape 62"/>
          <p:cNvSpPr/>
          <p:nvPr/>
        </p:nvSpPr>
        <p:spPr>
          <a:xfrm>
            <a:off x="13928080" y="2511326"/>
            <a:ext cx="454521" cy="468809"/>
          </a:xfrm>
          <a:prstGeom prst="rect">
            <a:avLst/>
          </a:prstGeom>
          <a:solidFill>
            <a:srgbClr val="FFB347"/>
          </a:solidFill>
          <a:ln/>
        </p:spPr>
        <p:txBody>
          <a:bodyPr/>
          <a:lstStyle/>
          <a:p>
            <a:endParaRPr lang="en-US"/>
          </a:p>
        </p:txBody>
      </p:sp>
      <p:sp>
        <p:nvSpPr>
          <p:cNvPr id="65" name="Shape 63"/>
          <p:cNvSpPr/>
          <p:nvPr/>
        </p:nvSpPr>
        <p:spPr>
          <a:xfrm>
            <a:off x="14420701" y="2511326"/>
            <a:ext cx="454372" cy="468809"/>
          </a:xfrm>
          <a:prstGeom prst="rect">
            <a:avLst/>
          </a:prstGeom>
          <a:solidFill>
            <a:srgbClr val="FFB347"/>
          </a:solidFill>
          <a:ln/>
        </p:spPr>
        <p:txBody>
          <a:bodyPr/>
          <a:lstStyle/>
          <a:p>
            <a:endParaRPr lang="en-US"/>
          </a:p>
        </p:txBody>
      </p:sp>
      <p:sp>
        <p:nvSpPr>
          <p:cNvPr id="66" name="Shape 64"/>
          <p:cNvSpPr/>
          <p:nvPr/>
        </p:nvSpPr>
        <p:spPr>
          <a:xfrm>
            <a:off x="14913173" y="2511326"/>
            <a:ext cx="454521" cy="468809"/>
          </a:xfrm>
          <a:prstGeom prst="rect">
            <a:avLst/>
          </a:prstGeom>
          <a:solidFill>
            <a:srgbClr val="C9461A"/>
          </a:solidFill>
          <a:ln/>
        </p:spPr>
        <p:txBody>
          <a:bodyPr/>
          <a:lstStyle/>
          <a:p>
            <a:endParaRPr lang="en-US"/>
          </a:p>
        </p:txBody>
      </p:sp>
      <p:sp>
        <p:nvSpPr>
          <p:cNvPr id="67" name="Shape 65"/>
          <p:cNvSpPr/>
          <p:nvPr/>
        </p:nvSpPr>
        <p:spPr>
          <a:xfrm>
            <a:off x="15405795" y="2511326"/>
            <a:ext cx="454521" cy="468809"/>
          </a:xfrm>
          <a:prstGeom prst="rect">
            <a:avLst/>
          </a:prstGeom>
          <a:solidFill>
            <a:srgbClr val="5C2A0E"/>
          </a:solidFill>
          <a:ln/>
        </p:spPr>
        <p:txBody>
          <a:bodyPr/>
          <a:lstStyle/>
          <a:p>
            <a:endParaRPr lang="en-US"/>
          </a:p>
        </p:txBody>
      </p:sp>
      <p:sp>
        <p:nvSpPr>
          <p:cNvPr id="68" name="Shape 66"/>
          <p:cNvSpPr/>
          <p:nvPr/>
        </p:nvSpPr>
        <p:spPr>
          <a:xfrm>
            <a:off x="15898416" y="2511326"/>
            <a:ext cx="454521" cy="468809"/>
          </a:xfrm>
          <a:prstGeom prst="rect">
            <a:avLst/>
          </a:prstGeom>
          <a:solidFill>
            <a:srgbClr val="5C2A0E"/>
          </a:solidFill>
          <a:ln/>
        </p:spPr>
        <p:txBody>
          <a:bodyPr/>
          <a:lstStyle/>
          <a:p>
            <a:endParaRPr lang="en-US"/>
          </a:p>
        </p:txBody>
      </p:sp>
      <p:sp>
        <p:nvSpPr>
          <p:cNvPr id="69" name="Shape 67"/>
          <p:cNvSpPr/>
          <p:nvPr/>
        </p:nvSpPr>
        <p:spPr>
          <a:xfrm>
            <a:off x="16391037" y="2511326"/>
            <a:ext cx="454521" cy="468809"/>
          </a:xfrm>
          <a:prstGeom prst="rect">
            <a:avLst/>
          </a:prstGeom>
          <a:solidFill>
            <a:srgbClr val="FFE08A"/>
          </a:solidFill>
          <a:ln/>
        </p:spPr>
        <p:txBody>
          <a:bodyPr/>
          <a:lstStyle/>
          <a:p>
            <a:endParaRPr lang="en-US"/>
          </a:p>
        </p:txBody>
      </p:sp>
      <p:sp>
        <p:nvSpPr>
          <p:cNvPr id="70" name="Shape 68"/>
          <p:cNvSpPr/>
          <p:nvPr/>
        </p:nvSpPr>
        <p:spPr>
          <a:xfrm>
            <a:off x="16883658" y="2511326"/>
            <a:ext cx="454521" cy="468809"/>
          </a:xfrm>
          <a:prstGeom prst="rect">
            <a:avLst/>
          </a:prstGeom>
          <a:solidFill>
            <a:srgbClr val="2A2F3A"/>
          </a:solidFill>
          <a:ln/>
        </p:spPr>
        <p:txBody>
          <a:bodyPr/>
          <a:lstStyle/>
          <a:p>
            <a:endParaRPr lang="en-US"/>
          </a:p>
        </p:txBody>
      </p:sp>
      <p:sp>
        <p:nvSpPr>
          <p:cNvPr id="71" name="Shape 69"/>
          <p:cNvSpPr/>
          <p:nvPr/>
        </p:nvSpPr>
        <p:spPr>
          <a:xfrm>
            <a:off x="17376279" y="2511326"/>
            <a:ext cx="454521" cy="468809"/>
          </a:xfrm>
          <a:prstGeom prst="rect">
            <a:avLst/>
          </a:prstGeom>
          <a:solidFill>
            <a:srgbClr val="FFB347"/>
          </a:solidFill>
          <a:ln/>
        </p:spPr>
        <p:txBody>
          <a:bodyPr/>
          <a:lstStyle/>
          <a:p>
            <a:endParaRPr lang="en-US"/>
          </a:p>
        </p:txBody>
      </p:sp>
      <p:sp>
        <p:nvSpPr>
          <p:cNvPr id="72" name="Shape 70"/>
          <p:cNvSpPr/>
          <p:nvPr/>
        </p:nvSpPr>
        <p:spPr>
          <a:xfrm>
            <a:off x="10972502" y="3018234"/>
            <a:ext cx="454372" cy="468809"/>
          </a:xfrm>
          <a:prstGeom prst="rect">
            <a:avLst/>
          </a:prstGeom>
          <a:solidFill>
            <a:srgbClr val="FFB347"/>
          </a:solidFill>
          <a:ln/>
        </p:spPr>
        <p:txBody>
          <a:bodyPr/>
          <a:lstStyle/>
          <a:p>
            <a:endParaRPr lang="en-US"/>
          </a:p>
        </p:txBody>
      </p:sp>
      <p:sp>
        <p:nvSpPr>
          <p:cNvPr id="73" name="Shape 71"/>
          <p:cNvSpPr/>
          <p:nvPr/>
        </p:nvSpPr>
        <p:spPr>
          <a:xfrm>
            <a:off x="11464975" y="3018234"/>
            <a:ext cx="454521" cy="468809"/>
          </a:xfrm>
          <a:prstGeom prst="rect">
            <a:avLst/>
          </a:prstGeom>
          <a:solidFill>
            <a:srgbClr val="2A2F3A"/>
          </a:solidFill>
          <a:ln/>
        </p:spPr>
        <p:txBody>
          <a:bodyPr/>
          <a:lstStyle/>
          <a:p>
            <a:endParaRPr lang="en-US"/>
          </a:p>
        </p:txBody>
      </p:sp>
      <p:sp>
        <p:nvSpPr>
          <p:cNvPr id="74" name="Shape 72"/>
          <p:cNvSpPr/>
          <p:nvPr/>
        </p:nvSpPr>
        <p:spPr>
          <a:xfrm>
            <a:off x="11957596" y="3018234"/>
            <a:ext cx="454521" cy="468809"/>
          </a:xfrm>
          <a:prstGeom prst="rect">
            <a:avLst/>
          </a:prstGeom>
          <a:solidFill>
            <a:srgbClr val="2A2F3A"/>
          </a:solidFill>
          <a:ln/>
        </p:spPr>
        <p:txBody>
          <a:bodyPr/>
          <a:lstStyle/>
          <a:p>
            <a:endParaRPr lang="en-US"/>
          </a:p>
        </p:txBody>
      </p:sp>
      <p:sp>
        <p:nvSpPr>
          <p:cNvPr id="75" name="Shape 73"/>
          <p:cNvSpPr/>
          <p:nvPr/>
        </p:nvSpPr>
        <p:spPr>
          <a:xfrm>
            <a:off x="12450217" y="3018234"/>
            <a:ext cx="454521" cy="468809"/>
          </a:xfrm>
          <a:prstGeom prst="rect">
            <a:avLst/>
          </a:prstGeom>
          <a:solidFill>
            <a:srgbClr val="FFB347"/>
          </a:solidFill>
          <a:ln/>
        </p:spPr>
        <p:txBody>
          <a:bodyPr/>
          <a:lstStyle/>
          <a:p>
            <a:endParaRPr lang="en-US"/>
          </a:p>
        </p:txBody>
      </p:sp>
      <p:sp>
        <p:nvSpPr>
          <p:cNvPr id="76" name="Shape 74"/>
          <p:cNvSpPr/>
          <p:nvPr/>
        </p:nvSpPr>
        <p:spPr>
          <a:xfrm>
            <a:off x="12942838" y="3018234"/>
            <a:ext cx="454521" cy="468809"/>
          </a:xfrm>
          <a:prstGeom prst="rect">
            <a:avLst/>
          </a:prstGeom>
          <a:solidFill>
            <a:srgbClr val="2A2F3A"/>
          </a:solidFill>
          <a:ln/>
        </p:spPr>
        <p:txBody>
          <a:bodyPr/>
          <a:lstStyle/>
          <a:p>
            <a:endParaRPr lang="en-US"/>
          </a:p>
        </p:txBody>
      </p:sp>
      <p:sp>
        <p:nvSpPr>
          <p:cNvPr id="77" name="Shape 75"/>
          <p:cNvSpPr/>
          <p:nvPr/>
        </p:nvSpPr>
        <p:spPr>
          <a:xfrm>
            <a:off x="13435459" y="3018234"/>
            <a:ext cx="454521" cy="468809"/>
          </a:xfrm>
          <a:prstGeom prst="rect">
            <a:avLst/>
          </a:prstGeom>
          <a:solidFill>
            <a:srgbClr val="FF5A1F"/>
          </a:solidFill>
          <a:ln/>
        </p:spPr>
        <p:txBody>
          <a:bodyPr/>
          <a:lstStyle/>
          <a:p>
            <a:endParaRPr lang="en-US"/>
          </a:p>
        </p:txBody>
      </p:sp>
      <p:sp>
        <p:nvSpPr>
          <p:cNvPr id="78" name="Shape 76"/>
          <p:cNvSpPr/>
          <p:nvPr/>
        </p:nvSpPr>
        <p:spPr>
          <a:xfrm>
            <a:off x="13928080" y="3018234"/>
            <a:ext cx="454521" cy="468809"/>
          </a:xfrm>
          <a:prstGeom prst="rect">
            <a:avLst/>
          </a:prstGeom>
          <a:solidFill>
            <a:srgbClr val="2A2F3A"/>
          </a:solidFill>
          <a:ln/>
        </p:spPr>
        <p:txBody>
          <a:bodyPr/>
          <a:lstStyle/>
          <a:p>
            <a:endParaRPr lang="en-US"/>
          </a:p>
        </p:txBody>
      </p:sp>
      <p:sp>
        <p:nvSpPr>
          <p:cNvPr id="79" name="Shape 77"/>
          <p:cNvSpPr/>
          <p:nvPr/>
        </p:nvSpPr>
        <p:spPr>
          <a:xfrm>
            <a:off x="14420701" y="3018234"/>
            <a:ext cx="454372" cy="468809"/>
          </a:xfrm>
          <a:prstGeom prst="rect">
            <a:avLst/>
          </a:prstGeom>
          <a:solidFill>
            <a:srgbClr val="FF5A1F"/>
          </a:solidFill>
          <a:ln/>
        </p:spPr>
        <p:txBody>
          <a:bodyPr/>
          <a:lstStyle/>
          <a:p>
            <a:endParaRPr lang="en-US"/>
          </a:p>
        </p:txBody>
      </p:sp>
      <p:sp>
        <p:nvSpPr>
          <p:cNvPr id="80" name="Shape 78"/>
          <p:cNvSpPr/>
          <p:nvPr/>
        </p:nvSpPr>
        <p:spPr>
          <a:xfrm>
            <a:off x="14913173" y="3018234"/>
            <a:ext cx="454521" cy="468809"/>
          </a:xfrm>
          <a:prstGeom prst="rect">
            <a:avLst/>
          </a:prstGeom>
          <a:solidFill>
            <a:srgbClr val="2A2F3A"/>
          </a:solidFill>
          <a:ln/>
        </p:spPr>
        <p:txBody>
          <a:bodyPr/>
          <a:lstStyle/>
          <a:p>
            <a:endParaRPr lang="en-US"/>
          </a:p>
        </p:txBody>
      </p:sp>
      <p:sp>
        <p:nvSpPr>
          <p:cNvPr id="81" name="Shape 79"/>
          <p:cNvSpPr/>
          <p:nvPr/>
        </p:nvSpPr>
        <p:spPr>
          <a:xfrm>
            <a:off x="15405795" y="3018234"/>
            <a:ext cx="454521" cy="468809"/>
          </a:xfrm>
          <a:prstGeom prst="rect">
            <a:avLst/>
          </a:prstGeom>
          <a:solidFill>
            <a:srgbClr val="FFE08A"/>
          </a:solidFill>
          <a:ln/>
        </p:spPr>
        <p:txBody>
          <a:bodyPr/>
          <a:lstStyle/>
          <a:p>
            <a:endParaRPr lang="en-US"/>
          </a:p>
        </p:txBody>
      </p:sp>
      <p:sp>
        <p:nvSpPr>
          <p:cNvPr id="82" name="Shape 80"/>
          <p:cNvSpPr/>
          <p:nvPr/>
        </p:nvSpPr>
        <p:spPr>
          <a:xfrm>
            <a:off x="15898416" y="3018234"/>
            <a:ext cx="454521" cy="468809"/>
          </a:xfrm>
          <a:prstGeom prst="rect">
            <a:avLst/>
          </a:prstGeom>
          <a:solidFill>
            <a:srgbClr val="FFE08A"/>
          </a:solidFill>
          <a:ln/>
        </p:spPr>
        <p:txBody>
          <a:bodyPr/>
          <a:lstStyle/>
          <a:p>
            <a:endParaRPr lang="en-US"/>
          </a:p>
        </p:txBody>
      </p:sp>
      <p:sp>
        <p:nvSpPr>
          <p:cNvPr id="83" name="Shape 81"/>
          <p:cNvSpPr/>
          <p:nvPr/>
        </p:nvSpPr>
        <p:spPr>
          <a:xfrm>
            <a:off x="16391037" y="3018234"/>
            <a:ext cx="454521" cy="468809"/>
          </a:xfrm>
          <a:prstGeom prst="rect">
            <a:avLst/>
          </a:prstGeom>
          <a:solidFill>
            <a:srgbClr val="FF5A1F"/>
          </a:solidFill>
          <a:ln/>
        </p:spPr>
        <p:txBody>
          <a:bodyPr/>
          <a:lstStyle/>
          <a:p>
            <a:endParaRPr lang="en-US"/>
          </a:p>
        </p:txBody>
      </p:sp>
      <p:sp>
        <p:nvSpPr>
          <p:cNvPr id="84" name="Shape 82"/>
          <p:cNvSpPr/>
          <p:nvPr/>
        </p:nvSpPr>
        <p:spPr>
          <a:xfrm>
            <a:off x="16883658" y="3018234"/>
            <a:ext cx="454521" cy="468809"/>
          </a:xfrm>
          <a:prstGeom prst="rect">
            <a:avLst/>
          </a:prstGeom>
          <a:solidFill>
            <a:srgbClr val="FF5A1F"/>
          </a:solidFill>
          <a:ln/>
        </p:spPr>
        <p:txBody>
          <a:bodyPr/>
          <a:lstStyle/>
          <a:p>
            <a:endParaRPr lang="en-US"/>
          </a:p>
        </p:txBody>
      </p:sp>
      <p:sp>
        <p:nvSpPr>
          <p:cNvPr id="85" name="Shape 83"/>
          <p:cNvSpPr/>
          <p:nvPr/>
        </p:nvSpPr>
        <p:spPr>
          <a:xfrm>
            <a:off x="17376279" y="3018234"/>
            <a:ext cx="454521" cy="468809"/>
          </a:xfrm>
          <a:prstGeom prst="rect">
            <a:avLst/>
          </a:prstGeom>
          <a:solidFill>
            <a:srgbClr val="2A2F3A"/>
          </a:solidFill>
          <a:ln/>
        </p:spPr>
        <p:txBody>
          <a:bodyPr/>
          <a:lstStyle/>
          <a:p>
            <a:endParaRPr lang="en-US"/>
          </a:p>
        </p:txBody>
      </p:sp>
      <p:sp>
        <p:nvSpPr>
          <p:cNvPr id="86" name="Shape 84"/>
          <p:cNvSpPr/>
          <p:nvPr/>
        </p:nvSpPr>
        <p:spPr>
          <a:xfrm>
            <a:off x="10972502" y="3525143"/>
            <a:ext cx="454372" cy="468809"/>
          </a:xfrm>
          <a:prstGeom prst="rect">
            <a:avLst/>
          </a:prstGeom>
          <a:solidFill>
            <a:srgbClr val="2A2F3A"/>
          </a:solidFill>
          <a:ln/>
        </p:spPr>
        <p:txBody>
          <a:bodyPr/>
          <a:lstStyle/>
          <a:p>
            <a:endParaRPr lang="en-US"/>
          </a:p>
        </p:txBody>
      </p:sp>
      <p:sp>
        <p:nvSpPr>
          <p:cNvPr id="87" name="Shape 85"/>
          <p:cNvSpPr/>
          <p:nvPr/>
        </p:nvSpPr>
        <p:spPr>
          <a:xfrm>
            <a:off x="11464975" y="3525143"/>
            <a:ext cx="454521" cy="468809"/>
          </a:xfrm>
          <a:prstGeom prst="rect">
            <a:avLst/>
          </a:prstGeom>
          <a:solidFill>
            <a:srgbClr val="2A2F3A"/>
          </a:solidFill>
          <a:ln/>
        </p:spPr>
        <p:txBody>
          <a:bodyPr/>
          <a:lstStyle/>
          <a:p>
            <a:endParaRPr lang="en-US"/>
          </a:p>
        </p:txBody>
      </p:sp>
      <p:sp>
        <p:nvSpPr>
          <p:cNvPr id="88" name="Shape 86"/>
          <p:cNvSpPr/>
          <p:nvPr/>
        </p:nvSpPr>
        <p:spPr>
          <a:xfrm>
            <a:off x="11957596" y="3525143"/>
            <a:ext cx="454521" cy="468809"/>
          </a:xfrm>
          <a:prstGeom prst="rect">
            <a:avLst/>
          </a:prstGeom>
          <a:solidFill>
            <a:srgbClr val="2A2F3A"/>
          </a:solidFill>
          <a:ln/>
        </p:spPr>
        <p:txBody>
          <a:bodyPr/>
          <a:lstStyle/>
          <a:p>
            <a:endParaRPr lang="en-US"/>
          </a:p>
        </p:txBody>
      </p:sp>
      <p:sp>
        <p:nvSpPr>
          <p:cNvPr id="89" name="Shape 87"/>
          <p:cNvSpPr/>
          <p:nvPr/>
        </p:nvSpPr>
        <p:spPr>
          <a:xfrm>
            <a:off x="12450217" y="3525143"/>
            <a:ext cx="454521" cy="468809"/>
          </a:xfrm>
          <a:prstGeom prst="rect">
            <a:avLst/>
          </a:prstGeom>
          <a:solidFill>
            <a:srgbClr val="2A2F3A"/>
          </a:solidFill>
          <a:ln/>
        </p:spPr>
        <p:txBody>
          <a:bodyPr/>
          <a:lstStyle/>
          <a:p>
            <a:endParaRPr lang="en-US"/>
          </a:p>
        </p:txBody>
      </p:sp>
      <p:sp>
        <p:nvSpPr>
          <p:cNvPr id="90" name="Shape 88"/>
          <p:cNvSpPr/>
          <p:nvPr/>
        </p:nvSpPr>
        <p:spPr>
          <a:xfrm>
            <a:off x="12942838" y="3525143"/>
            <a:ext cx="454521" cy="468809"/>
          </a:xfrm>
          <a:prstGeom prst="rect">
            <a:avLst/>
          </a:prstGeom>
          <a:solidFill>
            <a:srgbClr val="2A2F3A"/>
          </a:solidFill>
          <a:ln/>
        </p:spPr>
        <p:txBody>
          <a:bodyPr/>
          <a:lstStyle/>
          <a:p>
            <a:endParaRPr lang="en-US"/>
          </a:p>
        </p:txBody>
      </p:sp>
      <p:sp>
        <p:nvSpPr>
          <p:cNvPr id="91" name="Shape 89"/>
          <p:cNvSpPr/>
          <p:nvPr/>
        </p:nvSpPr>
        <p:spPr>
          <a:xfrm>
            <a:off x="13435459" y="3525143"/>
            <a:ext cx="454521" cy="468809"/>
          </a:xfrm>
          <a:prstGeom prst="rect">
            <a:avLst/>
          </a:prstGeom>
          <a:solidFill>
            <a:srgbClr val="2A2F3A"/>
          </a:solidFill>
          <a:ln/>
        </p:spPr>
        <p:txBody>
          <a:bodyPr/>
          <a:lstStyle/>
          <a:p>
            <a:endParaRPr lang="en-US"/>
          </a:p>
        </p:txBody>
      </p:sp>
      <p:sp>
        <p:nvSpPr>
          <p:cNvPr id="92" name="Shape 90"/>
          <p:cNvSpPr/>
          <p:nvPr/>
        </p:nvSpPr>
        <p:spPr>
          <a:xfrm>
            <a:off x="13928080" y="3525143"/>
            <a:ext cx="454521" cy="468809"/>
          </a:xfrm>
          <a:prstGeom prst="rect">
            <a:avLst/>
          </a:prstGeom>
          <a:solidFill>
            <a:srgbClr val="2A2F3A"/>
          </a:solidFill>
          <a:ln/>
        </p:spPr>
        <p:txBody>
          <a:bodyPr/>
          <a:lstStyle/>
          <a:p>
            <a:endParaRPr lang="en-US"/>
          </a:p>
        </p:txBody>
      </p:sp>
      <p:sp>
        <p:nvSpPr>
          <p:cNvPr id="93" name="Shape 91"/>
          <p:cNvSpPr/>
          <p:nvPr/>
        </p:nvSpPr>
        <p:spPr>
          <a:xfrm>
            <a:off x="14420701" y="3525143"/>
            <a:ext cx="454372" cy="468809"/>
          </a:xfrm>
          <a:prstGeom prst="rect">
            <a:avLst/>
          </a:prstGeom>
          <a:solidFill>
            <a:srgbClr val="C9461A"/>
          </a:solidFill>
          <a:ln/>
        </p:spPr>
        <p:txBody>
          <a:bodyPr/>
          <a:lstStyle/>
          <a:p>
            <a:endParaRPr lang="en-US"/>
          </a:p>
        </p:txBody>
      </p:sp>
      <p:sp>
        <p:nvSpPr>
          <p:cNvPr id="94" name="Shape 92"/>
          <p:cNvSpPr/>
          <p:nvPr/>
        </p:nvSpPr>
        <p:spPr>
          <a:xfrm>
            <a:off x="14913173" y="3525143"/>
            <a:ext cx="454521" cy="468809"/>
          </a:xfrm>
          <a:prstGeom prst="rect">
            <a:avLst/>
          </a:prstGeom>
          <a:solidFill>
            <a:srgbClr val="2A2F3A"/>
          </a:solidFill>
          <a:ln/>
        </p:spPr>
        <p:txBody>
          <a:bodyPr/>
          <a:lstStyle/>
          <a:p>
            <a:endParaRPr lang="en-US"/>
          </a:p>
        </p:txBody>
      </p:sp>
      <p:sp>
        <p:nvSpPr>
          <p:cNvPr id="95" name="Shape 93"/>
          <p:cNvSpPr/>
          <p:nvPr/>
        </p:nvSpPr>
        <p:spPr>
          <a:xfrm>
            <a:off x="15405795" y="3525143"/>
            <a:ext cx="454521" cy="468809"/>
          </a:xfrm>
          <a:prstGeom prst="rect">
            <a:avLst/>
          </a:prstGeom>
          <a:solidFill>
            <a:srgbClr val="FFE08A"/>
          </a:solidFill>
          <a:ln/>
        </p:spPr>
        <p:txBody>
          <a:bodyPr/>
          <a:lstStyle/>
          <a:p>
            <a:endParaRPr lang="en-US"/>
          </a:p>
        </p:txBody>
      </p:sp>
      <p:sp>
        <p:nvSpPr>
          <p:cNvPr id="96" name="Shape 94"/>
          <p:cNvSpPr/>
          <p:nvPr/>
        </p:nvSpPr>
        <p:spPr>
          <a:xfrm>
            <a:off x="15898416" y="3525143"/>
            <a:ext cx="454521" cy="468809"/>
          </a:xfrm>
          <a:prstGeom prst="rect">
            <a:avLst/>
          </a:prstGeom>
          <a:solidFill>
            <a:srgbClr val="2A2F3A"/>
          </a:solidFill>
          <a:ln/>
        </p:spPr>
        <p:txBody>
          <a:bodyPr/>
          <a:lstStyle/>
          <a:p>
            <a:endParaRPr lang="en-US"/>
          </a:p>
        </p:txBody>
      </p:sp>
      <p:sp>
        <p:nvSpPr>
          <p:cNvPr id="97" name="Shape 95"/>
          <p:cNvSpPr/>
          <p:nvPr/>
        </p:nvSpPr>
        <p:spPr>
          <a:xfrm>
            <a:off x="16391037" y="3525143"/>
            <a:ext cx="454521" cy="468809"/>
          </a:xfrm>
          <a:prstGeom prst="rect">
            <a:avLst/>
          </a:prstGeom>
          <a:solidFill>
            <a:srgbClr val="5C2A0E"/>
          </a:solidFill>
          <a:ln/>
        </p:spPr>
        <p:txBody>
          <a:bodyPr/>
          <a:lstStyle/>
          <a:p>
            <a:endParaRPr lang="en-US"/>
          </a:p>
        </p:txBody>
      </p:sp>
      <p:sp>
        <p:nvSpPr>
          <p:cNvPr id="98" name="Shape 96"/>
          <p:cNvSpPr/>
          <p:nvPr/>
        </p:nvSpPr>
        <p:spPr>
          <a:xfrm>
            <a:off x="16883658" y="3525143"/>
            <a:ext cx="454521" cy="468809"/>
          </a:xfrm>
          <a:prstGeom prst="rect">
            <a:avLst/>
          </a:prstGeom>
          <a:solidFill>
            <a:srgbClr val="FFE08A"/>
          </a:solidFill>
          <a:ln/>
        </p:spPr>
        <p:txBody>
          <a:bodyPr/>
          <a:lstStyle/>
          <a:p>
            <a:endParaRPr lang="en-US"/>
          </a:p>
        </p:txBody>
      </p:sp>
      <p:sp>
        <p:nvSpPr>
          <p:cNvPr id="99" name="Shape 97"/>
          <p:cNvSpPr/>
          <p:nvPr/>
        </p:nvSpPr>
        <p:spPr>
          <a:xfrm>
            <a:off x="17376279" y="3525143"/>
            <a:ext cx="454521" cy="468809"/>
          </a:xfrm>
          <a:prstGeom prst="rect">
            <a:avLst/>
          </a:prstGeom>
          <a:solidFill>
            <a:srgbClr val="FFE08A"/>
          </a:solidFill>
          <a:ln/>
        </p:spPr>
        <p:txBody>
          <a:bodyPr/>
          <a:lstStyle/>
          <a:p>
            <a:endParaRPr lang="en-US"/>
          </a:p>
        </p:txBody>
      </p:sp>
      <p:sp>
        <p:nvSpPr>
          <p:cNvPr id="100" name="Shape 98"/>
          <p:cNvSpPr/>
          <p:nvPr/>
        </p:nvSpPr>
        <p:spPr>
          <a:xfrm>
            <a:off x="10972502" y="4032052"/>
            <a:ext cx="454372" cy="468809"/>
          </a:xfrm>
          <a:prstGeom prst="rect">
            <a:avLst/>
          </a:prstGeom>
          <a:solidFill>
            <a:srgbClr val="FFE08A"/>
          </a:solidFill>
          <a:ln/>
        </p:spPr>
        <p:txBody>
          <a:bodyPr/>
          <a:lstStyle/>
          <a:p>
            <a:endParaRPr lang="en-US"/>
          </a:p>
        </p:txBody>
      </p:sp>
      <p:sp>
        <p:nvSpPr>
          <p:cNvPr id="101" name="Shape 99"/>
          <p:cNvSpPr/>
          <p:nvPr/>
        </p:nvSpPr>
        <p:spPr>
          <a:xfrm>
            <a:off x="11464975" y="4032052"/>
            <a:ext cx="454521" cy="468809"/>
          </a:xfrm>
          <a:prstGeom prst="rect">
            <a:avLst/>
          </a:prstGeom>
          <a:solidFill>
            <a:srgbClr val="C9461A"/>
          </a:solidFill>
          <a:ln/>
        </p:spPr>
        <p:txBody>
          <a:bodyPr/>
          <a:lstStyle/>
          <a:p>
            <a:endParaRPr lang="en-US"/>
          </a:p>
        </p:txBody>
      </p:sp>
      <p:sp>
        <p:nvSpPr>
          <p:cNvPr id="102" name="Shape 100"/>
          <p:cNvSpPr/>
          <p:nvPr/>
        </p:nvSpPr>
        <p:spPr>
          <a:xfrm>
            <a:off x="11957596" y="4032052"/>
            <a:ext cx="454521" cy="468809"/>
          </a:xfrm>
          <a:prstGeom prst="rect">
            <a:avLst/>
          </a:prstGeom>
          <a:solidFill>
            <a:srgbClr val="FF5A1F"/>
          </a:solidFill>
          <a:ln/>
        </p:spPr>
        <p:txBody>
          <a:bodyPr/>
          <a:lstStyle/>
          <a:p>
            <a:endParaRPr lang="en-US"/>
          </a:p>
        </p:txBody>
      </p:sp>
      <p:sp>
        <p:nvSpPr>
          <p:cNvPr id="103" name="Shape 101"/>
          <p:cNvSpPr/>
          <p:nvPr/>
        </p:nvSpPr>
        <p:spPr>
          <a:xfrm>
            <a:off x="12450217" y="4032052"/>
            <a:ext cx="454521" cy="468809"/>
          </a:xfrm>
          <a:prstGeom prst="rect">
            <a:avLst/>
          </a:prstGeom>
          <a:solidFill>
            <a:srgbClr val="FFE08A"/>
          </a:solidFill>
          <a:ln/>
        </p:spPr>
        <p:txBody>
          <a:bodyPr/>
          <a:lstStyle/>
          <a:p>
            <a:endParaRPr lang="en-US"/>
          </a:p>
        </p:txBody>
      </p:sp>
      <p:sp>
        <p:nvSpPr>
          <p:cNvPr id="104" name="Shape 102"/>
          <p:cNvSpPr/>
          <p:nvPr/>
        </p:nvSpPr>
        <p:spPr>
          <a:xfrm>
            <a:off x="12942838" y="4032052"/>
            <a:ext cx="454521" cy="468809"/>
          </a:xfrm>
          <a:prstGeom prst="rect">
            <a:avLst/>
          </a:prstGeom>
          <a:solidFill>
            <a:srgbClr val="5C2A0E"/>
          </a:solidFill>
          <a:ln/>
        </p:spPr>
        <p:txBody>
          <a:bodyPr/>
          <a:lstStyle/>
          <a:p>
            <a:endParaRPr lang="en-US"/>
          </a:p>
        </p:txBody>
      </p:sp>
      <p:sp>
        <p:nvSpPr>
          <p:cNvPr id="105" name="Shape 103"/>
          <p:cNvSpPr/>
          <p:nvPr/>
        </p:nvSpPr>
        <p:spPr>
          <a:xfrm>
            <a:off x="13435459" y="4032052"/>
            <a:ext cx="454521" cy="468809"/>
          </a:xfrm>
          <a:prstGeom prst="rect">
            <a:avLst/>
          </a:prstGeom>
          <a:solidFill>
            <a:srgbClr val="FF5A1F"/>
          </a:solidFill>
          <a:ln/>
        </p:spPr>
        <p:txBody>
          <a:bodyPr/>
          <a:lstStyle/>
          <a:p>
            <a:endParaRPr lang="en-US"/>
          </a:p>
        </p:txBody>
      </p:sp>
      <p:sp>
        <p:nvSpPr>
          <p:cNvPr id="106" name="Shape 104"/>
          <p:cNvSpPr/>
          <p:nvPr/>
        </p:nvSpPr>
        <p:spPr>
          <a:xfrm>
            <a:off x="13928080" y="4032052"/>
            <a:ext cx="454521" cy="468809"/>
          </a:xfrm>
          <a:prstGeom prst="rect">
            <a:avLst/>
          </a:prstGeom>
          <a:solidFill>
            <a:srgbClr val="2A2F3A"/>
          </a:solidFill>
          <a:ln/>
        </p:spPr>
        <p:txBody>
          <a:bodyPr/>
          <a:lstStyle/>
          <a:p>
            <a:endParaRPr lang="en-US"/>
          </a:p>
        </p:txBody>
      </p:sp>
      <p:sp>
        <p:nvSpPr>
          <p:cNvPr id="107" name="Shape 105"/>
          <p:cNvSpPr/>
          <p:nvPr/>
        </p:nvSpPr>
        <p:spPr>
          <a:xfrm>
            <a:off x="14420701" y="4032052"/>
            <a:ext cx="454372" cy="468809"/>
          </a:xfrm>
          <a:prstGeom prst="rect">
            <a:avLst/>
          </a:prstGeom>
          <a:solidFill>
            <a:srgbClr val="FFB347"/>
          </a:solidFill>
          <a:ln/>
        </p:spPr>
        <p:txBody>
          <a:bodyPr/>
          <a:lstStyle/>
          <a:p>
            <a:endParaRPr lang="en-US"/>
          </a:p>
        </p:txBody>
      </p:sp>
      <p:sp>
        <p:nvSpPr>
          <p:cNvPr id="108" name="Shape 106"/>
          <p:cNvSpPr/>
          <p:nvPr/>
        </p:nvSpPr>
        <p:spPr>
          <a:xfrm>
            <a:off x="14913173" y="4032052"/>
            <a:ext cx="454521" cy="468809"/>
          </a:xfrm>
          <a:prstGeom prst="rect">
            <a:avLst/>
          </a:prstGeom>
          <a:solidFill>
            <a:srgbClr val="5C2A0E"/>
          </a:solidFill>
          <a:ln/>
        </p:spPr>
        <p:txBody>
          <a:bodyPr/>
          <a:lstStyle/>
          <a:p>
            <a:endParaRPr lang="en-US"/>
          </a:p>
        </p:txBody>
      </p:sp>
      <p:sp>
        <p:nvSpPr>
          <p:cNvPr id="109" name="Shape 107"/>
          <p:cNvSpPr/>
          <p:nvPr/>
        </p:nvSpPr>
        <p:spPr>
          <a:xfrm>
            <a:off x="15405795" y="4032052"/>
            <a:ext cx="454521" cy="468809"/>
          </a:xfrm>
          <a:prstGeom prst="rect">
            <a:avLst/>
          </a:prstGeom>
          <a:solidFill>
            <a:srgbClr val="FF5A1F"/>
          </a:solidFill>
          <a:ln/>
        </p:spPr>
        <p:txBody>
          <a:bodyPr/>
          <a:lstStyle/>
          <a:p>
            <a:endParaRPr lang="en-US"/>
          </a:p>
        </p:txBody>
      </p:sp>
      <p:sp>
        <p:nvSpPr>
          <p:cNvPr id="110" name="Shape 108"/>
          <p:cNvSpPr/>
          <p:nvPr/>
        </p:nvSpPr>
        <p:spPr>
          <a:xfrm>
            <a:off x="15898416" y="4032052"/>
            <a:ext cx="454521" cy="468809"/>
          </a:xfrm>
          <a:prstGeom prst="rect">
            <a:avLst/>
          </a:prstGeom>
          <a:solidFill>
            <a:srgbClr val="2A2F3A"/>
          </a:solidFill>
          <a:ln/>
        </p:spPr>
        <p:txBody>
          <a:bodyPr/>
          <a:lstStyle/>
          <a:p>
            <a:endParaRPr lang="en-US"/>
          </a:p>
        </p:txBody>
      </p:sp>
      <p:sp>
        <p:nvSpPr>
          <p:cNvPr id="111" name="Shape 109"/>
          <p:cNvSpPr/>
          <p:nvPr/>
        </p:nvSpPr>
        <p:spPr>
          <a:xfrm>
            <a:off x="16391037" y="4032052"/>
            <a:ext cx="454521" cy="468809"/>
          </a:xfrm>
          <a:prstGeom prst="rect">
            <a:avLst/>
          </a:prstGeom>
          <a:solidFill>
            <a:srgbClr val="2A2F3A"/>
          </a:solidFill>
          <a:ln/>
        </p:spPr>
        <p:txBody>
          <a:bodyPr/>
          <a:lstStyle/>
          <a:p>
            <a:endParaRPr lang="en-US"/>
          </a:p>
        </p:txBody>
      </p:sp>
      <p:sp>
        <p:nvSpPr>
          <p:cNvPr id="112" name="Shape 110"/>
          <p:cNvSpPr/>
          <p:nvPr/>
        </p:nvSpPr>
        <p:spPr>
          <a:xfrm>
            <a:off x="16883658" y="4032052"/>
            <a:ext cx="454521" cy="468809"/>
          </a:xfrm>
          <a:prstGeom prst="rect">
            <a:avLst/>
          </a:prstGeom>
          <a:solidFill>
            <a:srgbClr val="2A2F3A"/>
          </a:solidFill>
          <a:ln/>
        </p:spPr>
        <p:txBody>
          <a:bodyPr/>
          <a:lstStyle/>
          <a:p>
            <a:endParaRPr lang="en-US"/>
          </a:p>
        </p:txBody>
      </p:sp>
      <p:sp>
        <p:nvSpPr>
          <p:cNvPr id="113" name="Shape 111"/>
          <p:cNvSpPr/>
          <p:nvPr/>
        </p:nvSpPr>
        <p:spPr>
          <a:xfrm>
            <a:off x="17376279" y="4032052"/>
            <a:ext cx="454521" cy="468809"/>
          </a:xfrm>
          <a:prstGeom prst="rect">
            <a:avLst/>
          </a:prstGeom>
          <a:solidFill>
            <a:srgbClr val="2A2F3A"/>
          </a:solidFill>
          <a:ln/>
        </p:spPr>
        <p:txBody>
          <a:bodyPr/>
          <a:lstStyle/>
          <a:p>
            <a:endParaRPr lang="en-US"/>
          </a:p>
        </p:txBody>
      </p:sp>
      <p:sp>
        <p:nvSpPr>
          <p:cNvPr id="114" name="Shape 112"/>
          <p:cNvSpPr/>
          <p:nvPr/>
        </p:nvSpPr>
        <p:spPr>
          <a:xfrm>
            <a:off x="10972502" y="4538960"/>
            <a:ext cx="454372" cy="468809"/>
          </a:xfrm>
          <a:prstGeom prst="rect">
            <a:avLst/>
          </a:prstGeom>
          <a:solidFill>
            <a:srgbClr val="C9461A"/>
          </a:solidFill>
          <a:ln/>
        </p:spPr>
        <p:txBody>
          <a:bodyPr/>
          <a:lstStyle/>
          <a:p>
            <a:endParaRPr lang="en-US"/>
          </a:p>
        </p:txBody>
      </p:sp>
      <p:sp>
        <p:nvSpPr>
          <p:cNvPr id="115" name="Shape 113"/>
          <p:cNvSpPr/>
          <p:nvPr/>
        </p:nvSpPr>
        <p:spPr>
          <a:xfrm>
            <a:off x="11464975" y="4538960"/>
            <a:ext cx="454521" cy="468809"/>
          </a:xfrm>
          <a:prstGeom prst="rect">
            <a:avLst/>
          </a:prstGeom>
          <a:solidFill>
            <a:srgbClr val="2A2F3A"/>
          </a:solidFill>
          <a:ln/>
        </p:spPr>
        <p:txBody>
          <a:bodyPr/>
          <a:lstStyle/>
          <a:p>
            <a:endParaRPr lang="en-US"/>
          </a:p>
        </p:txBody>
      </p:sp>
      <p:sp>
        <p:nvSpPr>
          <p:cNvPr id="116" name="Shape 114"/>
          <p:cNvSpPr/>
          <p:nvPr/>
        </p:nvSpPr>
        <p:spPr>
          <a:xfrm>
            <a:off x="11957596" y="4538960"/>
            <a:ext cx="454521" cy="468809"/>
          </a:xfrm>
          <a:prstGeom prst="rect">
            <a:avLst/>
          </a:prstGeom>
          <a:solidFill>
            <a:srgbClr val="C9461A"/>
          </a:solidFill>
          <a:ln/>
        </p:spPr>
        <p:txBody>
          <a:bodyPr/>
          <a:lstStyle/>
          <a:p>
            <a:endParaRPr lang="en-US"/>
          </a:p>
        </p:txBody>
      </p:sp>
      <p:sp>
        <p:nvSpPr>
          <p:cNvPr id="117" name="Shape 115"/>
          <p:cNvSpPr/>
          <p:nvPr/>
        </p:nvSpPr>
        <p:spPr>
          <a:xfrm>
            <a:off x="12450217" y="4538960"/>
            <a:ext cx="454521" cy="468809"/>
          </a:xfrm>
          <a:prstGeom prst="rect">
            <a:avLst/>
          </a:prstGeom>
          <a:solidFill>
            <a:srgbClr val="FFE08A"/>
          </a:solidFill>
          <a:ln/>
        </p:spPr>
        <p:txBody>
          <a:bodyPr/>
          <a:lstStyle/>
          <a:p>
            <a:endParaRPr lang="en-US"/>
          </a:p>
        </p:txBody>
      </p:sp>
      <p:sp>
        <p:nvSpPr>
          <p:cNvPr id="118" name="Shape 116"/>
          <p:cNvSpPr/>
          <p:nvPr/>
        </p:nvSpPr>
        <p:spPr>
          <a:xfrm>
            <a:off x="12942838" y="4538960"/>
            <a:ext cx="454521" cy="468809"/>
          </a:xfrm>
          <a:prstGeom prst="rect">
            <a:avLst/>
          </a:prstGeom>
          <a:solidFill>
            <a:srgbClr val="FFB347"/>
          </a:solidFill>
          <a:ln/>
        </p:spPr>
        <p:txBody>
          <a:bodyPr/>
          <a:lstStyle/>
          <a:p>
            <a:endParaRPr lang="en-US"/>
          </a:p>
        </p:txBody>
      </p:sp>
      <p:sp>
        <p:nvSpPr>
          <p:cNvPr id="119" name="Shape 117"/>
          <p:cNvSpPr/>
          <p:nvPr/>
        </p:nvSpPr>
        <p:spPr>
          <a:xfrm>
            <a:off x="13435459" y="4538960"/>
            <a:ext cx="454521" cy="468809"/>
          </a:xfrm>
          <a:prstGeom prst="rect">
            <a:avLst/>
          </a:prstGeom>
          <a:solidFill>
            <a:srgbClr val="2A2F3A"/>
          </a:solidFill>
          <a:ln/>
        </p:spPr>
        <p:txBody>
          <a:bodyPr/>
          <a:lstStyle/>
          <a:p>
            <a:endParaRPr lang="en-US"/>
          </a:p>
        </p:txBody>
      </p:sp>
      <p:sp>
        <p:nvSpPr>
          <p:cNvPr id="120" name="Shape 118"/>
          <p:cNvSpPr/>
          <p:nvPr/>
        </p:nvSpPr>
        <p:spPr>
          <a:xfrm>
            <a:off x="13928080" y="4538960"/>
            <a:ext cx="454521" cy="468809"/>
          </a:xfrm>
          <a:prstGeom prst="rect">
            <a:avLst/>
          </a:prstGeom>
          <a:solidFill>
            <a:srgbClr val="C9461A"/>
          </a:solidFill>
          <a:ln/>
        </p:spPr>
        <p:txBody>
          <a:bodyPr/>
          <a:lstStyle/>
          <a:p>
            <a:endParaRPr lang="en-US"/>
          </a:p>
        </p:txBody>
      </p:sp>
      <p:sp>
        <p:nvSpPr>
          <p:cNvPr id="121" name="Shape 119"/>
          <p:cNvSpPr/>
          <p:nvPr/>
        </p:nvSpPr>
        <p:spPr>
          <a:xfrm>
            <a:off x="14420701" y="4538960"/>
            <a:ext cx="454372" cy="468809"/>
          </a:xfrm>
          <a:prstGeom prst="rect">
            <a:avLst/>
          </a:prstGeom>
          <a:solidFill>
            <a:srgbClr val="C9461A"/>
          </a:solidFill>
          <a:ln/>
        </p:spPr>
        <p:txBody>
          <a:bodyPr/>
          <a:lstStyle/>
          <a:p>
            <a:endParaRPr lang="en-US"/>
          </a:p>
        </p:txBody>
      </p:sp>
      <p:sp>
        <p:nvSpPr>
          <p:cNvPr id="122" name="Shape 120"/>
          <p:cNvSpPr/>
          <p:nvPr/>
        </p:nvSpPr>
        <p:spPr>
          <a:xfrm>
            <a:off x="14913173" y="4538960"/>
            <a:ext cx="454521" cy="468809"/>
          </a:xfrm>
          <a:prstGeom prst="rect">
            <a:avLst/>
          </a:prstGeom>
          <a:solidFill>
            <a:srgbClr val="FFB347"/>
          </a:solidFill>
          <a:ln/>
        </p:spPr>
        <p:txBody>
          <a:bodyPr/>
          <a:lstStyle/>
          <a:p>
            <a:endParaRPr lang="en-US"/>
          </a:p>
        </p:txBody>
      </p:sp>
      <p:sp>
        <p:nvSpPr>
          <p:cNvPr id="123" name="Shape 121"/>
          <p:cNvSpPr/>
          <p:nvPr/>
        </p:nvSpPr>
        <p:spPr>
          <a:xfrm>
            <a:off x="15405795" y="4538960"/>
            <a:ext cx="454521" cy="468809"/>
          </a:xfrm>
          <a:prstGeom prst="rect">
            <a:avLst/>
          </a:prstGeom>
          <a:solidFill>
            <a:srgbClr val="2A2F3A"/>
          </a:solidFill>
          <a:ln/>
        </p:spPr>
        <p:txBody>
          <a:bodyPr/>
          <a:lstStyle/>
          <a:p>
            <a:endParaRPr lang="en-US"/>
          </a:p>
        </p:txBody>
      </p:sp>
      <p:sp>
        <p:nvSpPr>
          <p:cNvPr id="124" name="Shape 122"/>
          <p:cNvSpPr/>
          <p:nvPr/>
        </p:nvSpPr>
        <p:spPr>
          <a:xfrm>
            <a:off x="15898416" y="4538960"/>
            <a:ext cx="454521" cy="468809"/>
          </a:xfrm>
          <a:prstGeom prst="rect">
            <a:avLst/>
          </a:prstGeom>
          <a:solidFill>
            <a:srgbClr val="FFE08A"/>
          </a:solidFill>
          <a:ln/>
        </p:spPr>
        <p:txBody>
          <a:bodyPr/>
          <a:lstStyle/>
          <a:p>
            <a:endParaRPr lang="en-US"/>
          </a:p>
        </p:txBody>
      </p:sp>
      <p:sp>
        <p:nvSpPr>
          <p:cNvPr id="125" name="Shape 123"/>
          <p:cNvSpPr/>
          <p:nvPr/>
        </p:nvSpPr>
        <p:spPr>
          <a:xfrm>
            <a:off x="16391037" y="4538960"/>
            <a:ext cx="454521" cy="468809"/>
          </a:xfrm>
          <a:prstGeom prst="rect">
            <a:avLst/>
          </a:prstGeom>
          <a:solidFill>
            <a:srgbClr val="2A2F3A"/>
          </a:solidFill>
          <a:ln/>
        </p:spPr>
        <p:txBody>
          <a:bodyPr/>
          <a:lstStyle/>
          <a:p>
            <a:endParaRPr lang="en-US"/>
          </a:p>
        </p:txBody>
      </p:sp>
      <p:sp>
        <p:nvSpPr>
          <p:cNvPr id="126" name="Shape 124"/>
          <p:cNvSpPr/>
          <p:nvPr/>
        </p:nvSpPr>
        <p:spPr>
          <a:xfrm>
            <a:off x="16883658" y="4538960"/>
            <a:ext cx="454521" cy="468809"/>
          </a:xfrm>
          <a:prstGeom prst="rect">
            <a:avLst/>
          </a:prstGeom>
          <a:solidFill>
            <a:srgbClr val="C9461A"/>
          </a:solidFill>
          <a:ln/>
        </p:spPr>
        <p:txBody>
          <a:bodyPr/>
          <a:lstStyle/>
          <a:p>
            <a:endParaRPr lang="en-US"/>
          </a:p>
        </p:txBody>
      </p:sp>
      <p:sp>
        <p:nvSpPr>
          <p:cNvPr id="127" name="Shape 125"/>
          <p:cNvSpPr/>
          <p:nvPr/>
        </p:nvSpPr>
        <p:spPr>
          <a:xfrm>
            <a:off x="17376279" y="4538960"/>
            <a:ext cx="454521" cy="468809"/>
          </a:xfrm>
          <a:prstGeom prst="rect">
            <a:avLst/>
          </a:prstGeom>
          <a:solidFill>
            <a:srgbClr val="2A2F3A"/>
          </a:solidFill>
          <a:ln/>
        </p:spPr>
        <p:txBody>
          <a:bodyPr/>
          <a:lstStyle/>
          <a:p>
            <a:endParaRPr lang="en-US"/>
          </a:p>
        </p:txBody>
      </p:sp>
      <p:sp>
        <p:nvSpPr>
          <p:cNvPr id="128" name="Shape 126"/>
          <p:cNvSpPr/>
          <p:nvPr/>
        </p:nvSpPr>
        <p:spPr>
          <a:xfrm>
            <a:off x="10972502" y="5045869"/>
            <a:ext cx="454372" cy="468809"/>
          </a:xfrm>
          <a:prstGeom prst="rect">
            <a:avLst/>
          </a:prstGeom>
          <a:solidFill>
            <a:srgbClr val="2A2F3A"/>
          </a:solidFill>
          <a:ln/>
        </p:spPr>
        <p:txBody>
          <a:bodyPr/>
          <a:lstStyle/>
          <a:p>
            <a:endParaRPr lang="en-US"/>
          </a:p>
        </p:txBody>
      </p:sp>
      <p:sp>
        <p:nvSpPr>
          <p:cNvPr id="129" name="Shape 127"/>
          <p:cNvSpPr/>
          <p:nvPr/>
        </p:nvSpPr>
        <p:spPr>
          <a:xfrm>
            <a:off x="11464975" y="5045869"/>
            <a:ext cx="454521" cy="468809"/>
          </a:xfrm>
          <a:prstGeom prst="rect">
            <a:avLst/>
          </a:prstGeom>
          <a:solidFill>
            <a:srgbClr val="FFE08A"/>
          </a:solidFill>
          <a:ln/>
        </p:spPr>
        <p:txBody>
          <a:bodyPr/>
          <a:lstStyle/>
          <a:p>
            <a:endParaRPr lang="en-US"/>
          </a:p>
        </p:txBody>
      </p:sp>
      <p:sp>
        <p:nvSpPr>
          <p:cNvPr id="130" name="Shape 128"/>
          <p:cNvSpPr/>
          <p:nvPr/>
        </p:nvSpPr>
        <p:spPr>
          <a:xfrm>
            <a:off x="11957596" y="5045869"/>
            <a:ext cx="454521" cy="468809"/>
          </a:xfrm>
          <a:prstGeom prst="rect">
            <a:avLst/>
          </a:prstGeom>
          <a:solidFill>
            <a:srgbClr val="2A2F3A"/>
          </a:solidFill>
          <a:ln/>
        </p:spPr>
        <p:txBody>
          <a:bodyPr/>
          <a:lstStyle/>
          <a:p>
            <a:endParaRPr lang="en-US"/>
          </a:p>
        </p:txBody>
      </p:sp>
      <p:sp>
        <p:nvSpPr>
          <p:cNvPr id="131" name="Shape 129"/>
          <p:cNvSpPr/>
          <p:nvPr/>
        </p:nvSpPr>
        <p:spPr>
          <a:xfrm>
            <a:off x="12450217" y="5045869"/>
            <a:ext cx="454521" cy="468809"/>
          </a:xfrm>
          <a:prstGeom prst="rect">
            <a:avLst/>
          </a:prstGeom>
          <a:solidFill>
            <a:srgbClr val="2A2F3A"/>
          </a:solidFill>
          <a:ln/>
        </p:spPr>
        <p:txBody>
          <a:bodyPr/>
          <a:lstStyle/>
          <a:p>
            <a:endParaRPr lang="en-US"/>
          </a:p>
        </p:txBody>
      </p:sp>
      <p:sp>
        <p:nvSpPr>
          <p:cNvPr id="132" name="Shape 130"/>
          <p:cNvSpPr/>
          <p:nvPr/>
        </p:nvSpPr>
        <p:spPr>
          <a:xfrm>
            <a:off x="12942838" y="5045869"/>
            <a:ext cx="454521" cy="468809"/>
          </a:xfrm>
          <a:prstGeom prst="rect">
            <a:avLst/>
          </a:prstGeom>
          <a:solidFill>
            <a:srgbClr val="2A2F3A"/>
          </a:solidFill>
          <a:ln/>
        </p:spPr>
        <p:txBody>
          <a:bodyPr/>
          <a:lstStyle/>
          <a:p>
            <a:endParaRPr lang="en-US"/>
          </a:p>
        </p:txBody>
      </p:sp>
      <p:sp>
        <p:nvSpPr>
          <p:cNvPr id="133" name="Shape 131"/>
          <p:cNvSpPr/>
          <p:nvPr/>
        </p:nvSpPr>
        <p:spPr>
          <a:xfrm>
            <a:off x="13435459" y="5045869"/>
            <a:ext cx="454521" cy="468809"/>
          </a:xfrm>
          <a:prstGeom prst="rect">
            <a:avLst/>
          </a:prstGeom>
          <a:solidFill>
            <a:srgbClr val="FF5A1F"/>
          </a:solidFill>
          <a:ln/>
        </p:spPr>
        <p:txBody>
          <a:bodyPr/>
          <a:lstStyle/>
          <a:p>
            <a:endParaRPr lang="en-US"/>
          </a:p>
        </p:txBody>
      </p:sp>
      <p:sp>
        <p:nvSpPr>
          <p:cNvPr id="134" name="Shape 132"/>
          <p:cNvSpPr/>
          <p:nvPr/>
        </p:nvSpPr>
        <p:spPr>
          <a:xfrm>
            <a:off x="13928080" y="5045869"/>
            <a:ext cx="454521" cy="468809"/>
          </a:xfrm>
          <a:prstGeom prst="rect">
            <a:avLst/>
          </a:prstGeom>
          <a:solidFill>
            <a:srgbClr val="2A2F3A"/>
          </a:solidFill>
          <a:ln/>
        </p:spPr>
        <p:txBody>
          <a:bodyPr/>
          <a:lstStyle/>
          <a:p>
            <a:endParaRPr lang="en-US"/>
          </a:p>
        </p:txBody>
      </p:sp>
      <p:sp>
        <p:nvSpPr>
          <p:cNvPr id="135" name="Shape 133"/>
          <p:cNvSpPr/>
          <p:nvPr/>
        </p:nvSpPr>
        <p:spPr>
          <a:xfrm>
            <a:off x="14420701" y="5045869"/>
            <a:ext cx="454372" cy="468809"/>
          </a:xfrm>
          <a:prstGeom prst="rect">
            <a:avLst/>
          </a:prstGeom>
          <a:solidFill>
            <a:srgbClr val="FFB347"/>
          </a:solidFill>
          <a:ln/>
        </p:spPr>
        <p:txBody>
          <a:bodyPr/>
          <a:lstStyle/>
          <a:p>
            <a:endParaRPr lang="en-US"/>
          </a:p>
        </p:txBody>
      </p:sp>
      <p:sp>
        <p:nvSpPr>
          <p:cNvPr id="136" name="Shape 134"/>
          <p:cNvSpPr/>
          <p:nvPr/>
        </p:nvSpPr>
        <p:spPr>
          <a:xfrm>
            <a:off x="14913173" y="5045869"/>
            <a:ext cx="454521" cy="468809"/>
          </a:xfrm>
          <a:prstGeom prst="rect">
            <a:avLst/>
          </a:prstGeom>
          <a:solidFill>
            <a:srgbClr val="C9461A"/>
          </a:solidFill>
          <a:ln/>
        </p:spPr>
        <p:txBody>
          <a:bodyPr/>
          <a:lstStyle/>
          <a:p>
            <a:endParaRPr lang="en-US"/>
          </a:p>
        </p:txBody>
      </p:sp>
      <p:sp>
        <p:nvSpPr>
          <p:cNvPr id="137" name="Shape 135"/>
          <p:cNvSpPr/>
          <p:nvPr/>
        </p:nvSpPr>
        <p:spPr>
          <a:xfrm>
            <a:off x="15405795" y="5045869"/>
            <a:ext cx="454521" cy="468809"/>
          </a:xfrm>
          <a:prstGeom prst="rect">
            <a:avLst/>
          </a:prstGeom>
          <a:solidFill>
            <a:srgbClr val="2A2F3A"/>
          </a:solidFill>
          <a:ln/>
        </p:spPr>
        <p:txBody>
          <a:bodyPr/>
          <a:lstStyle/>
          <a:p>
            <a:endParaRPr lang="en-US"/>
          </a:p>
        </p:txBody>
      </p:sp>
      <p:sp>
        <p:nvSpPr>
          <p:cNvPr id="138" name="Shape 136"/>
          <p:cNvSpPr/>
          <p:nvPr/>
        </p:nvSpPr>
        <p:spPr>
          <a:xfrm>
            <a:off x="15898416" y="5045869"/>
            <a:ext cx="454521" cy="468809"/>
          </a:xfrm>
          <a:prstGeom prst="rect">
            <a:avLst/>
          </a:prstGeom>
          <a:solidFill>
            <a:srgbClr val="5C2A0E"/>
          </a:solidFill>
          <a:ln/>
        </p:spPr>
        <p:txBody>
          <a:bodyPr/>
          <a:lstStyle/>
          <a:p>
            <a:endParaRPr lang="en-US"/>
          </a:p>
        </p:txBody>
      </p:sp>
      <p:sp>
        <p:nvSpPr>
          <p:cNvPr id="139" name="Shape 137"/>
          <p:cNvSpPr/>
          <p:nvPr/>
        </p:nvSpPr>
        <p:spPr>
          <a:xfrm>
            <a:off x="16391037" y="5045869"/>
            <a:ext cx="454521" cy="468809"/>
          </a:xfrm>
          <a:prstGeom prst="rect">
            <a:avLst/>
          </a:prstGeom>
          <a:solidFill>
            <a:srgbClr val="2A2F3A"/>
          </a:solidFill>
          <a:ln/>
        </p:spPr>
        <p:txBody>
          <a:bodyPr/>
          <a:lstStyle/>
          <a:p>
            <a:endParaRPr lang="en-US"/>
          </a:p>
        </p:txBody>
      </p:sp>
      <p:sp>
        <p:nvSpPr>
          <p:cNvPr id="140" name="Shape 138"/>
          <p:cNvSpPr/>
          <p:nvPr/>
        </p:nvSpPr>
        <p:spPr>
          <a:xfrm>
            <a:off x="16883658" y="5045869"/>
            <a:ext cx="454521" cy="468809"/>
          </a:xfrm>
          <a:prstGeom prst="rect">
            <a:avLst/>
          </a:prstGeom>
          <a:solidFill>
            <a:srgbClr val="2A2F3A"/>
          </a:solidFill>
          <a:ln/>
        </p:spPr>
        <p:txBody>
          <a:bodyPr/>
          <a:lstStyle/>
          <a:p>
            <a:endParaRPr lang="en-US"/>
          </a:p>
        </p:txBody>
      </p:sp>
      <p:sp>
        <p:nvSpPr>
          <p:cNvPr id="141" name="Shape 139"/>
          <p:cNvSpPr/>
          <p:nvPr/>
        </p:nvSpPr>
        <p:spPr>
          <a:xfrm>
            <a:off x="17376279" y="5045869"/>
            <a:ext cx="454521" cy="468809"/>
          </a:xfrm>
          <a:prstGeom prst="rect">
            <a:avLst/>
          </a:prstGeom>
          <a:solidFill>
            <a:srgbClr val="2A2F3A"/>
          </a:solidFill>
          <a:ln/>
        </p:spPr>
        <p:txBody>
          <a:bodyPr/>
          <a:lstStyle/>
          <a:p>
            <a:endParaRPr lang="en-US"/>
          </a:p>
        </p:txBody>
      </p:sp>
      <p:sp>
        <p:nvSpPr>
          <p:cNvPr id="142" name="Shape 140"/>
          <p:cNvSpPr/>
          <p:nvPr/>
        </p:nvSpPr>
        <p:spPr>
          <a:xfrm>
            <a:off x="10972502" y="5552777"/>
            <a:ext cx="454372" cy="468809"/>
          </a:xfrm>
          <a:prstGeom prst="rect">
            <a:avLst/>
          </a:prstGeom>
          <a:solidFill>
            <a:srgbClr val="FF5A1F"/>
          </a:solidFill>
          <a:ln/>
        </p:spPr>
        <p:txBody>
          <a:bodyPr/>
          <a:lstStyle/>
          <a:p>
            <a:endParaRPr lang="en-US"/>
          </a:p>
        </p:txBody>
      </p:sp>
      <p:sp>
        <p:nvSpPr>
          <p:cNvPr id="143" name="Shape 141"/>
          <p:cNvSpPr/>
          <p:nvPr/>
        </p:nvSpPr>
        <p:spPr>
          <a:xfrm>
            <a:off x="11464975" y="5552777"/>
            <a:ext cx="454521" cy="468809"/>
          </a:xfrm>
          <a:prstGeom prst="rect">
            <a:avLst/>
          </a:prstGeom>
          <a:solidFill>
            <a:srgbClr val="C9461A"/>
          </a:solidFill>
          <a:ln/>
        </p:spPr>
        <p:txBody>
          <a:bodyPr/>
          <a:lstStyle/>
          <a:p>
            <a:endParaRPr lang="en-US"/>
          </a:p>
        </p:txBody>
      </p:sp>
      <p:sp>
        <p:nvSpPr>
          <p:cNvPr id="144" name="Shape 142"/>
          <p:cNvSpPr/>
          <p:nvPr/>
        </p:nvSpPr>
        <p:spPr>
          <a:xfrm>
            <a:off x="11957596" y="5552777"/>
            <a:ext cx="454521" cy="468809"/>
          </a:xfrm>
          <a:prstGeom prst="rect">
            <a:avLst/>
          </a:prstGeom>
          <a:solidFill>
            <a:srgbClr val="FF5A1F"/>
          </a:solidFill>
          <a:ln/>
        </p:spPr>
        <p:txBody>
          <a:bodyPr/>
          <a:lstStyle/>
          <a:p>
            <a:endParaRPr lang="en-US"/>
          </a:p>
        </p:txBody>
      </p:sp>
      <p:sp>
        <p:nvSpPr>
          <p:cNvPr id="145" name="Shape 143"/>
          <p:cNvSpPr/>
          <p:nvPr/>
        </p:nvSpPr>
        <p:spPr>
          <a:xfrm>
            <a:off x="12450217" y="5552777"/>
            <a:ext cx="454521" cy="468809"/>
          </a:xfrm>
          <a:prstGeom prst="rect">
            <a:avLst/>
          </a:prstGeom>
          <a:solidFill>
            <a:srgbClr val="FFB347"/>
          </a:solidFill>
          <a:ln/>
        </p:spPr>
        <p:txBody>
          <a:bodyPr/>
          <a:lstStyle/>
          <a:p>
            <a:endParaRPr lang="en-US"/>
          </a:p>
        </p:txBody>
      </p:sp>
      <p:sp>
        <p:nvSpPr>
          <p:cNvPr id="146" name="Shape 144"/>
          <p:cNvSpPr/>
          <p:nvPr/>
        </p:nvSpPr>
        <p:spPr>
          <a:xfrm>
            <a:off x="12942838" y="5552777"/>
            <a:ext cx="454521" cy="468809"/>
          </a:xfrm>
          <a:prstGeom prst="rect">
            <a:avLst/>
          </a:prstGeom>
          <a:solidFill>
            <a:srgbClr val="2A2F3A"/>
          </a:solidFill>
          <a:ln/>
        </p:spPr>
        <p:txBody>
          <a:bodyPr/>
          <a:lstStyle/>
          <a:p>
            <a:endParaRPr lang="en-US"/>
          </a:p>
        </p:txBody>
      </p:sp>
      <p:sp>
        <p:nvSpPr>
          <p:cNvPr id="147" name="Shape 145"/>
          <p:cNvSpPr/>
          <p:nvPr/>
        </p:nvSpPr>
        <p:spPr>
          <a:xfrm>
            <a:off x="13435459" y="5552777"/>
            <a:ext cx="454521" cy="468809"/>
          </a:xfrm>
          <a:prstGeom prst="rect">
            <a:avLst/>
          </a:prstGeom>
          <a:solidFill>
            <a:srgbClr val="5C2A0E"/>
          </a:solidFill>
          <a:ln/>
        </p:spPr>
        <p:txBody>
          <a:bodyPr/>
          <a:lstStyle/>
          <a:p>
            <a:endParaRPr lang="en-US"/>
          </a:p>
        </p:txBody>
      </p:sp>
      <p:sp>
        <p:nvSpPr>
          <p:cNvPr id="148" name="Shape 146"/>
          <p:cNvSpPr/>
          <p:nvPr/>
        </p:nvSpPr>
        <p:spPr>
          <a:xfrm>
            <a:off x="13928080" y="5552777"/>
            <a:ext cx="454521" cy="468809"/>
          </a:xfrm>
          <a:prstGeom prst="rect">
            <a:avLst/>
          </a:prstGeom>
          <a:solidFill>
            <a:srgbClr val="FFE08A"/>
          </a:solidFill>
          <a:ln/>
        </p:spPr>
        <p:txBody>
          <a:bodyPr/>
          <a:lstStyle/>
          <a:p>
            <a:endParaRPr lang="en-US"/>
          </a:p>
        </p:txBody>
      </p:sp>
      <p:sp>
        <p:nvSpPr>
          <p:cNvPr id="149" name="Shape 147"/>
          <p:cNvSpPr/>
          <p:nvPr/>
        </p:nvSpPr>
        <p:spPr>
          <a:xfrm>
            <a:off x="14420701" y="5552777"/>
            <a:ext cx="454372" cy="468809"/>
          </a:xfrm>
          <a:prstGeom prst="rect">
            <a:avLst/>
          </a:prstGeom>
          <a:solidFill>
            <a:srgbClr val="2A2F3A"/>
          </a:solidFill>
          <a:ln/>
        </p:spPr>
        <p:txBody>
          <a:bodyPr/>
          <a:lstStyle/>
          <a:p>
            <a:endParaRPr lang="en-US"/>
          </a:p>
        </p:txBody>
      </p:sp>
      <p:sp>
        <p:nvSpPr>
          <p:cNvPr id="150" name="Shape 148"/>
          <p:cNvSpPr/>
          <p:nvPr/>
        </p:nvSpPr>
        <p:spPr>
          <a:xfrm>
            <a:off x="14913173" y="5552777"/>
            <a:ext cx="454521" cy="468809"/>
          </a:xfrm>
          <a:prstGeom prst="rect">
            <a:avLst/>
          </a:prstGeom>
          <a:solidFill>
            <a:srgbClr val="C9461A"/>
          </a:solidFill>
          <a:ln/>
        </p:spPr>
        <p:txBody>
          <a:bodyPr/>
          <a:lstStyle/>
          <a:p>
            <a:endParaRPr lang="en-US"/>
          </a:p>
        </p:txBody>
      </p:sp>
      <p:sp>
        <p:nvSpPr>
          <p:cNvPr id="151" name="Shape 149"/>
          <p:cNvSpPr/>
          <p:nvPr/>
        </p:nvSpPr>
        <p:spPr>
          <a:xfrm>
            <a:off x="15405795" y="5552777"/>
            <a:ext cx="454521" cy="468809"/>
          </a:xfrm>
          <a:prstGeom prst="rect">
            <a:avLst/>
          </a:prstGeom>
          <a:solidFill>
            <a:srgbClr val="2A2F3A"/>
          </a:solidFill>
          <a:ln/>
        </p:spPr>
        <p:txBody>
          <a:bodyPr/>
          <a:lstStyle/>
          <a:p>
            <a:endParaRPr lang="en-US"/>
          </a:p>
        </p:txBody>
      </p:sp>
      <p:sp>
        <p:nvSpPr>
          <p:cNvPr id="152" name="Shape 150"/>
          <p:cNvSpPr/>
          <p:nvPr/>
        </p:nvSpPr>
        <p:spPr>
          <a:xfrm>
            <a:off x="15898416" y="5552777"/>
            <a:ext cx="454521" cy="468809"/>
          </a:xfrm>
          <a:prstGeom prst="rect">
            <a:avLst/>
          </a:prstGeom>
          <a:solidFill>
            <a:srgbClr val="FF5A1F"/>
          </a:solidFill>
          <a:ln/>
        </p:spPr>
        <p:txBody>
          <a:bodyPr/>
          <a:lstStyle/>
          <a:p>
            <a:endParaRPr lang="en-US"/>
          </a:p>
        </p:txBody>
      </p:sp>
      <p:sp>
        <p:nvSpPr>
          <p:cNvPr id="153" name="Shape 151"/>
          <p:cNvSpPr/>
          <p:nvPr/>
        </p:nvSpPr>
        <p:spPr>
          <a:xfrm>
            <a:off x="16391037" y="5552777"/>
            <a:ext cx="454521" cy="468809"/>
          </a:xfrm>
          <a:prstGeom prst="rect">
            <a:avLst/>
          </a:prstGeom>
          <a:solidFill>
            <a:srgbClr val="C9461A"/>
          </a:solidFill>
          <a:ln/>
        </p:spPr>
        <p:txBody>
          <a:bodyPr/>
          <a:lstStyle/>
          <a:p>
            <a:endParaRPr lang="en-US"/>
          </a:p>
        </p:txBody>
      </p:sp>
      <p:sp>
        <p:nvSpPr>
          <p:cNvPr id="154" name="Shape 152"/>
          <p:cNvSpPr/>
          <p:nvPr/>
        </p:nvSpPr>
        <p:spPr>
          <a:xfrm>
            <a:off x="16883658" y="5552777"/>
            <a:ext cx="454521" cy="468809"/>
          </a:xfrm>
          <a:prstGeom prst="rect">
            <a:avLst/>
          </a:prstGeom>
          <a:solidFill>
            <a:srgbClr val="2A2F3A"/>
          </a:solidFill>
          <a:ln/>
        </p:spPr>
        <p:txBody>
          <a:bodyPr/>
          <a:lstStyle/>
          <a:p>
            <a:endParaRPr lang="en-US"/>
          </a:p>
        </p:txBody>
      </p:sp>
      <p:sp>
        <p:nvSpPr>
          <p:cNvPr id="155" name="Shape 153"/>
          <p:cNvSpPr/>
          <p:nvPr/>
        </p:nvSpPr>
        <p:spPr>
          <a:xfrm>
            <a:off x="17376279" y="5552777"/>
            <a:ext cx="454521" cy="468809"/>
          </a:xfrm>
          <a:prstGeom prst="rect">
            <a:avLst/>
          </a:prstGeom>
          <a:solidFill>
            <a:srgbClr val="C9461A"/>
          </a:solidFill>
          <a:ln/>
        </p:spPr>
        <p:txBody>
          <a:bodyPr/>
          <a:lstStyle/>
          <a:p>
            <a:endParaRPr lang="en-US"/>
          </a:p>
        </p:txBody>
      </p:sp>
      <p:sp>
        <p:nvSpPr>
          <p:cNvPr id="156" name="Shape 154"/>
          <p:cNvSpPr/>
          <p:nvPr/>
        </p:nvSpPr>
        <p:spPr>
          <a:xfrm>
            <a:off x="10972502" y="6059686"/>
            <a:ext cx="454372" cy="468809"/>
          </a:xfrm>
          <a:prstGeom prst="rect">
            <a:avLst/>
          </a:prstGeom>
          <a:solidFill>
            <a:srgbClr val="2A2F3A"/>
          </a:solidFill>
          <a:ln/>
        </p:spPr>
        <p:txBody>
          <a:bodyPr/>
          <a:lstStyle/>
          <a:p>
            <a:endParaRPr lang="en-US"/>
          </a:p>
        </p:txBody>
      </p:sp>
      <p:sp>
        <p:nvSpPr>
          <p:cNvPr id="157" name="Shape 155"/>
          <p:cNvSpPr/>
          <p:nvPr/>
        </p:nvSpPr>
        <p:spPr>
          <a:xfrm>
            <a:off x="11464975" y="6059686"/>
            <a:ext cx="454521" cy="468809"/>
          </a:xfrm>
          <a:prstGeom prst="rect">
            <a:avLst/>
          </a:prstGeom>
          <a:solidFill>
            <a:srgbClr val="C9461A"/>
          </a:solidFill>
          <a:ln/>
        </p:spPr>
        <p:txBody>
          <a:bodyPr/>
          <a:lstStyle/>
          <a:p>
            <a:endParaRPr lang="en-US"/>
          </a:p>
        </p:txBody>
      </p:sp>
      <p:sp>
        <p:nvSpPr>
          <p:cNvPr id="158" name="Shape 156"/>
          <p:cNvSpPr/>
          <p:nvPr/>
        </p:nvSpPr>
        <p:spPr>
          <a:xfrm>
            <a:off x="11957596" y="6059686"/>
            <a:ext cx="454521" cy="468809"/>
          </a:xfrm>
          <a:prstGeom prst="rect">
            <a:avLst/>
          </a:prstGeom>
          <a:solidFill>
            <a:srgbClr val="2A2F3A"/>
          </a:solidFill>
          <a:ln/>
        </p:spPr>
        <p:txBody>
          <a:bodyPr/>
          <a:lstStyle/>
          <a:p>
            <a:endParaRPr lang="en-US"/>
          </a:p>
        </p:txBody>
      </p:sp>
      <p:sp>
        <p:nvSpPr>
          <p:cNvPr id="159" name="Shape 157"/>
          <p:cNvSpPr/>
          <p:nvPr/>
        </p:nvSpPr>
        <p:spPr>
          <a:xfrm>
            <a:off x="12450217" y="6059686"/>
            <a:ext cx="454521" cy="468809"/>
          </a:xfrm>
          <a:prstGeom prst="rect">
            <a:avLst/>
          </a:prstGeom>
          <a:solidFill>
            <a:srgbClr val="2A2F3A"/>
          </a:solidFill>
          <a:ln/>
        </p:spPr>
        <p:txBody>
          <a:bodyPr/>
          <a:lstStyle/>
          <a:p>
            <a:endParaRPr lang="en-US"/>
          </a:p>
        </p:txBody>
      </p:sp>
      <p:sp>
        <p:nvSpPr>
          <p:cNvPr id="160" name="Shape 158"/>
          <p:cNvSpPr/>
          <p:nvPr/>
        </p:nvSpPr>
        <p:spPr>
          <a:xfrm>
            <a:off x="12942838" y="6059686"/>
            <a:ext cx="454521" cy="468809"/>
          </a:xfrm>
          <a:prstGeom prst="rect">
            <a:avLst/>
          </a:prstGeom>
          <a:solidFill>
            <a:srgbClr val="5C2A0E"/>
          </a:solidFill>
          <a:ln/>
        </p:spPr>
        <p:txBody>
          <a:bodyPr/>
          <a:lstStyle/>
          <a:p>
            <a:endParaRPr lang="en-US"/>
          </a:p>
        </p:txBody>
      </p:sp>
      <p:sp>
        <p:nvSpPr>
          <p:cNvPr id="161" name="Shape 159"/>
          <p:cNvSpPr/>
          <p:nvPr/>
        </p:nvSpPr>
        <p:spPr>
          <a:xfrm>
            <a:off x="13435459" y="6059686"/>
            <a:ext cx="454521" cy="468809"/>
          </a:xfrm>
          <a:prstGeom prst="rect">
            <a:avLst/>
          </a:prstGeom>
          <a:solidFill>
            <a:srgbClr val="FFB347"/>
          </a:solidFill>
          <a:ln/>
        </p:spPr>
        <p:txBody>
          <a:bodyPr/>
          <a:lstStyle/>
          <a:p>
            <a:endParaRPr lang="en-US"/>
          </a:p>
        </p:txBody>
      </p:sp>
      <p:sp>
        <p:nvSpPr>
          <p:cNvPr id="162" name="Shape 160"/>
          <p:cNvSpPr/>
          <p:nvPr/>
        </p:nvSpPr>
        <p:spPr>
          <a:xfrm>
            <a:off x="13928080" y="6059686"/>
            <a:ext cx="454521" cy="468809"/>
          </a:xfrm>
          <a:prstGeom prst="rect">
            <a:avLst/>
          </a:prstGeom>
          <a:solidFill>
            <a:srgbClr val="FFB347"/>
          </a:solidFill>
          <a:ln/>
        </p:spPr>
        <p:txBody>
          <a:bodyPr/>
          <a:lstStyle/>
          <a:p>
            <a:endParaRPr lang="en-US"/>
          </a:p>
        </p:txBody>
      </p:sp>
      <p:sp>
        <p:nvSpPr>
          <p:cNvPr id="163" name="Shape 161"/>
          <p:cNvSpPr/>
          <p:nvPr/>
        </p:nvSpPr>
        <p:spPr>
          <a:xfrm>
            <a:off x="14420701" y="6059686"/>
            <a:ext cx="454372" cy="468809"/>
          </a:xfrm>
          <a:prstGeom prst="rect">
            <a:avLst/>
          </a:prstGeom>
          <a:solidFill>
            <a:srgbClr val="2A2F3A"/>
          </a:solidFill>
          <a:ln/>
        </p:spPr>
        <p:txBody>
          <a:bodyPr/>
          <a:lstStyle/>
          <a:p>
            <a:endParaRPr lang="en-US"/>
          </a:p>
        </p:txBody>
      </p:sp>
      <p:sp>
        <p:nvSpPr>
          <p:cNvPr id="164" name="Shape 162"/>
          <p:cNvSpPr/>
          <p:nvPr/>
        </p:nvSpPr>
        <p:spPr>
          <a:xfrm>
            <a:off x="14913173" y="6059686"/>
            <a:ext cx="454521" cy="468809"/>
          </a:xfrm>
          <a:prstGeom prst="rect">
            <a:avLst/>
          </a:prstGeom>
          <a:solidFill>
            <a:srgbClr val="FFE08A"/>
          </a:solidFill>
          <a:ln/>
        </p:spPr>
        <p:txBody>
          <a:bodyPr/>
          <a:lstStyle/>
          <a:p>
            <a:endParaRPr lang="en-US"/>
          </a:p>
        </p:txBody>
      </p:sp>
      <p:sp>
        <p:nvSpPr>
          <p:cNvPr id="165" name="Shape 163"/>
          <p:cNvSpPr/>
          <p:nvPr/>
        </p:nvSpPr>
        <p:spPr>
          <a:xfrm>
            <a:off x="15405795" y="6059686"/>
            <a:ext cx="454521" cy="468809"/>
          </a:xfrm>
          <a:prstGeom prst="rect">
            <a:avLst/>
          </a:prstGeom>
          <a:solidFill>
            <a:srgbClr val="FFB347"/>
          </a:solidFill>
          <a:ln/>
        </p:spPr>
        <p:txBody>
          <a:bodyPr/>
          <a:lstStyle/>
          <a:p>
            <a:endParaRPr lang="en-US"/>
          </a:p>
        </p:txBody>
      </p:sp>
      <p:sp>
        <p:nvSpPr>
          <p:cNvPr id="166" name="Shape 164"/>
          <p:cNvSpPr/>
          <p:nvPr/>
        </p:nvSpPr>
        <p:spPr>
          <a:xfrm>
            <a:off x="15898416" y="6059686"/>
            <a:ext cx="454521" cy="468809"/>
          </a:xfrm>
          <a:prstGeom prst="rect">
            <a:avLst/>
          </a:prstGeom>
          <a:solidFill>
            <a:srgbClr val="C9461A"/>
          </a:solidFill>
          <a:ln/>
        </p:spPr>
        <p:txBody>
          <a:bodyPr/>
          <a:lstStyle/>
          <a:p>
            <a:endParaRPr lang="en-US"/>
          </a:p>
        </p:txBody>
      </p:sp>
      <p:sp>
        <p:nvSpPr>
          <p:cNvPr id="167" name="Shape 165"/>
          <p:cNvSpPr/>
          <p:nvPr/>
        </p:nvSpPr>
        <p:spPr>
          <a:xfrm>
            <a:off x="16391037" y="6059686"/>
            <a:ext cx="454521" cy="468809"/>
          </a:xfrm>
          <a:prstGeom prst="rect">
            <a:avLst/>
          </a:prstGeom>
          <a:solidFill>
            <a:srgbClr val="FFE08A"/>
          </a:solidFill>
          <a:ln/>
        </p:spPr>
        <p:txBody>
          <a:bodyPr/>
          <a:lstStyle/>
          <a:p>
            <a:endParaRPr lang="en-US"/>
          </a:p>
        </p:txBody>
      </p:sp>
      <p:sp>
        <p:nvSpPr>
          <p:cNvPr id="168" name="Shape 166"/>
          <p:cNvSpPr/>
          <p:nvPr/>
        </p:nvSpPr>
        <p:spPr>
          <a:xfrm>
            <a:off x="16883658" y="6059686"/>
            <a:ext cx="454521" cy="468809"/>
          </a:xfrm>
          <a:prstGeom prst="rect">
            <a:avLst/>
          </a:prstGeom>
          <a:solidFill>
            <a:srgbClr val="FFE08A"/>
          </a:solidFill>
          <a:ln/>
        </p:spPr>
        <p:txBody>
          <a:bodyPr/>
          <a:lstStyle/>
          <a:p>
            <a:endParaRPr lang="en-US"/>
          </a:p>
        </p:txBody>
      </p:sp>
      <p:sp>
        <p:nvSpPr>
          <p:cNvPr id="169" name="Shape 167"/>
          <p:cNvSpPr/>
          <p:nvPr/>
        </p:nvSpPr>
        <p:spPr>
          <a:xfrm>
            <a:off x="17376279" y="6059686"/>
            <a:ext cx="454521" cy="468809"/>
          </a:xfrm>
          <a:prstGeom prst="rect">
            <a:avLst/>
          </a:prstGeom>
          <a:solidFill>
            <a:srgbClr val="C9461A"/>
          </a:solidFill>
          <a:ln/>
        </p:spPr>
        <p:txBody>
          <a:bodyPr/>
          <a:lstStyle/>
          <a:p>
            <a:endParaRPr lang="en-US"/>
          </a:p>
        </p:txBody>
      </p:sp>
      <p:sp>
        <p:nvSpPr>
          <p:cNvPr id="170" name="Shape 168"/>
          <p:cNvSpPr/>
          <p:nvPr/>
        </p:nvSpPr>
        <p:spPr>
          <a:xfrm>
            <a:off x="10972502" y="6566595"/>
            <a:ext cx="454372" cy="468809"/>
          </a:xfrm>
          <a:prstGeom prst="rect">
            <a:avLst/>
          </a:prstGeom>
          <a:solidFill>
            <a:srgbClr val="2A2F3A"/>
          </a:solidFill>
          <a:ln/>
        </p:spPr>
        <p:txBody>
          <a:bodyPr/>
          <a:lstStyle/>
          <a:p>
            <a:endParaRPr lang="en-US"/>
          </a:p>
        </p:txBody>
      </p:sp>
      <p:sp>
        <p:nvSpPr>
          <p:cNvPr id="171" name="Shape 169"/>
          <p:cNvSpPr/>
          <p:nvPr/>
        </p:nvSpPr>
        <p:spPr>
          <a:xfrm>
            <a:off x="11464975" y="6566595"/>
            <a:ext cx="454521" cy="468809"/>
          </a:xfrm>
          <a:prstGeom prst="rect">
            <a:avLst/>
          </a:prstGeom>
          <a:solidFill>
            <a:srgbClr val="5C2A0E"/>
          </a:solidFill>
          <a:ln/>
        </p:spPr>
        <p:txBody>
          <a:bodyPr/>
          <a:lstStyle/>
          <a:p>
            <a:endParaRPr lang="en-US"/>
          </a:p>
        </p:txBody>
      </p:sp>
      <p:sp>
        <p:nvSpPr>
          <p:cNvPr id="172" name="Shape 170"/>
          <p:cNvSpPr/>
          <p:nvPr/>
        </p:nvSpPr>
        <p:spPr>
          <a:xfrm>
            <a:off x="11957596" y="6566595"/>
            <a:ext cx="454521" cy="468809"/>
          </a:xfrm>
          <a:prstGeom prst="rect">
            <a:avLst/>
          </a:prstGeom>
          <a:solidFill>
            <a:srgbClr val="FFE08A"/>
          </a:solidFill>
          <a:ln/>
        </p:spPr>
        <p:txBody>
          <a:bodyPr/>
          <a:lstStyle/>
          <a:p>
            <a:endParaRPr lang="en-US"/>
          </a:p>
        </p:txBody>
      </p:sp>
      <p:sp>
        <p:nvSpPr>
          <p:cNvPr id="173" name="Shape 171"/>
          <p:cNvSpPr/>
          <p:nvPr/>
        </p:nvSpPr>
        <p:spPr>
          <a:xfrm>
            <a:off x="12450217" y="6566595"/>
            <a:ext cx="454521" cy="468809"/>
          </a:xfrm>
          <a:prstGeom prst="rect">
            <a:avLst/>
          </a:prstGeom>
          <a:solidFill>
            <a:srgbClr val="2A2F3A"/>
          </a:solidFill>
          <a:ln/>
        </p:spPr>
        <p:txBody>
          <a:bodyPr/>
          <a:lstStyle/>
          <a:p>
            <a:endParaRPr lang="en-US"/>
          </a:p>
        </p:txBody>
      </p:sp>
      <p:sp>
        <p:nvSpPr>
          <p:cNvPr id="174" name="Shape 172"/>
          <p:cNvSpPr/>
          <p:nvPr/>
        </p:nvSpPr>
        <p:spPr>
          <a:xfrm>
            <a:off x="12942838" y="6566595"/>
            <a:ext cx="454521" cy="468809"/>
          </a:xfrm>
          <a:prstGeom prst="rect">
            <a:avLst/>
          </a:prstGeom>
          <a:solidFill>
            <a:srgbClr val="FFB347"/>
          </a:solidFill>
          <a:ln/>
        </p:spPr>
        <p:txBody>
          <a:bodyPr/>
          <a:lstStyle/>
          <a:p>
            <a:endParaRPr lang="en-US"/>
          </a:p>
        </p:txBody>
      </p:sp>
      <p:sp>
        <p:nvSpPr>
          <p:cNvPr id="175" name="Shape 173"/>
          <p:cNvSpPr/>
          <p:nvPr/>
        </p:nvSpPr>
        <p:spPr>
          <a:xfrm>
            <a:off x="13435459" y="6566595"/>
            <a:ext cx="454521" cy="468809"/>
          </a:xfrm>
          <a:prstGeom prst="rect">
            <a:avLst/>
          </a:prstGeom>
          <a:solidFill>
            <a:srgbClr val="FFE08A"/>
          </a:solidFill>
          <a:ln/>
        </p:spPr>
        <p:txBody>
          <a:bodyPr/>
          <a:lstStyle/>
          <a:p>
            <a:endParaRPr lang="en-US"/>
          </a:p>
        </p:txBody>
      </p:sp>
      <p:sp>
        <p:nvSpPr>
          <p:cNvPr id="176" name="Shape 174"/>
          <p:cNvSpPr/>
          <p:nvPr/>
        </p:nvSpPr>
        <p:spPr>
          <a:xfrm>
            <a:off x="13928080" y="6566595"/>
            <a:ext cx="454521" cy="468809"/>
          </a:xfrm>
          <a:prstGeom prst="rect">
            <a:avLst/>
          </a:prstGeom>
          <a:solidFill>
            <a:srgbClr val="2A2F3A"/>
          </a:solidFill>
          <a:ln/>
        </p:spPr>
        <p:txBody>
          <a:bodyPr/>
          <a:lstStyle/>
          <a:p>
            <a:endParaRPr lang="en-US"/>
          </a:p>
        </p:txBody>
      </p:sp>
      <p:sp>
        <p:nvSpPr>
          <p:cNvPr id="177" name="Shape 175"/>
          <p:cNvSpPr/>
          <p:nvPr/>
        </p:nvSpPr>
        <p:spPr>
          <a:xfrm>
            <a:off x="14420701" y="6566595"/>
            <a:ext cx="454372" cy="468809"/>
          </a:xfrm>
          <a:prstGeom prst="rect">
            <a:avLst/>
          </a:prstGeom>
          <a:solidFill>
            <a:srgbClr val="5C2A0E"/>
          </a:solidFill>
          <a:ln/>
        </p:spPr>
        <p:txBody>
          <a:bodyPr/>
          <a:lstStyle/>
          <a:p>
            <a:endParaRPr lang="en-US"/>
          </a:p>
        </p:txBody>
      </p:sp>
      <p:sp>
        <p:nvSpPr>
          <p:cNvPr id="178" name="Shape 176"/>
          <p:cNvSpPr/>
          <p:nvPr/>
        </p:nvSpPr>
        <p:spPr>
          <a:xfrm>
            <a:off x="14913173" y="6566595"/>
            <a:ext cx="454521" cy="468809"/>
          </a:xfrm>
          <a:prstGeom prst="rect">
            <a:avLst/>
          </a:prstGeom>
          <a:solidFill>
            <a:srgbClr val="2A2F3A"/>
          </a:solidFill>
          <a:ln/>
        </p:spPr>
        <p:txBody>
          <a:bodyPr/>
          <a:lstStyle/>
          <a:p>
            <a:endParaRPr lang="en-US"/>
          </a:p>
        </p:txBody>
      </p:sp>
      <p:sp>
        <p:nvSpPr>
          <p:cNvPr id="179" name="Shape 177"/>
          <p:cNvSpPr/>
          <p:nvPr/>
        </p:nvSpPr>
        <p:spPr>
          <a:xfrm>
            <a:off x="15405795" y="6566595"/>
            <a:ext cx="454521" cy="468809"/>
          </a:xfrm>
          <a:prstGeom prst="rect">
            <a:avLst/>
          </a:prstGeom>
          <a:solidFill>
            <a:srgbClr val="FFE08A"/>
          </a:solidFill>
          <a:ln/>
        </p:spPr>
        <p:txBody>
          <a:bodyPr/>
          <a:lstStyle/>
          <a:p>
            <a:endParaRPr lang="en-US"/>
          </a:p>
        </p:txBody>
      </p:sp>
      <p:sp>
        <p:nvSpPr>
          <p:cNvPr id="180" name="Shape 178"/>
          <p:cNvSpPr/>
          <p:nvPr/>
        </p:nvSpPr>
        <p:spPr>
          <a:xfrm>
            <a:off x="15898416" y="6566595"/>
            <a:ext cx="454521" cy="468809"/>
          </a:xfrm>
          <a:prstGeom prst="rect">
            <a:avLst/>
          </a:prstGeom>
          <a:solidFill>
            <a:srgbClr val="FF5A1F"/>
          </a:solidFill>
          <a:ln/>
        </p:spPr>
        <p:txBody>
          <a:bodyPr/>
          <a:lstStyle/>
          <a:p>
            <a:endParaRPr lang="en-US"/>
          </a:p>
        </p:txBody>
      </p:sp>
      <p:sp>
        <p:nvSpPr>
          <p:cNvPr id="181" name="Shape 179"/>
          <p:cNvSpPr/>
          <p:nvPr/>
        </p:nvSpPr>
        <p:spPr>
          <a:xfrm>
            <a:off x="16391037" y="6566595"/>
            <a:ext cx="454521" cy="468809"/>
          </a:xfrm>
          <a:prstGeom prst="rect">
            <a:avLst/>
          </a:prstGeom>
          <a:solidFill>
            <a:srgbClr val="C9461A"/>
          </a:solidFill>
          <a:ln/>
        </p:spPr>
        <p:txBody>
          <a:bodyPr/>
          <a:lstStyle/>
          <a:p>
            <a:endParaRPr lang="en-US"/>
          </a:p>
        </p:txBody>
      </p:sp>
      <p:sp>
        <p:nvSpPr>
          <p:cNvPr id="182" name="Shape 180"/>
          <p:cNvSpPr/>
          <p:nvPr/>
        </p:nvSpPr>
        <p:spPr>
          <a:xfrm>
            <a:off x="16883658" y="6566595"/>
            <a:ext cx="454521" cy="468809"/>
          </a:xfrm>
          <a:prstGeom prst="rect">
            <a:avLst/>
          </a:prstGeom>
          <a:solidFill>
            <a:srgbClr val="C9461A"/>
          </a:solidFill>
          <a:ln/>
        </p:spPr>
        <p:txBody>
          <a:bodyPr/>
          <a:lstStyle/>
          <a:p>
            <a:endParaRPr lang="en-US"/>
          </a:p>
        </p:txBody>
      </p:sp>
      <p:sp>
        <p:nvSpPr>
          <p:cNvPr id="183" name="Shape 181"/>
          <p:cNvSpPr/>
          <p:nvPr/>
        </p:nvSpPr>
        <p:spPr>
          <a:xfrm>
            <a:off x="17376279" y="6566595"/>
            <a:ext cx="454521" cy="468809"/>
          </a:xfrm>
          <a:prstGeom prst="rect">
            <a:avLst/>
          </a:prstGeom>
          <a:solidFill>
            <a:srgbClr val="2A2F3A"/>
          </a:solidFill>
          <a:ln/>
        </p:spPr>
        <p:txBody>
          <a:bodyPr/>
          <a:lstStyle/>
          <a:p>
            <a:endParaRPr lang="en-US"/>
          </a:p>
        </p:txBody>
      </p:sp>
      <p:sp>
        <p:nvSpPr>
          <p:cNvPr id="184" name="Shape 182"/>
          <p:cNvSpPr/>
          <p:nvPr/>
        </p:nvSpPr>
        <p:spPr>
          <a:xfrm>
            <a:off x="10972502" y="7073503"/>
            <a:ext cx="454372" cy="468809"/>
          </a:xfrm>
          <a:prstGeom prst="rect">
            <a:avLst/>
          </a:prstGeom>
          <a:solidFill>
            <a:srgbClr val="2A2F3A"/>
          </a:solidFill>
          <a:ln/>
        </p:spPr>
        <p:txBody>
          <a:bodyPr/>
          <a:lstStyle/>
          <a:p>
            <a:endParaRPr lang="en-US"/>
          </a:p>
        </p:txBody>
      </p:sp>
      <p:sp>
        <p:nvSpPr>
          <p:cNvPr id="185" name="Shape 183"/>
          <p:cNvSpPr/>
          <p:nvPr/>
        </p:nvSpPr>
        <p:spPr>
          <a:xfrm>
            <a:off x="11464975" y="7073503"/>
            <a:ext cx="454521" cy="468809"/>
          </a:xfrm>
          <a:prstGeom prst="rect">
            <a:avLst/>
          </a:prstGeom>
          <a:solidFill>
            <a:srgbClr val="C9461A"/>
          </a:solidFill>
          <a:ln/>
        </p:spPr>
        <p:txBody>
          <a:bodyPr/>
          <a:lstStyle/>
          <a:p>
            <a:endParaRPr lang="en-US"/>
          </a:p>
        </p:txBody>
      </p:sp>
      <p:sp>
        <p:nvSpPr>
          <p:cNvPr id="186" name="Shape 184"/>
          <p:cNvSpPr/>
          <p:nvPr/>
        </p:nvSpPr>
        <p:spPr>
          <a:xfrm>
            <a:off x="11957596" y="7073503"/>
            <a:ext cx="454521" cy="468809"/>
          </a:xfrm>
          <a:prstGeom prst="rect">
            <a:avLst/>
          </a:prstGeom>
          <a:solidFill>
            <a:srgbClr val="2A2F3A"/>
          </a:solidFill>
          <a:ln/>
        </p:spPr>
        <p:txBody>
          <a:bodyPr/>
          <a:lstStyle/>
          <a:p>
            <a:endParaRPr lang="en-US"/>
          </a:p>
        </p:txBody>
      </p:sp>
      <p:sp>
        <p:nvSpPr>
          <p:cNvPr id="187" name="Shape 185"/>
          <p:cNvSpPr/>
          <p:nvPr/>
        </p:nvSpPr>
        <p:spPr>
          <a:xfrm>
            <a:off x="12450217" y="7073503"/>
            <a:ext cx="454521" cy="468809"/>
          </a:xfrm>
          <a:prstGeom prst="rect">
            <a:avLst/>
          </a:prstGeom>
          <a:solidFill>
            <a:srgbClr val="FFE08A"/>
          </a:solidFill>
          <a:ln/>
        </p:spPr>
        <p:txBody>
          <a:bodyPr/>
          <a:lstStyle/>
          <a:p>
            <a:endParaRPr lang="en-US"/>
          </a:p>
        </p:txBody>
      </p:sp>
      <p:sp>
        <p:nvSpPr>
          <p:cNvPr id="188" name="Shape 186"/>
          <p:cNvSpPr/>
          <p:nvPr/>
        </p:nvSpPr>
        <p:spPr>
          <a:xfrm>
            <a:off x="12942838" y="7073503"/>
            <a:ext cx="454521" cy="468809"/>
          </a:xfrm>
          <a:prstGeom prst="rect">
            <a:avLst/>
          </a:prstGeom>
          <a:solidFill>
            <a:srgbClr val="5C2A0E"/>
          </a:solidFill>
          <a:ln/>
        </p:spPr>
        <p:txBody>
          <a:bodyPr/>
          <a:lstStyle/>
          <a:p>
            <a:endParaRPr lang="en-US"/>
          </a:p>
        </p:txBody>
      </p:sp>
      <p:sp>
        <p:nvSpPr>
          <p:cNvPr id="189" name="Shape 187"/>
          <p:cNvSpPr/>
          <p:nvPr/>
        </p:nvSpPr>
        <p:spPr>
          <a:xfrm>
            <a:off x="13435459" y="7073503"/>
            <a:ext cx="454521" cy="468809"/>
          </a:xfrm>
          <a:prstGeom prst="rect">
            <a:avLst/>
          </a:prstGeom>
          <a:solidFill>
            <a:srgbClr val="2A2F3A"/>
          </a:solidFill>
          <a:ln/>
        </p:spPr>
        <p:txBody>
          <a:bodyPr/>
          <a:lstStyle/>
          <a:p>
            <a:endParaRPr lang="en-US"/>
          </a:p>
        </p:txBody>
      </p:sp>
      <p:sp>
        <p:nvSpPr>
          <p:cNvPr id="190" name="Shape 188"/>
          <p:cNvSpPr/>
          <p:nvPr/>
        </p:nvSpPr>
        <p:spPr>
          <a:xfrm>
            <a:off x="13928080" y="7073503"/>
            <a:ext cx="454521" cy="468809"/>
          </a:xfrm>
          <a:prstGeom prst="rect">
            <a:avLst/>
          </a:prstGeom>
          <a:solidFill>
            <a:srgbClr val="C9461A"/>
          </a:solidFill>
          <a:ln/>
        </p:spPr>
        <p:txBody>
          <a:bodyPr/>
          <a:lstStyle/>
          <a:p>
            <a:endParaRPr lang="en-US"/>
          </a:p>
        </p:txBody>
      </p:sp>
      <p:sp>
        <p:nvSpPr>
          <p:cNvPr id="191" name="Shape 189"/>
          <p:cNvSpPr/>
          <p:nvPr/>
        </p:nvSpPr>
        <p:spPr>
          <a:xfrm>
            <a:off x="14420701" y="7073503"/>
            <a:ext cx="454372" cy="468809"/>
          </a:xfrm>
          <a:prstGeom prst="rect">
            <a:avLst/>
          </a:prstGeom>
          <a:solidFill>
            <a:srgbClr val="C9461A"/>
          </a:solidFill>
          <a:ln/>
        </p:spPr>
        <p:txBody>
          <a:bodyPr/>
          <a:lstStyle/>
          <a:p>
            <a:endParaRPr lang="en-US"/>
          </a:p>
        </p:txBody>
      </p:sp>
      <p:sp>
        <p:nvSpPr>
          <p:cNvPr id="192" name="Shape 190"/>
          <p:cNvSpPr/>
          <p:nvPr/>
        </p:nvSpPr>
        <p:spPr>
          <a:xfrm>
            <a:off x="14913173" y="7073503"/>
            <a:ext cx="454521" cy="468809"/>
          </a:xfrm>
          <a:prstGeom prst="rect">
            <a:avLst/>
          </a:prstGeom>
          <a:solidFill>
            <a:srgbClr val="2A2F3A"/>
          </a:solidFill>
          <a:ln/>
        </p:spPr>
        <p:txBody>
          <a:bodyPr/>
          <a:lstStyle/>
          <a:p>
            <a:endParaRPr lang="en-US"/>
          </a:p>
        </p:txBody>
      </p:sp>
      <p:sp>
        <p:nvSpPr>
          <p:cNvPr id="193" name="Shape 191"/>
          <p:cNvSpPr/>
          <p:nvPr/>
        </p:nvSpPr>
        <p:spPr>
          <a:xfrm>
            <a:off x="15405795" y="7073503"/>
            <a:ext cx="454521" cy="468809"/>
          </a:xfrm>
          <a:prstGeom prst="rect">
            <a:avLst/>
          </a:prstGeom>
          <a:solidFill>
            <a:srgbClr val="2A2F3A"/>
          </a:solidFill>
          <a:ln/>
        </p:spPr>
        <p:txBody>
          <a:bodyPr/>
          <a:lstStyle/>
          <a:p>
            <a:endParaRPr lang="en-US"/>
          </a:p>
        </p:txBody>
      </p:sp>
      <p:sp>
        <p:nvSpPr>
          <p:cNvPr id="194" name="Shape 192"/>
          <p:cNvSpPr/>
          <p:nvPr/>
        </p:nvSpPr>
        <p:spPr>
          <a:xfrm>
            <a:off x="15898416" y="7073503"/>
            <a:ext cx="454521" cy="468809"/>
          </a:xfrm>
          <a:prstGeom prst="rect">
            <a:avLst/>
          </a:prstGeom>
          <a:solidFill>
            <a:srgbClr val="2A2F3A"/>
          </a:solidFill>
          <a:ln/>
        </p:spPr>
        <p:txBody>
          <a:bodyPr/>
          <a:lstStyle/>
          <a:p>
            <a:endParaRPr lang="en-US"/>
          </a:p>
        </p:txBody>
      </p:sp>
      <p:sp>
        <p:nvSpPr>
          <p:cNvPr id="195" name="Shape 193"/>
          <p:cNvSpPr/>
          <p:nvPr/>
        </p:nvSpPr>
        <p:spPr>
          <a:xfrm>
            <a:off x="16391037" y="7073503"/>
            <a:ext cx="454521" cy="468809"/>
          </a:xfrm>
          <a:prstGeom prst="rect">
            <a:avLst/>
          </a:prstGeom>
          <a:solidFill>
            <a:srgbClr val="2A2F3A"/>
          </a:solidFill>
          <a:ln/>
        </p:spPr>
        <p:txBody>
          <a:bodyPr/>
          <a:lstStyle/>
          <a:p>
            <a:endParaRPr lang="en-US"/>
          </a:p>
        </p:txBody>
      </p:sp>
      <p:sp>
        <p:nvSpPr>
          <p:cNvPr id="196" name="Shape 194"/>
          <p:cNvSpPr/>
          <p:nvPr/>
        </p:nvSpPr>
        <p:spPr>
          <a:xfrm>
            <a:off x="16883658" y="7073503"/>
            <a:ext cx="454521" cy="468809"/>
          </a:xfrm>
          <a:prstGeom prst="rect">
            <a:avLst/>
          </a:prstGeom>
          <a:solidFill>
            <a:srgbClr val="C9461A"/>
          </a:solidFill>
          <a:ln/>
        </p:spPr>
        <p:txBody>
          <a:bodyPr/>
          <a:lstStyle/>
          <a:p>
            <a:endParaRPr lang="en-US"/>
          </a:p>
        </p:txBody>
      </p:sp>
      <p:sp>
        <p:nvSpPr>
          <p:cNvPr id="197" name="Shape 195"/>
          <p:cNvSpPr/>
          <p:nvPr/>
        </p:nvSpPr>
        <p:spPr>
          <a:xfrm>
            <a:off x="17376279" y="7073503"/>
            <a:ext cx="454521" cy="468809"/>
          </a:xfrm>
          <a:prstGeom prst="rect">
            <a:avLst/>
          </a:prstGeom>
          <a:solidFill>
            <a:srgbClr val="2A2F3A"/>
          </a:solidFill>
          <a:ln/>
        </p:spPr>
        <p:txBody>
          <a:bodyPr/>
          <a:lstStyle/>
          <a:p>
            <a:endParaRPr lang="en-US"/>
          </a:p>
        </p:txBody>
      </p:sp>
      <p:sp>
        <p:nvSpPr>
          <p:cNvPr id="198" name="Shape 196"/>
          <p:cNvSpPr/>
          <p:nvPr/>
        </p:nvSpPr>
        <p:spPr>
          <a:xfrm>
            <a:off x="10972502" y="7580412"/>
            <a:ext cx="454372" cy="468809"/>
          </a:xfrm>
          <a:prstGeom prst="rect">
            <a:avLst/>
          </a:prstGeom>
          <a:solidFill>
            <a:srgbClr val="C9461A"/>
          </a:solidFill>
          <a:ln/>
        </p:spPr>
        <p:txBody>
          <a:bodyPr/>
          <a:lstStyle/>
          <a:p>
            <a:endParaRPr lang="en-US"/>
          </a:p>
        </p:txBody>
      </p:sp>
      <p:sp>
        <p:nvSpPr>
          <p:cNvPr id="199" name="Shape 197"/>
          <p:cNvSpPr/>
          <p:nvPr/>
        </p:nvSpPr>
        <p:spPr>
          <a:xfrm>
            <a:off x="11464975" y="7580412"/>
            <a:ext cx="454521" cy="468809"/>
          </a:xfrm>
          <a:prstGeom prst="rect">
            <a:avLst/>
          </a:prstGeom>
          <a:solidFill>
            <a:srgbClr val="FFE08A"/>
          </a:solidFill>
          <a:ln/>
        </p:spPr>
        <p:txBody>
          <a:bodyPr/>
          <a:lstStyle/>
          <a:p>
            <a:endParaRPr lang="en-US"/>
          </a:p>
        </p:txBody>
      </p:sp>
      <p:sp>
        <p:nvSpPr>
          <p:cNvPr id="200" name="Shape 198"/>
          <p:cNvSpPr/>
          <p:nvPr/>
        </p:nvSpPr>
        <p:spPr>
          <a:xfrm>
            <a:off x="11957596" y="7580412"/>
            <a:ext cx="454521" cy="468809"/>
          </a:xfrm>
          <a:prstGeom prst="rect">
            <a:avLst/>
          </a:prstGeom>
          <a:solidFill>
            <a:srgbClr val="2A2F3A"/>
          </a:solidFill>
          <a:ln/>
        </p:spPr>
        <p:txBody>
          <a:bodyPr/>
          <a:lstStyle/>
          <a:p>
            <a:endParaRPr lang="en-US"/>
          </a:p>
        </p:txBody>
      </p:sp>
      <p:sp>
        <p:nvSpPr>
          <p:cNvPr id="201" name="Shape 199"/>
          <p:cNvSpPr/>
          <p:nvPr/>
        </p:nvSpPr>
        <p:spPr>
          <a:xfrm>
            <a:off x="12450217" y="7580412"/>
            <a:ext cx="454521" cy="468809"/>
          </a:xfrm>
          <a:prstGeom prst="rect">
            <a:avLst/>
          </a:prstGeom>
          <a:solidFill>
            <a:srgbClr val="5C2A0E"/>
          </a:solidFill>
          <a:ln/>
        </p:spPr>
        <p:txBody>
          <a:bodyPr/>
          <a:lstStyle/>
          <a:p>
            <a:endParaRPr lang="en-US"/>
          </a:p>
        </p:txBody>
      </p:sp>
      <p:sp>
        <p:nvSpPr>
          <p:cNvPr id="202" name="Shape 200"/>
          <p:cNvSpPr/>
          <p:nvPr/>
        </p:nvSpPr>
        <p:spPr>
          <a:xfrm>
            <a:off x="12942838" y="7580412"/>
            <a:ext cx="454521" cy="468809"/>
          </a:xfrm>
          <a:prstGeom prst="rect">
            <a:avLst/>
          </a:prstGeom>
          <a:solidFill>
            <a:srgbClr val="C9461A"/>
          </a:solidFill>
          <a:ln/>
        </p:spPr>
        <p:txBody>
          <a:bodyPr/>
          <a:lstStyle/>
          <a:p>
            <a:endParaRPr lang="en-US"/>
          </a:p>
        </p:txBody>
      </p:sp>
      <p:sp>
        <p:nvSpPr>
          <p:cNvPr id="203" name="Shape 201"/>
          <p:cNvSpPr/>
          <p:nvPr/>
        </p:nvSpPr>
        <p:spPr>
          <a:xfrm>
            <a:off x="13435459" y="7580412"/>
            <a:ext cx="454521" cy="468809"/>
          </a:xfrm>
          <a:prstGeom prst="rect">
            <a:avLst/>
          </a:prstGeom>
          <a:solidFill>
            <a:srgbClr val="2A2F3A"/>
          </a:solidFill>
          <a:ln/>
        </p:spPr>
        <p:txBody>
          <a:bodyPr/>
          <a:lstStyle/>
          <a:p>
            <a:endParaRPr lang="en-US"/>
          </a:p>
        </p:txBody>
      </p:sp>
      <p:sp>
        <p:nvSpPr>
          <p:cNvPr id="204" name="Shape 202"/>
          <p:cNvSpPr/>
          <p:nvPr/>
        </p:nvSpPr>
        <p:spPr>
          <a:xfrm>
            <a:off x="13928080" y="7580412"/>
            <a:ext cx="454521" cy="468809"/>
          </a:xfrm>
          <a:prstGeom prst="rect">
            <a:avLst/>
          </a:prstGeom>
          <a:solidFill>
            <a:srgbClr val="2A2F3A"/>
          </a:solidFill>
          <a:ln/>
        </p:spPr>
        <p:txBody>
          <a:bodyPr/>
          <a:lstStyle/>
          <a:p>
            <a:endParaRPr lang="en-US"/>
          </a:p>
        </p:txBody>
      </p:sp>
      <p:sp>
        <p:nvSpPr>
          <p:cNvPr id="205" name="Shape 203"/>
          <p:cNvSpPr/>
          <p:nvPr/>
        </p:nvSpPr>
        <p:spPr>
          <a:xfrm>
            <a:off x="14420701" y="7580412"/>
            <a:ext cx="454372" cy="468809"/>
          </a:xfrm>
          <a:prstGeom prst="rect">
            <a:avLst/>
          </a:prstGeom>
          <a:solidFill>
            <a:srgbClr val="2A2F3A"/>
          </a:solidFill>
          <a:ln/>
        </p:spPr>
        <p:txBody>
          <a:bodyPr/>
          <a:lstStyle/>
          <a:p>
            <a:endParaRPr lang="en-US"/>
          </a:p>
        </p:txBody>
      </p:sp>
      <p:sp>
        <p:nvSpPr>
          <p:cNvPr id="206" name="Shape 204"/>
          <p:cNvSpPr/>
          <p:nvPr/>
        </p:nvSpPr>
        <p:spPr>
          <a:xfrm>
            <a:off x="14913173" y="7580412"/>
            <a:ext cx="454521" cy="468809"/>
          </a:xfrm>
          <a:prstGeom prst="rect">
            <a:avLst/>
          </a:prstGeom>
          <a:solidFill>
            <a:srgbClr val="FF5A1F"/>
          </a:solidFill>
          <a:ln/>
        </p:spPr>
        <p:txBody>
          <a:bodyPr/>
          <a:lstStyle/>
          <a:p>
            <a:endParaRPr lang="en-US"/>
          </a:p>
        </p:txBody>
      </p:sp>
      <p:sp>
        <p:nvSpPr>
          <p:cNvPr id="207" name="Shape 205"/>
          <p:cNvSpPr/>
          <p:nvPr/>
        </p:nvSpPr>
        <p:spPr>
          <a:xfrm>
            <a:off x="15405795" y="7580412"/>
            <a:ext cx="454521" cy="468809"/>
          </a:xfrm>
          <a:prstGeom prst="rect">
            <a:avLst/>
          </a:prstGeom>
          <a:solidFill>
            <a:srgbClr val="C9461A"/>
          </a:solidFill>
          <a:ln/>
        </p:spPr>
        <p:txBody>
          <a:bodyPr/>
          <a:lstStyle/>
          <a:p>
            <a:endParaRPr lang="en-US"/>
          </a:p>
        </p:txBody>
      </p:sp>
      <p:sp>
        <p:nvSpPr>
          <p:cNvPr id="208" name="Shape 206"/>
          <p:cNvSpPr/>
          <p:nvPr/>
        </p:nvSpPr>
        <p:spPr>
          <a:xfrm>
            <a:off x="15898416" y="7580412"/>
            <a:ext cx="454521" cy="468809"/>
          </a:xfrm>
          <a:prstGeom prst="rect">
            <a:avLst/>
          </a:prstGeom>
          <a:solidFill>
            <a:srgbClr val="2A2F3A"/>
          </a:solidFill>
          <a:ln/>
        </p:spPr>
        <p:txBody>
          <a:bodyPr/>
          <a:lstStyle/>
          <a:p>
            <a:endParaRPr lang="en-US"/>
          </a:p>
        </p:txBody>
      </p:sp>
      <p:sp>
        <p:nvSpPr>
          <p:cNvPr id="209" name="Shape 207"/>
          <p:cNvSpPr/>
          <p:nvPr/>
        </p:nvSpPr>
        <p:spPr>
          <a:xfrm>
            <a:off x="16391037" y="7580412"/>
            <a:ext cx="454521" cy="468809"/>
          </a:xfrm>
          <a:prstGeom prst="rect">
            <a:avLst/>
          </a:prstGeom>
          <a:solidFill>
            <a:srgbClr val="FFE08A"/>
          </a:solidFill>
          <a:ln/>
        </p:spPr>
        <p:txBody>
          <a:bodyPr/>
          <a:lstStyle/>
          <a:p>
            <a:endParaRPr lang="en-US"/>
          </a:p>
        </p:txBody>
      </p:sp>
      <p:sp>
        <p:nvSpPr>
          <p:cNvPr id="210" name="Shape 208"/>
          <p:cNvSpPr/>
          <p:nvPr/>
        </p:nvSpPr>
        <p:spPr>
          <a:xfrm>
            <a:off x="16883658" y="7580412"/>
            <a:ext cx="454521" cy="468809"/>
          </a:xfrm>
          <a:prstGeom prst="rect">
            <a:avLst/>
          </a:prstGeom>
          <a:solidFill>
            <a:srgbClr val="FFB347"/>
          </a:solidFill>
          <a:ln/>
        </p:spPr>
        <p:txBody>
          <a:bodyPr/>
          <a:lstStyle/>
          <a:p>
            <a:endParaRPr lang="en-US"/>
          </a:p>
        </p:txBody>
      </p:sp>
      <p:sp>
        <p:nvSpPr>
          <p:cNvPr id="211" name="Shape 209"/>
          <p:cNvSpPr/>
          <p:nvPr/>
        </p:nvSpPr>
        <p:spPr>
          <a:xfrm>
            <a:off x="17376279" y="7580412"/>
            <a:ext cx="454521" cy="468809"/>
          </a:xfrm>
          <a:prstGeom prst="rect">
            <a:avLst/>
          </a:prstGeom>
          <a:solidFill>
            <a:srgbClr val="5C2A0E"/>
          </a:solidFill>
          <a:ln/>
        </p:spPr>
        <p:txBody>
          <a:bodyPr/>
          <a:lstStyle/>
          <a:p>
            <a:endParaRPr lang="en-US"/>
          </a:p>
        </p:txBody>
      </p:sp>
      <p:sp>
        <p:nvSpPr>
          <p:cNvPr id="212" name="Shape 210"/>
          <p:cNvSpPr/>
          <p:nvPr/>
        </p:nvSpPr>
        <p:spPr>
          <a:xfrm>
            <a:off x="10972502" y="8087320"/>
            <a:ext cx="454372" cy="468809"/>
          </a:xfrm>
          <a:prstGeom prst="rect">
            <a:avLst/>
          </a:prstGeom>
          <a:solidFill>
            <a:srgbClr val="2A2F3A"/>
          </a:solidFill>
          <a:ln/>
        </p:spPr>
        <p:txBody>
          <a:bodyPr/>
          <a:lstStyle/>
          <a:p>
            <a:endParaRPr lang="en-US"/>
          </a:p>
        </p:txBody>
      </p:sp>
      <p:sp>
        <p:nvSpPr>
          <p:cNvPr id="213" name="Shape 211"/>
          <p:cNvSpPr/>
          <p:nvPr/>
        </p:nvSpPr>
        <p:spPr>
          <a:xfrm>
            <a:off x="11464975" y="8087320"/>
            <a:ext cx="454521" cy="468809"/>
          </a:xfrm>
          <a:prstGeom prst="rect">
            <a:avLst/>
          </a:prstGeom>
          <a:solidFill>
            <a:srgbClr val="2A2F3A"/>
          </a:solidFill>
          <a:ln/>
        </p:spPr>
        <p:txBody>
          <a:bodyPr/>
          <a:lstStyle/>
          <a:p>
            <a:endParaRPr lang="en-US"/>
          </a:p>
        </p:txBody>
      </p:sp>
      <p:sp>
        <p:nvSpPr>
          <p:cNvPr id="214" name="Shape 212"/>
          <p:cNvSpPr/>
          <p:nvPr/>
        </p:nvSpPr>
        <p:spPr>
          <a:xfrm>
            <a:off x="11957596" y="8087320"/>
            <a:ext cx="454521" cy="468809"/>
          </a:xfrm>
          <a:prstGeom prst="rect">
            <a:avLst/>
          </a:prstGeom>
          <a:solidFill>
            <a:srgbClr val="2A2F3A"/>
          </a:solidFill>
          <a:ln/>
        </p:spPr>
        <p:txBody>
          <a:bodyPr/>
          <a:lstStyle/>
          <a:p>
            <a:endParaRPr lang="en-US"/>
          </a:p>
        </p:txBody>
      </p:sp>
      <p:sp>
        <p:nvSpPr>
          <p:cNvPr id="215" name="Shape 213"/>
          <p:cNvSpPr/>
          <p:nvPr/>
        </p:nvSpPr>
        <p:spPr>
          <a:xfrm>
            <a:off x="12450217" y="8087320"/>
            <a:ext cx="454521" cy="468809"/>
          </a:xfrm>
          <a:prstGeom prst="rect">
            <a:avLst/>
          </a:prstGeom>
          <a:solidFill>
            <a:srgbClr val="2A2F3A"/>
          </a:solidFill>
          <a:ln/>
        </p:spPr>
        <p:txBody>
          <a:bodyPr/>
          <a:lstStyle/>
          <a:p>
            <a:endParaRPr lang="en-US"/>
          </a:p>
        </p:txBody>
      </p:sp>
      <p:sp>
        <p:nvSpPr>
          <p:cNvPr id="216" name="Shape 214"/>
          <p:cNvSpPr/>
          <p:nvPr/>
        </p:nvSpPr>
        <p:spPr>
          <a:xfrm>
            <a:off x="12942838" y="8087320"/>
            <a:ext cx="454521" cy="468809"/>
          </a:xfrm>
          <a:prstGeom prst="rect">
            <a:avLst/>
          </a:prstGeom>
          <a:solidFill>
            <a:srgbClr val="5C2A0E"/>
          </a:solidFill>
          <a:ln/>
        </p:spPr>
        <p:txBody>
          <a:bodyPr/>
          <a:lstStyle/>
          <a:p>
            <a:endParaRPr lang="en-US"/>
          </a:p>
        </p:txBody>
      </p:sp>
      <p:sp>
        <p:nvSpPr>
          <p:cNvPr id="217" name="Shape 215"/>
          <p:cNvSpPr/>
          <p:nvPr/>
        </p:nvSpPr>
        <p:spPr>
          <a:xfrm>
            <a:off x="13435459" y="8087320"/>
            <a:ext cx="454521" cy="468809"/>
          </a:xfrm>
          <a:prstGeom prst="rect">
            <a:avLst/>
          </a:prstGeom>
          <a:solidFill>
            <a:srgbClr val="2A2F3A"/>
          </a:solidFill>
          <a:ln/>
        </p:spPr>
        <p:txBody>
          <a:bodyPr/>
          <a:lstStyle/>
          <a:p>
            <a:endParaRPr lang="en-US"/>
          </a:p>
        </p:txBody>
      </p:sp>
      <p:sp>
        <p:nvSpPr>
          <p:cNvPr id="218" name="Shape 216"/>
          <p:cNvSpPr/>
          <p:nvPr/>
        </p:nvSpPr>
        <p:spPr>
          <a:xfrm>
            <a:off x="13928080" y="8087320"/>
            <a:ext cx="454521" cy="468809"/>
          </a:xfrm>
          <a:prstGeom prst="rect">
            <a:avLst/>
          </a:prstGeom>
          <a:solidFill>
            <a:srgbClr val="FFB347"/>
          </a:solidFill>
          <a:ln/>
        </p:spPr>
        <p:txBody>
          <a:bodyPr/>
          <a:lstStyle/>
          <a:p>
            <a:endParaRPr lang="en-US"/>
          </a:p>
        </p:txBody>
      </p:sp>
      <p:sp>
        <p:nvSpPr>
          <p:cNvPr id="219" name="Shape 217"/>
          <p:cNvSpPr/>
          <p:nvPr/>
        </p:nvSpPr>
        <p:spPr>
          <a:xfrm>
            <a:off x="14420701" y="8087320"/>
            <a:ext cx="454372" cy="468809"/>
          </a:xfrm>
          <a:prstGeom prst="rect">
            <a:avLst/>
          </a:prstGeom>
          <a:solidFill>
            <a:srgbClr val="C9461A"/>
          </a:solidFill>
          <a:ln/>
        </p:spPr>
        <p:txBody>
          <a:bodyPr/>
          <a:lstStyle/>
          <a:p>
            <a:endParaRPr lang="en-US"/>
          </a:p>
        </p:txBody>
      </p:sp>
      <p:sp>
        <p:nvSpPr>
          <p:cNvPr id="220" name="Shape 218"/>
          <p:cNvSpPr/>
          <p:nvPr/>
        </p:nvSpPr>
        <p:spPr>
          <a:xfrm>
            <a:off x="14913173" y="8087320"/>
            <a:ext cx="454521" cy="468809"/>
          </a:xfrm>
          <a:prstGeom prst="rect">
            <a:avLst/>
          </a:prstGeom>
          <a:solidFill>
            <a:srgbClr val="2A2F3A"/>
          </a:solidFill>
          <a:ln/>
        </p:spPr>
        <p:txBody>
          <a:bodyPr/>
          <a:lstStyle/>
          <a:p>
            <a:endParaRPr lang="en-US"/>
          </a:p>
        </p:txBody>
      </p:sp>
      <p:sp>
        <p:nvSpPr>
          <p:cNvPr id="221" name="Shape 219"/>
          <p:cNvSpPr/>
          <p:nvPr/>
        </p:nvSpPr>
        <p:spPr>
          <a:xfrm>
            <a:off x="15405795" y="8087320"/>
            <a:ext cx="454521" cy="468809"/>
          </a:xfrm>
          <a:prstGeom prst="rect">
            <a:avLst/>
          </a:prstGeom>
          <a:solidFill>
            <a:srgbClr val="FFE08A"/>
          </a:solidFill>
          <a:ln/>
        </p:spPr>
        <p:txBody>
          <a:bodyPr/>
          <a:lstStyle/>
          <a:p>
            <a:endParaRPr lang="en-US"/>
          </a:p>
        </p:txBody>
      </p:sp>
      <p:sp>
        <p:nvSpPr>
          <p:cNvPr id="222" name="Shape 220"/>
          <p:cNvSpPr/>
          <p:nvPr/>
        </p:nvSpPr>
        <p:spPr>
          <a:xfrm>
            <a:off x="15898416" y="8087320"/>
            <a:ext cx="454521" cy="468809"/>
          </a:xfrm>
          <a:prstGeom prst="rect">
            <a:avLst/>
          </a:prstGeom>
          <a:solidFill>
            <a:srgbClr val="5C2A0E"/>
          </a:solidFill>
          <a:ln/>
        </p:spPr>
        <p:txBody>
          <a:bodyPr/>
          <a:lstStyle/>
          <a:p>
            <a:endParaRPr lang="en-US"/>
          </a:p>
        </p:txBody>
      </p:sp>
      <p:sp>
        <p:nvSpPr>
          <p:cNvPr id="223" name="Shape 221"/>
          <p:cNvSpPr/>
          <p:nvPr/>
        </p:nvSpPr>
        <p:spPr>
          <a:xfrm>
            <a:off x="16391037" y="8087320"/>
            <a:ext cx="454521" cy="468809"/>
          </a:xfrm>
          <a:prstGeom prst="rect">
            <a:avLst/>
          </a:prstGeom>
          <a:solidFill>
            <a:srgbClr val="5C2A0E"/>
          </a:solidFill>
          <a:ln/>
        </p:spPr>
        <p:txBody>
          <a:bodyPr/>
          <a:lstStyle/>
          <a:p>
            <a:endParaRPr lang="en-US"/>
          </a:p>
        </p:txBody>
      </p:sp>
      <p:sp>
        <p:nvSpPr>
          <p:cNvPr id="224" name="Shape 222"/>
          <p:cNvSpPr/>
          <p:nvPr/>
        </p:nvSpPr>
        <p:spPr>
          <a:xfrm>
            <a:off x="16883658" y="8087320"/>
            <a:ext cx="454521" cy="468809"/>
          </a:xfrm>
          <a:prstGeom prst="rect">
            <a:avLst/>
          </a:prstGeom>
          <a:solidFill>
            <a:srgbClr val="FFE08A"/>
          </a:solidFill>
          <a:ln/>
        </p:spPr>
        <p:txBody>
          <a:bodyPr/>
          <a:lstStyle/>
          <a:p>
            <a:endParaRPr lang="en-US"/>
          </a:p>
        </p:txBody>
      </p:sp>
      <p:sp>
        <p:nvSpPr>
          <p:cNvPr id="225" name="Shape 223"/>
          <p:cNvSpPr/>
          <p:nvPr/>
        </p:nvSpPr>
        <p:spPr>
          <a:xfrm>
            <a:off x="17376279" y="8087320"/>
            <a:ext cx="454521" cy="468809"/>
          </a:xfrm>
          <a:prstGeom prst="rect">
            <a:avLst/>
          </a:prstGeom>
          <a:solidFill>
            <a:srgbClr val="2A2F3A"/>
          </a:solidFill>
          <a:ln/>
        </p:spPr>
        <p:txBody>
          <a:bodyPr/>
          <a:lstStyle/>
          <a:p>
            <a:endParaRPr lang="en-US"/>
          </a:p>
        </p:txBody>
      </p:sp>
      <p:sp>
        <p:nvSpPr>
          <p:cNvPr id="226" name="Shape 224"/>
          <p:cNvSpPr/>
          <p:nvPr/>
        </p:nvSpPr>
        <p:spPr>
          <a:xfrm>
            <a:off x="10972502" y="8594229"/>
            <a:ext cx="454372" cy="468809"/>
          </a:xfrm>
          <a:prstGeom prst="rect">
            <a:avLst/>
          </a:prstGeom>
          <a:solidFill>
            <a:srgbClr val="5C2A0E"/>
          </a:solidFill>
          <a:ln/>
        </p:spPr>
        <p:txBody>
          <a:bodyPr/>
          <a:lstStyle/>
          <a:p>
            <a:endParaRPr lang="en-US"/>
          </a:p>
        </p:txBody>
      </p:sp>
      <p:sp>
        <p:nvSpPr>
          <p:cNvPr id="227" name="Shape 225"/>
          <p:cNvSpPr/>
          <p:nvPr/>
        </p:nvSpPr>
        <p:spPr>
          <a:xfrm>
            <a:off x="11464975" y="8594229"/>
            <a:ext cx="454521" cy="468809"/>
          </a:xfrm>
          <a:prstGeom prst="rect">
            <a:avLst/>
          </a:prstGeom>
          <a:solidFill>
            <a:srgbClr val="2A2F3A"/>
          </a:solidFill>
          <a:ln/>
        </p:spPr>
        <p:txBody>
          <a:bodyPr/>
          <a:lstStyle/>
          <a:p>
            <a:endParaRPr lang="en-US"/>
          </a:p>
        </p:txBody>
      </p:sp>
      <p:sp>
        <p:nvSpPr>
          <p:cNvPr id="228" name="Shape 226"/>
          <p:cNvSpPr/>
          <p:nvPr/>
        </p:nvSpPr>
        <p:spPr>
          <a:xfrm>
            <a:off x="11957596" y="8594229"/>
            <a:ext cx="454521" cy="468809"/>
          </a:xfrm>
          <a:prstGeom prst="rect">
            <a:avLst/>
          </a:prstGeom>
          <a:solidFill>
            <a:srgbClr val="2A2F3A"/>
          </a:solidFill>
          <a:ln/>
        </p:spPr>
        <p:txBody>
          <a:bodyPr/>
          <a:lstStyle/>
          <a:p>
            <a:endParaRPr lang="en-US"/>
          </a:p>
        </p:txBody>
      </p:sp>
      <p:sp>
        <p:nvSpPr>
          <p:cNvPr id="229" name="Shape 227"/>
          <p:cNvSpPr/>
          <p:nvPr/>
        </p:nvSpPr>
        <p:spPr>
          <a:xfrm>
            <a:off x="12450217" y="8594229"/>
            <a:ext cx="454521" cy="468809"/>
          </a:xfrm>
          <a:prstGeom prst="rect">
            <a:avLst/>
          </a:prstGeom>
          <a:solidFill>
            <a:srgbClr val="C9461A"/>
          </a:solidFill>
          <a:ln/>
        </p:spPr>
        <p:txBody>
          <a:bodyPr/>
          <a:lstStyle/>
          <a:p>
            <a:endParaRPr lang="en-US"/>
          </a:p>
        </p:txBody>
      </p:sp>
      <p:sp>
        <p:nvSpPr>
          <p:cNvPr id="230" name="Shape 228"/>
          <p:cNvSpPr/>
          <p:nvPr/>
        </p:nvSpPr>
        <p:spPr>
          <a:xfrm>
            <a:off x="12942838" y="8594229"/>
            <a:ext cx="454521" cy="468809"/>
          </a:xfrm>
          <a:prstGeom prst="rect">
            <a:avLst/>
          </a:prstGeom>
          <a:solidFill>
            <a:srgbClr val="2A2F3A"/>
          </a:solidFill>
          <a:ln/>
        </p:spPr>
        <p:txBody>
          <a:bodyPr/>
          <a:lstStyle/>
          <a:p>
            <a:endParaRPr lang="en-US"/>
          </a:p>
        </p:txBody>
      </p:sp>
      <p:sp>
        <p:nvSpPr>
          <p:cNvPr id="231" name="Shape 229"/>
          <p:cNvSpPr/>
          <p:nvPr/>
        </p:nvSpPr>
        <p:spPr>
          <a:xfrm>
            <a:off x="13435459" y="8594229"/>
            <a:ext cx="454521" cy="468809"/>
          </a:xfrm>
          <a:prstGeom prst="rect">
            <a:avLst/>
          </a:prstGeom>
          <a:solidFill>
            <a:srgbClr val="2A2F3A"/>
          </a:solidFill>
          <a:ln/>
        </p:spPr>
        <p:txBody>
          <a:bodyPr/>
          <a:lstStyle/>
          <a:p>
            <a:endParaRPr lang="en-US"/>
          </a:p>
        </p:txBody>
      </p:sp>
      <p:sp>
        <p:nvSpPr>
          <p:cNvPr id="232" name="Shape 230"/>
          <p:cNvSpPr/>
          <p:nvPr/>
        </p:nvSpPr>
        <p:spPr>
          <a:xfrm>
            <a:off x="13928080" y="8594229"/>
            <a:ext cx="454521" cy="468809"/>
          </a:xfrm>
          <a:prstGeom prst="rect">
            <a:avLst/>
          </a:prstGeom>
          <a:solidFill>
            <a:srgbClr val="5C2A0E"/>
          </a:solidFill>
          <a:ln/>
        </p:spPr>
        <p:txBody>
          <a:bodyPr/>
          <a:lstStyle/>
          <a:p>
            <a:endParaRPr lang="en-US"/>
          </a:p>
        </p:txBody>
      </p:sp>
      <p:sp>
        <p:nvSpPr>
          <p:cNvPr id="233" name="Shape 231"/>
          <p:cNvSpPr/>
          <p:nvPr/>
        </p:nvSpPr>
        <p:spPr>
          <a:xfrm>
            <a:off x="14420701" y="8594229"/>
            <a:ext cx="454372" cy="468809"/>
          </a:xfrm>
          <a:prstGeom prst="rect">
            <a:avLst/>
          </a:prstGeom>
          <a:solidFill>
            <a:srgbClr val="FFE08A"/>
          </a:solidFill>
          <a:ln/>
        </p:spPr>
        <p:txBody>
          <a:bodyPr/>
          <a:lstStyle/>
          <a:p>
            <a:endParaRPr lang="en-US"/>
          </a:p>
        </p:txBody>
      </p:sp>
      <p:sp>
        <p:nvSpPr>
          <p:cNvPr id="234" name="Shape 232"/>
          <p:cNvSpPr/>
          <p:nvPr/>
        </p:nvSpPr>
        <p:spPr>
          <a:xfrm>
            <a:off x="14913173" y="8594229"/>
            <a:ext cx="454521" cy="468809"/>
          </a:xfrm>
          <a:prstGeom prst="rect">
            <a:avLst/>
          </a:prstGeom>
          <a:solidFill>
            <a:srgbClr val="2A2F3A"/>
          </a:solidFill>
          <a:ln/>
        </p:spPr>
        <p:txBody>
          <a:bodyPr/>
          <a:lstStyle/>
          <a:p>
            <a:endParaRPr lang="en-US"/>
          </a:p>
        </p:txBody>
      </p:sp>
      <p:sp>
        <p:nvSpPr>
          <p:cNvPr id="235" name="Shape 233"/>
          <p:cNvSpPr/>
          <p:nvPr/>
        </p:nvSpPr>
        <p:spPr>
          <a:xfrm>
            <a:off x="15405795" y="8594229"/>
            <a:ext cx="454521" cy="468809"/>
          </a:xfrm>
          <a:prstGeom prst="rect">
            <a:avLst/>
          </a:prstGeom>
          <a:solidFill>
            <a:srgbClr val="2A2F3A"/>
          </a:solidFill>
          <a:ln/>
        </p:spPr>
        <p:txBody>
          <a:bodyPr/>
          <a:lstStyle/>
          <a:p>
            <a:endParaRPr lang="en-US"/>
          </a:p>
        </p:txBody>
      </p:sp>
      <p:sp>
        <p:nvSpPr>
          <p:cNvPr id="236" name="Shape 234"/>
          <p:cNvSpPr/>
          <p:nvPr/>
        </p:nvSpPr>
        <p:spPr>
          <a:xfrm>
            <a:off x="15898416" y="8594229"/>
            <a:ext cx="454521" cy="468809"/>
          </a:xfrm>
          <a:prstGeom prst="rect">
            <a:avLst/>
          </a:prstGeom>
          <a:solidFill>
            <a:srgbClr val="2A2F3A"/>
          </a:solidFill>
          <a:ln/>
        </p:spPr>
        <p:txBody>
          <a:bodyPr/>
          <a:lstStyle/>
          <a:p>
            <a:endParaRPr lang="en-US"/>
          </a:p>
        </p:txBody>
      </p:sp>
      <p:sp>
        <p:nvSpPr>
          <p:cNvPr id="237" name="Shape 235"/>
          <p:cNvSpPr/>
          <p:nvPr/>
        </p:nvSpPr>
        <p:spPr>
          <a:xfrm>
            <a:off x="16391037" y="8594229"/>
            <a:ext cx="454521" cy="468809"/>
          </a:xfrm>
          <a:prstGeom prst="rect">
            <a:avLst/>
          </a:prstGeom>
          <a:solidFill>
            <a:srgbClr val="FF5A1F"/>
          </a:solidFill>
          <a:ln/>
        </p:spPr>
        <p:txBody>
          <a:bodyPr/>
          <a:lstStyle/>
          <a:p>
            <a:endParaRPr lang="en-US"/>
          </a:p>
        </p:txBody>
      </p:sp>
      <p:sp>
        <p:nvSpPr>
          <p:cNvPr id="238" name="Shape 236"/>
          <p:cNvSpPr/>
          <p:nvPr/>
        </p:nvSpPr>
        <p:spPr>
          <a:xfrm>
            <a:off x="16883658" y="8594229"/>
            <a:ext cx="454521" cy="468809"/>
          </a:xfrm>
          <a:prstGeom prst="rect">
            <a:avLst/>
          </a:prstGeom>
          <a:solidFill>
            <a:srgbClr val="5C2A0E"/>
          </a:solidFill>
          <a:ln/>
        </p:spPr>
        <p:txBody>
          <a:bodyPr/>
          <a:lstStyle/>
          <a:p>
            <a:endParaRPr lang="en-US"/>
          </a:p>
        </p:txBody>
      </p:sp>
      <p:sp>
        <p:nvSpPr>
          <p:cNvPr id="239" name="Shape 237"/>
          <p:cNvSpPr/>
          <p:nvPr/>
        </p:nvSpPr>
        <p:spPr>
          <a:xfrm>
            <a:off x="17376279" y="8594229"/>
            <a:ext cx="454521" cy="468809"/>
          </a:xfrm>
          <a:prstGeom prst="rect">
            <a:avLst/>
          </a:prstGeom>
          <a:solidFill>
            <a:srgbClr val="5C2A0E"/>
          </a:solidFill>
          <a:ln/>
        </p:spPr>
        <p:txBody>
          <a:bodyPr/>
          <a:lstStyle/>
          <a:p>
            <a:endParaRPr lang="en-US"/>
          </a:p>
        </p:txBody>
      </p:sp>
      <p:sp>
        <p:nvSpPr>
          <p:cNvPr id="240" name="Shape 238"/>
          <p:cNvSpPr/>
          <p:nvPr/>
        </p:nvSpPr>
        <p:spPr>
          <a:xfrm>
            <a:off x="10972502" y="9101138"/>
            <a:ext cx="454372" cy="468809"/>
          </a:xfrm>
          <a:prstGeom prst="rect">
            <a:avLst/>
          </a:prstGeom>
          <a:solidFill>
            <a:srgbClr val="5C2A0E"/>
          </a:solidFill>
          <a:ln/>
        </p:spPr>
        <p:txBody>
          <a:bodyPr/>
          <a:lstStyle/>
          <a:p>
            <a:endParaRPr lang="en-US"/>
          </a:p>
        </p:txBody>
      </p:sp>
      <p:sp>
        <p:nvSpPr>
          <p:cNvPr id="241" name="Shape 239"/>
          <p:cNvSpPr/>
          <p:nvPr/>
        </p:nvSpPr>
        <p:spPr>
          <a:xfrm>
            <a:off x="11464975" y="9101138"/>
            <a:ext cx="454521" cy="468809"/>
          </a:xfrm>
          <a:prstGeom prst="rect">
            <a:avLst/>
          </a:prstGeom>
          <a:solidFill>
            <a:srgbClr val="5C2A0E"/>
          </a:solidFill>
          <a:ln/>
        </p:spPr>
        <p:txBody>
          <a:bodyPr/>
          <a:lstStyle/>
          <a:p>
            <a:endParaRPr lang="en-US"/>
          </a:p>
        </p:txBody>
      </p:sp>
      <p:sp>
        <p:nvSpPr>
          <p:cNvPr id="242" name="Shape 240"/>
          <p:cNvSpPr/>
          <p:nvPr/>
        </p:nvSpPr>
        <p:spPr>
          <a:xfrm>
            <a:off x="11957596" y="9101138"/>
            <a:ext cx="454521" cy="468809"/>
          </a:xfrm>
          <a:prstGeom prst="rect">
            <a:avLst/>
          </a:prstGeom>
          <a:solidFill>
            <a:srgbClr val="2A2F3A"/>
          </a:solidFill>
          <a:ln/>
        </p:spPr>
        <p:txBody>
          <a:bodyPr/>
          <a:lstStyle/>
          <a:p>
            <a:endParaRPr lang="en-US"/>
          </a:p>
        </p:txBody>
      </p:sp>
      <p:sp>
        <p:nvSpPr>
          <p:cNvPr id="243" name="Shape 241"/>
          <p:cNvSpPr/>
          <p:nvPr/>
        </p:nvSpPr>
        <p:spPr>
          <a:xfrm>
            <a:off x="12450217" y="9101138"/>
            <a:ext cx="454521" cy="468809"/>
          </a:xfrm>
          <a:prstGeom prst="rect">
            <a:avLst/>
          </a:prstGeom>
          <a:solidFill>
            <a:srgbClr val="5C2A0E"/>
          </a:solidFill>
          <a:ln/>
        </p:spPr>
        <p:txBody>
          <a:bodyPr/>
          <a:lstStyle/>
          <a:p>
            <a:endParaRPr lang="en-US"/>
          </a:p>
        </p:txBody>
      </p:sp>
      <p:sp>
        <p:nvSpPr>
          <p:cNvPr id="244" name="Shape 242"/>
          <p:cNvSpPr/>
          <p:nvPr/>
        </p:nvSpPr>
        <p:spPr>
          <a:xfrm>
            <a:off x="12942838" y="9101138"/>
            <a:ext cx="454521" cy="468809"/>
          </a:xfrm>
          <a:prstGeom prst="rect">
            <a:avLst/>
          </a:prstGeom>
          <a:solidFill>
            <a:srgbClr val="FF5A1F"/>
          </a:solidFill>
          <a:ln/>
        </p:spPr>
        <p:txBody>
          <a:bodyPr/>
          <a:lstStyle/>
          <a:p>
            <a:endParaRPr lang="en-US"/>
          </a:p>
        </p:txBody>
      </p:sp>
      <p:sp>
        <p:nvSpPr>
          <p:cNvPr id="245" name="Shape 243"/>
          <p:cNvSpPr/>
          <p:nvPr/>
        </p:nvSpPr>
        <p:spPr>
          <a:xfrm>
            <a:off x="13435459" y="9101138"/>
            <a:ext cx="454521" cy="468809"/>
          </a:xfrm>
          <a:prstGeom prst="rect">
            <a:avLst/>
          </a:prstGeom>
          <a:solidFill>
            <a:srgbClr val="2A2F3A"/>
          </a:solidFill>
          <a:ln/>
        </p:spPr>
        <p:txBody>
          <a:bodyPr/>
          <a:lstStyle/>
          <a:p>
            <a:endParaRPr lang="en-US"/>
          </a:p>
        </p:txBody>
      </p:sp>
      <p:sp>
        <p:nvSpPr>
          <p:cNvPr id="246" name="Shape 244"/>
          <p:cNvSpPr/>
          <p:nvPr/>
        </p:nvSpPr>
        <p:spPr>
          <a:xfrm>
            <a:off x="13928080" y="9101138"/>
            <a:ext cx="454521" cy="468809"/>
          </a:xfrm>
          <a:prstGeom prst="rect">
            <a:avLst/>
          </a:prstGeom>
          <a:solidFill>
            <a:srgbClr val="5C2A0E"/>
          </a:solidFill>
          <a:ln/>
        </p:spPr>
        <p:txBody>
          <a:bodyPr/>
          <a:lstStyle/>
          <a:p>
            <a:endParaRPr lang="en-US"/>
          </a:p>
        </p:txBody>
      </p:sp>
      <p:sp>
        <p:nvSpPr>
          <p:cNvPr id="247" name="Shape 245"/>
          <p:cNvSpPr/>
          <p:nvPr/>
        </p:nvSpPr>
        <p:spPr>
          <a:xfrm>
            <a:off x="14420701" y="9101138"/>
            <a:ext cx="454372" cy="468809"/>
          </a:xfrm>
          <a:prstGeom prst="rect">
            <a:avLst/>
          </a:prstGeom>
          <a:solidFill>
            <a:srgbClr val="FF5A1F"/>
          </a:solidFill>
          <a:ln/>
        </p:spPr>
        <p:txBody>
          <a:bodyPr/>
          <a:lstStyle/>
          <a:p>
            <a:endParaRPr lang="en-US"/>
          </a:p>
        </p:txBody>
      </p:sp>
      <p:sp>
        <p:nvSpPr>
          <p:cNvPr id="248" name="Shape 246"/>
          <p:cNvSpPr/>
          <p:nvPr/>
        </p:nvSpPr>
        <p:spPr>
          <a:xfrm>
            <a:off x="14913173" y="9101138"/>
            <a:ext cx="454521" cy="468809"/>
          </a:xfrm>
          <a:prstGeom prst="rect">
            <a:avLst/>
          </a:prstGeom>
          <a:solidFill>
            <a:srgbClr val="FF5A1F"/>
          </a:solidFill>
          <a:ln/>
        </p:spPr>
        <p:txBody>
          <a:bodyPr/>
          <a:lstStyle/>
          <a:p>
            <a:endParaRPr lang="en-US"/>
          </a:p>
        </p:txBody>
      </p:sp>
      <p:sp>
        <p:nvSpPr>
          <p:cNvPr id="249" name="Shape 247"/>
          <p:cNvSpPr/>
          <p:nvPr/>
        </p:nvSpPr>
        <p:spPr>
          <a:xfrm>
            <a:off x="15405795" y="9101138"/>
            <a:ext cx="454521" cy="468809"/>
          </a:xfrm>
          <a:prstGeom prst="rect">
            <a:avLst/>
          </a:prstGeom>
          <a:solidFill>
            <a:srgbClr val="FF5A1F"/>
          </a:solidFill>
          <a:ln/>
        </p:spPr>
        <p:txBody>
          <a:bodyPr/>
          <a:lstStyle/>
          <a:p>
            <a:endParaRPr lang="en-US"/>
          </a:p>
        </p:txBody>
      </p:sp>
      <p:sp>
        <p:nvSpPr>
          <p:cNvPr id="250" name="Shape 248"/>
          <p:cNvSpPr/>
          <p:nvPr/>
        </p:nvSpPr>
        <p:spPr>
          <a:xfrm>
            <a:off x="15898416" y="9101138"/>
            <a:ext cx="454521" cy="468809"/>
          </a:xfrm>
          <a:prstGeom prst="rect">
            <a:avLst/>
          </a:prstGeom>
          <a:solidFill>
            <a:srgbClr val="FF5A1F"/>
          </a:solidFill>
          <a:ln/>
        </p:spPr>
        <p:txBody>
          <a:bodyPr/>
          <a:lstStyle/>
          <a:p>
            <a:endParaRPr lang="en-US"/>
          </a:p>
        </p:txBody>
      </p:sp>
      <p:sp>
        <p:nvSpPr>
          <p:cNvPr id="251" name="Shape 249"/>
          <p:cNvSpPr/>
          <p:nvPr/>
        </p:nvSpPr>
        <p:spPr>
          <a:xfrm>
            <a:off x="16391037" y="9101138"/>
            <a:ext cx="454521" cy="468809"/>
          </a:xfrm>
          <a:prstGeom prst="rect">
            <a:avLst/>
          </a:prstGeom>
          <a:solidFill>
            <a:srgbClr val="FF5A1F"/>
          </a:solidFill>
          <a:ln/>
        </p:spPr>
        <p:txBody>
          <a:bodyPr/>
          <a:lstStyle/>
          <a:p>
            <a:endParaRPr lang="en-US"/>
          </a:p>
        </p:txBody>
      </p:sp>
      <p:sp>
        <p:nvSpPr>
          <p:cNvPr id="252" name="Shape 250"/>
          <p:cNvSpPr/>
          <p:nvPr/>
        </p:nvSpPr>
        <p:spPr>
          <a:xfrm>
            <a:off x="16883658" y="9101138"/>
            <a:ext cx="454521" cy="468809"/>
          </a:xfrm>
          <a:prstGeom prst="rect">
            <a:avLst/>
          </a:prstGeom>
          <a:solidFill>
            <a:srgbClr val="FF5A1F"/>
          </a:solidFill>
          <a:ln/>
        </p:spPr>
        <p:txBody>
          <a:bodyPr/>
          <a:lstStyle/>
          <a:p>
            <a:endParaRPr lang="en-US"/>
          </a:p>
        </p:txBody>
      </p:sp>
      <p:sp>
        <p:nvSpPr>
          <p:cNvPr id="253" name="Shape 251"/>
          <p:cNvSpPr/>
          <p:nvPr/>
        </p:nvSpPr>
        <p:spPr>
          <a:xfrm>
            <a:off x="17376279" y="9101138"/>
            <a:ext cx="454521" cy="468809"/>
          </a:xfrm>
          <a:prstGeom prst="rect">
            <a:avLst/>
          </a:prstGeom>
          <a:solidFill>
            <a:srgbClr val="2A2F3A"/>
          </a:solidFill>
          <a:ln/>
        </p:spPr>
        <p:txBody>
          <a:bodyPr/>
          <a:lstStyle/>
          <a:p>
            <a:endParaRPr lang="en-US"/>
          </a:p>
        </p:txBody>
      </p:sp>
      <p:sp>
        <p:nvSpPr>
          <p:cNvPr id="254" name="Shape 252"/>
          <p:cNvSpPr/>
          <p:nvPr/>
        </p:nvSpPr>
        <p:spPr>
          <a:xfrm>
            <a:off x="10972502" y="9608046"/>
            <a:ext cx="454372" cy="468957"/>
          </a:xfrm>
          <a:prstGeom prst="rect">
            <a:avLst/>
          </a:prstGeom>
          <a:solidFill>
            <a:srgbClr val="C9461A"/>
          </a:solidFill>
          <a:ln/>
        </p:spPr>
        <p:txBody>
          <a:bodyPr/>
          <a:lstStyle/>
          <a:p>
            <a:endParaRPr lang="en-US"/>
          </a:p>
        </p:txBody>
      </p:sp>
      <p:sp>
        <p:nvSpPr>
          <p:cNvPr id="255" name="Shape 253"/>
          <p:cNvSpPr/>
          <p:nvPr/>
        </p:nvSpPr>
        <p:spPr>
          <a:xfrm>
            <a:off x="11464975" y="9608046"/>
            <a:ext cx="454521" cy="468957"/>
          </a:xfrm>
          <a:prstGeom prst="rect">
            <a:avLst/>
          </a:prstGeom>
          <a:solidFill>
            <a:srgbClr val="FF5A1F"/>
          </a:solidFill>
          <a:ln/>
        </p:spPr>
        <p:txBody>
          <a:bodyPr/>
          <a:lstStyle/>
          <a:p>
            <a:endParaRPr lang="en-US"/>
          </a:p>
        </p:txBody>
      </p:sp>
      <p:sp>
        <p:nvSpPr>
          <p:cNvPr id="256" name="Shape 254"/>
          <p:cNvSpPr/>
          <p:nvPr/>
        </p:nvSpPr>
        <p:spPr>
          <a:xfrm>
            <a:off x="11957596" y="9608046"/>
            <a:ext cx="454521" cy="468957"/>
          </a:xfrm>
          <a:prstGeom prst="rect">
            <a:avLst/>
          </a:prstGeom>
          <a:solidFill>
            <a:srgbClr val="FF5A1F"/>
          </a:solidFill>
          <a:ln/>
        </p:spPr>
        <p:txBody>
          <a:bodyPr/>
          <a:lstStyle/>
          <a:p>
            <a:endParaRPr lang="en-US"/>
          </a:p>
        </p:txBody>
      </p:sp>
      <p:sp>
        <p:nvSpPr>
          <p:cNvPr id="257" name="Shape 255"/>
          <p:cNvSpPr/>
          <p:nvPr/>
        </p:nvSpPr>
        <p:spPr>
          <a:xfrm>
            <a:off x="12450217" y="9608046"/>
            <a:ext cx="454521" cy="468957"/>
          </a:xfrm>
          <a:prstGeom prst="rect">
            <a:avLst/>
          </a:prstGeom>
          <a:solidFill>
            <a:srgbClr val="FFE08A"/>
          </a:solidFill>
          <a:ln/>
        </p:spPr>
        <p:txBody>
          <a:bodyPr/>
          <a:lstStyle/>
          <a:p>
            <a:endParaRPr lang="en-US"/>
          </a:p>
        </p:txBody>
      </p:sp>
      <p:sp>
        <p:nvSpPr>
          <p:cNvPr id="258" name="Shape 256"/>
          <p:cNvSpPr/>
          <p:nvPr/>
        </p:nvSpPr>
        <p:spPr>
          <a:xfrm>
            <a:off x="12942838" y="9608046"/>
            <a:ext cx="454521" cy="468957"/>
          </a:xfrm>
          <a:prstGeom prst="rect">
            <a:avLst/>
          </a:prstGeom>
          <a:solidFill>
            <a:srgbClr val="2A2F3A"/>
          </a:solidFill>
          <a:ln/>
        </p:spPr>
        <p:txBody>
          <a:bodyPr/>
          <a:lstStyle/>
          <a:p>
            <a:endParaRPr lang="en-US"/>
          </a:p>
        </p:txBody>
      </p:sp>
      <p:sp>
        <p:nvSpPr>
          <p:cNvPr id="259" name="Shape 257"/>
          <p:cNvSpPr/>
          <p:nvPr/>
        </p:nvSpPr>
        <p:spPr>
          <a:xfrm>
            <a:off x="13435459" y="9608046"/>
            <a:ext cx="454521" cy="468957"/>
          </a:xfrm>
          <a:prstGeom prst="rect">
            <a:avLst/>
          </a:prstGeom>
          <a:solidFill>
            <a:srgbClr val="5C2A0E"/>
          </a:solidFill>
          <a:ln/>
        </p:spPr>
        <p:txBody>
          <a:bodyPr/>
          <a:lstStyle/>
          <a:p>
            <a:endParaRPr lang="en-US"/>
          </a:p>
        </p:txBody>
      </p:sp>
      <p:sp>
        <p:nvSpPr>
          <p:cNvPr id="260" name="Shape 258"/>
          <p:cNvSpPr/>
          <p:nvPr/>
        </p:nvSpPr>
        <p:spPr>
          <a:xfrm>
            <a:off x="13928080" y="9608046"/>
            <a:ext cx="454521" cy="468957"/>
          </a:xfrm>
          <a:prstGeom prst="rect">
            <a:avLst/>
          </a:prstGeom>
          <a:solidFill>
            <a:srgbClr val="2A2F3A"/>
          </a:solidFill>
          <a:ln/>
        </p:spPr>
        <p:txBody>
          <a:bodyPr/>
          <a:lstStyle/>
          <a:p>
            <a:endParaRPr lang="en-US"/>
          </a:p>
        </p:txBody>
      </p:sp>
      <p:sp>
        <p:nvSpPr>
          <p:cNvPr id="261" name="Shape 259"/>
          <p:cNvSpPr/>
          <p:nvPr/>
        </p:nvSpPr>
        <p:spPr>
          <a:xfrm>
            <a:off x="14420701" y="9608046"/>
            <a:ext cx="454372" cy="468957"/>
          </a:xfrm>
          <a:prstGeom prst="rect">
            <a:avLst/>
          </a:prstGeom>
          <a:solidFill>
            <a:srgbClr val="FFE08A"/>
          </a:solidFill>
          <a:ln/>
        </p:spPr>
        <p:txBody>
          <a:bodyPr/>
          <a:lstStyle/>
          <a:p>
            <a:endParaRPr lang="en-US"/>
          </a:p>
        </p:txBody>
      </p:sp>
      <p:sp>
        <p:nvSpPr>
          <p:cNvPr id="262" name="Shape 260"/>
          <p:cNvSpPr/>
          <p:nvPr/>
        </p:nvSpPr>
        <p:spPr>
          <a:xfrm>
            <a:off x="14913173" y="9608046"/>
            <a:ext cx="454521" cy="468957"/>
          </a:xfrm>
          <a:prstGeom prst="rect">
            <a:avLst/>
          </a:prstGeom>
          <a:solidFill>
            <a:srgbClr val="2A2F3A"/>
          </a:solidFill>
          <a:ln/>
        </p:spPr>
        <p:txBody>
          <a:bodyPr/>
          <a:lstStyle/>
          <a:p>
            <a:endParaRPr lang="en-US"/>
          </a:p>
        </p:txBody>
      </p:sp>
      <p:sp>
        <p:nvSpPr>
          <p:cNvPr id="263" name="Shape 261"/>
          <p:cNvSpPr/>
          <p:nvPr/>
        </p:nvSpPr>
        <p:spPr>
          <a:xfrm>
            <a:off x="15405795" y="9608046"/>
            <a:ext cx="454521" cy="468957"/>
          </a:xfrm>
          <a:prstGeom prst="rect">
            <a:avLst/>
          </a:prstGeom>
          <a:solidFill>
            <a:srgbClr val="5C2A0E"/>
          </a:solidFill>
          <a:ln/>
        </p:spPr>
        <p:txBody>
          <a:bodyPr/>
          <a:lstStyle/>
          <a:p>
            <a:endParaRPr lang="en-US"/>
          </a:p>
        </p:txBody>
      </p:sp>
      <p:sp>
        <p:nvSpPr>
          <p:cNvPr id="264" name="Shape 262"/>
          <p:cNvSpPr/>
          <p:nvPr/>
        </p:nvSpPr>
        <p:spPr>
          <a:xfrm>
            <a:off x="15898416" y="9608046"/>
            <a:ext cx="454521" cy="468957"/>
          </a:xfrm>
          <a:prstGeom prst="rect">
            <a:avLst/>
          </a:prstGeom>
          <a:solidFill>
            <a:srgbClr val="FF5A1F"/>
          </a:solidFill>
          <a:ln/>
        </p:spPr>
        <p:txBody>
          <a:bodyPr/>
          <a:lstStyle/>
          <a:p>
            <a:endParaRPr lang="en-US"/>
          </a:p>
        </p:txBody>
      </p:sp>
      <p:sp>
        <p:nvSpPr>
          <p:cNvPr id="265" name="Shape 263"/>
          <p:cNvSpPr/>
          <p:nvPr/>
        </p:nvSpPr>
        <p:spPr>
          <a:xfrm>
            <a:off x="16391037" y="9608046"/>
            <a:ext cx="454521" cy="468957"/>
          </a:xfrm>
          <a:prstGeom prst="rect">
            <a:avLst/>
          </a:prstGeom>
          <a:solidFill>
            <a:srgbClr val="FF5A1F"/>
          </a:solidFill>
          <a:ln/>
        </p:spPr>
        <p:txBody>
          <a:bodyPr/>
          <a:lstStyle/>
          <a:p>
            <a:endParaRPr lang="en-US"/>
          </a:p>
        </p:txBody>
      </p:sp>
      <p:sp>
        <p:nvSpPr>
          <p:cNvPr id="266" name="Shape 264"/>
          <p:cNvSpPr/>
          <p:nvPr/>
        </p:nvSpPr>
        <p:spPr>
          <a:xfrm>
            <a:off x="16883658" y="9608046"/>
            <a:ext cx="454521" cy="468957"/>
          </a:xfrm>
          <a:prstGeom prst="rect">
            <a:avLst/>
          </a:prstGeom>
          <a:solidFill>
            <a:srgbClr val="5C2A0E"/>
          </a:solidFill>
          <a:ln/>
        </p:spPr>
        <p:txBody>
          <a:bodyPr/>
          <a:lstStyle/>
          <a:p>
            <a:endParaRPr lang="en-US"/>
          </a:p>
        </p:txBody>
      </p:sp>
      <p:sp>
        <p:nvSpPr>
          <p:cNvPr id="267" name="Shape 265"/>
          <p:cNvSpPr/>
          <p:nvPr/>
        </p:nvSpPr>
        <p:spPr>
          <a:xfrm>
            <a:off x="17376279" y="9608046"/>
            <a:ext cx="454521" cy="468957"/>
          </a:xfrm>
          <a:prstGeom prst="rect">
            <a:avLst/>
          </a:prstGeom>
          <a:solidFill>
            <a:srgbClr val="5C2A0E"/>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F1115"/>
          </a:solidFill>
          <a:ln/>
        </p:spPr>
        <p:txBody>
          <a:bodyPr/>
          <a:lstStyle/>
          <a:p>
            <a:endParaRPr lang="en-US"/>
          </a:p>
        </p:txBody>
      </p:sp>
      <p:sp>
        <p:nvSpPr>
          <p:cNvPr id="3" name="Shape 1"/>
          <p:cNvSpPr/>
          <p:nvPr/>
        </p:nvSpPr>
        <p:spPr>
          <a:xfrm>
            <a:off x="0" y="0"/>
            <a:ext cx="18288000" cy="57150"/>
          </a:xfrm>
          <a:prstGeom prst="rect">
            <a:avLst/>
          </a:prstGeom>
          <a:solidFill>
            <a:srgbClr val="FF2D2D"/>
          </a:solidFill>
          <a:ln/>
        </p:spPr>
        <p:txBody>
          <a:bodyPr/>
          <a:lstStyle/>
          <a:p>
            <a:endParaRPr lang="en-US"/>
          </a:p>
        </p:txBody>
      </p:sp>
      <p:sp>
        <p:nvSpPr>
          <p:cNvPr id="4" name="Text 2"/>
          <p:cNvSpPr/>
          <p:nvPr/>
        </p:nvSpPr>
        <p:spPr>
          <a:xfrm>
            <a:off x="10822930" y="342900"/>
            <a:ext cx="22487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1143059" y="357188"/>
            <a:ext cx="3127790"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ZERO SHOT HOPEFULS</a:t>
            </a:r>
            <a:endParaRPr lang="en-US" sz="1800" dirty="0"/>
          </a:p>
        </p:txBody>
      </p:sp>
      <p:sp>
        <p:nvSpPr>
          <p:cNvPr id="6" name="Text 4"/>
          <p:cNvSpPr/>
          <p:nvPr/>
        </p:nvSpPr>
        <p:spPr>
          <a:xfrm>
            <a:off x="14351198" y="357188"/>
            <a:ext cx="162669"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alpha val="40000"/>
                  </a:srgbClr>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4609118" y="357188"/>
            <a:ext cx="280817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ESSD AI CHALLENGE</a:t>
            </a:r>
            <a:endParaRPr lang="en-US" sz="1800" dirty="0"/>
          </a:p>
        </p:txBody>
      </p:sp>
      <p:sp>
        <p:nvSpPr>
          <p:cNvPr id="8" name="Text 6"/>
          <p:cNvSpPr/>
          <p:nvPr/>
        </p:nvSpPr>
        <p:spPr>
          <a:xfrm>
            <a:off x="952500" y="9791700"/>
            <a:ext cx="6184605" cy="304800"/>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9AA0AB"/>
                </a:solidFill>
                <a:latin typeface="Arial" pitchFamily="34" charset="0"/>
                <a:ea typeface="Arial" pitchFamily="34" charset="-122"/>
                <a:cs typeface="Arial" pitchFamily="34" charset="-120"/>
              </a:rPr>
              <a:t>COMPOUND HAZARD FORECASTING · APR 2026</a:t>
            </a:r>
            <a:endParaRPr lang="en-US" sz="1800" dirty="0"/>
          </a:p>
        </p:txBody>
      </p:sp>
      <p:sp>
        <p:nvSpPr>
          <p:cNvPr id="9" name="Text 7"/>
          <p:cNvSpPr/>
          <p:nvPr/>
        </p:nvSpPr>
        <p:spPr>
          <a:xfrm>
            <a:off x="16456075" y="9763125"/>
            <a:ext cx="39632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02</a:t>
            </a:r>
            <a:endParaRPr lang="en-US" sz="1800" dirty="0"/>
          </a:p>
        </p:txBody>
      </p:sp>
      <p:sp>
        <p:nvSpPr>
          <p:cNvPr id="10" name="Text 8"/>
          <p:cNvSpPr/>
          <p:nvPr/>
        </p:nvSpPr>
        <p:spPr>
          <a:xfrm>
            <a:off x="16776204" y="9782175"/>
            <a:ext cx="63549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9AA0AB">
                    <a:alpha val="50000"/>
                  </a:srgbClr>
                </a:solidFill>
                <a:latin typeface="Arial" pitchFamily="34" charset="0"/>
                <a:ea typeface="Arial" pitchFamily="34" charset="-122"/>
                <a:cs typeface="Arial" pitchFamily="34" charset="-120"/>
              </a:rPr>
              <a:t>/ 13</a:t>
            </a:r>
            <a:endParaRPr lang="en-US" sz="1800" dirty="0"/>
          </a:p>
        </p:txBody>
      </p:sp>
      <p:sp>
        <p:nvSpPr>
          <p:cNvPr id="11" name="Text 9"/>
          <p:cNvSpPr/>
          <p:nvPr/>
        </p:nvSpPr>
        <p:spPr>
          <a:xfrm>
            <a:off x="952500" y="952500"/>
            <a:ext cx="16874490" cy="333375"/>
          </a:xfrm>
          <a:prstGeom prst="rect">
            <a:avLst/>
          </a:prstGeom>
          <a:noFill/>
          <a:ln/>
        </p:spPr>
        <p:txBody>
          <a:bodyPr wrap="square" lIns="25400" tIns="25400" rIns="25400" bIns="25400" rtlCol="0" anchor="t">
            <a:normAutofit/>
          </a:bodyPr>
          <a:lstStyle/>
          <a:p>
            <a:pPr marL="0" indent="0" algn="l">
              <a:buNone/>
            </a:pPr>
            <a:r>
              <a:rPr lang="en-US" sz="1800" b="1" kern="0" spc="396" dirty="0">
                <a:solidFill>
                  <a:srgbClr val="FF5A1F"/>
                </a:solidFill>
                <a:latin typeface="Arial" pitchFamily="34" charset="0"/>
                <a:ea typeface="Arial" pitchFamily="34" charset="-122"/>
                <a:cs typeface="Arial" pitchFamily="34" charset="-120"/>
              </a:rPr>
              <a:t>PROBLEM</a:t>
            </a:r>
            <a:endParaRPr lang="en-US" sz="1800" dirty="0"/>
          </a:p>
        </p:txBody>
      </p:sp>
      <p:sp>
        <p:nvSpPr>
          <p:cNvPr id="12" name="Text 10"/>
          <p:cNvSpPr/>
          <p:nvPr/>
        </p:nvSpPr>
        <p:spPr>
          <a:xfrm>
            <a:off x="952500" y="1590675"/>
            <a:ext cx="14716125" cy="2058888"/>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7800" b="1" kern="0" spc="-195" dirty="0">
                <a:solidFill>
                  <a:srgbClr val="F4EFE6"/>
                </a:solidFill>
                <a:latin typeface="Arial" pitchFamily="34" charset="0"/>
                <a:ea typeface="Arial" pitchFamily="34" charset="-122"/>
                <a:cs typeface="Arial" pitchFamily="34" charset="-120"/>
              </a:rPr>
              <a:t>Compound hazards demand </a:t>
            </a:r>
            <a:r>
              <a:rPr lang="en-US" sz="7800" b="1" kern="0" spc="-195" dirty="0">
                <a:solidFill>
                  <a:srgbClr val="FF5A1F"/>
                </a:solidFill>
                <a:latin typeface="Arial" pitchFamily="34" charset="0"/>
                <a:ea typeface="Arial" pitchFamily="34" charset="-122"/>
                <a:cs typeface="Arial" pitchFamily="34" charset="-120"/>
              </a:rPr>
              <a:t>compound forecasts.</a:t>
            </a:r>
            <a:endParaRPr lang="en-US" sz="7800" dirty="0"/>
          </a:p>
        </p:txBody>
      </p:sp>
      <p:sp>
        <p:nvSpPr>
          <p:cNvPr id="13" name="Shape 11"/>
          <p:cNvSpPr/>
          <p:nvPr/>
        </p:nvSpPr>
        <p:spPr>
          <a:xfrm>
            <a:off x="952500" y="4221063"/>
            <a:ext cx="5206901" cy="4199037"/>
          </a:xfrm>
          <a:prstGeom prst="rect">
            <a:avLst/>
          </a:prstGeom>
          <a:solidFill>
            <a:srgbClr val="16191F"/>
          </a:solidFill>
          <a:ln w="9525">
            <a:solidFill>
              <a:srgbClr val="2A2F3A"/>
            </a:solidFill>
            <a:prstDash val="solid"/>
          </a:ln>
        </p:spPr>
        <p:txBody>
          <a:bodyPr/>
          <a:lstStyle/>
          <a:p>
            <a:endParaRPr lang="en-US"/>
          </a:p>
        </p:txBody>
      </p:sp>
      <p:sp>
        <p:nvSpPr>
          <p:cNvPr id="14" name="Text 12"/>
          <p:cNvSpPr/>
          <p:nvPr/>
        </p:nvSpPr>
        <p:spPr>
          <a:xfrm>
            <a:off x="1343025" y="4611588"/>
            <a:ext cx="4558626" cy="304800"/>
          </a:xfrm>
          <a:prstGeom prst="rect">
            <a:avLst/>
          </a:prstGeom>
          <a:noFill/>
          <a:ln/>
        </p:spPr>
        <p:txBody>
          <a:bodyPr wrap="square" lIns="25400" tIns="25400" rIns="25400" bIns="25400" rtlCol="0" anchor="t">
            <a:normAutofit lnSpcReduction="10000"/>
          </a:bodyPr>
          <a:lstStyle/>
          <a:p>
            <a:pPr marL="0" indent="0" algn="l">
              <a:buNone/>
            </a:pPr>
            <a:r>
              <a:rPr lang="en-US" sz="1800" kern="0" spc="360" dirty="0">
                <a:solidFill>
                  <a:srgbClr val="9AA0AB"/>
                </a:solidFill>
                <a:latin typeface="Arial" pitchFamily="34" charset="0"/>
                <a:ea typeface="Arial" pitchFamily="34" charset="-122"/>
                <a:cs typeface="Arial" pitchFamily="34" charset="-120"/>
              </a:rPr>
              <a:t>CLIMATE</a:t>
            </a:r>
            <a:endParaRPr lang="en-US" sz="1800" dirty="0"/>
          </a:p>
        </p:txBody>
      </p:sp>
      <p:sp>
        <p:nvSpPr>
          <p:cNvPr id="15" name="Text 13"/>
          <p:cNvSpPr/>
          <p:nvPr/>
        </p:nvSpPr>
        <p:spPr>
          <a:xfrm>
            <a:off x="1343025" y="5144988"/>
            <a:ext cx="4558626" cy="2019002"/>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400" dirty="0">
                <a:solidFill>
                  <a:srgbClr val="F4EFE6"/>
                </a:solidFill>
                <a:latin typeface="Arial" pitchFamily="34" charset="0"/>
                <a:ea typeface="Arial" pitchFamily="34" charset="-122"/>
                <a:cs typeface="Arial" pitchFamily="34" charset="-120"/>
              </a:rPr>
              <a:t>Heatwaves, droughts, and wildfires increasingly co-occur across the U.S. — and their joint severity is greater than the sum of parts.</a:t>
            </a:r>
            <a:endParaRPr lang="en-US" sz="2400" dirty="0"/>
          </a:p>
        </p:txBody>
      </p:sp>
      <p:sp>
        <p:nvSpPr>
          <p:cNvPr id="16" name="Shape 14"/>
          <p:cNvSpPr/>
          <p:nvPr/>
        </p:nvSpPr>
        <p:spPr>
          <a:xfrm>
            <a:off x="6540401" y="4221063"/>
            <a:ext cx="5207050" cy="4199037"/>
          </a:xfrm>
          <a:prstGeom prst="rect">
            <a:avLst/>
          </a:prstGeom>
          <a:solidFill>
            <a:srgbClr val="16191F"/>
          </a:solidFill>
          <a:ln w="9525">
            <a:solidFill>
              <a:srgbClr val="2A2F3A"/>
            </a:solidFill>
            <a:prstDash val="solid"/>
          </a:ln>
        </p:spPr>
        <p:txBody>
          <a:bodyPr/>
          <a:lstStyle/>
          <a:p>
            <a:endParaRPr lang="en-US"/>
          </a:p>
        </p:txBody>
      </p:sp>
      <p:sp>
        <p:nvSpPr>
          <p:cNvPr id="17" name="Text 15"/>
          <p:cNvSpPr/>
          <p:nvPr/>
        </p:nvSpPr>
        <p:spPr>
          <a:xfrm>
            <a:off x="6930926" y="4611588"/>
            <a:ext cx="4558780" cy="304800"/>
          </a:xfrm>
          <a:prstGeom prst="rect">
            <a:avLst/>
          </a:prstGeom>
          <a:noFill/>
          <a:ln/>
        </p:spPr>
        <p:txBody>
          <a:bodyPr wrap="square" lIns="25400" tIns="25400" rIns="25400" bIns="25400" rtlCol="0" anchor="t">
            <a:normAutofit lnSpcReduction="10000"/>
          </a:bodyPr>
          <a:lstStyle/>
          <a:p>
            <a:pPr marL="0" indent="0" algn="l">
              <a:buNone/>
            </a:pPr>
            <a:r>
              <a:rPr lang="en-US" sz="1800" kern="0" spc="360" dirty="0">
                <a:solidFill>
                  <a:srgbClr val="9AA0AB"/>
                </a:solidFill>
                <a:latin typeface="Arial" pitchFamily="34" charset="0"/>
                <a:ea typeface="Arial" pitchFamily="34" charset="-122"/>
                <a:cs typeface="Arial" pitchFamily="34" charset="-120"/>
              </a:rPr>
              <a:t>SYSTEMS</a:t>
            </a:r>
            <a:endParaRPr lang="en-US" sz="1800" dirty="0"/>
          </a:p>
        </p:txBody>
      </p:sp>
      <p:sp>
        <p:nvSpPr>
          <p:cNvPr id="18" name="Text 16"/>
          <p:cNvSpPr/>
          <p:nvPr/>
        </p:nvSpPr>
        <p:spPr>
          <a:xfrm>
            <a:off x="6930926" y="5144988"/>
            <a:ext cx="4558780" cy="2019002"/>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400" dirty="0">
                <a:solidFill>
                  <a:srgbClr val="F4EFE6"/>
                </a:solidFill>
                <a:latin typeface="Arial" pitchFamily="34" charset="0"/>
                <a:ea typeface="Arial" pitchFamily="34" charset="-122"/>
                <a:cs typeface="Arial" pitchFamily="34" charset="-120"/>
              </a:rPr>
              <a:t>Traditional forecasting treats each hazard independently, missing the compounding effect where one hazard primes the next.</a:t>
            </a:r>
            <a:endParaRPr lang="en-US" sz="2400" dirty="0"/>
          </a:p>
        </p:txBody>
      </p:sp>
      <p:sp>
        <p:nvSpPr>
          <p:cNvPr id="19" name="Shape 17"/>
          <p:cNvSpPr/>
          <p:nvPr/>
        </p:nvSpPr>
        <p:spPr>
          <a:xfrm>
            <a:off x="12128450" y="4221063"/>
            <a:ext cx="5207050" cy="4199037"/>
          </a:xfrm>
          <a:prstGeom prst="rect">
            <a:avLst/>
          </a:prstGeom>
          <a:solidFill>
            <a:srgbClr val="16191F"/>
          </a:solidFill>
          <a:ln w="9525">
            <a:solidFill>
              <a:srgbClr val="FF5A1F"/>
            </a:solidFill>
            <a:prstDash val="solid"/>
          </a:ln>
        </p:spPr>
        <p:txBody>
          <a:bodyPr/>
          <a:lstStyle/>
          <a:p>
            <a:endParaRPr lang="en-US"/>
          </a:p>
        </p:txBody>
      </p:sp>
      <p:sp>
        <p:nvSpPr>
          <p:cNvPr id="20" name="Text 18"/>
          <p:cNvSpPr/>
          <p:nvPr/>
        </p:nvSpPr>
        <p:spPr>
          <a:xfrm>
            <a:off x="12518975" y="4611588"/>
            <a:ext cx="4558780" cy="304800"/>
          </a:xfrm>
          <a:prstGeom prst="rect">
            <a:avLst/>
          </a:prstGeom>
          <a:noFill/>
          <a:ln/>
        </p:spPr>
        <p:txBody>
          <a:bodyPr wrap="square" lIns="25400" tIns="25400" rIns="25400" bIns="25400" rtlCol="0" anchor="t">
            <a:normAutofit lnSpcReduction="10000"/>
          </a:bodyPr>
          <a:lstStyle/>
          <a:p>
            <a:pPr marL="0" indent="0" algn="l">
              <a:buNone/>
            </a:pPr>
            <a:r>
              <a:rPr lang="en-US" sz="1800" kern="0" spc="360" dirty="0">
                <a:solidFill>
                  <a:srgbClr val="FF5A1F"/>
                </a:solidFill>
                <a:latin typeface="Arial" pitchFamily="34" charset="0"/>
                <a:ea typeface="Arial" pitchFamily="34" charset="-122"/>
                <a:cs typeface="Arial" pitchFamily="34" charset="-120"/>
              </a:rPr>
              <a:t>PEOPLE</a:t>
            </a:r>
            <a:endParaRPr lang="en-US" sz="1800" dirty="0"/>
          </a:p>
        </p:txBody>
      </p:sp>
      <p:sp>
        <p:nvSpPr>
          <p:cNvPr id="21" name="Text 19"/>
          <p:cNvSpPr/>
          <p:nvPr/>
        </p:nvSpPr>
        <p:spPr>
          <a:xfrm>
            <a:off x="12518975" y="5144988"/>
            <a:ext cx="4558780" cy="2019002"/>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400" dirty="0">
                <a:solidFill>
                  <a:srgbClr val="F4EFE6"/>
                </a:solidFill>
                <a:latin typeface="Arial" pitchFamily="34" charset="0"/>
                <a:ea typeface="Arial" pitchFamily="34" charset="-122"/>
                <a:cs typeface="Arial" pitchFamily="34" charset="-120"/>
              </a:rPr>
              <a:t>Emergency managers lack the lead time to shift from reactive response to proactive preparation, staging, and communication.</a:t>
            </a:r>
            <a:endParaRPr lang="en-US" sz="2400" dirty="0"/>
          </a:p>
        </p:txBody>
      </p:sp>
      <p:sp>
        <p:nvSpPr>
          <p:cNvPr id="22" name="Shape 20"/>
          <p:cNvSpPr/>
          <p:nvPr/>
        </p:nvSpPr>
        <p:spPr>
          <a:xfrm>
            <a:off x="952500" y="8877300"/>
            <a:ext cx="244822" cy="171450"/>
          </a:xfrm>
          <a:prstGeom prst="roundRect">
            <a:avLst>
              <a:gd name="adj" fmla="val 5556"/>
            </a:avLst>
          </a:prstGeom>
          <a:solidFill>
            <a:srgbClr val="C9461A"/>
          </a:solidFill>
          <a:ln/>
        </p:spPr>
        <p:txBody>
          <a:bodyPr/>
          <a:lstStyle/>
          <a:p>
            <a:endParaRPr lang="en-US"/>
          </a:p>
        </p:txBody>
      </p:sp>
      <p:sp>
        <p:nvSpPr>
          <p:cNvPr id="23" name="Shape 21"/>
          <p:cNvSpPr/>
          <p:nvPr/>
        </p:nvSpPr>
        <p:spPr>
          <a:xfrm>
            <a:off x="1225897" y="8877300"/>
            <a:ext cx="244971" cy="171450"/>
          </a:xfrm>
          <a:prstGeom prst="roundRect">
            <a:avLst>
              <a:gd name="adj" fmla="val 5556"/>
            </a:avLst>
          </a:prstGeom>
          <a:solidFill>
            <a:srgbClr val="FF5A1F"/>
          </a:solidFill>
          <a:ln/>
        </p:spPr>
        <p:txBody>
          <a:bodyPr/>
          <a:lstStyle/>
          <a:p>
            <a:endParaRPr lang="en-US"/>
          </a:p>
        </p:txBody>
      </p:sp>
      <p:sp>
        <p:nvSpPr>
          <p:cNvPr id="24" name="Shape 22"/>
          <p:cNvSpPr/>
          <p:nvPr/>
        </p:nvSpPr>
        <p:spPr>
          <a:xfrm>
            <a:off x="1499443" y="8877300"/>
            <a:ext cx="244971" cy="171450"/>
          </a:xfrm>
          <a:prstGeom prst="roundRect">
            <a:avLst>
              <a:gd name="adj" fmla="val 5556"/>
            </a:avLst>
          </a:prstGeom>
          <a:solidFill>
            <a:srgbClr val="2A2F3A"/>
          </a:solidFill>
          <a:ln/>
        </p:spPr>
        <p:txBody>
          <a:bodyPr/>
          <a:lstStyle/>
          <a:p>
            <a:endParaRPr lang="en-US"/>
          </a:p>
        </p:txBody>
      </p:sp>
      <p:sp>
        <p:nvSpPr>
          <p:cNvPr id="25" name="Shape 23"/>
          <p:cNvSpPr/>
          <p:nvPr/>
        </p:nvSpPr>
        <p:spPr>
          <a:xfrm>
            <a:off x="1772989" y="8877300"/>
            <a:ext cx="244971" cy="171450"/>
          </a:xfrm>
          <a:prstGeom prst="roundRect">
            <a:avLst>
              <a:gd name="adj" fmla="val 5556"/>
            </a:avLst>
          </a:prstGeom>
          <a:solidFill>
            <a:srgbClr val="5C2A0E"/>
          </a:solidFill>
          <a:ln/>
        </p:spPr>
        <p:txBody>
          <a:bodyPr/>
          <a:lstStyle/>
          <a:p>
            <a:endParaRPr lang="en-US"/>
          </a:p>
        </p:txBody>
      </p:sp>
      <p:sp>
        <p:nvSpPr>
          <p:cNvPr id="26" name="Shape 24"/>
          <p:cNvSpPr/>
          <p:nvPr/>
        </p:nvSpPr>
        <p:spPr>
          <a:xfrm>
            <a:off x="2046536" y="8877300"/>
            <a:ext cx="244971" cy="171450"/>
          </a:xfrm>
          <a:prstGeom prst="roundRect">
            <a:avLst>
              <a:gd name="adj" fmla="val 5556"/>
            </a:avLst>
          </a:prstGeom>
          <a:solidFill>
            <a:srgbClr val="C9461A"/>
          </a:solidFill>
          <a:ln/>
        </p:spPr>
        <p:txBody>
          <a:bodyPr/>
          <a:lstStyle/>
          <a:p>
            <a:endParaRPr lang="en-US"/>
          </a:p>
        </p:txBody>
      </p:sp>
      <p:sp>
        <p:nvSpPr>
          <p:cNvPr id="27" name="Shape 25"/>
          <p:cNvSpPr/>
          <p:nvPr/>
        </p:nvSpPr>
        <p:spPr>
          <a:xfrm>
            <a:off x="2320082" y="8877300"/>
            <a:ext cx="244971" cy="171450"/>
          </a:xfrm>
          <a:prstGeom prst="roundRect">
            <a:avLst>
              <a:gd name="adj" fmla="val 5556"/>
            </a:avLst>
          </a:prstGeom>
          <a:solidFill>
            <a:srgbClr val="FF5A1F"/>
          </a:solidFill>
          <a:ln/>
        </p:spPr>
        <p:txBody>
          <a:bodyPr/>
          <a:lstStyle/>
          <a:p>
            <a:endParaRPr lang="en-US"/>
          </a:p>
        </p:txBody>
      </p:sp>
      <p:sp>
        <p:nvSpPr>
          <p:cNvPr id="28" name="Shape 26"/>
          <p:cNvSpPr/>
          <p:nvPr/>
        </p:nvSpPr>
        <p:spPr>
          <a:xfrm>
            <a:off x="2593628" y="8877300"/>
            <a:ext cx="244971" cy="171450"/>
          </a:xfrm>
          <a:prstGeom prst="roundRect">
            <a:avLst>
              <a:gd name="adj" fmla="val 5556"/>
            </a:avLst>
          </a:prstGeom>
          <a:solidFill>
            <a:srgbClr val="2A2F3A"/>
          </a:solidFill>
          <a:ln/>
        </p:spPr>
        <p:txBody>
          <a:bodyPr/>
          <a:lstStyle/>
          <a:p>
            <a:endParaRPr lang="en-US"/>
          </a:p>
        </p:txBody>
      </p:sp>
      <p:sp>
        <p:nvSpPr>
          <p:cNvPr id="29" name="Shape 27"/>
          <p:cNvSpPr/>
          <p:nvPr/>
        </p:nvSpPr>
        <p:spPr>
          <a:xfrm>
            <a:off x="2867174" y="8877300"/>
            <a:ext cx="244822" cy="171450"/>
          </a:xfrm>
          <a:prstGeom prst="roundRect">
            <a:avLst>
              <a:gd name="adj" fmla="val 5556"/>
            </a:avLst>
          </a:prstGeom>
          <a:solidFill>
            <a:srgbClr val="FFE08A"/>
          </a:solidFill>
          <a:ln/>
        </p:spPr>
        <p:txBody>
          <a:bodyPr/>
          <a:lstStyle/>
          <a:p>
            <a:endParaRPr lang="en-US"/>
          </a:p>
        </p:txBody>
      </p:sp>
      <p:sp>
        <p:nvSpPr>
          <p:cNvPr id="30" name="Shape 28"/>
          <p:cNvSpPr/>
          <p:nvPr/>
        </p:nvSpPr>
        <p:spPr>
          <a:xfrm>
            <a:off x="3140571" y="8877300"/>
            <a:ext cx="244971" cy="171450"/>
          </a:xfrm>
          <a:prstGeom prst="roundRect">
            <a:avLst>
              <a:gd name="adj" fmla="val 5556"/>
            </a:avLst>
          </a:prstGeom>
          <a:solidFill>
            <a:srgbClr val="FF5A1F"/>
          </a:solidFill>
          <a:ln/>
        </p:spPr>
        <p:txBody>
          <a:bodyPr/>
          <a:lstStyle/>
          <a:p>
            <a:endParaRPr lang="en-US"/>
          </a:p>
        </p:txBody>
      </p:sp>
      <p:sp>
        <p:nvSpPr>
          <p:cNvPr id="31" name="Shape 29"/>
          <p:cNvSpPr/>
          <p:nvPr/>
        </p:nvSpPr>
        <p:spPr>
          <a:xfrm>
            <a:off x="3414117" y="8877300"/>
            <a:ext cx="244971" cy="171450"/>
          </a:xfrm>
          <a:prstGeom prst="roundRect">
            <a:avLst>
              <a:gd name="adj" fmla="val 5556"/>
            </a:avLst>
          </a:prstGeom>
          <a:solidFill>
            <a:srgbClr val="C9461A"/>
          </a:solidFill>
          <a:ln/>
        </p:spPr>
        <p:txBody>
          <a:bodyPr/>
          <a:lstStyle/>
          <a:p>
            <a:endParaRPr lang="en-US"/>
          </a:p>
        </p:txBody>
      </p:sp>
      <p:sp>
        <p:nvSpPr>
          <p:cNvPr id="32" name="Shape 30"/>
          <p:cNvSpPr/>
          <p:nvPr/>
        </p:nvSpPr>
        <p:spPr>
          <a:xfrm>
            <a:off x="3687663" y="8877300"/>
            <a:ext cx="244971" cy="171450"/>
          </a:xfrm>
          <a:prstGeom prst="roundRect">
            <a:avLst>
              <a:gd name="adj" fmla="val 5556"/>
            </a:avLst>
          </a:prstGeom>
          <a:solidFill>
            <a:srgbClr val="5C2A0E"/>
          </a:solidFill>
          <a:ln/>
        </p:spPr>
        <p:txBody>
          <a:bodyPr/>
          <a:lstStyle/>
          <a:p>
            <a:endParaRPr lang="en-US"/>
          </a:p>
        </p:txBody>
      </p:sp>
      <p:sp>
        <p:nvSpPr>
          <p:cNvPr id="33" name="Shape 31"/>
          <p:cNvSpPr/>
          <p:nvPr/>
        </p:nvSpPr>
        <p:spPr>
          <a:xfrm>
            <a:off x="3961209" y="8877300"/>
            <a:ext cx="244971" cy="171450"/>
          </a:xfrm>
          <a:prstGeom prst="roundRect">
            <a:avLst>
              <a:gd name="adj" fmla="val 5556"/>
            </a:avLst>
          </a:prstGeom>
          <a:solidFill>
            <a:srgbClr val="FFB347"/>
          </a:solidFill>
          <a:ln/>
        </p:spPr>
        <p:txBody>
          <a:bodyPr/>
          <a:lstStyle/>
          <a:p>
            <a:endParaRPr lang="en-US"/>
          </a:p>
        </p:txBody>
      </p:sp>
      <p:sp>
        <p:nvSpPr>
          <p:cNvPr id="34" name="Shape 32"/>
          <p:cNvSpPr/>
          <p:nvPr/>
        </p:nvSpPr>
        <p:spPr>
          <a:xfrm>
            <a:off x="4234755" y="8877300"/>
            <a:ext cx="244971" cy="171450"/>
          </a:xfrm>
          <a:prstGeom prst="roundRect">
            <a:avLst>
              <a:gd name="adj" fmla="val 5556"/>
            </a:avLst>
          </a:prstGeom>
          <a:solidFill>
            <a:srgbClr val="FF5A1F"/>
          </a:solidFill>
          <a:ln/>
        </p:spPr>
        <p:txBody>
          <a:bodyPr/>
          <a:lstStyle/>
          <a:p>
            <a:endParaRPr lang="en-US"/>
          </a:p>
        </p:txBody>
      </p:sp>
      <p:sp>
        <p:nvSpPr>
          <p:cNvPr id="35" name="Shape 33"/>
          <p:cNvSpPr/>
          <p:nvPr/>
        </p:nvSpPr>
        <p:spPr>
          <a:xfrm>
            <a:off x="4508302" y="8877300"/>
            <a:ext cx="244971" cy="171450"/>
          </a:xfrm>
          <a:prstGeom prst="roundRect">
            <a:avLst>
              <a:gd name="adj" fmla="val 5556"/>
            </a:avLst>
          </a:prstGeom>
          <a:solidFill>
            <a:srgbClr val="2A2F3A"/>
          </a:solidFill>
          <a:ln/>
        </p:spPr>
        <p:txBody>
          <a:bodyPr/>
          <a:lstStyle/>
          <a:p>
            <a:endParaRPr lang="en-US"/>
          </a:p>
        </p:txBody>
      </p:sp>
      <p:sp>
        <p:nvSpPr>
          <p:cNvPr id="36" name="Shape 34"/>
          <p:cNvSpPr/>
          <p:nvPr/>
        </p:nvSpPr>
        <p:spPr>
          <a:xfrm>
            <a:off x="4781848" y="8877300"/>
            <a:ext cx="244971" cy="171450"/>
          </a:xfrm>
          <a:prstGeom prst="roundRect">
            <a:avLst>
              <a:gd name="adj" fmla="val 5556"/>
            </a:avLst>
          </a:prstGeom>
          <a:solidFill>
            <a:srgbClr val="C9461A"/>
          </a:solidFill>
          <a:ln/>
        </p:spPr>
        <p:txBody>
          <a:bodyPr/>
          <a:lstStyle/>
          <a:p>
            <a:endParaRPr lang="en-US"/>
          </a:p>
        </p:txBody>
      </p:sp>
      <p:sp>
        <p:nvSpPr>
          <p:cNvPr id="37" name="Shape 35"/>
          <p:cNvSpPr/>
          <p:nvPr/>
        </p:nvSpPr>
        <p:spPr>
          <a:xfrm>
            <a:off x="5055394" y="8877300"/>
            <a:ext cx="244822" cy="171450"/>
          </a:xfrm>
          <a:prstGeom prst="roundRect">
            <a:avLst>
              <a:gd name="adj" fmla="val 5556"/>
            </a:avLst>
          </a:prstGeom>
          <a:solidFill>
            <a:srgbClr val="5C2A0E"/>
          </a:solidFill>
          <a:ln/>
        </p:spPr>
        <p:txBody>
          <a:bodyPr/>
          <a:lstStyle/>
          <a:p>
            <a:endParaRPr lang="en-US"/>
          </a:p>
        </p:txBody>
      </p:sp>
      <p:sp>
        <p:nvSpPr>
          <p:cNvPr id="38" name="Shape 36"/>
          <p:cNvSpPr/>
          <p:nvPr/>
        </p:nvSpPr>
        <p:spPr>
          <a:xfrm>
            <a:off x="5328791" y="8877300"/>
            <a:ext cx="244971" cy="171450"/>
          </a:xfrm>
          <a:prstGeom prst="roundRect">
            <a:avLst>
              <a:gd name="adj" fmla="val 5556"/>
            </a:avLst>
          </a:prstGeom>
          <a:solidFill>
            <a:srgbClr val="FFB347"/>
          </a:solidFill>
          <a:ln/>
        </p:spPr>
        <p:txBody>
          <a:bodyPr/>
          <a:lstStyle/>
          <a:p>
            <a:endParaRPr lang="en-US"/>
          </a:p>
        </p:txBody>
      </p:sp>
      <p:sp>
        <p:nvSpPr>
          <p:cNvPr id="39" name="Shape 37"/>
          <p:cNvSpPr/>
          <p:nvPr/>
        </p:nvSpPr>
        <p:spPr>
          <a:xfrm>
            <a:off x="5602337" y="8877300"/>
            <a:ext cx="244971" cy="171450"/>
          </a:xfrm>
          <a:prstGeom prst="roundRect">
            <a:avLst>
              <a:gd name="adj" fmla="val 5556"/>
            </a:avLst>
          </a:prstGeom>
          <a:solidFill>
            <a:srgbClr val="2A2F3A"/>
          </a:solidFill>
          <a:ln/>
        </p:spPr>
        <p:txBody>
          <a:bodyPr/>
          <a:lstStyle/>
          <a:p>
            <a:endParaRPr lang="en-US"/>
          </a:p>
        </p:txBody>
      </p:sp>
      <p:sp>
        <p:nvSpPr>
          <p:cNvPr id="40" name="Shape 38"/>
          <p:cNvSpPr/>
          <p:nvPr/>
        </p:nvSpPr>
        <p:spPr>
          <a:xfrm>
            <a:off x="5875883" y="8877300"/>
            <a:ext cx="244971" cy="171450"/>
          </a:xfrm>
          <a:prstGeom prst="roundRect">
            <a:avLst>
              <a:gd name="adj" fmla="val 5556"/>
            </a:avLst>
          </a:prstGeom>
          <a:solidFill>
            <a:srgbClr val="FF5A1F"/>
          </a:solidFill>
          <a:ln/>
        </p:spPr>
        <p:txBody>
          <a:bodyPr/>
          <a:lstStyle/>
          <a:p>
            <a:endParaRPr lang="en-US"/>
          </a:p>
        </p:txBody>
      </p:sp>
      <p:sp>
        <p:nvSpPr>
          <p:cNvPr id="41" name="Shape 39"/>
          <p:cNvSpPr/>
          <p:nvPr/>
        </p:nvSpPr>
        <p:spPr>
          <a:xfrm>
            <a:off x="6149429" y="8877300"/>
            <a:ext cx="244971" cy="171450"/>
          </a:xfrm>
          <a:prstGeom prst="roundRect">
            <a:avLst>
              <a:gd name="adj" fmla="val 5556"/>
            </a:avLst>
          </a:prstGeom>
          <a:solidFill>
            <a:srgbClr val="C9461A"/>
          </a:solidFill>
          <a:ln/>
        </p:spPr>
        <p:txBody>
          <a:bodyPr/>
          <a:lstStyle/>
          <a:p>
            <a:endParaRPr lang="en-US"/>
          </a:p>
        </p:txBody>
      </p:sp>
      <p:sp>
        <p:nvSpPr>
          <p:cNvPr id="42" name="Shape 40"/>
          <p:cNvSpPr/>
          <p:nvPr/>
        </p:nvSpPr>
        <p:spPr>
          <a:xfrm>
            <a:off x="6422975" y="8877300"/>
            <a:ext cx="244971" cy="171450"/>
          </a:xfrm>
          <a:prstGeom prst="roundRect">
            <a:avLst>
              <a:gd name="adj" fmla="val 5556"/>
            </a:avLst>
          </a:prstGeom>
          <a:solidFill>
            <a:srgbClr val="5C2A0E"/>
          </a:solidFill>
          <a:ln/>
        </p:spPr>
        <p:txBody>
          <a:bodyPr/>
          <a:lstStyle/>
          <a:p>
            <a:endParaRPr lang="en-US"/>
          </a:p>
        </p:txBody>
      </p:sp>
      <p:sp>
        <p:nvSpPr>
          <p:cNvPr id="43" name="Shape 41"/>
          <p:cNvSpPr/>
          <p:nvPr/>
        </p:nvSpPr>
        <p:spPr>
          <a:xfrm>
            <a:off x="6696521" y="8877300"/>
            <a:ext cx="244971" cy="171450"/>
          </a:xfrm>
          <a:prstGeom prst="roundRect">
            <a:avLst>
              <a:gd name="adj" fmla="val 5556"/>
            </a:avLst>
          </a:prstGeom>
          <a:solidFill>
            <a:srgbClr val="2A2F3A"/>
          </a:solidFill>
          <a:ln/>
        </p:spPr>
        <p:txBody>
          <a:bodyPr/>
          <a:lstStyle/>
          <a:p>
            <a:endParaRPr lang="en-US"/>
          </a:p>
        </p:txBody>
      </p:sp>
      <p:sp>
        <p:nvSpPr>
          <p:cNvPr id="44" name="Shape 42"/>
          <p:cNvSpPr/>
          <p:nvPr/>
        </p:nvSpPr>
        <p:spPr>
          <a:xfrm>
            <a:off x="6970068" y="8877300"/>
            <a:ext cx="244822" cy="171450"/>
          </a:xfrm>
          <a:prstGeom prst="roundRect">
            <a:avLst>
              <a:gd name="adj" fmla="val 5556"/>
            </a:avLst>
          </a:prstGeom>
          <a:solidFill>
            <a:srgbClr val="FFE08A"/>
          </a:solidFill>
          <a:ln/>
        </p:spPr>
        <p:txBody>
          <a:bodyPr/>
          <a:lstStyle/>
          <a:p>
            <a:endParaRPr lang="en-US"/>
          </a:p>
        </p:txBody>
      </p:sp>
      <p:sp>
        <p:nvSpPr>
          <p:cNvPr id="45" name="Shape 43"/>
          <p:cNvSpPr/>
          <p:nvPr/>
        </p:nvSpPr>
        <p:spPr>
          <a:xfrm>
            <a:off x="7243465" y="8877300"/>
            <a:ext cx="244971" cy="171450"/>
          </a:xfrm>
          <a:prstGeom prst="roundRect">
            <a:avLst>
              <a:gd name="adj" fmla="val 5556"/>
            </a:avLst>
          </a:prstGeom>
          <a:solidFill>
            <a:srgbClr val="FFE08A"/>
          </a:solidFill>
          <a:ln/>
        </p:spPr>
        <p:txBody>
          <a:bodyPr/>
          <a:lstStyle/>
          <a:p>
            <a:endParaRPr lang="en-US"/>
          </a:p>
        </p:txBody>
      </p:sp>
      <p:sp>
        <p:nvSpPr>
          <p:cNvPr id="46" name="Shape 44"/>
          <p:cNvSpPr/>
          <p:nvPr/>
        </p:nvSpPr>
        <p:spPr>
          <a:xfrm>
            <a:off x="7517011" y="8877300"/>
            <a:ext cx="244971" cy="171450"/>
          </a:xfrm>
          <a:prstGeom prst="roundRect">
            <a:avLst>
              <a:gd name="adj" fmla="val 5556"/>
            </a:avLst>
          </a:prstGeom>
          <a:solidFill>
            <a:srgbClr val="2A2F3A"/>
          </a:solidFill>
          <a:ln/>
        </p:spPr>
        <p:txBody>
          <a:bodyPr/>
          <a:lstStyle/>
          <a:p>
            <a:endParaRPr lang="en-US"/>
          </a:p>
        </p:txBody>
      </p:sp>
      <p:sp>
        <p:nvSpPr>
          <p:cNvPr id="47" name="Shape 45"/>
          <p:cNvSpPr/>
          <p:nvPr/>
        </p:nvSpPr>
        <p:spPr>
          <a:xfrm>
            <a:off x="7790557" y="8877300"/>
            <a:ext cx="244971" cy="171450"/>
          </a:xfrm>
          <a:prstGeom prst="roundRect">
            <a:avLst>
              <a:gd name="adj" fmla="val 5556"/>
            </a:avLst>
          </a:prstGeom>
          <a:solidFill>
            <a:srgbClr val="C9461A"/>
          </a:solidFill>
          <a:ln/>
        </p:spPr>
        <p:txBody>
          <a:bodyPr/>
          <a:lstStyle/>
          <a:p>
            <a:endParaRPr lang="en-US"/>
          </a:p>
        </p:txBody>
      </p:sp>
      <p:sp>
        <p:nvSpPr>
          <p:cNvPr id="48" name="Shape 46"/>
          <p:cNvSpPr/>
          <p:nvPr/>
        </p:nvSpPr>
        <p:spPr>
          <a:xfrm>
            <a:off x="8064103" y="8877300"/>
            <a:ext cx="244971" cy="171450"/>
          </a:xfrm>
          <a:prstGeom prst="roundRect">
            <a:avLst>
              <a:gd name="adj" fmla="val 5556"/>
            </a:avLst>
          </a:prstGeom>
          <a:solidFill>
            <a:srgbClr val="FFE08A"/>
          </a:solidFill>
          <a:ln/>
        </p:spPr>
        <p:txBody>
          <a:bodyPr/>
          <a:lstStyle/>
          <a:p>
            <a:endParaRPr lang="en-US"/>
          </a:p>
        </p:txBody>
      </p:sp>
      <p:sp>
        <p:nvSpPr>
          <p:cNvPr id="49" name="Shape 47"/>
          <p:cNvSpPr/>
          <p:nvPr/>
        </p:nvSpPr>
        <p:spPr>
          <a:xfrm>
            <a:off x="8337649" y="8877300"/>
            <a:ext cx="244971" cy="171450"/>
          </a:xfrm>
          <a:prstGeom prst="roundRect">
            <a:avLst>
              <a:gd name="adj" fmla="val 5556"/>
            </a:avLst>
          </a:prstGeom>
          <a:solidFill>
            <a:srgbClr val="5C2A0E"/>
          </a:solidFill>
          <a:ln/>
        </p:spPr>
        <p:txBody>
          <a:bodyPr/>
          <a:lstStyle/>
          <a:p>
            <a:endParaRPr lang="en-US"/>
          </a:p>
        </p:txBody>
      </p:sp>
      <p:sp>
        <p:nvSpPr>
          <p:cNvPr id="50" name="Shape 48"/>
          <p:cNvSpPr/>
          <p:nvPr/>
        </p:nvSpPr>
        <p:spPr>
          <a:xfrm>
            <a:off x="8611195" y="8877300"/>
            <a:ext cx="244971" cy="171450"/>
          </a:xfrm>
          <a:prstGeom prst="roundRect">
            <a:avLst>
              <a:gd name="adj" fmla="val 5556"/>
            </a:avLst>
          </a:prstGeom>
          <a:solidFill>
            <a:srgbClr val="C9461A"/>
          </a:solidFill>
          <a:ln/>
        </p:spPr>
        <p:txBody>
          <a:bodyPr/>
          <a:lstStyle/>
          <a:p>
            <a:endParaRPr lang="en-US"/>
          </a:p>
        </p:txBody>
      </p:sp>
      <p:sp>
        <p:nvSpPr>
          <p:cNvPr id="51" name="Shape 49"/>
          <p:cNvSpPr/>
          <p:nvPr/>
        </p:nvSpPr>
        <p:spPr>
          <a:xfrm>
            <a:off x="8884741" y="8877300"/>
            <a:ext cx="244971" cy="171450"/>
          </a:xfrm>
          <a:prstGeom prst="roundRect">
            <a:avLst>
              <a:gd name="adj" fmla="val 5556"/>
            </a:avLst>
          </a:prstGeom>
          <a:solidFill>
            <a:srgbClr val="FF5A1F"/>
          </a:solidFill>
          <a:ln/>
        </p:spPr>
        <p:txBody>
          <a:bodyPr/>
          <a:lstStyle/>
          <a:p>
            <a:endParaRPr lang="en-US"/>
          </a:p>
        </p:txBody>
      </p:sp>
      <p:sp>
        <p:nvSpPr>
          <p:cNvPr id="52" name="Shape 50"/>
          <p:cNvSpPr/>
          <p:nvPr/>
        </p:nvSpPr>
        <p:spPr>
          <a:xfrm>
            <a:off x="9158288" y="8877300"/>
            <a:ext cx="244822" cy="171450"/>
          </a:xfrm>
          <a:prstGeom prst="roundRect">
            <a:avLst>
              <a:gd name="adj" fmla="val 5556"/>
            </a:avLst>
          </a:prstGeom>
          <a:solidFill>
            <a:srgbClr val="FFB347"/>
          </a:solidFill>
          <a:ln/>
        </p:spPr>
        <p:txBody>
          <a:bodyPr/>
          <a:lstStyle/>
          <a:p>
            <a:endParaRPr lang="en-US"/>
          </a:p>
        </p:txBody>
      </p:sp>
      <p:sp>
        <p:nvSpPr>
          <p:cNvPr id="53" name="Shape 51"/>
          <p:cNvSpPr/>
          <p:nvPr/>
        </p:nvSpPr>
        <p:spPr>
          <a:xfrm>
            <a:off x="9431685" y="8877300"/>
            <a:ext cx="244971" cy="171450"/>
          </a:xfrm>
          <a:prstGeom prst="roundRect">
            <a:avLst>
              <a:gd name="adj" fmla="val 5556"/>
            </a:avLst>
          </a:prstGeom>
          <a:solidFill>
            <a:srgbClr val="5C2A0E"/>
          </a:solidFill>
          <a:ln/>
        </p:spPr>
        <p:txBody>
          <a:bodyPr/>
          <a:lstStyle/>
          <a:p>
            <a:endParaRPr lang="en-US"/>
          </a:p>
        </p:txBody>
      </p:sp>
      <p:sp>
        <p:nvSpPr>
          <p:cNvPr id="54" name="Shape 52"/>
          <p:cNvSpPr/>
          <p:nvPr/>
        </p:nvSpPr>
        <p:spPr>
          <a:xfrm>
            <a:off x="9705231" y="8877300"/>
            <a:ext cx="244971" cy="171450"/>
          </a:xfrm>
          <a:prstGeom prst="roundRect">
            <a:avLst>
              <a:gd name="adj" fmla="val 5556"/>
            </a:avLst>
          </a:prstGeom>
          <a:solidFill>
            <a:srgbClr val="5C2A0E"/>
          </a:solidFill>
          <a:ln/>
        </p:spPr>
        <p:txBody>
          <a:bodyPr/>
          <a:lstStyle/>
          <a:p>
            <a:endParaRPr lang="en-US"/>
          </a:p>
        </p:txBody>
      </p:sp>
      <p:sp>
        <p:nvSpPr>
          <p:cNvPr id="55" name="Shape 53"/>
          <p:cNvSpPr/>
          <p:nvPr/>
        </p:nvSpPr>
        <p:spPr>
          <a:xfrm>
            <a:off x="9978777" y="8877300"/>
            <a:ext cx="244971" cy="171450"/>
          </a:xfrm>
          <a:prstGeom prst="roundRect">
            <a:avLst>
              <a:gd name="adj" fmla="val 5556"/>
            </a:avLst>
          </a:prstGeom>
          <a:solidFill>
            <a:srgbClr val="FFE08A"/>
          </a:solidFill>
          <a:ln/>
        </p:spPr>
        <p:txBody>
          <a:bodyPr/>
          <a:lstStyle/>
          <a:p>
            <a:endParaRPr lang="en-US"/>
          </a:p>
        </p:txBody>
      </p:sp>
      <p:sp>
        <p:nvSpPr>
          <p:cNvPr id="56" name="Shape 54"/>
          <p:cNvSpPr/>
          <p:nvPr/>
        </p:nvSpPr>
        <p:spPr>
          <a:xfrm>
            <a:off x="10252323" y="8877300"/>
            <a:ext cx="244971" cy="171450"/>
          </a:xfrm>
          <a:prstGeom prst="roundRect">
            <a:avLst>
              <a:gd name="adj" fmla="val 5556"/>
            </a:avLst>
          </a:prstGeom>
          <a:solidFill>
            <a:srgbClr val="C9461A"/>
          </a:solidFill>
          <a:ln/>
        </p:spPr>
        <p:txBody>
          <a:bodyPr/>
          <a:lstStyle/>
          <a:p>
            <a:endParaRPr lang="en-US"/>
          </a:p>
        </p:txBody>
      </p:sp>
      <p:sp>
        <p:nvSpPr>
          <p:cNvPr id="57" name="Shape 55"/>
          <p:cNvSpPr/>
          <p:nvPr/>
        </p:nvSpPr>
        <p:spPr>
          <a:xfrm>
            <a:off x="10525869" y="8877300"/>
            <a:ext cx="244971" cy="171450"/>
          </a:xfrm>
          <a:prstGeom prst="roundRect">
            <a:avLst>
              <a:gd name="adj" fmla="val 5556"/>
            </a:avLst>
          </a:prstGeom>
          <a:solidFill>
            <a:srgbClr val="5C2A0E"/>
          </a:solidFill>
          <a:ln/>
        </p:spPr>
        <p:txBody>
          <a:bodyPr/>
          <a:lstStyle/>
          <a:p>
            <a:endParaRPr lang="en-US"/>
          </a:p>
        </p:txBody>
      </p:sp>
      <p:sp>
        <p:nvSpPr>
          <p:cNvPr id="58" name="Shape 56"/>
          <p:cNvSpPr/>
          <p:nvPr/>
        </p:nvSpPr>
        <p:spPr>
          <a:xfrm>
            <a:off x="10799415" y="8877300"/>
            <a:ext cx="244971" cy="171450"/>
          </a:xfrm>
          <a:prstGeom prst="roundRect">
            <a:avLst>
              <a:gd name="adj" fmla="val 5556"/>
            </a:avLst>
          </a:prstGeom>
          <a:solidFill>
            <a:srgbClr val="FF5A1F"/>
          </a:solidFill>
          <a:ln/>
        </p:spPr>
        <p:txBody>
          <a:bodyPr/>
          <a:lstStyle/>
          <a:p>
            <a:endParaRPr lang="en-US"/>
          </a:p>
        </p:txBody>
      </p:sp>
      <p:sp>
        <p:nvSpPr>
          <p:cNvPr id="59" name="Shape 57"/>
          <p:cNvSpPr/>
          <p:nvPr/>
        </p:nvSpPr>
        <p:spPr>
          <a:xfrm>
            <a:off x="11072961" y="8877300"/>
            <a:ext cx="244822" cy="171450"/>
          </a:xfrm>
          <a:prstGeom prst="roundRect">
            <a:avLst>
              <a:gd name="adj" fmla="val 5556"/>
            </a:avLst>
          </a:prstGeom>
          <a:solidFill>
            <a:srgbClr val="5C2A0E"/>
          </a:solidFill>
          <a:ln/>
        </p:spPr>
        <p:txBody>
          <a:bodyPr/>
          <a:lstStyle/>
          <a:p>
            <a:endParaRPr lang="en-US"/>
          </a:p>
        </p:txBody>
      </p:sp>
      <p:sp>
        <p:nvSpPr>
          <p:cNvPr id="60" name="Shape 58"/>
          <p:cNvSpPr/>
          <p:nvPr/>
        </p:nvSpPr>
        <p:spPr>
          <a:xfrm>
            <a:off x="11346359" y="8877300"/>
            <a:ext cx="244971" cy="171450"/>
          </a:xfrm>
          <a:prstGeom prst="roundRect">
            <a:avLst>
              <a:gd name="adj" fmla="val 5556"/>
            </a:avLst>
          </a:prstGeom>
          <a:solidFill>
            <a:srgbClr val="2A2F3A"/>
          </a:solidFill>
          <a:ln/>
        </p:spPr>
        <p:txBody>
          <a:bodyPr/>
          <a:lstStyle/>
          <a:p>
            <a:endParaRPr lang="en-US"/>
          </a:p>
        </p:txBody>
      </p:sp>
      <p:sp>
        <p:nvSpPr>
          <p:cNvPr id="61" name="Shape 59"/>
          <p:cNvSpPr/>
          <p:nvPr/>
        </p:nvSpPr>
        <p:spPr>
          <a:xfrm>
            <a:off x="11619905" y="8877300"/>
            <a:ext cx="244971" cy="171450"/>
          </a:xfrm>
          <a:prstGeom prst="roundRect">
            <a:avLst>
              <a:gd name="adj" fmla="val 5556"/>
            </a:avLst>
          </a:prstGeom>
          <a:solidFill>
            <a:srgbClr val="FFB347"/>
          </a:solidFill>
          <a:ln/>
        </p:spPr>
        <p:txBody>
          <a:bodyPr/>
          <a:lstStyle/>
          <a:p>
            <a:endParaRPr lang="en-US"/>
          </a:p>
        </p:txBody>
      </p:sp>
      <p:sp>
        <p:nvSpPr>
          <p:cNvPr id="62" name="Shape 60"/>
          <p:cNvSpPr/>
          <p:nvPr/>
        </p:nvSpPr>
        <p:spPr>
          <a:xfrm>
            <a:off x="11893451" y="8877300"/>
            <a:ext cx="244971" cy="171450"/>
          </a:xfrm>
          <a:prstGeom prst="roundRect">
            <a:avLst>
              <a:gd name="adj" fmla="val 5556"/>
            </a:avLst>
          </a:prstGeom>
          <a:solidFill>
            <a:srgbClr val="C9461A"/>
          </a:solidFill>
          <a:ln/>
        </p:spPr>
        <p:txBody>
          <a:bodyPr/>
          <a:lstStyle/>
          <a:p>
            <a:endParaRPr lang="en-US"/>
          </a:p>
        </p:txBody>
      </p:sp>
      <p:sp>
        <p:nvSpPr>
          <p:cNvPr id="63" name="Shape 61"/>
          <p:cNvSpPr/>
          <p:nvPr/>
        </p:nvSpPr>
        <p:spPr>
          <a:xfrm>
            <a:off x="12166997" y="8877300"/>
            <a:ext cx="244971" cy="171450"/>
          </a:xfrm>
          <a:prstGeom prst="roundRect">
            <a:avLst>
              <a:gd name="adj" fmla="val 5556"/>
            </a:avLst>
          </a:prstGeom>
          <a:solidFill>
            <a:srgbClr val="C9461A"/>
          </a:solidFill>
          <a:ln/>
        </p:spPr>
        <p:txBody>
          <a:bodyPr/>
          <a:lstStyle/>
          <a:p>
            <a:endParaRPr lang="en-US"/>
          </a:p>
        </p:txBody>
      </p:sp>
      <p:sp>
        <p:nvSpPr>
          <p:cNvPr id="64" name="Shape 62"/>
          <p:cNvSpPr/>
          <p:nvPr/>
        </p:nvSpPr>
        <p:spPr>
          <a:xfrm>
            <a:off x="12440543" y="8877300"/>
            <a:ext cx="244971" cy="171450"/>
          </a:xfrm>
          <a:prstGeom prst="roundRect">
            <a:avLst>
              <a:gd name="adj" fmla="val 5556"/>
            </a:avLst>
          </a:prstGeom>
          <a:solidFill>
            <a:srgbClr val="2A2F3A"/>
          </a:solidFill>
          <a:ln/>
        </p:spPr>
        <p:txBody>
          <a:bodyPr/>
          <a:lstStyle/>
          <a:p>
            <a:endParaRPr lang="en-US"/>
          </a:p>
        </p:txBody>
      </p:sp>
      <p:sp>
        <p:nvSpPr>
          <p:cNvPr id="65" name="Shape 63"/>
          <p:cNvSpPr/>
          <p:nvPr/>
        </p:nvSpPr>
        <p:spPr>
          <a:xfrm>
            <a:off x="12714089" y="8877300"/>
            <a:ext cx="244971" cy="171450"/>
          </a:xfrm>
          <a:prstGeom prst="roundRect">
            <a:avLst>
              <a:gd name="adj" fmla="val 5556"/>
            </a:avLst>
          </a:prstGeom>
          <a:solidFill>
            <a:srgbClr val="FFE08A"/>
          </a:solidFill>
          <a:ln/>
        </p:spPr>
        <p:txBody>
          <a:bodyPr/>
          <a:lstStyle/>
          <a:p>
            <a:endParaRPr lang="en-US"/>
          </a:p>
        </p:txBody>
      </p:sp>
      <p:sp>
        <p:nvSpPr>
          <p:cNvPr id="66" name="Shape 64"/>
          <p:cNvSpPr/>
          <p:nvPr/>
        </p:nvSpPr>
        <p:spPr>
          <a:xfrm>
            <a:off x="12987635" y="8877300"/>
            <a:ext cx="244971" cy="171450"/>
          </a:xfrm>
          <a:prstGeom prst="roundRect">
            <a:avLst>
              <a:gd name="adj" fmla="val 5556"/>
            </a:avLst>
          </a:prstGeom>
          <a:solidFill>
            <a:srgbClr val="5C2A0E"/>
          </a:solidFill>
          <a:ln/>
        </p:spPr>
        <p:txBody>
          <a:bodyPr/>
          <a:lstStyle/>
          <a:p>
            <a:endParaRPr lang="en-US"/>
          </a:p>
        </p:txBody>
      </p:sp>
      <p:sp>
        <p:nvSpPr>
          <p:cNvPr id="67" name="Shape 65"/>
          <p:cNvSpPr/>
          <p:nvPr/>
        </p:nvSpPr>
        <p:spPr>
          <a:xfrm>
            <a:off x="13261181" y="8877300"/>
            <a:ext cx="244822" cy="171450"/>
          </a:xfrm>
          <a:prstGeom prst="roundRect">
            <a:avLst>
              <a:gd name="adj" fmla="val 5556"/>
            </a:avLst>
          </a:prstGeom>
          <a:solidFill>
            <a:srgbClr val="FFE08A"/>
          </a:solidFill>
          <a:ln/>
        </p:spPr>
        <p:txBody>
          <a:bodyPr/>
          <a:lstStyle/>
          <a:p>
            <a:endParaRPr lang="en-US"/>
          </a:p>
        </p:txBody>
      </p:sp>
      <p:sp>
        <p:nvSpPr>
          <p:cNvPr id="68" name="Shape 66"/>
          <p:cNvSpPr/>
          <p:nvPr/>
        </p:nvSpPr>
        <p:spPr>
          <a:xfrm>
            <a:off x="13534579" y="8877300"/>
            <a:ext cx="244971" cy="171450"/>
          </a:xfrm>
          <a:prstGeom prst="roundRect">
            <a:avLst>
              <a:gd name="adj" fmla="val 5556"/>
            </a:avLst>
          </a:prstGeom>
          <a:solidFill>
            <a:srgbClr val="C9461A"/>
          </a:solidFill>
          <a:ln/>
        </p:spPr>
        <p:txBody>
          <a:bodyPr/>
          <a:lstStyle/>
          <a:p>
            <a:endParaRPr lang="en-US"/>
          </a:p>
        </p:txBody>
      </p:sp>
      <p:sp>
        <p:nvSpPr>
          <p:cNvPr id="69" name="Shape 67"/>
          <p:cNvSpPr/>
          <p:nvPr/>
        </p:nvSpPr>
        <p:spPr>
          <a:xfrm>
            <a:off x="13808125" y="8877300"/>
            <a:ext cx="244971" cy="171450"/>
          </a:xfrm>
          <a:prstGeom prst="roundRect">
            <a:avLst>
              <a:gd name="adj" fmla="val 5556"/>
            </a:avLst>
          </a:prstGeom>
          <a:solidFill>
            <a:srgbClr val="5C2A0E"/>
          </a:solidFill>
          <a:ln/>
        </p:spPr>
        <p:txBody>
          <a:bodyPr/>
          <a:lstStyle/>
          <a:p>
            <a:endParaRPr lang="en-US"/>
          </a:p>
        </p:txBody>
      </p:sp>
      <p:sp>
        <p:nvSpPr>
          <p:cNvPr id="70" name="Shape 68"/>
          <p:cNvSpPr/>
          <p:nvPr/>
        </p:nvSpPr>
        <p:spPr>
          <a:xfrm>
            <a:off x="14081671" y="8877300"/>
            <a:ext cx="244971" cy="171450"/>
          </a:xfrm>
          <a:prstGeom prst="roundRect">
            <a:avLst>
              <a:gd name="adj" fmla="val 5556"/>
            </a:avLst>
          </a:prstGeom>
          <a:solidFill>
            <a:srgbClr val="FF5A1F"/>
          </a:solidFill>
          <a:ln/>
        </p:spPr>
        <p:txBody>
          <a:bodyPr/>
          <a:lstStyle/>
          <a:p>
            <a:endParaRPr lang="en-US"/>
          </a:p>
        </p:txBody>
      </p:sp>
      <p:sp>
        <p:nvSpPr>
          <p:cNvPr id="71" name="Shape 69"/>
          <p:cNvSpPr/>
          <p:nvPr/>
        </p:nvSpPr>
        <p:spPr>
          <a:xfrm>
            <a:off x="14355217" y="8877300"/>
            <a:ext cx="244971" cy="171450"/>
          </a:xfrm>
          <a:prstGeom prst="roundRect">
            <a:avLst>
              <a:gd name="adj" fmla="val 5556"/>
            </a:avLst>
          </a:prstGeom>
          <a:solidFill>
            <a:srgbClr val="C9461A"/>
          </a:solidFill>
          <a:ln/>
        </p:spPr>
        <p:txBody>
          <a:bodyPr/>
          <a:lstStyle/>
          <a:p>
            <a:endParaRPr lang="en-US"/>
          </a:p>
        </p:txBody>
      </p:sp>
      <p:sp>
        <p:nvSpPr>
          <p:cNvPr id="72" name="Shape 70"/>
          <p:cNvSpPr/>
          <p:nvPr/>
        </p:nvSpPr>
        <p:spPr>
          <a:xfrm>
            <a:off x="14628763" y="8877300"/>
            <a:ext cx="244971" cy="171450"/>
          </a:xfrm>
          <a:prstGeom prst="roundRect">
            <a:avLst>
              <a:gd name="adj" fmla="val 5556"/>
            </a:avLst>
          </a:prstGeom>
          <a:solidFill>
            <a:srgbClr val="FFB347"/>
          </a:solidFill>
          <a:ln/>
        </p:spPr>
        <p:txBody>
          <a:bodyPr/>
          <a:lstStyle/>
          <a:p>
            <a:endParaRPr lang="en-US"/>
          </a:p>
        </p:txBody>
      </p:sp>
      <p:sp>
        <p:nvSpPr>
          <p:cNvPr id="73" name="Shape 71"/>
          <p:cNvSpPr/>
          <p:nvPr/>
        </p:nvSpPr>
        <p:spPr>
          <a:xfrm>
            <a:off x="14902309" y="8877300"/>
            <a:ext cx="244971" cy="171450"/>
          </a:xfrm>
          <a:prstGeom prst="roundRect">
            <a:avLst>
              <a:gd name="adj" fmla="val 5556"/>
            </a:avLst>
          </a:prstGeom>
          <a:solidFill>
            <a:srgbClr val="FF5A1F"/>
          </a:solidFill>
          <a:ln/>
        </p:spPr>
        <p:txBody>
          <a:bodyPr/>
          <a:lstStyle/>
          <a:p>
            <a:endParaRPr lang="en-US"/>
          </a:p>
        </p:txBody>
      </p:sp>
      <p:sp>
        <p:nvSpPr>
          <p:cNvPr id="74" name="Shape 72"/>
          <p:cNvSpPr/>
          <p:nvPr/>
        </p:nvSpPr>
        <p:spPr>
          <a:xfrm>
            <a:off x="15175855" y="8877300"/>
            <a:ext cx="244822" cy="171450"/>
          </a:xfrm>
          <a:prstGeom prst="roundRect">
            <a:avLst>
              <a:gd name="adj" fmla="val 5556"/>
            </a:avLst>
          </a:prstGeom>
          <a:solidFill>
            <a:srgbClr val="2A2F3A"/>
          </a:solidFill>
          <a:ln/>
        </p:spPr>
        <p:txBody>
          <a:bodyPr/>
          <a:lstStyle/>
          <a:p>
            <a:endParaRPr lang="en-US"/>
          </a:p>
        </p:txBody>
      </p:sp>
      <p:sp>
        <p:nvSpPr>
          <p:cNvPr id="75" name="Shape 73"/>
          <p:cNvSpPr/>
          <p:nvPr/>
        </p:nvSpPr>
        <p:spPr>
          <a:xfrm>
            <a:off x="15449252" y="8877300"/>
            <a:ext cx="244971" cy="171450"/>
          </a:xfrm>
          <a:prstGeom prst="roundRect">
            <a:avLst>
              <a:gd name="adj" fmla="val 5556"/>
            </a:avLst>
          </a:prstGeom>
          <a:solidFill>
            <a:srgbClr val="5C2A0E"/>
          </a:solidFill>
          <a:ln/>
        </p:spPr>
        <p:txBody>
          <a:bodyPr/>
          <a:lstStyle/>
          <a:p>
            <a:endParaRPr lang="en-US"/>
          </a:p>
        </p:txBody>
      </p:sp>
      <p:sp>
        <p:nvSpPr>
          <p:cNvPr id="76" name="Shape 74"/>
          <p:cNvSpPr/>
          <p:nvPr/>
        </p:nvSpPr>
        <p:spPr>
          <a:xfrm>
            <a:off x="15722798" y="8877300"/>
            <a:ext cx="244971" cy="171450"/>
          </a:xfrm>
          <a:prstGeom prst="roundRect">
            <a:avLst>
              <a:gd name="adj" fmla="val 5556"/>
            </a:avLst>
          </a:prstGeom>
          <a:solidFill>
            <a:srgbClr val="C9461A"/>
          </a:solidFill>
          <a:ln/>
        </p:spPr>
        <p:txBody>
          <a:bodyPr/>
          <a:lstStyle/>
          <a:p>
            <a:endParaRPr lang="en-US"/>
          </a:p>
        </p:txBody>
      </p:sp>
      <p:sp>
        <p:nvSpPr>
          <p:cNvPr id="77" name="Shape 75"/>
          <p:cNvSpPr/>
          <p:nvPr/>
        </p:nvSpPr>
        <p:spPr>
          <a:xfrm>
            <a:off x="15996345" y="8877300"/>
            <a:ext cx="244971" cy="171450"/>
          </a:xfrm>
          <a:prstGeom prst="roundRect">
            <a:avLst>
              <a:gd name="adj" fmla="val 5556"/>
            </a:avLst>
          </a:prstGeom>
          <a:solidFill>
            <a:srgbClr val="2A2F3A"/>
          </a:solidFill>
          <a:ln/>
        </p:spPr>
        <p:txBody>
          <a:bodyPr/>
          <a:lstStyle/>
          <a:p>
            <a:endParaRPr lang="en-US"/>
          </a:p>
        </p:txBody>
      </p:sp>
      <p:sp>
        <p:nvSpPr>
          <p:cNvPr id="78" name="Shape 76"/>
          <p:cNvSpPr/>
          <p:nvPr/>
        </p:nvSpPr>
        <p:spPr>
          <a:xfrm>
            <a:off x="16269891" y="8877300"/>
            <a:ext cx="244971" cy="171450"/>
          </a:xfrm>
          <a:prstGeom prst="roundRect">
            <a:avLst>
              <a:gd name="adj" fmla="val 5556"/>
            </a:avLst>
          </a:prstGeom>
          <a:solidFill>
            <a:srgbClr val="2A2F3A"/>
          </a:solidFill>
          <a:ln/>
        </p:spPr>
        <p:txBody>
          <a:bodyPr/>
          <a:lstStyle/>
          <a:p>
            <a:endParaRPr lang="en-US"/>
          </a:p>
        </p:txBody>
      </p:sp>
      <p:sp>
        <p:nvSpPr>
          <p:cNvPr id="79" name="Shape 77"/>
          <p:cNvSpPr/>
          <p:nvPr/>
        </p:nvSpPr>
        <p:spPr>
          <a:xfrm>
            <a:off x="16543437" y="8877300"/>
            <a:ext cx="244971" cy="171450"/>
          </a:xfrm>
          <a:prstGeom prst="roundRect">
            <a:avLst>
              <a:gd name="adj" fmla="val 5556"/>
            </a:avLst>
          </a:prstGeom>
          <a:solidFill>
            <a:srgbClr val="C9461A"/>
          </a:solidFill>
          <a:ln/>
        </p:spPr>
        <p:txBody>
          <a:bodyPr/>
          <a:lstStyle/>
          <a:p>
            <a:endParaRPr lang="en-US"/>
          </a:p>
        </p:txBody>
      </p:sp>
      <p:sp>
        <p:nvSpPr>
          <p:cNvPr id="80" name="Shape 78"/>
          <p:cNvSpPr/>
          <p:nvPr/>
        </p:nvSpPr>
        <p:spPr>
          <a:xfrm>
            <a:off x="16816983" y="8877300"/>
            <a:ext cx="244971" cy="171450"/>
          </a:xfrm>
          <a:prstGeom prst="roundRect">
            <a:avLst>
              <a:gd name="adj" fmla="val 5556"/>
            </a:avLst>
          </a:prstGeom>
          <a:solidFill>
            <a:srgbClr val="FFB347"/>
          </a:solidFill>
          <a:ln/>
        </p:spPr>
        <p:txBody>
          <a:bodyPr/>
          <a:lstStyle/>
          <a:p>
            <a:endParaRPr lang="en-US"/>
          </a:p>
        </p:txBody>
      </p:sp>
      <p:sp>
        <p:nvSpPr>
          <p:cNvPr id="81" name="Shape 79"/>
          <p:cNvSpPr/>
          <p:nvPr/>
        </p:nvSpPr>
        <p:spPr>
          <a:xfrm>
            <a:off x="17090529" y="8877300"/>
            <a:ext cx="244971" cy="171450"/>
          </a:xfrm>
          <a:prstGeom prst="roundRect">
            <a:avLst>
              <a:gd name="adj" fmla="val 5556"/>
            </a:avLst>
          </a:prstGeom>
          <a:solidFill>
            <a:srgbClr val="FF5A1F"/>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F1115"/>
          </a:solidFill>
          <a:ln/>
        </p:spPr>
        <p:txBody>
          <a:bodyPr/>
          <a:lstStyle/>
          <a:p>
            <a:endParaRPr lang="en-US"/>
          </a:p>
        </p:txBody>
      </p:sp>
      <p:sp>
        <p:nvSpPr>
          <p:cNvPr id="3" name="Shape 1"/>
          <p:cNvSpPr/>
          <p:nvPr/>
        </p:nvSpPr>
        <p:spPr>
          <a:xfrm>
            <a:off x="0" y="0"/>
            <a:ext cx="18288000" cy="57150"/>
          </a:xfrm>
          <a:prstGeom prst="rect">
            <a:avLst/>
          </a:prstGeom>
          <a:solidFill>
            <a:srgbClr val="FF2D2D"/>
          </a:solidFill>
          <a:ln/>
        </p:spPr>
        <p:txBody>
          <a:bodyPr/>
          <a:lstStyle/>
          <a:p>
            <a:endParaRPr lang="en-US"/>
          </a:p>
        </p:txBody>
      </p:sp>
      <p:sp>
        <p:nvSpPr>
          <p:cNvPr id="4" name="Text 2"/>
          <p:cNvSpPr/>
          <p:nvPr/>
        </p:nvSpPr>
        <p:spPr>
          <a:xfrm>
            <a:off x="10822930" y="342900"/>
            <a:ext cx="22487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1143059" y="357188"/>
            <a:ext cx="3127790"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ZERO SHOT HOPEFULS</a:t>
            </a:r>
            <a:endParaRPr lang="en-US" sz="1800" dirty="0"/>
          </a:p>
        </p:txBody>
      </p:sp>
      <p:sp>
        <p:nvSpPr>
          <p:cNvPr id="6" name="Text 4"/>
          <p:cNvSpPr/>
          <p:nvPr/>
        </p:nvSpPr>
        <p:spPr>
          <a:xfrm>
            <a:off x="14351198" y="357188"/>
            <a:ext cx="162669"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alpha val="40000"/>
                  </a:srgbClr>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4609118" y="357188"/>
            <a:ext cx="280817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ESSD AI CHALLENGE</a:t>
            </a:r>
            <a:endParaRPr lang="en-US" sz="1800" dirty="0"/>
          </a:p>
        </p:txBody>
      </p:sp>
      <p:sp>
        <p:nvSpPr>
          <p:cNvPr id="8" name="Text 6"/>
          <p:cNvSpPr/>
          <p:nvPr/>
        </p:nvSpPr>
        <p:spPr>
          <a:xfrm>
            <a:off x="952500" y="9791700"/>
            <a:ext cx="6184605" cy="304800"/>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9AA0AB"/>
                </a:solidFill>
                <a:latin typeface="Arial" pitchFamily="34" charset="0"/>
                <a:ea typeface="Arial" pitchFamily="34" charset="-122"/>
                <a:cs typeface="Arial" pitchFamily="34" charset="-120"/>
              </a:rPr>
              <a:t>COMPOUND HAZARD FORECASTING · APR 2026</a:t>
            </a:r>
            <a:endParaRPr lang="en-US" sz="1800" dirty="0"/>
          </a:p>
        </p:txBody>
      </p:sp>
      <p:sp>
        <p:nvSpPr>
          <p:cNvPr id="9" name="Text 7"/>
          <p:cNvSpPr/>
          <p:nvPr/>
        </p:nvSpPr>
        <p:spPr>
          <a:xfrm>
            <a:off x="16456075" y="9763125"/>
            <a:ext cx="39632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03</a:t>
            </a:r>
            <a:endParaRPr lang="en-US" sz="1800" dirty="0"/>
          </a:p>
        </p:txBody>
      </p:sp>
      <p:sp>
        <p:nvSpPr>
          <p:cNvPr id="10" name="Text 8"/>
          <p:cNvSpPr/>
          <p:nvPr/>
        </p:nvSpPr>
        <p:spPr>
          <a:xfrm>
            <a:off x="16776204" y="9782175"/>
            <a:ext cx="63549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9AA0AB">
                    <a:alpha val="50000"/>
                  </a:srgbClr>
                </a:solidFill>
                <a:latin typeface="Arial" pitchFamily="34" charset="0"/>
                <a:ea typeface="Arial" pitchFamily="34" charset="-122"/>
                <a:cs typeface="Arial" pitchFamily="34" charset="-120"/>
              </a:rPr>
              <a:t>/ 13</a:t>
            </a:r>
            <a:endParaRPr lang="en-US" sz="1800" dirty="0"/>
          </a:p>
        </p:txBody>
      </p:sp>
      <p:sp>
        <p:nvSpPr>
          <p:cNvPr id="11" name="Text 9"/>
          <p:cNvSpPr/>
          <p:nvPr/>
        </p:nvSpPr>
        <p:spPr>
          <a:xfrm>
            <a:off x="952500" y="952500"/>
            <a:ext cx="16874490" cy="333375"/>
          </a:xfrm>
          <a:prstGeom prst="rect">
            <a:avLst/>
          </a:prstGeom>
          <a:noFill/>
          <a:ln/>
        </p:spPr>
        <p:txBody>
          <a:bodyPr wrap="square" lIns="25400" tIns="25400" rIns="25400" bIns="25400" rtlCol="0" anchor="t">
            <a:normAutofit/>
          </a:bodyPr>
          <a:lstStyle/>
          <a:p>
            <a:pPr marL="0" indent="0" algn="l">
              <a:buNone/>
            </a:pPr>
            <a:r>
              <a:rPr lang="en-US" sz="1800" b="1" kern="0" spc="396" dirty="0">
                <a:solidFill>
                  <a:srgbClr val="FF5A1F"/>
                </a:solidFill>
                <a:latin typeface="Arial" pitchFamily="34" charset="0"/>
                <a:ea typeface="Arial" pitchFamily="34" charset="-122"/>
                <a:cs typeface="Arial" pitchFamily="34" charset="-120"/>
              </a:rPr>
              <a:t>TASK · GOAL · SUCCESS CRITERIA</a:t>
            </a:r>
            <a:endParaRPr lang="en-US" sz="1800" dirty="0"/>
          </a:p>
        </p:txBody>
      </p:sp>
      <p:sp>
        <p:nvSpPr>
          <p:cNvPr id="12" name="Text 10"/>
          <p:cNvSpPr/>
          <p:nvPr/>
        </p:nvSpPr>
        <p:spPr>
          <a:xfrm>
            <a:off x="952500" y="1590675"/>
            <a:ext cx="15697200" cy="1747838"/>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600" b="1" kern="0" spc="-165" dirty="0">
                <a:solidFill>
                  <a:srgbClr val="F4EFE6"/>
                </a:solidFill>
                <a:latin typeface="Arial" pitchFamily="34" charset="0"/>
                <a:ea typeface="Arial" pitchFamily="34" charset="-122"/>
                <a:cs typeface="Arial" pitchFamily="34" charset="-120"/>
              </a:rPr>
              <a:t>Forecast one week ahead, with a calibrated </a:t>
            </a:r>
            <a:r>
              <a:rPr lang="en-US" sz="6600" b="1" kern="0" spc="-165" dirty="0">
                <a:solidFill>
                  <a:srgbClr val="FF5A1F"/>
                </a:solidFill>
                <a:latin typeface="Arial" pitchFamily="34" charset="0"/>
                <a:ea typeface="Arial" pitchFamily="34" charset="-122"/>
                <a:cs typeface="Arial" pitchFamily="34" charset="-120"/>
              </a:rPr>
              <a:t>AUC ≥ 0.95.</a:t>
            </a:r>
            <a:endParaRPr lang="en-US" sz="6600" dirty="0"/>
          </a:p>
        </p:txBody>
      </p:sp>
      <p:sp>
        <p:nvSpPr>
          <p:cNvPr id="13" name="Text 11"/>
          <p:cNvSpPr/>
          <p:nvPr/>
        </p:nvSpPr>
        <p:spPr>
          <a:xfrm>
            <a:off x="952500" y="3986213"/>
            <a:ext cx="8201787" cy="304800"/>
          </a:xfrm>
          <a:prstGeom prst="rect">
            <a:avLst/>
          </a:prstGeom>
          <a:noFill/>
          <a:ln/>
        </p:spPr>
        <p:txBody>
          <a:bodyPr wrap="square" lIns="25400" tIns="25400" rIns="25400" bIns="25400" rtlCol="0" anchor="t">
            <a:normAutofit lnSpcReduction="10000"/>
          </a:bodyPr>
          <a:lstStyle/>
          <a:p>
            <a:pPr marL="0" indent="0" algn="l">
              <a:buNone/>
            </a:pPr>
            <a:r>
              <a:rPr lang="en-US" sz="1800" kern="0" spc="270" dirty="0">
                <a:solidFill>
                  <a:srgbClr val="9AA0AB"/>
                </a:solidFill>
                <a:latin typeface="Arial" pitchFamily="34" charset="0"/>
                <a:ea typeface="Arial" pitchFamily="34" charset="-122"/>
                <a:cs typeface="Arial" pitchFamily="34" charset="-120"/>
              </a:rPr>
              <a:t>THE TASK, FORMALLY</a:t>
            </a:r>
            <a:endParaRPr lang="en-US" sz="1800" dirty="0"/>
          </a:p>
        </p:txBody>
      </p:sp>
      <p:sp>
        <p:nvSpPr>
          <p:cNvPr id="14" name="Shape 12"/>
          <p:cNvSpPr/>
          <p:nvPr/>
        </p:nvSpPr>
        <p:spPr>
          <a:xfrm>
            <a:off x="952500" y="4481513"/>
            <a:ext cx="7962900" cy="3061097"/>
          </a:xfrm>
          <a:prstGeom prst="rect">
            <a:avLst/>
          </a:prstGeom>
          <a:solidFill>
            <a:srgbClr val="16191F"/>
          </a:solidFill>
          <a:ln w="9525">
            <a:solidFill>
              <a:srgbClr val="2A2F3A"/>
            </a:solidFill>
            <a:prstDash val="solid"/>
          </a:ln>
        </p:spPr>
        <p:txBody>
          <a:bodyPr/>
          <a:lstStyle/>
          <a:p>
            <a:endParaRPr lang="en-US"/>
          </a:p>
        </p:txBody>
      </p:sp>
      <p:sp>
        <p:nvSpPr>
          <p:cNvPr id="15" name="Text 13"/>
          <p:cNvSpPr/>
          <p:nvPr/>
        </p:nvSpPr>
        <p:spPr>
          <a:xfrm>
            <a:off x="1343025" y="4872038"/>
            <a:ext cx="7397306" cy="434280"/>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950" dirty="0">
                <a:solidFill>
                  <a:srgbClr val="9AA0AB"/>
                </a:solidFill>
                <a:latin typeface="Arial" pitchFamily="34" charset="0"/>
                <a:ea typeface="Arial" pitchFamily="34" charset="-122"/>
                <a:cs typeface="Arial" pitchFamily="34" charset="-120"/>
              </a:rPr>
              <a:t>TARGET(t + 1 wk) =</a:t>
            </a:r>
            <a:endParaRPr lang="en-US" sz="1950" dirty="0"/>
          </a:p>
        </p:txBody>
      </p:sp>
      <p:sp>
        <p:nvSpPr>
          <p:cNvPr id="16" name="Text 14"/>
          <p:cNvSpPr/>
          <p:nvPr/>
        </p:nvSpPr>
        <p:spPr>
          <a:xfrm>
            <a:off x="1571625" y="5344418"/>
            <a:ext cx="7161848" cy="434280"/>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950" dirty="0">
                <a:solidFill>
                  <a:srgbClr val="FFB347"/>
                </a:solidFill>
                <a:latin typeface="Arial" pitchFamily="34" charset="0"/>
                <a:ea typeface="Arial" pitchFamily="34" charset="-122"/>
                <a:cs typeface="Arial" pitchFamily="34" charset="-120"/>
              </a:rPr>
              <a:t>HI02 == 1</a:t>
            </a:r>
            <a:r>
              <a:rPr lang="en-US" sz="1950" dirty="0">
                <a:solidFill>
                  <a:srgbClr val="9AA0AB"/>
                </a:solidFill>
                <a:latin typeface="Arial" pitchFamily="34" charset="0"/>
                <a:ea typeface="Arial" pitchFamily="34" charset="-122"/>
                <a:cs typeface="Arial" pitchFamily="34" charset="-120"/>
              </a:rPr>
              <a:t>AND</a:t>
            </a:r>
            <a:r>
              <a:rPr lang="en-US" sz="1950" dirty="0">
                <a:solidFill>
                  <a:srgbClr val="FFB347"/>
                </a:solidFill>
                <a:latin typeface="Arial" pitchFamily="34" charset="0"/>
                <a:ea typeface="Arial" pitchFamily="34" charset="-122"/>
                <a:cs typeface="Arial" pitchFamily="34" charset="-120"/>
              </a:rPr>
              <a:t>PDSI.cat ≤ 3</a:t>
            </a:r>
            <a:endParaRPr lang="en-US" sz="1950" dirty="0"/>
          </a:p>
        </p:txBody>
      </p:sp>
      <p:sp>
        <p:nvSpPr>
          <p:cNvPr id="17" name="Shape 15"/>
          <p:cNvSpPr/>
          <p:nvPr/>
        </p:nvSpPr>
        <p:spPr>
          <a:xfrm>
            <a:off x="1343025" y="6045398"/>
            <a:ext cx="7181850" cy="9525"/>
          </a:xfrm>
          <a:prstGeom prst="rect">
            <a:avLst/>
          </a:prstGeom>
          <a:solidFill>
            <a:srgbClr val="2A2F3A"/>
          </a:solidFill>
          <a:ln/>
        </p:spPr>
        <p:txBody>
          <a:bodyPr/>
          <a:lstStyle/>
          <a:p>
            <a:endParaRPr lang="en-US"/>
          </a:p>
        </p:txBody>
      </p:sp>
      <p:sp>
        <p:nvSpPr>
          <p:cNvPr id="18" name="Text 16"/>
          <p:cNvSpPr/>
          <p:nvPr/>
        </p:nvSpPr>
        <p:spPr>
          <a:xfrm>
            <a:off x="1343025" y="6359723"/>
            <a:ext cx="7397306" cy="434280"/>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950" dirty="0">
                <a:solidFill>
                  <a:srgbClr val="9AA0AB"/>
                </a:solidFill>
                <a:latin typeface="Arial" pitchFamily="34" charset="0"/>
                <a:ea typeface="Arial" pitchFamily="34" charset="-122"/>
                <a:cs typeface="Arial" pitchFamily="34" charset="-120"/>
              </a:rPr>
              <a:t>// per weekly grid cell, CONUS</a:t>
            </a:r>
            <a:endParaRPr lang="en-US" sz="1950" dirty="0"/>
          </a:p>
        </p:txBody>
      </p:sp>
      <p:sp>
        <p:nvSpPr>
          <p:cNvPr id="19" name="Text 17"/>
          <p:cNvSpPr/>
          <p:nvPr/>
        </p:nvSpPr>
        <p:spPr>
          <a:xfrm>
            <a:off x="1343025" y="6755904"/>
            <a:ext cx="7397306" cy="434280"/>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950" dirty="0">
                <a:solidFill>
                  <a:srgbClr val="9AA0AB"/>
                </a:solidFill>
                <a:latin typeface="Arial" pitchFamily="34" charset="0"/>
                <a:ea typeface="Arial" pitchFamily="34" charset="-122"/>
                <a:cs typeface="Arial" pitchFamily="34" charset="-120"/>
              </a:rPr>
              <a:t>// probability output, 0.0 – 1.0</a:t>
            </a:r>
            <a:endParaRPr lang="en-US" sz="1950" dirty="0"/>
          </a:p>
        </p:txBody>
      </p:sp>
      <p:sp>
        <p:nvSpPr>
          <p:cNvPr id="20" name="Text 18"/>
          <p:cNvSpPr/>
          <p:nvPr/>
        </p:nvSpPr>
        <p:spPr>
          <a:xfrm>
            <a:off x="9372600" y="3986213"/>
            <a:ext cx="8201787" cy="304800"/>
          </a:xfrm>
          <a:prstGeom prst="rect">
            <a:avLst/>
          </a:prstGeom>
          <a:noFill/>
          <a:ln/>
        </p:spPr>
        <p:txBody>
          <a:bodyPr wrap="square" lIns="25400" tIns="25400" rIns="25400" bIns="25400" rtlCol="0" anchor="t">
            <a:normAutofit lnSpcReduction="10000"/>
          </a:bodyPr>
          <a:lstStyle/>
          <a:p>
            <a:pPr marL="0" indent="0" algn="l">
              <a:buNone/>
            </a:pPr>
            <a:r>
              <a:rPr lang="en-US" sz="1800" kern="0" spc="270" dirty="0">
                <a:solidFill>
                  <a:srgbClr val="9AA0AB"/>
                </a:solidFill>
                <a:latin typeface="Arial" pitchFamily="34" charset="0"/>
                <a:ea typeface="Arial" pitchFamily="34" charset="-122"/>
                <a:cs typeface="Arial" pitchFamily="34" charset="-120"/>
              </a:rPr>
              <a:t>SUCCESS CRITERIA</a:t>
            </a:r>
            <a:endParaRPr lang="en-US" sz="1800" dirty="0"/>
          </a:p>
        </p:txBody>
      </p:sp>
      <p:sp>
        <p:nvSpPr>
          <p:cNvPr id="21" name="Shape 19"/>
          <p:cNvSpPr/>
          <p:nvPr/>
        </p:nvSpPr>
        <p:spPr>
          <a:xfrm>
            <a:off x="9372600" y="4481513"/>
            <a:ext cx="7962900" cy="9525"/>
          </a:xfrm>
          <a:prstGeom prst="rect">
            <a:avLst/>
          </a:prstGeom>
          <a:solidFill>
            <a:srgbClr val="2A2F3A"/>
          </a:solidFill>
          <a:ln/>
        </p:spPr>
        <p:txBody>
          <a:bodyPr/>
          <a:lstStyle/>
          <a:p>
            <a:endParaRPr lang="en-US"/>
          </a:p>
        </p:txBody>
      </p:sp>
      <p:sp>
        <p:nvSpPr>
          <p:cNvPr id="22" name="Text 20"/>
          <p:cNvSpPr/>
          <p:nvPr/>
        </p:nvSpPr>
        <p:spPr>
          <a:xfrm>
            <a:off x="9372600" y="4757738"/>
            <a:ext cx="351234" cy="285750"/>
          </a:xfrm>
          <a:prstGeom prst="rect">
            <a:avLst/>
          </a:prstGeom>
          <a:noFill/>
          <a:ln/>
        </p:spPr>
        <p:txBody>
          <a:bodyPr wrap="square" lIns="25400" tIns="25400" rIns="25400" bIns="25400" rtlCol="0" anchor="t">
            <a:normAutofit lnSpcReduction="10000"/>
          </a:bodyPr>
          <a:lstStyle/>
          <a:p>
            <a:pPr marL="0" indent="0" algn="l">
              <a:buNone/>
            </a:pPr>
            <a:r>
              <a:rPr lang="en-US" sz="1650" kern="0" spc="165" dirty="0">
                <a:solidFill>
                  <a:srgbClr val="FF5A1F"/>
                </a:solidFill>
                <a:latin typeface="Arial" pitchFamily="34" charset="0"/>
                <a:ea typeface="Arial" pitchFamily="34" charset="-122"/>
                <a:cs typeface="Arial" pitchFamily="34" charset="-120"/>
              </a:rPr>
              <a:t>01</a:t>
            </a:r>
            <a:endParaRPr lang="en-US" sz="1650" dirty="0"/>
          </a:p>
        </p:txBody>
      </p:sp>
      <p:sp>
        <p:nvSpPr>
          <p:cNvPr id="23" name="Text 21"/>
          <p:cNvSpPr/>
          <p:nvPr/>
        </p:nvSpPr>
        <p:spPr>
          <a:xfrm>
            <a:off x="9914334" y="4681538"/>
            <a:ext cx="3517307" cy="454223"/>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850" b="1" dirty="0">
                <a:solidFill>
                  <a:srgbClr val="F4EFE6"/>
                </a:solidFill>
                <a:latin typeface="Arial" pitchFamily="34" charset="0"/>
                <a:ea typeface="Arial" pitchFamily="34" charset="-122"/>
                <a:cs typeface="Arial" pitchFamily="34" charset="-120"/>
              </a:rPr>
              <a:t>AUC-ROC ≥ 0.95</a:t>
            </a:r>
            <a:endParaRPr lang="en-US" sz="2850" dirty="0"/>
          </a:p>
        </p:txBody>
      </p:sp>
      <p:sp>
        <p:nvSpPr>
          <p:cNvPr id="24" name="Text 22"/>
          <p:cNvSpPr/>
          <p:nvPr/>
        </p:nvSpPr>
        <p:spPr>
          <a:xfrm>
            <a:off x="9914334" y="5154811"/>
            <a:ext cx="3517307"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9AA0AB"/>
                </a:solidFill>
                <a:latin typeface="Arial" pitchFamily="34" charset="0"/>
                <a:ea typeface="Arial" pitchFamily="34" charset="-122"/>
                <a:cs typeface="Arial" pitchFamily="34" charset="-120"/>
              </a:rPr>
              <a:t>on held-out 2018–2020 test set</a:t>
            </a:r>
            <a:endParaRPr lang="en-US" sz="1950" dirty="0"/>
          </a:p>
        </p:txBody>
      </p:sp>
      <p:sp>
        <p:nvSpPr>
          <p:cNvPr id="25" name="Shape 23"/>
          <p:cNvSpPr/>
          <p:nvPr/>
        </p:nvSpPr>
        <p:spPr>
          <a:xfrm>
            <a:off x="9372600" y="5869186"/>
            <a:ext cx="7962900" cy="9525"/>
          </a:xfrm>
          <a:prstGeom prst="rect">
            <a:avLst/>
          </a:prstGeom>
          <a:solidFill>
            <a:srgbClr val="2A2F3A"/>
          </a:solidFill>
          <a:ln/>
        </p:spPr>
        <p:txBody>
          <a:bodyPr/>
          <a:lstStyle/>
          <a:p>
            <a:endParaRPr lang="en-US"/>
          </a:p>
        </p:txBody>
      </p:sp>
      <p:sp>
        <p:nvSpPr>
          <p:cNvPr id="26" name="Text 24"/>
          <p:cNvSpPr/>
          <p:nvPr/>
        </p:nvSpPr>
        <p:spPr>
          <a:xfrm>
            <a:off x="9372600" y="6145411"/>
            <a:ext cx="351234" cy="285750"/>
          </a:xfrm>
          <a:prstGeom prst="rect">
            <a:avLst/>
          </a:prstGeom>
          <a:noFill/>
          <a:ln/>
        </p:spPr>
        <p:txBody>
          <a:bodyPr wrap="square" lIns="25400" tIns="25400" rIns="25400" bIns="25400" rtlCol="0" anchor="t">
            <a:normAutofit lnSpcReduction="10000"/>
          </a:bodyPr>
          <a:lstStyle/>
          <a:p>
            <a:pPr marL="0" indent="0" algn="l">
              <a:buNone/>
            </a:pPr>
            <a:r>
              <a:rPr lang="en-US" sz="1650" kern="0" spc="165" dirty="0">
                <a:solidFill>
                  <a:srgbClr val="FF5A1F"/>
                </a:solidFill>
                <a:latin typeface="Arial" pitchFamily="34" charset="0"/>
                <a:ea typeface="Arial" pitchFamily="34" charset="-122"/>
                <a:cs typeface="Arial" pitchFamily="34" charset="-120"/>
              </a:rPr>
              <a:t>02</a:t>
            </a:r>
            <a:endParaRPr lang="en-US" sz="1650" dirty="0"/>
          </a:p>
        </p:txBody>
      </p:sp>
      <p:sp>
        <p:nvSpPr>
          <p:cNvPr id="27" name="Text 25"/>
          <p:cNvSpPr/>
          <p:nvPr/>
        </p:nvSpPr>
        <p:spPr>
          <a:xfrm>
            <a:off x="9914334" y="6069211"/>
            <a:ext cx="4309679" cy="454223"/>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850" b="1" dirty="0">
                <a:solidFill>
                  <a:srgbClr val="F4EFE6"/>
                </a:solidFill>
                <a:latin typeface="Arial" pitchFamily="34" charset="0"/>
                <a:ea typeface="Arial" pitchFamily="34" charset="-122"/>
                <a:cs typeface="Arial" pitchFamily="34" charset="-120"/>
              </a:rPr>
              <a:t>Calibrated probabilities</a:t>
            </a:r>
            <a:endParaRPr lang="en-US" sz="2850" dirty="0"/>
          </a:p>
        </p:txBody>
      </p:sp>
      <p:sp>
        <p:nvSpPr>
          <p:cNvPr id="28" name="Text 26"/>
          <p:cNvSpPr/>
          <p:nvPr/>
        </p:nvSpPr>
        <p:spPr>
          <a:xfrm>
            <a:off x="9914334" y="6542484"/>
            <a:ext cx="4309679"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9AA0AB"/>
                </a:solidFill>
                <a:latin typeface="Arial" pitchFamily="34" charset="0"/>
                <a:ea typeface="Arial" pitchFamily="34" charset="-122"/>
                <a:cs typeface="Arial" pitchFamily="34" charset="-120"/>
              </a:rPr>
              <a:t>low Brier score, reliable ranking of risk</a:t>
            </a:r>
            <a:endParaRPr lang="en-US" sz="1950" dirty="0"/>
          </a:p>
        </p:txBody>
      </p:sp>
      <p:sp>
        <p:nvSpPr>
          <p:cNvPr id="29" name="Shape 27"/>
          <p:cNvSpPr/>
          <p:nvPr/>
        </p:nvSpPr>
        <p:spPr>
          <a:xfrm>
            <a:off x="9372600" y="7256859"/>
            <a:ext cx="7962900" cy="9525"/>
          </a:xfrm>
          <a:prstGeom prst="rect">
            <a:avLst/>
          </a:prstGeom>
          <a:solidFill>
            <a:srgbClr val="2A2F3A"/>
          </a:solidFill>
          <a:ln/>
        </p:spPr>
        <p:txBody>
          <a:bodyPr/>
          <a:lstStyle/>
          <a:p>
            <a:endParaRPr lang="en-US"/>
          </a:p>
        </p:txBody>
      </p:sp>
      <p:sp>
        <p:nvSpPr>
          <p:cNvPr id="30" name="Text 28"/>
          <p:cNvSpPr/>
          <p:nvPr/>
        </p:nvSpPr>
        <p:spPr>
          <a:xfrm>
            <a:off x="9372600" y="7533084"/>
            <a:ext cx="351234" cy="285750"/>
          </a:xfrm>
          <a:prstGeom prst="rect">
            <a:avLst/>
          </a:prstGeom>
          <a:noFill/>
          <a:ln/>
        </p:spPr>
        <p:txBody>
          <a:bodyPr wrap="square" lIns="25400" tIns="25400" rIns="25400" bIns="25400" rtlCol="0" anchor="t">
            <a:normAutofit lnSpcReduction="10000"/>
          </a:bodyPr>
          <a:lstStyle/>
          <a:p>
            <a:pPr marL="0" indent="0" algn="l">
              <a:buNone/>
            </a:pPr>
            <a:r>
              <a:rPr lang="en-US" sz="1650" kern="0" spc="165" dirty="0">
                <a:solidFill>
                  <a:srgbClr val="FF5A1F"/>
                </a:solidFill>
                <a:latin typeface="Arial" pitchFamily="34" charset="0"/>
                <a:ea typeface="Arial" pitchFamily="34" charset="-122"/>
                <a:cs typeface="Arial" pitchFamily="34" charset="-120"/>
              </a:rPr>
              <a:t>03</a:t>
            </a:r>
            <a:endParaRPr lang="en-US" sz="1650" dirty="0"/>
          </a:p>
        </p:txBody>
      </p:sp>
      <p:sp>
        <p:nvSpPr>
          <p:cNvPr id="31" name="Text 29"/>
          <p:cNvSpPr/>
          <p:nvPr/>
        </p:nvSpPr>
        <p:spPr>
          <a:xfrm>
            <a:off x="9914334" y="7456884"/>
            <a:ext cx="4933274" cy="454223"/>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850" b="1" dirty="0">
                <a:solidFill>
                  <a:srgbClr val="F4EFE6"/>
                </a:solidFill>
                <a:latin typeface="Arial" pitchFamily="34" charset="0"/>
                <a:ea typeface="Arial" pitchFamily="34" charset="-122"/>
                <a:cs typeface="Arial" pitchFamily="34" charset="-120"/>
              </a:rPr>
              <a:t>Fair ML vs LLM comparison</a:t>
            </a:r>
            <a:endParaRPr lang="en-US" sz="2850" dirty="0"/>
          </a:p>
        </p:txBody>
      </p:sp>
      <p:sp>
        <p:nvSpPr>
          <p:cNvPr id="32" name="Text 30"/>
          <p:cNvSpPr/>
          <p:nvPr/>
        </p:nvSpPr>
        <p:spPr>
          <a:xfrm>
            <a:off x="9914334" y="7930158"/>
            <a:ext cx="4933274"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9AA0AB"/>
                </a:solidFill>
                <a:latin typeface="Arial" pitchFamily="34" charset="0"/>
                <a:ea typeface="Arial" pitchFamily="34" charset="-122"/>
                <a:cs typeface="Arial" pitchFamily="34" charset="-120"/>
              </a:rPr>
              <a:t>same features, same test set, same metrics</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F1115"/>
          </a:solidFill>
          <a:ln/>
        </p:spPr>
        <p:txBody>
          <a:bodyPr/>
          <a:lstStyle/>
          <a:p>
            <a:endParaRPr lang="en-US"/>
          </a:p>
        </p:txBody>
      </p:sp>
      <p:sp>
        <p:nvSpPr>
          <p:cNvPr id="3" name="Shape 1"/>
          <p:cNvSpPr/>
          <p:nvPr/>
        </p:nvSpPr>
        <p:spPr>
          <a:xfrm>
            <a:off x="0" y="0"/>
            <a:ext cx="18288000" cy="57150"/>
          </a:xfrm>
          <a:prstGeom prst="rect">
            <a:avLst/>
          </a:prstGeom>
          <a:solidFill>
            <a:srgbClr val="FF2D2D"/>
          </a:solidFill>
          <a:ln/>
        </p:spPr>
        <p:txBody>
          <a:bodyPr/>
          <a:lstStyle/>
          <a:p>
            <a:endParaRPr lang="en-US"/>
          </a:p>
        </p:txBody>
      </p:sp>
      <p:sp>
        <p:nvSpPr>
          <p:cNvPr id="4" name="Text 2"/>
          <p:cNvSpPr/>
          <p:nvPr/>
        </p:nvSpPr>
        <p:spPr>
          <a:xfrm>
            <a:off x="10822930" y="342900"/>
            <a:ext cx="22487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1143059" y="357188"/>
            <a:ext cx="3127790"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ZERO SHOT HOPEFULS</a:t>
            </a:r>
            <a:endParaRPr lang="en-US" sz="1800" dirty="0"/>
          </a:p>
        </p:txBody>
      </p:sp>
      <p:sp>
        <p:nvSpPr>
          <p:cNvPr id="6" name="Text 4"/>
          <p:cNvSpPr/>
          <p:nvPr/>
        </p:nvSpPr>
        <p:spPr>
          <a:xfrm>
            <a:off x="14351198" y="357188"/>
            <a:ext cx="162669"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alpha val="40000"/>
                  </a:srgbClr>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4609118" y="357188"/>
            <a:ext cx="280817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ESSD AI CHALLENGE</a:t>
            </a:r>
            <a:endParaRPr lang="en-US" sz="1800" dirty="0"/>
          </a:p>
        </p:txBody>
      </p:sp>
      <p:sp>
        <p:nvSpPr>
          <p:cNvPr id="8" name="Text 6"/>
          <p:cNvSpPr/>
          <p:nvPr/>
        </p:nvSpPr>
        <p:spPr>
          <a:xfrm>
            <a:off x="952500" y="9791700"/>
            <a:ext cx="6184605" cy="304800"/>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9AA0AB"/>
                </a:solidFill>
                <a:latin typeface="Arial" pitchFamily="34" charset="0"/>
                <a:ea typeface="Arial" pitchFamily="34" charset="-122"/>
                <a:cs typeface="Arial" pitchFamily="34" charset="-120"/>
              </a:rPr>
              <a:t>COMPOUND HAZARD FORECASTING · APR 2026</a:t>
            </a:r>
            <a:endParaRPr lang="en-US" sz="1800" dirty="0"/>
          </a:p>
        </p:txBody>
      </p:sp>
      <p:sp>
        <p:nvSpPr>
          <p:cNvPr id="9" name="Text 7"/>
          <p:cNvSpPr/>
          <p:nvPr/>
        </p:nvSpPr>
        <p:spPr>
          <a:xfrm>
            <a:off x="16456075" y="9763125"/>
            <a:ext cx="39632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04</a:t>
            </a:r>
            <a:endParaRPr lang="en-US" sz="1800" dirty="0"/>
          </a:p>
        </p:txBody>
      </p:sp>
      <p:sp>
        <p:nvSpPr>
          <p:cNvPr id="10" name="Text 8"/>
          <p:cNvSpPr/>
          <p:nvPr/>
        </p:nvSpPr>
        <p:spPr>
          <a:xfrm>
            <a:off x="16776204" y="9782175"/>
            <a:ext cx="63549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9AA0AB">
                    <a:alpha val="50000"/>
                  </a:srgbClr>
                </a:solidFill>
                <a:latin typeface="Arial" pitchFamily="34" charset="0"/>
                <a:ea typeface="Arial" pitchFamily="34" charset="-122"/>
                <a:cs typeface="Arial" pitchFamily="34" charset="-120"/>
              </a:rPr>
              <a:t>/ 13</a:t>
            </a:r>
            <a:endParaRPr lang="en-US" sz="1800" dirty="0"/>
          </a:p>
        </p:txBody>
      </p:sp>
      <p:sp>
        <p:nvSpPr>
          <p:cNvPr id="11" name="Text 9"/>
          <p:cNvSpPr/>
          <p:nvPr/>
        </p:nvSpPr>
        <p:spPr>
          <a:xfrm>
            <a:off x="952500" y="952500"/>
            <a:ext cx="16874490" cy="333375"/>
          </a:xfrm>
          <a:prstGeom prst="rect">
            <a:avLst/>
          </a:prstGeom>
          <a:noFill/>
          <a:ln/>
        </p:spPr>
        <p:txBody>
          <a:bodyPr wrap="square" lIns="25400" tIns="25400" rIns="25400" bIns="25400" rtlCol="0" anchor="t">
            <a:normAutofit/>
          </a:bodyPr>
          <a:lstStyle/>
          <a:p>
            <a:pPr marL="0" indent="0" algn="l">
              <a:buNone/>
            </a:pPr>
            <a:r>
              <a:rPr lang="en-US" sz="1800" b="1" kern="0" spc="396" dirty="0">
                <a:solidFill>
                  <a:srgbClr val="FF5A1F"/>
                </a:solidFill>
                <a:latin typeface="Arial" pitchFamily="34" charset="0"/>
                <a:ea typeface="Arial" pitchFamily="34" charset="-122"/>
                <a:cs typeface="Arial" pitchFamily="34" charset="-120"/>
              </a:rPr>
              <a:t>DATASET · METHODOLOGY</a:t>
            </a:r>
            <a:endParaRPr lang="en-US" sz="1800" dirty="0"/>
          </a:p>
        </p:txBody>
      </p:sp>
      <p:sp>
        <p:nvSpPr>
          <p:cNvPr id="12" name="Text 10"/>
          <p:cNvSpPr/>
          <p:nvPr/>
        </p:nvSpPr>
        <p:spPr>
          <a:xfrm>
            <a:off x="952500" y="1590675"/>
            <a:ext cx="15697200" cy="1592461"/>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000" b="1" kern="0" spc="-150" dirty="0">
                <a:solidFill>
                  <a:srgbClr val="F4EFE6"/>
                </a:solidFill>
                <a:latin typeface="Arial" pitchFamily="34" charset="0"/>
                <a:ea typeface="Arial" pitchFamily="34" charset="-122"/>
                <a:cs typeface="Arial" pitchFamily="34" charset="-120"/>
              </a:rPr>
              <a:t>Twenty years of grid-cell climate data — </a:t>
            </a:r>
            <a:r>
              <a:rPr lang="en-US" sz="6000" b="1" kern="0" spc="-150" dirty="0">
                <a:solidFill>
                  <a:srgbClr val="FF5A1F"/>
                </a:solidFill>
                <a:latin typeface="Arial" pitchFamily="34" charset="0"/>
                <a:ea typeface="Arial" pitchFamily="34" charset="-122"/>
                <a:cs typeface="Arial" pitchFamily="34" charset="-120"/>
              </a:rPr>
              <a:t>four percent of it dangerous.</a:t>
            </a:r>
            <a:endParaRPr lang="en-US" sz="6000" dirty="0"/>
          </a:p>
        </p:txBody>
      </p:sp>
      <p:sp>
        <p:nvSpPr>
          <p:cNvPr id="13" name="Text 11"/>
          <p:cNvSpPr/>
          <p:nvPr/>
        </p:nvSpPr>
        <p:spPr>
          <a:xfrm>
            <a:off x="952500" y="3754636"/>
            <a:ext cx="4355820" cy="1214438"/>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9750" b="1" kern="0" spc="-390" dirty="0">
                <a:solidFill>
                  <a:srgbClr val="FF5A1F"/>
                </a:solidFill>
                <a:latin typeface="Arial" pitchFamily="34" charset="0"/>
                <a:ea typeface="Arial" pitchFamily="34" charset="-122"/>
                <a:cs typeface="Arial" pitchFamily="34" charset="-120"/>
              </a:rPr>
              <a:t>314K</a:t>
            </a:r>
            <a:endParaRPr lang="en-US" sz="9750" dirty="0"/>
          </a:p>
        </p:txBody>
      </p:sp>
      <p:sp>
        <p:nvSpPr>
          <p:cNvPr id="14" name="Text 12"/>
          <p:cNvSpPr/>
          <p:nvPr/>
        </p:nvSpPr>
        <p:spPr>
          <a:xfrm>
            <a:off x="952500" y="5045273"/>
            <a:ext cx="4355820"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A0AB"/>
                </a:solidFill>
                <a:latin typeface="Arial" pitchFamily="34" charset="0"/>
                <a:ea typeface="Arial" pitchFamily="34" charset="-122"/>
                <a:cs typeface="Arial" pitchFamily="34" charset="-120"/>
              </a:rPr>
              <a:t>WEEKLY GRID-CELL ROWS</a:t>
            </a:r>
            <a:endParaRPr lang="en-US" sz="1800" dirty="0"/>
          </a:p>
        </p:txBody>
      </p:sp>
      <p:sp>
        <p:nvSpPr>
          <p:cNvPr id="15" name="Text 13"/>
          <p:cNvSpPr/>
          <p:nvPr/>
        </p:nvSpPr>
        <p:spPr>
          <a:xfrm>
            <a:off x="5638651" y="3754636"/>
            <a:ext cx="4355973" cy="1214438"/>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9750" b="1" kern="0" spc="-390" dirty="0">
                <a:solidFill>
                  <a:srgbClr val="F4EFE6"/>
                </a:solidFill>
                <a:latin typeface="Arial" pitchFamily="34" charset="0"/>
                <a:ea typeface="Arial" pitchFamily="34" charset="-122"/>
                <a:cs typeface="Arial" pitchFamily="34" charset="-120"/>
              </a:rPr>
              <a:t>26</a:t>
            </a:r>
            <a:endParaRPr lang="en-US" sz="9750" dirty="0"/>
          </a:p>
        </p:txBody>
      </p:sp>
      <p:sp>
        <p:nvSpPr>
          <p:cNvPr id="16" name="Text 14"/>
          <p:cNvSpPr/>
          <p:nvPr/>
        </p:nvSpPr>
        <p:spPr>
          <a:xfrm>
            <a:off x="5638651" y="5045273"/>
            <a:ext cx="4355973" cy="5715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A0AB"/>
                </a:solidFill>
                <a:latin typeface="Arial" pitchFamily="34" charset="0"/>
                <a:ea typeface="Arial" pitchFamily="34" charset="-122"/>
                <a:cs typeface="Arial" pitchFamily="34" charset="-120"/>
              </a:rPr>
              <a:t>FEATURES (19 RAW + 7 ENGINEERED)</a:t>
            </a:r>
            <a:endParaRPr lang="en-US" sz="1800" dirty="0"/>
          </a:p>
        </p:txBody>
      </p:sp>
      <p:sp>
        <p:nvSpPr>
          <p:cNvPr id="17" name="Text 15"/>
          <p:cNvSpPr/>
          <p:nvPr/>
        </p:nvSpPr>
        <p:spPr>
          <a:xfrm>
            <a:off x="952500" y="6112073"/>
            <a:ext cx="4355820" cy="1214438"/>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9750" b="1" kern="0" spc="-390" dirty="0">
                <a:solidFill>
                  <a:srgbClr val="F4EFE6"/>
                </a:solidFill>
                <a:latin typeface="Arial" pitchFamily="34" charset="0"/>
                <a:ea typeface="Arial" pitchFamily="34" charset="-122"/>
                <a:cs typeface="Arial" pitchFamily="34" charset="-120"/>
              </a:rPr>
              <a:t>20</a:t>
            </a:r>
            <a:endParaRPr lang="en-US" sz="9750" dirty="0"/>
          </a:p>
        </p:txBody>
      </p:sp>
      <p:sp>
        <p:nvSpPr>
          <p:cNvPr id="18" name="Text 16"/>
          <p:cNvSpPr/>
          <p:nvPr/>
        </p:nvSpPr>
        <p:spPr>
          <a:xfrm>
            <a:off x="952500" y="7402711"/>
            <a:ext cx="4355820"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A0AB"/>
                </a:solidFill>
                <a:latin typeface="Arial" pitchFamily="34" charset="0"/>
                <a:ea typeface="Arial" pitchFamily="34" charset="-122"/>
                <a:cs typeface="Arial" pitchFamily="34" charset="-120"/>
              </a:rPr>
              <a:t>YEARS · 2001 – 2020</a:t>
            </a:r>
            <a:endParaRPr lang="en-US" sz="1800" dirty="0"/>
          </a:p>
        </p:txBody>
      </p:sp>
      <p:sp>
        <p:nvSpPr>
          <p:cNvPr id="19" name="Text 17"/>
          <p:cNvSpPr/>
          <p:nvPr/>
        </p:nvSpPr>
        <p:spPr>
          <a:xfrm>
            <a:off x="5638651" y="6112073"/>
            <a:ext cx="4355973" cy="1214438"/>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9750" b="1" kern="0" spc="-390" dirty="0">
                <a:solidFill>
                  <a:srgbClr val="FF5A1F"/>
                </a:solidFill>
                <a:latin typeface="Arial" pitchFamily="34" charset="0"/>
                <a:ea typeface="Arial" pitchFamily="34" charset="-122"/>
                <a:cs typeface="Arial" pitchFamily="34" charset="-120"/>
              </a:rPr>
              <a:t>~4%</a:t>
            </a:r>
            <a:endParaRPr lang="en-US" sz="9750" dirty="0"/>
          </a:p>
        </p:txBody>
      </p:sp>
      <p:sp>
        <p:nvSpPr>
          <p:cNvPr id="20" name="Text 18"/>
          <p:cNvSpPr/>
          <p:nvPr/>
        </p:nvSpPr>
        <p:spPr>
          <a:xfrm>
            <a:off x="5638651" y="7402711"/>
            <a:ext cx="4355973" cy="5715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A0AB"/>
                </a:solidFill>
                <a:latin typeface="Arial" pitchFamily="34" charset="0"/>
                <a:ea typeface="Arial" pitchFamily="34" charset="-122"/>
                <a:cs typeface="Arial" pitchFamily="34" charset="-120"/>
              </a:rPr>
              <a:t>COMPOUND EVENTS (POSITIVE CLASS)</a:t>
            </a:r>
            <a:endParaRPr lang="en-US" sz="1800" dirty="0"/>
          </a:p>
        </p:txBody>
      </p:sp>
      <p:sp>
        <p:nvSpPr>
          <p:cNvPr id="21" name="Text 19"/>
          <p:cNvSpPr/>
          <p:nvPr/>
        </p:nvSpPr>
        <p:spPr>
          <a:xfrm>
            <a:off x="952500" y="8917186"/>
            <a:ext cx="9182709" cy="28575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9AA0AB"/>
                </a:solidFill>
                <a:latin typeface="Arial" pitchFamily="34" charset="0"/>
                <a:ea typeface="Arial" pitchFamily="34" charset="-122"/>
                <a:cs typeface="Arial" pitchFamily="34" charset="-120"/>
              </a:rPr>
              <a:t>Source: PNNL "AI-Ready Benchmark Data for US Fires, Heatwaves, and Droughts"</a:t>
            </a:r>
            <a:endParaRPr lang="en-US" sz="1650" dirty="0"/>
          </a:p>
        </p:txBody>
      </p:sp>
      <p:sp>
        <p:nvSpPr>
          <p:cNvPr id="22" name="Shape 20"/>
          <p:cNvSpPr/>
          <p:nvPr/>
        </p:nvSpPr>
        <p:spPr>
          <a:xfrm>
            <a:off x="10477351" y="3754636"/>
            <a:ext cx="6858000" cy="6000750"/>
          </a:xfrm>
          <a:prstGeom prst="rect">
            <a:avLst/>
          </a:prstGeom>
          <a:solidFill>
            <a:srgbClr val="16191F"/>
          </a:solidFill>
          <a:ln w="9525">
            <a:solidFill>
              <a:srgbClr val="2A2F3A"/>
            </a:solidFill>
            <a:prstDash val="solid"/>
          </a:ln>
        </p:spPr>
        <p:txBody>
          <a:bodyPr/>
          <a:lstStyle/>
          <a:p>
            <a:endParaRPr lang="en-US"/>
          </a:p>
        </p:txBody>
      </p:sp>
      <p:sp>
        <p:nvSpPr>
          <p:cNvPr id="23" name="Text 21"/>
          <p:cNvSpPr/>
          <p:nvPr/>
        </p:nvSpPr>
        <p:spPr>
          <a:xfrm>
            <a:off x="10905976" y="4183261"/>
            <a:ext cx="6180773" cy="285750"/>
          </a:xfrm>
          <a:prstGeom prst="rect">
            <a:avLst/>
          </a:prstGeom>
          <a:noFill/>
          <a:ln/>
        </p:spPr>
        <p:txBody>
          <a:bodyPr wrap="square" lIns="25400" tIns="25400" rIns="25400" bIns="25400" rtlCol="0" anchor="t">
            <a:normAutofit lnSpcReduction="10000"/>
          </a:bodyPr>
          <a:lstStyle/>
          <a:p>
            <a:pPr marL="0" indent="0" algn="l">
              <a:buNone/>
            </a:pPr>
            <a:r>
              <a:rPr lang="en-US" sz="1650" kern="0" spc="247" dirty="0">
                <a:solidFill>
                  <a:srgbClr val="FF5A1F"/>
                </a:solidFill>
                <a:latin typeface="Arial" pitchFamily="34" charset="0"/>
                <a:ea typeface="Arial" pitchFamily="34" charset="-122"/>
                <a:cs typeface="Arial" pitchFamily="34" charset="-120"/>
              </a:rPr>
              <a:t>CHALLENGES WE HAD TO DESIGN AROUND</a:t>
            </a:r>
            <a:endParaRPr lang="en-US" sz="1650" dirty="0"/>
          </a:p>
        </p:txBody>
      </p:sp>
      <p:sp>
        <p:nvSpPr>
          <p:cNvPr id="24" name="Text 22"/>
          <p:cNvSpPr/>
          <p:nvPr/>
        </p:nvSpPr>
        <p:spPr>
          <a:xfrm>
            <a:off x="10905976" y="4697611"/>
            <a:ext cx="6180773"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dirty="0">
                <a:solidFill>
                  <a:srgbClr val="F4EFE6"/>
                </a:solidFill>
                <a:latin typeface="Arial" pitchFamily="34" charset="0"/>
                <a:ea typeface="Arial" pitchFamily="34" charset="-122"/>
                <a:cs typeface="Arial" pitchFamily="34" charset="-120"/>
              </a:rPr>
              <a:t>Severe class imbalance.</a:t>
            </a:r>
            <a:endParaRPr lang="en-US" sz="2100" dirty="0"/>
          </a:p>
        </p:txBody>
      </p:sp>
      <p:sp>
        <p:nvSpPr>
          <p:cNvPr id="25" name="Text 23"/>
          <p:cNvSpPr/>
          <p:nvPr/>
        </p:nvSpPr>
        <p:spPr>
          <a:xfrm>
            <a:off x="10905976" y="5108972"/>
            <a:ext cx="6180773"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9AA0AB"/>
                </a:solidFill>
                <a:latin typeface="Arial" pitchFamily="34" charset="0"/>
                <a:ea typeface="Arial" pitchFamily="34" charset="-122"/>
                <a:cs typeface="Arial" pitchFamily="34" charset="-120"/>
              </a:rPr>
              <a:t>Only ~4% of weeks are compound events.</a:t>
            </a:r>
            <a:endParaRPr lang="en-US" sz="2100" dirty="0"/>
          </a:p>
        </p:txBody>
      </p:sp>
      <p:sp>
        <p:nvSpPr>
          <p:cNvPr id="26" name="Shape 24"/>
          <p:cNvSpPr/>
          <p:nvPr/>
        </p:nvSpPr>
        <p:spPr>
          <a:xfrm>
            <a:off x="10905976" y="5710833"/>
            <a:ext cx="6000750" cy="9525"/>
          </a:xfrm>
          <a:prstGeom prst="rect">
            <a:avLst/>
          </a:prstGeom>
          <a:solidFill>
            <a:srgbClr val="2A2F3A"/>
          </a:solidFill>
          <a:ln/>
        </p:spPr>
        <p:txBody>
          <a:bodyPr/>
          <a:lstStyle/>
          <a:p>
            <a:endParaRPr lang="en-US"/>
          </a:p>
        </p:txBody>
      </p:sp>
      <p:sp>
        <p:nvSpPr>
          <p:cNvPr id="27" name="Text 25"/>
          <p:cNvSpPr/>
          <p:nvPr/>
        </p:nvSpPr>
        <p:spPr>
          <a:xfrm>
            <a:off x="10905976" y="5948958"/>
            <a:ext cx="6180773"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dirty="0">
                <a:solidFill>
                  <a:srgbClr val="F4EFE6"/>
                </a:solidFill>
                <a:latin typeface="Arial" pitchFamily="34" charset="0"/>
                <a:ea typeface="Arial" pitchFamily="34" charset="-122"/>
                <a:cs typeface="Arial" pitchFamily="34" charset="-120"/>
              </a:rPr>
              <a:t>Missing values.</a:t>
            </a:r>
            <a:endParaRPr lang="en-US" sz="2100" dirty="0"/>
          </a:p>
        </p:txBody>
      </p:sp>
      <p:sp>
        <p:nvSpPr>
          <p:cNvPr id="28" name="Text 26"/>
          <p:cNvSpPr/>
          <p:nvPr/>
        </p:nvSpPr>
        <p:spPr>
          <a:xfrm>
            <a:off x="10905976" y="6360319"/>
            <a:ext cx="6180773"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9AA0AB"/>
                </a:solidFill>
                <a:latin typeface="Arial" pitchFamily="34" charset="0"/>
                <a:ea typeface="Arial" pitchFamily="34" charset="-122"/>
                <a:cs typeface="Arial" pitchFamily="34" charset="-120"/>
              </a:rPr>
              <a:t>Meteorological + fire variables, uneven by cell.</a:t>
            </a:r>
            <a:endParaRPr lang="en-US" sz="2100" dirty="0"/>
          </a:p>
        </p:txBody>
      </p:sp>
      <p:sp>
        <p:nvSpPr>
          <p:cNvPr id="29" name="Shape 27"/>
          <p:cNvSpPr/>
          <p:nvPr/>
        </p:nvSpPr>
        <p:spPr>
          <a:xfrm>
            <a:off x="10905976" y="6962180"/>
            <a:ext cx="6000750" cy="9525"/>
          </a:xfrm>
          <a:prstGeom prst="rect">
            <a:avLst/>
          </a:prstGeom>
          <a:solidFill>
            <a:srgbClr val="2A2F3A"/>
          </a:solidFill>
          <a:ln/>
        </p:spPr>
        <p:txBody>
          <a:bodyPr/>
          <a:lstStyle/>
          <a:p>
            <a:endParaRPr lang="en-US"/>
          </a:p>
        </p:txBody>
      </p:sp>
      <p:sp>
        <p:nvSpPr>
          <p:cNvPr id="30" name="Text 28"/>
          <p:cNvSpPr/>
          <p:nvPr/>
        </p:nvSpPr>
        <p:spPr>
          <a:xfrm>
            <a:off x="10905976" y="7200305"/>
            <a:ext cx="6180773"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dirty="0">
                <a:solidFill>
                  <a:srgbClr val="F4EFE6"/>
                </a:solidFill>
                <a:latin typeface="Arial" pitchFamily="34" charset="0"/>
                <a:ea typeface="Arial" pitchFamily="34" charset="-122"/>
                <a:cs typeface="Arial" pitchFamily="34" charset="-120"/>
              </a:rPr>
              <a:t>Dataset cut-off at 2020.</a:t>
            </a:r>
            <a:endParaRPr lang="en-US" sz="2100" dirty="0"/>
          </a:p>
        </p:txBody>
      </p:sp>
      <p:sp>
        <p:nvSpPr>
          <p:cNvPr id="31" name="Text 29"/>
          <p:cNvSpPr/>
          <p:nvPr/>
        </p:nvSpPr>
        <p:spPr>
          <a:xfrm>
            <a:off x="10905976" y="7611666"/>
            <a:ext cx="6180773"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9AA0AB"/>
                </a:solidFill>
                <a:latin typeface="Arial" pitchFamily="34" charset="0"/>
                <a:ea typeface="Arial" pitchFamily="34" charset="-122"/>
                <a:cs typeface="Arial" pitchFamily="34" charset="-120"/>
              </a:rPr>
              <a:t>Recent climate regime shifts are not represented.</a:t>
            </a:r>
            <a:endParaRPr lang="en-US" sz="2100" dirty="0"/>
          </a:p>
        </p:txBody>
      </p:sp>
      <p:sp>
        <p:nvSpPr>
          <p:cNvPr id="32" name="Shape 30"/>
          <p:cNvSpPr/>
          <p:nvPr/>
        </p:nvSpPr>
        <p:spPr>
          <a:xfrm>
            <a:off x="10905976" y="8213527"/>
            <a:ext cx="6000750" cy="9525"/>
          </a:xfrm>
          <a:prstGeom prst="rect">
            <a:avLst/>
          </a:prstGeom>
          <a:solidFill>
            <a:srgbClr val="2A2F3A"/>
          </a:solidFill>
          <a:ln/>
        </p:spPr>
        <p:txBody>
          <a:bodyPr/>
          <a:lstStyle/>
          <a:p>
            <a:endParaRPr lang="en-US"/>
          </a:p>
        </p:txBody>
      </p:sp>
      <p:sp>
        <p:nvSpPr>
          <p:cNvPr id="33" name="Text 31"/>
          <p:cNvSpPr/>
          <p:nvPr/>
        </p:nvSpPr>
        <p:spPr>
          <a:xfrm>
            <a:off x="10905976" y="8451652"/>
            <a:ext cx="6180773"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dirty="0">
                <a:solidFill>
                  <a:srgbClr val="F4EFE6"/>
                </a:solidFill>
                <a:latin typeface="Arial" pitchFamily="34" charset="0"/>
                <a:ea typeface="Arial" pitchFamily="34" charset="-122"/>
                <a:cs typeface="Arial" pitchFamily="34" charset="-120"/>
              </a:rPr>
              <a:t>Daily → weekly aggregation.</a:t>
            </a:r>
            <a:endParaRPr lang="en-US" sz="2100" dirty="0"/>
          </a:p>
        </p:txBody>
      </p:sp>
      <p:sp>
        <p:nvSpPr>
          <p:cNvPr id="34" name="Text 32"/>
          <p:cNvSpPr/>
          <p:nvPr/>
        </p:nvSpPr>
        <p:spPr>
          <a:xfrm>
            <a:off x="10905976" y="8863013"/>
            <a:ext cx="6180773" cy="784622"/>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100" dirty="0">
                <a:solidFill>
                  <a:srgbClr val="9AA0AB"/>
                </a:solidFill>
                <a:latin typeface="Arial" pitchFamily="34" charset="0"/>
                <a:ea typeface="Arial" pitchFamily="34" charset="-122"/>
                <a:cs typeface="Arial" pitchFamily="34" charset="-120"/>
              </a:rPr>
              <a:t>Binary and continuous features need separate logic.</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F1115"/>
          </a:solidFill>
          <a:ln/>
        </p:spPr>
        <p:txBody>
          <a:bodyPr/>
          <a:lstStyle/>
          <a:p>
            <a:endParaRPr lang="en-US"/>
          </a:p>
        </p:txBody>
      </p:sp>
      <p:sp>
        <p:nvSpPr>
          <p:cNvPr id="3" name="Shape 1"/>
          <p:cNvSpPr/>
          <p:nvPr/>
        </p:nvSpPr>
        <p:spPr>
          <a:xfrm>
            <a:off x="0" y="0"/>
            <a:ext cx="18288000" cy="57150"/>
          </a:xfrm>
          <a:prstGeom prst="rect">
            <a:avLst/>
          </a:prstGeom>
          <a:solidFill>
            <a:srgbClr val="FF2D2D"/>
          </a:solidFill>
          <a:ln/>
        </p:spPr>
        <p:txBody>
          <a:bodyPr/>
          <a:lstStyle/>
          <a:p>
            <a:endParaRPr lang="en-US"/>
          </a:p>
        </p:txBody>
      </p:sp>
      <p:sp>
        <p:nvSpPr>
          <p:cNvPr id="4" name="Text 2"/>
          <p:cNvSpPr/>
          <p:nvPr/>
        </p:nvSpPr>
        <p:spPr>
          <a:xfrm>
            <a:off x="10822930" y="342900"/>
            <a:ext cx="22487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1143059" y="357188"/>
            <a:ext cx="3127790"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ZERO SHOT HOPEFULS</a:t>
            </a:r>
            <a:endParaRPr lang="en-US" sz="1800" dirty="0"/>
          </a:p>
        </p:txBody>
      </p:sp>
      <p:sp>
        <p:nvSpPr>
          <p:cNvPr id="6" name="Text 4"/>
          <p:cNvSpPr/>
          <p:nvPr/>
        </p:nvSpPr>
        <p:spPr>
          <a:xfrm>
            <a:off x="14351198" y="357188"/>
            <a:ext cx="162669"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alpha val="40000"/>
                  </a:srgbClr>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4609118" y="357188"/>
            <a:ext cx="280817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ESSD AI CHALLENGE</a:t>
            </a:r>
            <a:endParaRPr lang="en-US" sz="1800" dirty="0"/>
          </a:p>
        </p:txBody>
      </p:sp>
      <p:sp>
        <p:nvSpPr>
          <p:cNvPr id="8" name="Text 6"/>
          <p:cNvSpPr/>
          <p:nvPr/>
        </p:nvSpPr>
        <p:spPr>
          <a:xfrm>
            <a:off x="952500" y="9791700"/>
            <a:ext cx="6184605" cy="304800"/>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9AA0AB"/>
                </a:solidFill>
                <a:latin typeface="Arial" pitchFamily="34" charset="0"/>
                <a:ea typeface="Arial" pitchFamily="34" charset="-122"/>
                <a:cs typeface="Arial" pitchFamily="34" charset="-120"/>
              </a:rPr>
              <a:t>COMPOUND HAZARD FORECASTING · APR 2026</a:t>
            </a:r>
            <a:endParaRPr lang="en-US" sz="1800" dirty="0"/>
          </a:p>
        </p:txBody>
      </p:sp>
      <p:sp>
        <p:nvSpPr>
          <p:cNvPr id="9" name="Text 7"/>
          <p:cNvSpPr/>
          <p:nvPr/>
        </p:nvSpPr>
        <p:spPr>
          <a:xfrm>
            <a:off x="16456075" y="9763125"/>
            <a:ext cx="39632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05</a:t>
            </a:r>
            <a:endParaRPr lang="en-US" sz="1800" dirty="0"/>
          </a:p>
        </p:txBody>
      </p:sp>
      <p:sp>
        <p:nvSpPr>
          <p:cNvPr id="10" name="Text 8"/>
          <p:cNvSpPr/>
          <p:nvPr/>
        </p:nvSpPr>
        <p:spPr>
          <a:xfrm>
            <a:off x="16776204" y="9782175"/>
            <a:ext cx="63549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9AA0AB">
                    <a:alpha val="50000"/>
                  </a:srgbClr>
                </a:solidFill>
                <a:latin typeface="Arial" pitchFamily="34" charset="0"/>
                <a:ea typeface="Arial" pitchFamily="34" charset="-122"/>
                <a:cs typeface="Arial" pitchFamily="34" charset="-120"/>
              </a:rPr>
              <a:t>/ 13</a:t>
            </a:r>
            <a:endParaRPr lang="en-US" sz="1800" dirty="0"/>
          </a:p>
        </p:txBody>
      </p:sp>
      <p:sp>
        <p:nvSpPr>
          <p:cNvPr id="11" name="Text 9"/>
          <p:cNvSpPr/>
          <p:nvPr/>
        </p:nvSpPr>
        <p:spPr>
          <a:xfrm>
            <a:off x="952500" y="952500"/>
            <a:ext cx="16874490" cy="333375"/>
          </a:xfrm>
          <a:prstGeom prst="rect">
            <a:avLst/>
          </a:prstGeom>
          <a:noFill/>
          <a:ln/>
        </p:spPr>
        <p:txBody>
          <a:bodyPr wrap="square" lIns="25400" tIns="25400" rIns="25400" bIns="25400" rtlCol="0" anchor="t">
            <a:normAutofit/>
          </a:bodyPr>
          <a:lstStyle/>
          <a:p>
            <a:pPr marL="0" indent="0" algn="l">
              <a:buNone/>
            </a:pPr>
            <a:r>
              <a:rPr lang="en-US" sz="1800" b="1" kern="0" spc="396" dirty="0">
                <a:solidFill>
                  <a:srgbClr val="FF5A1F"/>
                </a:solidFill>
                <a:latin typeface="Arial" pitchFamily="34" charset="0"/>
                <a:ea typeface="Arial" pitchFamily="34" charset="-122"/>
                <a:cs typeface="Arial" pitchFamily="34" charset="-120"/>
              </a:rPr>
              <a:t>METHODOLOGY</a:t>
            </a:r>
            <a:endParaRPr lang="en-US" sz="1800" dirty="0"/>
          </a:p>
        </p:txBody>
      </p:sp>
      <p:sp>
        <p:nvSpPr>
          <p:cNvPr id="12" name="Text 10"/>
          <p:cNvSpPr/>
          <p:nvPr/>
        </p:nvSpPr>
        <p:spPr>
          <a:xfrm>
            <a:off x="952500" y="1590675"/>
            <a:ext cx="16874490" cy="1747838"/>
          </a:xfrm>
          <a:prstGeom prst="rect">
            <a:avLst/>
          </a:prstGeom>
          <a:noFill/>
          <a:ln/>
        </p:spPr>
        <p:txBody>
          <a:bodyPr wrap="square" lIns="25400" tIns="25400" rIns="25400" bIns="25400" rtlCol="0" anchor="t">
            <a:normAutofit fontScale="92500"/>
          </a:bodyPr>
          <a:lstStyle/>
          <a:p>
            <a:pPr marL="0" indent="0" algn="l">
              <a:lnSpc>
                <a:spcPct val="102000"/>
              </a:lnSpc>
              <a:buNone/>
            </a:pPr>
            <a:r>
              <a:rPr lang="en-US" sz="6600" b="1" kern="0" spc="-165" dirty="0">
                <a:solidFill>
                  <a:srgbClr val="F4EFE6"/>
                </a:solidFill>
                <a:latin typeface="Arial" pitchFamily="34" charset="0"/>
                <a:ea typeface="Arial" pitchFamily="34" charset="-122"/>
                <a:cs typeface="Arial" pitchFamily="34" charset="-120"/>
              </a:rPr>
              <a:t>Clean, aggregate, engineer, split — </a:t>
            </a:r>
            <a:r>
              <a:rPr lang="en-US" sz="6600" b="1" kern="0" spc="-165" dirty="0">
                <a:solidFill>
                  <a:srgbClr val="FF5A1F"/>
                </a:solidFill>
                <a:latin typeface="Arial" pitchFamily="34" charset="0"/>
                <a:ea typeface="Arial" pitchFamily="34" charset="-122"/>
                <a:cs typeface="Arial" pitchFamily="34" charset="-120"/>
              </a:rPr>
              <a:t>in that order.</a:t>
            </a:r>
            <a:endParaRPr lang="en-US" sz="6600" dirty="0"/>
          </a:p>
        </p:txBody>
      </p:sp>
      <p:sp>
        <p:nvSpPr>
          <p:cNvPr id="13" name="Shape 11"/>
          <p:cNvSpPr/>
          <p:nvPr/>
        </p:nvSpPr>
        <p:spPr>
          <a:xfrm>
            <a:off x="952500" y="3986213"/>
            <a:ext cx="3895725" cy="4424363"/>
          </a:xfrm>
          <a:prstGeom prst="rect">
            <a:avLst/>
          </a:prstGeom>
          <a:ln w="9525">
            <a:solidFill>
              <a:srgbClr val="2A2F3A"/>
            </a:solidFill>
            <a:prstDash val="solid"/>
          </a:ln>
        </p:spPr>
        <p:txBody>
          <a:bodyPr/>
          <a:lstStyle/>
          <a:p>
            <a:endParaRPr lang="en-US"/>
          </a:p>
        </p:txBody>
      </p:sp>
      <p:sp>
        <p:nvSpPr>
          <p:cNvPr id="14" name="Text 12"/>
          <p:cNvSpPr/>
          <p:nvPr/>
        </p:nvSpPr>
        <p:spPr>
          <a:xfrm>
            <a:off x="1304925" y="4338638"/>
            <a:ext cx="3286601" cy="285750"/>
          </a:xfrm>
          <a:prstGeom prst="rect">
            <a:avLst/>
          </a:prstGeom>
          <a:noFill/>
          <a:ln/>
        </p:spPr>
        <p:txBody>
          <a:bodyPr wrap="square" lIns="25400" tIns="25400" rIns="25400" bIns="25400" rtlCol="0" anchor="t">
            <a:normAutofit lnSpcReduction="10000"/>
          </a:bodyPr>
          <a:lstStyle/>
          <a:p>
            <a:pPr marL="0" indent="0" algn="l">
              <a:buNone/>
            </a:pPr>
            <a:r>
              <a:rPr lang="en-US" sz="1650" kern="0" spc="198" dirty="0">
                <a:solidFill>
                  <a:srgbClr val="FF5A1F"/>
                </a:solidFill>
                <a:latin typeface="Arial" pitchFamily="34" charset="0"/>
                <a:ea typeface="Arial" pitchFamily="34" charset="-122"/>
                <a:cs typeface="Arial" pitchFamily="34" charset="-120"/>
              </a:rPr>
              <a:t>01 · CLEAN</a:t>
            </a:r>
            <a:endParaRPr lang="en-US" sz="1650" dirty="0"/>
          </a:p>
        </p:txBody>
      </p:sp>
      <p:sp>
        <p:nvSpPr>
          <p:cNvPr id="15" name="Text 13"/>
          <p:cNvSpPr/>
          <p:nvPr/>
        </p:nvSpPr>
        <p:spPr>
          <a:xfrm>
            <a:off x="1304925" y="4852988"/>
            <a:ext cx="3286601" cy="45720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000" b="1" kern="0" spc="-60" dirty="0">
                <a:solidFill>
                  <a:srgbClr val="F4EFE6"/>
                </a:solidFill>
                <a:latin typeface="Arial" pitchFamily="34" charset="0"/>
                <a:ea typeface="Arial" pitchFamily="34" charset="-122"/>
                <a:cs typeface="Arial" pitchFamily="34" charset="-120"/>
              </a:rPr>
              <a:t>Daily → weekly</a:t>
            </a:r>
            <a:endParaRPr lang="en-US" sz="3000" dirty="0"/>
          </a:p>
        </p:txBody>
      </p:sp>
      <p:sp>
        <p:nvSpPr>
          <p:cNvPr id="16" name="Text 14"/>
          <p:cNvSpPr/>
          <p:nvPr/>
        </p:nvSpPr>
        <p:spPr>
          <a:xfrm>
            <a:off x="1304925" y="6778228"/>
            <a:ext cx="3286601" cy="131802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9AA0AB"/>
                </a:solidFill>
                <a:latin typeface="Arial" pitchFamily="34" charset="0"/>
                <a:ea typeface="Arial" pitchFamily="34" charset="-122"/>
                <a:cs typeface="Arial" pitchFamily="34" charset="-120"/>
              </a:rPr>
              <a:t>Aggregate NetCDF rasters; handle binary vs continuous features separately; zero-fill fire NaNs where semantically valid.</a:t>
            </a:r>
            <a:endParaRPr lang="en-US" sz="1800" dirty="0"/>
          </a:p>
        </p:txBody>
      </p:sp>
      <p:sp>
        <p:nvSpPr>
          <p:cNvPr id="17" name="Shape 15"/>
          <p:cNvSpPr/>
          <p:nvPr/>
        </p:nvSpPr>
        <p:spPr>
          <a:xfrm>
            <a:off x="5114925" y="3986213"/>
            <a:ext cx="3895725" cy="4424363"/>
          </a:xfrm>
          <a:prstGeom prst="rect">
            <a:avLst/>
          </a:prstGeom>
          <a:ln w="9525">
            <a:solidFill>
              <a:srgbClr val="2A2F3A"/>
            </a:solidFill>
            <a:prstDash val="solid"/>
          </a:ln>
        </p:spPr>
        <p:txBody>
          <a:bodyPr/>
          <a:lstStyle/>
          <a:p>
            <a:endParaRPr lang="en-US"/>
          </a:p>
        </p:txBody>
      </p:sp>
      <p:sp>
        <p:nvSpPr>
          <p:cNvPr id="18" name="Text 16"/>
          <p:cNvSpPr/>
          <p:nvPr/>
        </p:nvSpPr>
        <p:spPr>
          <a:xfrm>
            <a:off x="5467350" y="4338638"/>
            <a:ext cx="3286601" cy="285750"/>
          </a:xfrm>
          <a:prstGeom prst="rect">
            <a:avLst/>
          </a:prstGeom>
          <a:noFill/>
          <a:ln/>
        </p:spPr>
        <p:txBody>
          <a:bodyPr wrap="square" lIns="25400" tIns="25400" rIns="25400" bIns="25400" rtlCol="0" anchor="t">
            <a:normAutofit lnSpcReduction="10000"/>
          </a:bodyPr>
          <a:lstStyle/>
          <a:p>
            <a:pPr marL="0" indent="0" algn="l">
              <a:buNone/>
            </a:pPr>
            <a:r>
              <a:rPr lang="en-US" sz="1650" kern="0" spc="198" dirty="0">
                <a:solidFill>
                  <a:srgbClr val="FF5A1F"/>
                </a:solidFill>
                <a:latin typeface="Arial" pitchFamily="34" charset="0"/>
                <a:ea typeface="Arial" pitchFamily="34" charset="-122"/>
                <a:cs typeface="Arial" pitchFamily="34" charset="-120"/>
              </a:rPr>
              <a:t>02 · ENGINEER</a:t>
            </a:r>
            <a:endParaRPr lang="en-US" sz="1650" dirty="0"/>
          </a:p>
        </p:txBody>
      </p:sp>
      <p:sp>
        <p:nvSpPr>
          <p:cNvPr id="19" name="Text 17"/>
          <p:cNvSpPr/>
          <p:nvPr/>
        </p:nvSpPr>
        <p:spPr>
          <a:xfrm>
            <a:off x="5467350" y="4852988"/>
            <a:ext cx="3286601" cy="87630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000" b="1" kern="0" spc="-60" dirty="0">
                <a:solidFill>
                  <a:srgbClr val="F4EFE6"/>
                </a:solidFill>
                <a:latin typeface="Arial" pitchFamily="34" charset="0"/>
                <a:ea typeface="Arial" pitchFamily="34" charset="-122"/>
                <a:cs typeface="Arial" pitchFamily="34" charset="-120"/>
              </a:rPr>
              <a:t>Seven added features</a:t>
            </a:r>
            <a:endParaRPr lang="en-US" sz="3000" dirty="0"/>
          </a:p>
        </p:txBody>
      </p:sp>
      <p:sp>
        <p:nvSpPr>
          <p:cNvPr id="20" name="Text 18"/>
          <p:cNvSpPr/>
          <p:nvPr/>
        </p:nvSpPr>
        <p:spPr>
          <a:xfrm>
            <a:off x="5467350" y="6778228"/>
            <a:ext cx="3286601" cy="131802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9AA0AB"/>
                </a:solidFill>
                <a:latin typeface="Arial" pitchFamily="34" charset="0"/>
                <a:ea typeface="Arial" pitchFamily="34" charset="-122"/>
                <a:cs typeface="Arial" pitchFamily="34" charset="-120"/>
              </a:rPr>
              <a:t>wind_speed · seasonal_sin/cos · tmean_7d_avg · drought_trend_14d · fwi_7d_max · pdsi_category.</a:t>
            </a:r>
            <a:endParaRPr lang="en-US" sz="1800" dirty="0"/>
          </a:p>
        </p:txBody>
      </p:sp>
      <p:sp>
        <p:nvSpPr>
          <p:cNvPr id="21" name="Shape 19"/>
          <p:cNvSpPr/>
          <p:nvPr/>
        </p:nvSpPr>
        <p:spPr>
          <a:xfrm>
            <a:off x="9277350" y="3986213"/>
            <a:ext cx="3895725" cy="4424363"/>
          </a:xfrm>
          <a:prstGeom prst="rect">
            <a:avLst/>
          </a:prstGeom>
          <a:ln w="9525">
            <a:solidFill>
              <a:srgbClr val="2A2F3A"/>
            </a:solidFill>
            <a:prstDash val="solid"/>
          </a:ln>
        </p:spPr>
        <p:txBody>
          <a:bodyPr/>
          <a:lstStyle/>
          <a:p>
            <a:endParaRPr lang="en-US"/>
          </a:p>
        </p:txBody>
      </p:sp>
      <p:sp>
        <p:nvSpPr>
          <p:cNvPr id="22" name="Text 20"/>
          <p:cNvSpPr/>
          <p:nvPr/>
        </p:nvSpPr>
        <p:spPr>
          <a:xfrm>
            <a:off x="9629775" y="4338638"/>
            <a:ext cx="3286601" cy="285750"/>
          </a:xfrm>
          <a:prstGeom prst="rect">
            <a:avLst/>
          </a:prstGeom>
          <a:noFill/>
          <a:ln/>
        </p:spPr>
        <p:txBody>
          <a:bodyPr wrap="square" lIns="25400" tIns="25400" rIns="25400" bIns="25400" rtlCol="0" anchor="t">
            <a:normAutofit lnSpcReduction="10000"/>
          </a:bodyPr>
          <a:lstStyle/>
          <a:p>
            <a:pPr marL="0" indent="0" algn="l">
              <a:buNone/>
            </a:pPr>
            <a:r>
              <a:rPr lang="en-US" sz="1650" kern="0" spc="198" dirty="0">
                <a:solidFill>
                  <a:srgbClr val="FF5A1F"/>
                </a:solidFill>
                <a:latin typeface="Arial" pitchFamily="34" charset="0"/>
                <a:ea typeface="Arial" pitchFamily="34" charset="-122"/>
                <a:cs typeface="Arial" pitchFamily="34" charset="-120"/>
              </a:rPr>
              <a:t>03 · SPLIT</a:t>
            </a:r>
            <a:endParaRPr lang="en-US" sz="1650" dirty="0"/>
          </a:p>
        </p:txBody>
      </p:sp>
      <p:sp>
        <p:nvSpPr>
          <p:cNvPr id="23" name="Text 21"/>
          <p:cNvSpPr/>
          <p:nvPr/>
        </p:nvSpPr>
        <p:spPr>
          <a:xfrm>
            <a:off x="9629775" y="4852988"/>
            <a:ext cx="3286601" cy="87630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000" b="1" kern="0" spc="-60" dirty="0">
                <a:solidFill>
                  <a:srgbClr val="F4EFE6"/>
                </a:solidFill>
                <a:latin typeface="Arial" pitchFamily="34" charset="0"/>
                <a:ea typeface="Arial" pitchFamily="34" charset="-122"/>
                <a:cs typeface="Arial" pitchFamily="34" charset="-120"/>
              </a:rPr>
              <a:t>Chronological, no leakage</a:t>
            </a:r>
            <a:endParaRPr lang="en-US" sz="3000" dirty="0"/>
          </a:p>
        </p:txBody>
      </p:sp>
      <p:sp>
        <p:nvSpPr>
          <p:cNvPr id="24" name="Text 22"/>
          <p:cNvSpPr/>
          <p:nvPr/>
        </p:nvSpPr>
        <p:spPr>
          <a:xfrm>
            <a:off x="9629775" y="6778228"/>
            <a:ext cx="3286601" cy="131802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9AA0AB"/>
                </a:solidFill>
                <a:latin typeface="Arial" pitchFamily="34" charset="0"/>
                <a:ea typeface="Arial" pitchFamily="34" charset="-122"/>
                <a:cs typeface="Arial" pitchFamily="34" charset="-120"/>
              </a:rPr>
              <a:t>Train 2001–2015 · Validate 2016–2017 · Test 2018–2020. Hyperparameters tuned on val only.</a:t>
            </a:r>
            <a:endParaRPr lang="en-US" sz="1800" dirty="0"/>
          </a:p>
        </p:txBody>
      </p:sp>
      <p:sp>
        <p:nvSpPr>
          <p:cNvPr id="25" name="Shape 23"/>
          <p:cNvSpPr/>
          <p:nvPr/>
        </p:nvSpPr>
        <p:spPr>
          <a:xfrm>
            <a:off x="13439775" y="3986213"/>
            <a:ext cx="3895725" cy="4424363"/>
          </a:xfrm>
          <a:prstGeom prst="rect">
            <a:avLst/>
          </a:prstGeom>
          <a:solidFill>
            <a:srgbClr val="16191F"/>
          </a:solidFill>
          <a:ln w="9525">
            <a:solidFill>
              <a:srgbClr val="FF5A1F"/>
            </a:solidFill>
            <a:prstDash val="solid"/>
          </a:ln>
        </p:spPr>
        <p:txBody>
          <a:bodyPr/>
          <a:lstStyle/>
          <a:p>
            <a:endParaRPr lang="en-US"/>
          </a:p>
        </p:txBody>
      </p:sp>
      <p:sp>
        <p:nvSpPr>
          <p:cNvPr id="26" name="Text 24"/>
          <p:cNvSpPr/>
          <p:nvPr/>
        </p:nvSpPr>
        <p:spPr>
          <a:xfrm>
            <a:off x="13792200" y="4338638"/>
            <a:ext cx="3286601" cy="285750"/>
          </a:xfrm>
          <a:prstGeom prst="rect">
            <a:avLst/>
          </a:prstGeom>
          <a:noFill/>
          <a:ln/>
        </p:spPr>
        <p:txBody>
          <a:bodyPr wrap="square" lIns="25400" tIns="25400" rIns="25400" bIns="25400" rtlCol="0" anchor="t">
            <a:normAutofit lnSpcReduction="10000"/>
          </a:bodyPr>
          <a:lstStyle/>
          <a:p>
            <a:pPr marL="0" indent="0" algn="l">
              <a:buNone/>
            </a:pPr>
            <a:r>
              <a:rPr lang="en-US" sz="1650" kern="0" spc="198" dirty="0">
                <a:solidFill>
                  <a:srgbClr val="FF5A1F"/>
                </a:solidFill>
                <a:latin typeface="Arial" pitchFamily="34" charset="0"/>
                <a:ea typeface="Arial" pitchFamily="34" charset="-122"/>
                <a:cs typeface="Arial" pitchFamily="34" charset="-120"/>
              </a:rPr>
              <a:t>04 · MODEL</a:t>
            </a:r>
            <a:endParaRPr lang="en-US" sz="1650" dirty="0"/>
          </a:p>
        </p:txBody>
      </p:sp>
      <p:sp>
        <p:nvSpPr>
          <p:cNvPr id="27" name="Text 25"/>
          <p:cNvSpPr/>
          <p:nvPr/>
        </p:nvSpPr>
        <p:spPr>
          <a:xfrm>
            <a:off x="13792200" y="4852988"/>
            <a:ext cx="3286601" cy="87630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000" b="1" kern="0" spc="-60" dirty="0">
                <a:solidFill>
                  <a:srgbClr val="F4EFE6"/>
                </a:solidFill>
                <a:latin typeface="Arial" pitchFamily="34" charset="0"/>
                <a:ea typeface="Arial" pitchFamily="34" charset="-122"/>
                <a:cs typeface="Arial" pitchFamily="34" charset="-120"/>
              </a:rPr>
              <a:t>Two models, different jobs</a:t>
            </a:r>
            <a:endParaRPr lang="en-US" sz="3000" dirty="0"/>
          </a:p>
        </p:txBody>
      </p:sp>
      <p:sp>
        <p:nvSpPr>
          <p:cNvPr id="28" name="Text 26"/>
          <p:cNvSpPr/>
          <p:nvPr/>
        </p:nvSpPr>
        <p:spPr>
          <a:xfrm>
            <a:off x="13792200" y="6458248"/>
            <a:ext cx="3286601" cy="1638002"/>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800" dirty="0">
                <a:solidFill>
                  <a:srgbClr val="9AA0AB"/>
                </a:solidFill>
                <a:latin typeface="Arial" pitchFamily="34" charset="0"/>
                <a:ea typeface="Arial" pitchFamily="34" charset="-122"/>
                <a:cs typeface="Arial" pitchFamily="34" charset="-120"/>
              </a:rPr>
              <a:t>Logistic Regression as an interpretable baseline · LightGBM for non-linear interactions, with SHAP for explanation.</a:t>
            </a:r>
            <a:endParaRPr lang="en-US" sz="1800" dirty="0"/>
          </a:p>
        </p:txBody>
      </p:sp>
      <p:sp>
        <p:nvSpPr>
          <p:cNvPr id="29" name="Text 27"/>
          <p:cNvSpPr/>
          <p:nvPr/>
        </p:nvSpPr>
        <p:spPr>
          <a:xfrm>
            <a:off x="952500" y="8791575"/>
            <a:ext cx="194816" cy="295275"/>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FF5A1F"/>
                </a:solidFill>
                <a:latin typeface="Arial" pitchFamily="34" charset="0"/>
                <a:ea typeface="Arial" pitchFamily="34" charset="-122"/>
                <a:cs typeface="Arial" pitchFamily="34" charset="-120"/>
              </a:rPr>
              <a:t>↳</a:t>
            </a:r>
            <a:endParaRPr lang="en-US" sz="1650" dirty="0"/>
          </a:p>
        </p:txBody>
      </p:sp>
      <p:sp>
        <p:nvSpPr>
          <p:cNvPr id="30" name="Text 28"/>
          <p:cNvSpPr/>
          <p:nvPr/>
        </p:nvSpPr>
        <p:spPr>
          <a:xfrm>
            <a:off x="1337816" y="8791575"/>
            <a:ext cx="9549845" cy="295275"/>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9AA0AB"/>
                </a:solidFill>
                <a:latin typeface="Arial" pitchFamily="34" charset="0"/>
                <a:ea typeface="Arial" pitchFamily="34" charset="-122"/>
                <a:cs typeface="Arial" pitchFamily="34" charset="-120"/>
              </a:rPr>
              <a:t>Threshold tuned on validation (0.65 vs default 0.50) to prioritise recall for a rare-event early warning.</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F1115"/>
          </a:solidFill>
          <a:ln/>
        </p:spPr>
        <p:txBody>
          <a:bodyPr/>
          <a:lstStyle/>
          <a:p>
            <a:endParaRPr lang="en-US"/>
          </a:p>
        </p:txBody>
      </p:sp>
      <p:sp>
        <p:nvSpPr>
          <p:cNvPr id="3" name="Shape 1"/>
          <p:cNvSpPr/>
          <p:nvPr/>
        </p:nvSpPr>
        <p:spPr>
          <a:xfrm>
            <a:off x="0" y="0"/>
            <a:ext cx="18288000" cy="57150"/>
          </a:xfrm>
          <a:prstGeom prst="rect">
            <a:avLst/>
          </a:prstGeom>
          <a:solidFill>
            <a:srgbClr val="FF2D2D"/>
          </a:solidFill>
          <a:ln/>
        </p:spPr>
        <p:txBody>
          <a:bodyPr/>
          <a:lstStyle/>
          <a:p>
            <a:endParaRPr lang="en-US"/>
          </a:p>
        </p:txBody>
      </p:sp>
      <p:sp>
        <p:nvSpPr>
          <p:cNvPr id="4" name="Text 2"/>
          <p:cNvSpPr/>
          <p:nvPr/>
        </p:nvSpPr>
        <p:spPr>
          <a:xfrm>
            <a:off x="10822930" y="342900"/>
            <a:ext cx="22487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1143059" y="357188"/>
            <a:ext cx="3127790"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ZERO SHOT HOPEFULS</a:t>
            </a:r>
            <a:endParaRPr lang="en-US" sz="1800" dirty="0"/>
          </a:p>
        </p:txBody>
      </p:sp>
      <p:sp>
        <p:nvSpPr>
          <p:cNvPr id="6" name="Text 4"/>
          <p:cNvSpPr/>
          <p:nvPr/>
        </p:nvSpPr>
        <p:spPr>
          <a:xfrm>
            <a:off x="14351198" y="357188"/>
            <a:ext cx="162669"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alpha val="40000"/>
                  </a:srgbClr>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4609118" y="357188"/>
            <a:ext cx="280817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ESSD AI CHALLENGE</a:t>
            </a:r>
            <a:endParaRPr lang="en-US" sz="1800" dirty="0"/>
          </a:p>
        </p:txBody>
      </p:sp>
      <p:sp>
        <p:nvSpPr>
          <p:cNvPr id="8" name="Text 6"/>
          <p:cNvSpPr/>
          <p:nvPr/>
        </p:nvSpPr>
        <p:spPr>
          <a:xfrm>
            <a:off x="952500" y="9791700"/>
            <a:ext cx="6184605" cy="304800"/>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9AA0AB"/>
                </a:solidFill>
                <a:latin typeface="Arial" pitchFamily="34" charset="0"/>
                <a:ea typeface="Arial" pitchFamily="34" charset="-122"/>
                <a:cs typeface="Arial" pitchFamily="34" charset="-120"/>
              </a:rPr>
              <a:t>COMPOUND HAZARD FORECASTING · APR 2026</a:t>
            </a:r>
            <a:endParaRPr lang="en-US" sz="1800" dirty="0"/>
          </a:p>
        </p:txBody>
      </p:sp>
      <p:sp>
        <p:nvSpPr>
          <p:cNvPr id="9" name="Text 7"/>
          <p:cNvSpPr/>
          <p:nvPr/>
        </p:nvSpPr>
        <p:spPr>
          <a:xfrm>
            <a:off x="16456075" y="9763125"/>
            <a:ext cx="39632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06</a:t>
            </a:r>
            <a:endParaRPr lang="en-US" sz="1800" dirty="0"/>
          </a:p>
        </p:txBody>
      </p:sp>
      <p:sp>
        <p:nvSpPr>
          <p:cNvPr id="10" name="Text 8"/>
          <p:cNvSpPr/>
          <p:nvPr/>
        </p:nvSpPr>
        <p:spPr>
          <a:xfrm>
            <a:off x="16776204" y="9782175"/>
            <a:ext cx="63549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9AA0AB">
                    <a:alpha val="50000"/>
                  </a:srgbClr>
                </a:solidFill>
                <a:latin typeface="Arial" pitchFamily="34" charset="0"/>
                <a:ea typeface="Arial" pitchFamily="34" charset="-122"/>
                <a:cs typeface="Arial" pitchFamily="34" charset="-120"/>
              </a:rPr>
              <a:t>/ 13</a:t>
            </a:r>
            <a:endParaRPr lang="en-US" sz="1800" dirty="0"/>
          </a:p>
        </p:txBody>
      </p:sp>
      <p:sp>
        <p:nvSpPr>
          <p:cNvPr id="11" name="Text 9"/>
          <p:cNvSpPr/>
          <p:nvPr/>
        </p:nvSpPr>
        <p:spPr>
          <a:xfrm>
            <a:off x="952500" y="952500"/>
            <a:ext cx="16874490" cy="333375"/>
          </a:xfrm>
          <a:prstGeom prst="rect">
            <a:avLst/>
          </a:prstGeom>
          <a:noFill/>
          <a:ln/>
        </p:spPr>
        <p:txBody>
          <a:bodyPr wrap="square" lIns="25400" tIns="25400" rIns="25400" bIns="25400" rtlCol="0" anchor="t">
            <a:normAutofit/>
          </a:bodyPr>
          <a:lstStyle/>
          <a:p>
            <a:pPr marL="0" indent="0" algn="l">
              <a:buNone/>
            </a:pPr>
            <a:r>
              <a:rPr lang="en-US" sz="1800" b="1" kern="0" spc="396" dirty="0">
                <a:solidFill>
                  <a:srgbClr val="FF5A1F"/>
                </a:solidFill>
                <a:latin typeface="Arial" pitchFamily="34" charset="0"/>
                <a:ea typeface="Arial" pitchFamily="34" charset="-122"/>
                <a:cs typeface="Arial" pitchFamily="34" charset="-120"/>
              </a:rPr>
              <a:t>RESULTS · HELD-OUT TEST SET (2018–2020)</a:t>
            </a:r>
            <a:endParaRPr lang="en-US" sz="1800" dirty="0"/>
          </a:p>
        </p:txBody>
      </p:sp>
      <p:sp>
        <p:nvSpPr>
          <p:cNvPr id="12" name="Text 10"/>
          <p:cNvSpPr/>
          <p:nvPr/>
        </p:nvSpPr>
        <p:spPr>
          <a:xfrm>
            <a:off x="952500" y="1590675"/>
            <a:ext cx="16678275" cy="1670149"/>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300" b="1" kern="0" spc="-158" dirty="0" err="1">
                <a:solidFill>
                  <a:srgbClr val="F4EFE6"/>
                </a:solidFill>
                <a:latin typeface="Arial" pitchFamily="34" charset="0"/>
                <a:ea typeface="Arial" pitchFamily="34" charset="-122"/>
                <a:cs typeface="Arial" pitchFamily="34" charset="-120"/>
              </a:rPr>
              <a:t>LightGBM</a:t>
            </a:r>
            <a:r>
              <a:rPr lang="en-US" sz="6300" b="1" kern="0" spc="-158" dirty="0">
                <a:solidFill>
                  <a:srgbClr val="F4EFE6"/>
                </a:solidFill>
                <a:latin typeface="Arial" pitchFamily="34" charset="0"/>
                <a:ea typeface="Arial" pitchFamily="34" charset="-122"/>
                <a:cs typeface="Arial" pitchFamily="34" charset="-120"/>
              </a:rPr>
              <a:t> excels at discrimination; </a:t>
            </a:r>
            <a:r>
              <a:rPr lang="en-US" sz="6300" b="1" kern="0" spc="-158" dirty="0">
                <a:solidFill>
                  <a:srgbClr val="FF5A1F"/>
                </a:solidFill>
                <a:latin typeface="Arial" pitchFamily="34" charset="0"/>
                <a:ea typeface="Arial" pitchFamily="34" charset="-122"/>
                <a:cs typeface="Arial" pitchFamily="34" charset="-120"/>
              </a:rPr>
              <a:t>logistic regression offers a clear baseline for comparison.</a:t>
            </a:r>
            <a:endParaRPr lang="en-US" sz="6300" dirty="0"/>
          </a:p>
        </p:txBody>
      </p:sp>
      <p:sp>
        <p:nvSpPr>
          <p:cNvPr id="13" name="Shape 11"/>
          <p:cNvSpPr/>
          <p:nvPr/>
        </p:nvSpPr>
        <p:spPr>
          <a:xfrm>
            <a:off x="952500" y="3908524"/>
            <a:ext cx="9405869" cy="5800725"/>
          </a:xfrm>
          <a:prstGeom prst="rect">
            <a:avLst/>
          </a:prstGeom>
          <a:solidFill>
            <a:srgbClr val="16191F"/>
          </a:solidFill>
          <a:ln w="9525">
            <a:solidFill>
              <a:srgbClr val="2A2F3A"/>
            </a:solidFill>
            <a:prstDash val="solid"/>
          </a:ln>
        </p:spPr>
        <p:txBody>
          <a:bodyPr/>
          <a:lstStyle/>
          <a:p>
            <a:endParaRPr lang="en-US"/>
          </a:p>
        </p:txBody>
      </p:sp>
      <p:sp>
        <p:nvSpPr>
          <p:cNvPr id="14" name="Text 12"/>
          <p:cNvSpPr/>
          <p:nvPr/>
        </p:nvSpPr>
        <p:spPr>
          <a:xfrm>
            <a:off x="1343025" y="4765774"/>
            <a:ext cx="5795394" cy="1819275"/>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16500" b="1" kern="0" spc="-825" dirty="0">
                <a:solidFill>
                  <a:srgbClr val="FF5A1F"/>
                </a:solidFill>
                <a:latin typeface="Arial" pitchFamily="34" charset="0"/>
                <a:ea typeface="Arial" pitchFamily="34" charset="-122"/>
                <a:cs typeface="Arial" pitchFamily="34" charset="-120"/>
              </a:rPr>
              <a:t>0.989</a:t>
            </a:r>
            <a:endParaRPr lang="en-US" sz="16500" dirty="0"/>
          </a:p>
        </p:txBody>
      </p:sp>
      <p:sp>
        <p:nvSpPr>
          <p:cNvPr id="15" name="Text 13"/>
          <p:cNvSpPr/>
          <p:nvPr/>
        </p:nvSpPr>
        <p:spPr>
          <a:xfrm>
            <a:off x="7274421" y="4299049"/>
            <a:ext cx="3083948" cy="571500"/>
          </a:xfrm>
          <a:prstGeom prst="rect">
            <a:avLst/>
          </a:prstGeom>
          <a:noFill/>
          <a:ln/>
        </p:spPr>
        <p:txBody>
          <a:bodyPr wrap="square" lIns="25400" tIns="25400" rIns="25400" bIns="25400" rtlCol="0" anchor="t">
            <a:normAutofit lnSpcReduction="10000"/>
          </a:bodyPr>
          <a:lstStyle/>
          <a:p>
            <a:pPr marL="0" indent="0" algn="l">
              <a:buNone/>
            </a:pPr>
            <a:r>
              <a:rPr lang="en-US" sz="1800" kern="0" spc="270" dirty="0">
                <a:solidFill>
                  <a:srgbClr val="9AA0AB"/>
                </a:solidFill>
                <a:latin typeface="Arial" pitchFamily="34" charset="0"/>
                <a:ea typeface="Arial" pitchFamily="34" charset="-122"/>
                <a:cs typeface="Arial" pitchFamily="34" charset="-120"/>
              </a:rPr>
              <a:t>LIGHTGBM · AUC-ROC</a:t>
            </a:r>
            <a:endParaRPr lang="en-US" sz="1800" dirty="0"/>
          </a:p>
        </p:txBody>
      </p:sp>
      <p:sp>
        <p:nvSpPr>
          <p:cNvPr id="16" name="Text 14"/>
          <p:cNvSpPr/>
          <p:nvPr/>
        </p:nvSpPr>
        <p:spPr>
          <a:xfrm>
            <a:off x="7274421" y="4927699"/>
            <a:ext cx="3083948" cy="1466850"/>
          </a:xfrm>
          <a:prstGeom prst="rect">
            <a:avLst/>
          </a:prstGeom>
          <a:noFill/>
          <a:ln/>
        </p:spPr>
        <p:txBody>
          <a:bodyPr wrap="square" lIns="25400" tIns="25400" rIns="25400" bIns="25400" rtlCol="0" anchor="t">
            <a:normAutofit/>
          </a:bodyPr>
          <a:lstStyle/>
          <a:p>
            <a:pPr marL="0" indent="0" algn="l">
              <a:lnSpc>
                <a:spcPct val="125000"/>
              </a:lnSpc>
              <a:buNone/>
            </a:pPr>
            <a:r>
              <a:rPr lang="en-US" sz="2250" dirty="0">
                <a:solidFill>
                  <a:srgbClr val="F4EFE6"/>
                </a:solidFill>
                <a:latin typeface="Arial" pitchFamily="34" charset="0"/>
                <a:ea typeface="Arial" pitchFamily="34" charset="-122"/>
                <a:cs typeface="Arial" pitchFamily="34" charset="-120"/>
              </a:rPr>
              <a:t>Near-perfect ranking of compound-event weeks vs. non-event weeks.</a:t>
            </a:r>
            <a:endParaRPr lang="en-US" sz="2250" dirty="0"/>
          </a:p>
        </p:txBody>
      </p:sp>
      <p:sp>
        <p:nvSpPr>
          <p:cNvPr id="17" name="Shape 15"/>
          <p:cNvSpPr/>
          <p:nvPr/>
        </p:nvSpPr>
        <p:spPr>
          <a:xfrm>
            <a:off x="1343025" y="7086749"/>
            <a:ext cx="8925520" cy="9525"/>
          </a:xfrm>
          <a:prstGeom prst="rect">
            <a:avLst/>
          </a:prstGeom>
          <a:solidFill>
            <a:srgbClr val="2A2F3A"/>
          </a:solidFill>
          <a:ln/>
        </p:spPr>
        <p:txBody>
          <a:bodyPr/>
          <a:lstStyle/>
          <a:p>
            <a:endParaRPr lang="en-US"/>
          </a:p>
        </p:txBody>
      </p:sp>
      <p:sp>
        <p:nvSpPr>
          <p:cNvPr id="18" name="Text 16"/>
          <p:cNvSpPr/>
          <p:nvPr/>
        </p:nvSpPr>
        <p:spPr>
          <a:xfrm>
            <a:off x="1343025" y="7635925"/>
            <a:ext cx="2164705"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A0AB"/>
                </a:solidFill>
                <a:latin typeface="Arial" pitchFamily="34" charset="0"/>
                <a:ea typeface="Arial" pitchFamily="34" charset="-122"/>
                <a:cs typeface="Arial" pitchFamily="34" charset="-120"/>
              </a:rPr>
              <a:t>F1</a:t>
            </a:r>
            <a:endParaRPr lang="en-US" sz="1800" dirty="0"/>
          </a:p>
        </p:txBody>
      </p:sp>
      <p:sp>
        <p:nvSpPr>
          <p:cNvPr id="19" name="Text 17"/>
          <p:cNvSpPr/>
          <p:nvPr/>
        </p:nvSpPr>
        <p:spPr>
          <a:xfrm>
            <a:off x="1343025" y="7997875"/>
            <a:ext cx="2164705" cy="438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150" b="1" dirty="0">
                <a:solidFill>
                  <a:srgbClr val="FF5A1F"/>
                </a:solidFill>
                <a:latin typeface="Arial" pitchFamily="34" charset="0"/>
                <a:ea typeface="Arial" pitchFamily="34" charset="-122"/>
                <a:cs typeface="Arial" pitchFamily="34" charset="-120"/>
              </a:rPr>
              <a:t>0.643</a:t>
            </a:r>
            <a:endParaRPr lang="en-US" sz="3150" dirty="0"/>
          </a:p>
        </p:txBody>
      </p:sp>
      <p:sp>
        <p:nvSpPr>
          <p:cNvPr id="20" name="Text 18"/>
          <p:cNvSpPr/>
          <p:nvPr/>
        </p:nvSpPr>
        <p:spPr>
          <a:xfrm>
            <a:off x="1343025" y="8455075"/>
            <a:ext cx="2164705" cy="36195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9AA0AB"/>
                </a:solidFill>
                <a:latin typeface="Arial" pitchFamily="34" charset="0"/>
                <a:ea typeface="Arial" pitchFamily="34" charset="-122"/>
                <a:cs typeface="Arial" pitchFamily="34" charset="-120"/>
              </a:rPr>
              <a:t>0.579</a:t>
            </a:r>
            <a:endParaRPr lang="en-US" sz="2100" dirty="0"/>
          </a:p>
        </p:txBody>
      </p:sp>
      <p:sp>
        <p:nvSpPr>
          <p:cNvPr id="21" name="Text 19"/>
          <p:cNvSpPr/>
          <p:nvPr/>
        </p:nvSpPr>
        <p:spPr>
          <a:xfrm>
            <a:off x="3622030" y="7635925"/>
            <a:ext cx="2164705"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A0AB"/>
                </a:solidFill>
                <a:latin typeface="Arial" pitchFamily="34" charset="0"/>
                <a:ea typeface="Arial" pitchFamily="34" charset="-122"/>
                <a:cs typeface="Arial" pitchFamily="34" charset="-120"/>
              </a:rPr>
              <a:t>RECALL</a:t>
            </a:r>
            <a:endParaRPr lang="en-US" sz="1800" dirty="0"/>
          </a:p>
        </p:txBody>
      </p:sp>
      <p:sp>
        <p:nvSpPr>
          <p:cNvPr id="22" name="Text 20"/>
          <p:cNvSpPr/>
          <p:nvPr/>
        </p:nvSpPr>
        <p:spPr>
          <a:xfrm>
            <a:off x="3622030" y="7997875"/>
            <a:ext cx="2164705" cy="438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150" b="1" dirty="0">
                <a:solidFill>
                  <a:srgbClr val="FF5A1F"/>
                </a:solidFill>
                <a:latin typeface="Arial" pitchFamily="34" charset="0"/>
                <a:ea typeface="Arial" pitchFamily="34" charset="-122"/>
                <a:cs typeface="Arial" pitchFamily="34" charset="-120"/>
              </a:rPr>
              <a:t>80%</a:t>
            </a:r>
            <a:endParaRPr lang="en-US" sz="3150" dirty="0"/>
          </a:p>
        </p:txBody>
      </p:sp>
      <p:sp>
        <p:nvSpPr>
          <p:cNvPr id="23" name="Text 21"/>
          <p:cNvSpPr/>
          <p:nvPr/>
        </p:nvSpPr>
        <p:spPr>
          <a:xfrm>
            <a:off x="3622030" y="8455075"/>
            <a:ext cx="2164705" cy="36195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9AA0AB"/>
                </a:solidFill>
                <a:latin typeface="Arial" pitchFamily="34" charset="0"/>
                <a:ea typeface="Arial" pitchFamily="34" charset="-122"/>
                <a:cs typeface="Arial" pitchFamily="34" charset="-120"/>
              </a:rPr>
              <a:t>66%</a:t>
            </a:r>
            <a:endParaRPr lang="en-US" sz="2100" dirty="0"/>
          </a:p>
        </p:txBody>
      </p:sp>
      <p:sp>
        <p:nvSpPr>
          <p:cNvPr id="24" name="Text 22"/>
          <p:cNvSpPr/>
          <p:nvPr/>
        </p:nvSpPr>
        <p:spPr>
          <a:xfrm>
            <a:off x="5901035" y="7635925"/>
            <a:ext cx="2164705"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A0AB"/>
                </a:solidFill>
                <a:latin typeface="Arial" pitchFamily="34" charset="0"/>
                <a:ea typeface="Arial" pitchFamily="34" charset="-122"/>
                <a:cs typeface="Arial" pitchFamily="34" charset="-120"/>
              </a:rPr>
              <a:t>BRIER</a:t>
            </a:r>
            <a:endParaRPr lang="en-US" sz="1800" dirty="0"/>
          </a:p>
        </p:txBody>
      </p:sp>
      <p:sp>
        <p:nvSpPr>
          <p:cNvPr id="25" name="Text 23"/>
          <p:cNvSpPr/>
          <p:nvPr/>
        </p:nvSpPr>
        <p:spPr>
          <a:xfrm>
            <a:off x="5901035" y="7997875"/>
            <a:ext cx="2164705" cy="438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150" b="1" dirty="0">
                <a:solidFill>
                  <a:srgbClr val="FF5A1F"/>
                </a:solidFill>
                <a:latin typeface="Arial" pitchFamily="34" charset="0"/>
                <a:ea typeface="Arial" pitchFamily="34" charset="-122"/>
                <a:cs typeface="Arial" pitchFamily="34" charset="-120"/>
              </a:rPr>
              <a:t>0.020</a:t>
            </a:r>
            <a:endParaRPr lang="en-US" sz="3150" dirty="0"/>
          </a:p>
        </p:txBody>
      </p:sp>
      <p:sp>
        <p:nvSpPr>
          <p:cNvPr id="26" name="Text 24"/>
          <p:cNvSpPr/>
          <p:nvPr/>
        </p:nvSpPr>
        <p:spPr>
          <a:xfrm>
            <a:off x="5901035" y="8455075"/>
            <a:ext cx="2164705" cy="36195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9AA0AB"/>
                </a:solidFill>
                <a:latin typeface="Arial" pitchFamily="34" charset="0"/>
                <a:ea typeface="Arial" pitchFamily="34" charset="-122"/>
                <a:cs typeface="Arial" pitchFamily="34" charset="-120"/>
              </a:rPr>
              <a:t>0.042</a:t>
            </a:r>
            <a:endParaRPr lang="en-US" sz="2100" dirty="0"/>
          </a:p>
        </p:txBody>
      </p:sp>
      <p:sp>
        <p:nvSpPr>
          <p:cNvPr id="27" name="Text 25"/>
          <p:cNvSpPr/>
          <p:nvPr/>
        </p:nvSpPr>
        <p:spPr>
          <a:xfrm>
            <a:off x="8180040" y="7635925"/>
            <a:ext cx="2164705"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A0AB"/>
                </a:solidFill>
                <a:latin typeface="Arial" pitchFamily="34" charset="0"/>
                <a:ea typeface="Arial" pitchFamily="34" charset="-122"/>
                <a:cs typeface="Arial" pitchFamily="34" charset="-120"/>
              </a:rPr>
              <a:t>PRECISION</a:t>
            </a:r>
            <a:endParaRPr lang="en-US" sz="1800" dirty="0"/>
          </a:p>
        </p:txBody>
      </p:sp>
      <p:sp>
        <p:nvSpPr>
          <p:cNvPr id="28" name="Text 26"/>
          <p:cNvSpPr/>
          <p:nvPr/>
        </p:nvSpPr>
        <p:spPr>
          <a:xfrm>
            <a:off x="8180040" y="7997875"/>
            <a:ext cx="2164705" cy="438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150" b="1" dirty="0">
                <a:solidFill>
                  <a:srgbClr val="FF5A1F"/>
                </a:solidFill>
                <a:latin typeface="Arial" pitchFamily="34" charset="0"/>
                <a:ea typeface="Arial" pitchFamily="34" charset="-122"/>
                <a:cs typeface="Arial" pitchFamily="34" charset="-120"/>
              </a:rPr>
              <a:t>0.59</a:t>
            </a:r>
            <a:endParaRPr lang="en-US" sz="3150" dirty="0"/>
          </a:p>
        </p:txBody>
      </p:sp>
      <p:sp>
        <p:nvSpPr>
          <p:cNvPr id="29" name="Text 27"/>
          <p:cNvSpPr/>
          <p:nvPr/>
        </p:nvSpPr>
        <p:spPr>
          <a:xfrm>
            <a:off x="8180040" y="8455075"/>
            <a:ext cx="2164705" cy="36195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9AA0AB"/>
                </a:solidFill>
                <a:latin typeface="Arial" pitchFamily="34" charset="0"/>
                <a:ea typeface="Arial" pitchFamily="34" charset="-122"/>
                <a:cs typeface="Arial" pitchFamily="34" charset="-120"/>
              </a:rPr>
              <a:t>0.54</a:t>
            </a:r>
            <a:endParaRPr lang="en-US" sz="2100" dirty="0"/>
          </a:p>
        </p:txBody>
      </p:sp>
      <p:sp>
        <p:nvSpPr>
          <p:cNvPr id="30" name="Text 28"/>
          <p:cNvSpPr/>
          <p:nvPr/>
        </p:nvSpPr>
        <p:spPr>
          <a:xfrm>
            <a:off x="1343025" y="9242524"/>
            <a:ext cx="1522958"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FF5A1F"/>
                </a:solidFill>
                <a:latin typeface="Arial" pitchFamily="34" charset="0"/>
                <a:ea typeface="Arial" pitchFamily="34" charset="-122"/>
                <a:cs typeface="Arial" pitchFamily="34" charset="-120"/>
              </a:rPr>
              <a:t>■ </a:t>
            </a:r>
            <a:r>
              <a:rPr lang="en-US" sz="1800" kern="0" spc="180" dirty="0">
                <a:solidFill>
                  <a:srgbClr val="9AA0AB"/>
                </a:solidFill>
                <a:latin typeface="Arial" pitchFamily="34" charset="0"/>
                <a:ea typeface="Arial" pitchFamily="34" charset="-122"/>
                <a:cs typeface="Arial" pitchFamily="34" charset="-120"/>
              </a:rPr>
              <a:t>LightGBM</a:t>
            </a:r>
            <a:endParaRPr lang="en-US" sz="1800" dirty="0"/>
          </a:p>
        </p:txBody>
      </p:sp>
      <p:sp>
        <p:nvSpPr>
          <p:cNvPr id="31" name="Text 29"/>
          <p:cNvSpPr/>
          <p:nvPr/>
        </p:nvSpPr>
        <p:spPr>
          <a:xfrm>
            <a:off x="7591871" y="9242524"/>
            <a:ext cx="275697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5C626D"/>
                </a:solidFill>
                <a:latin typeface="Arial" pitchFamily="34" charset="0"/>
                <a:ea typeface="Arial" pitchFamily="34" charset="-122"/>
                <a:cs typeface="Arial" pitchFamily="34" charset="-120"/>
              </a:rPr>
              <a:t>■ </a:t>
            </a:r>
            <a:r>
              <a:rPr lang="en-US" sz="1800" kern="0" spc="180" dirty="0">
                <a:solidFill>
                  <a:srgbClr val="9AA0AB"/>
                </a:solidFill>
                <a:latin typeface="Arial" pitchFamily="34" charset="0"/>
                <a:ea typeface="Arial" pitchFamily="34" charset="-122"/>
                <a:cs typeface="Arial" pitchFamily="34" charset="-120"/>
              </a:rPr>
              <a:t>Logistic Regression</a:t>
            </a:r>
            <a:endParaRPr lang="en-US" sz="1800" dirty="0"/>
          </a:p>
        </p:txBody>
      </p:sp>
      <p:sp>
        <p:nvSpPr>
          <p:cNvPr id="32" name="Shape 30"/>
          <p:cNvSpPr/>
          <p:nvPr/>
        </p:nvSpPr>
        <p:spPr>
          <a:xfrm>
            <a:off x="11268670" y="3908524"/>
            <a:ext cx="6066830" cy="19050"/>
          </a:xfrm>
          <a:prstGeom prst="rect">
            <a:avLst/>
          </a:prstGeom>
          <a:solidFill>
            <a:srgbClr val="2A2F3A"/>
          </a:solidFill>
          <a:ln/>
        </p:spPr>
        <p:txBody>
          <a:bodyPr/>
          <a:lstStyle/>
          <a:p>
            <a:endParaRPr lang="en-US"/>
          </a:p>
        </p:txBody>
      </p:sp>
      <p:sp>
        <p:nvSpPr>
          <p:cNvPr id="33" name="Text 31"/>
          <p:cNvSpPr/>
          <p:nvPr/>
        </p:nvSpPr>
        <p:spPr>
          <a:xfrm>
            <a:off x="11268670" y="4156174"/>
            <a:ext cx="6248835" cy="257175"/>
          </a:xfrm>
          <a:prstGeom prst="rect">
            <a:avLst/>
          </a:prstGeom>
          <a:noFill/>
          <a:ln/>
        </p:spPr>
        <p:txBody>
          <a:bodyPr wrap="square" lIns="25400" tIns="25400" rIns="25400" bIns="25400" rtlCol="0" anchor="t">
            <a:normAutofit lnSpcReduction="10000"/>
          </a:bodyPr>
          <a:lstStyle/>
          <a:p>
            <a:pPr marL="0" indent="0" algn="l">
              <a:buNone/>
            </a:pPr>
            <a:r>
              <a:rPr lang="en-US" sz="1500" kern="0" spc="300" dirty="0">
                <a:solidFill>
                  <a:srgbClr val="9AA0AB"/>
                </a:solidFill>
                <a:latin typeface="Arial" pitchFamily="34" charset="0"/>
                <a:ea typeface="Arial" pitchFamily="34" charset="-122"/>
                <a:cs typeface="Arial" pitchFamily="34" charset="-120"/>
              </a:rPr>
              <a:t>THE HEADLINE</a:t>
            </a:r>
            <a:endParaRPr lang="en-US" sz="1500" dirty="0"/>
          </a:p>
        </p:txBody>
      </p:sp>
      <p:sp>
        <p:nvSpPr>
          <p:cNvPr id="34" name="Text 32"/>
          <p:cNvSpPr/>
          <p:nvPr/>
        </p:nvSpPr>
        <p:spPr>
          <a:xfrm>
            <a:off x="11268670" y="4508599"/>
            <a:ext cx="6248835" cy="78105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250" dirty="0">
                <a:solidFill>
                  <a:srgbClr val="F4EFE6"/>
                </a:solidFill>
                <a:latin typeface="Arial" pitchFamily="34" charset="0"/>
                <a:ea typeface="Arial" pitchFamily="34" charset="-122"/>
                <a:cs typeface="Arial" pitchFamily="34" charset="-120"/>
              </a:rPr>
              <a:t>Both models clear the AUC ≥ 0.95 bar. LightGBM wins on F1, recall, and calibration.</a:t>
            </a:r>
            <a:endParaRPr lang="en-US" sz="2250" dirty="0"/>
          </a:p>
        </p:txBody>
      </p:sp>
      <p:sp>
        <p:nvSpPr>
          <p:cNvPr id="35" name="Shape 33"/>
          <p:cNvSpPr/>
          <p:nvPr/>
        </p:nvSpPr>
        <p:spPr>
          <a:xfrm>
            <a:off x="11268670" y="5746849"/>
            <a:ext cx="6066830" cy="19050"/>
          </a:xfrm>
          <a:prstGeom prst="rect">
            <a:avLst/>
          </a:prstGeom>
          <a:solidFill>
            <a:srgbClr val="FF5A1F"/>
          </a:solidFill>
          <a:ln/>
        </p:spPr>
        <p:txBody>
          <a:bodyPr/>
          <a:lstStyle/>
          <a:p>
            <a:endParaRPr lang="en-US"/>
          </a:p>
        </p:txBody>
      </p:sp>
      <p:sp>
        <p:nvSpPr>
          <p:cNvPr id="36" name="Text 34"/>
          <p:cNvSpPr/>
          <p:nvPr/>
        </p:nvSpPr>
        <p:spPr>
          <a:xfrm>
            <a:off x="11268670" y="5994499"/>
            <a:ext cx="6248835" cy="257175"/>
          </a:xfrm>
          <a:prstGeom prst="rect">
            <a:avLst/>
          </a:prstGeom>
          <a:noFill/>
          <a:ln/>
        </p:spPr>
        <p:txBody>
          <a:bodyPr wrap="square" lIns="25400" tIns="25400" rIns="25400" bIns="25400" rtlCol="0" anchor="t">
            <a:normAutofit lnSpcReduction="10000"/>
          </a:bodyPr>
          <a:lstStyle/>
          <a:p>
            <a:pPr marL="0" indent="0" algn="l">
              <a:buNone/>
            </a:pPr>
            <a:r>
              <a:rPr lang="en-US" sz="1500" kern="0" spc="300" dirty="0">
                <a:solidFill>
                  <a:srgbClr val="FF5A1F"/>
                </a:solidFill>
                <a:latin typeface="Arial" pitchFamily="34" charset="0"/>
                <a:ea typeface="Arial" pitchFamily="34" charset="-122"/>
                <a:cs typeface="Arial" pitchFamily="34" charset="-120"/>
              </a:rPr>
              <a:t>WHY IT MATTERS</a:t>
            </a:r>
            <a:endParaRPr lang="en-US" sz="1500" dirty="0"/>
          </a:p>
        </p:txBody>
      </p:sp>
      <p:sp>
        <p:nvSpPr>
          <p:cNvPr id="37" name="Text 35"/>
          <p:cNvSpPr/>
          <p:nvPr/>
        </p:nvSpPr>
        <p:spPr>
          <a:xfrm>
            <a:off x="11268670" y="6346924"/>
            <a:ext cx="6248835" cy="1152525"/>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250" dirty="0">
                <a:solidFill>
                  <a:srgbClr val="F4EFE6"/>
                </a:solidFill>
                <a:latin typeface="Arial" pitchFamily="34" charset="0"/>
                <a:ea typeface="Arial" pitchFamily="34" charset="-122"/>
                <a:cs typeface="Arial" pitchFamily="34" charset="-120"/>
              </a:rPr>
              <a:t>LightGBM catches 1,189 more true compound events than the logistic baseline on the same test set.</a:t>
            </a:r>
            <a:endParaRPr lang="en-US" sz="2250" dirty="0"/>
          </a:p>
        </p:txBody>
      </p:sp>
      <p:sp>
        <p:nvSpPr>
          <p:cNvPr id="38" name="Shape 36"/>
          <p:cNvSpPr/>
          <p:nvPr/>
        </p:nvSpPr>
        <p:spPr>
          <a:xfrm>
            <a:off x="11268670" y="7956649"/>
            <a:ext cx="6066830" cy="19050"/>
          </a:xfrm>
          <a:prstGeom prst="rect">
            <a:avLst/>
          </a:prstGeom>
          <a:solidFill>
            <a:srgbClr val="2A2F3A"/>
          </a:solidFill>
          <a:ln/>
        </p:spPr>
        <p:txBody>
          <a:bodyPr/>
          <a:lstStyle/>
          <a:p>
            <a:endParaRPr lang="en-US"/>
          </a:p>
        </p:txBody>
      </p:sp>
      <p:sp>
        <p:nvSpPr>
          <p:cNvPr id="39" name="Text 37"/>
          <p:cNvSpPr/>
          <p:nvPr/>
        </p:nvSpPr>
        <p:spPr>
          <a:xfrm>
            <a:off x="11268670" y="8204299"/>
            <a:ext cx="6248835" cy="257175"/>
          </a:xfrm>
          <a:prstGeom prst="rect">
            <a:avLst/>
          </a:prstGeom>
          <a:noFill/>
          <a:ln/>
        </p:spPr>
        <p:txBody>
          <a:bodyPr wrap="square" lIns="25400" tIns="25400" rIns="25400" bIns="25400" rtlCol="0" anchor="t">
            <a:normAutofit lnSpcReduction="10000"/>
          </a:bodyPr>
          <a:lstStyle/>
          <a:p>
            <a:pPr marL="0" indent="0" algn="l">
              <a:buNone/>
            </a:pPr>
            <a:r>
              <a:rPr lang="en-US" sz="1500" kern="0" spc="300" dirty="0">
                <a:solidFill>
                  <a:srgbClr val="9AA0AB"/>
                </a:solidFill>
                <a:latin typeface="Arial" pitchFamily="34" charset="0"/>
                <a:ea typeface="Arial" pitchFamily="34" charset="-122"/>
                <a:cs typeface="Arial" pitchFamily="34" charset="-120"/>
              </a:rPr>
              <a:t>CAVEAT</a:t>
            </a:r>
            <a:endParaRPr lang="en-US" sz="1500" dirty="0"/>
          </a:p>
        </p:txBody>
      </p:sp>
      <p:sp>
        <p:nvSpPr>
          <p:cNvPr id="40" name="Text 38"/>
          <p:cNvSpPr/>
          <p:nvPr/>
        </p:nvSpPr>
        <p:spPr>
          <a:xfrm>
            <a:off x="11268670" y="8556724"/>
            <a:ext cx="6248835" cy="1152525"/>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250" dirty="0">
                <a:solidFill>
                  <a:srgbClr val="F4EFE6"/>
                </a:solidFill>
                <a:latin typeface="Arial" pitchFamily="34" charset="0"/>
                <a:ea typeface="Arial" pitchFamily="34" charset="-122"/>
                <a:cs typeface="Arial" pitchFamily="34" charset="-120"/>
              </a:rPr>
              <a:t>Absolute precision is capped by the ~4% base rate. Even a perfect model will return some false alarms.</a:t>
            </a:r>
            <a:endParaRPr lang="en-US" sz="2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F1115"/>
          </a:solidFill>
          <a:ln/>
        </p:spPr>
        <p:txBody>
          <a:bodyPr/>
          <a:lstStyle/>
          <a:p>
            <a:endParaRPr lang="en-US"/>
          </a:p>
        </p:txBody>
      </p:sp>
      <p:sp>
        <p:nvSpPr>
          <p:cNvPr id="3" name="Shape 1"/>
          <p:cNvSpPr/>
          <p:nvPr/>
        </p:nvSpPr>
        <p:spPr>
          <a:xfrm>
            <a:off x="0" y="0"/>
            <a:ext cx="18288000" cy="57150"/>
          </a:xfrm>
          <a:prstGeom prst="rect">
            <a:avLst/>
          </a:prstGeom>
          <a:solidFill>
            <a:srgbClr val="FF2D2D"/>
          </a:solidFill>
          <a:ln/>
        </p:spPr>
        <p:txBody>
          <a:bodyPr/>
          <a:lstStyle/>
          <a:p>
            <a:endParaRPr lang="en-US"/>
          </a:p>
        </p:txBody>
      </p:sp>
      <p:sp>
        <p:nvSpPr>
          <p:cNvPr id="4" name="Text 2"/>
          <p:cNvSpPr/>
          <p:nvPr/>
        </p:nvSpPr>
        <p:spPr>
          <a:xfrm>
            <a:off x="10822930" y="342900"/>
            <a:ext cx="22487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1143059" y="357188"/>
            <a:ext cx="3127790"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ZERO SHOT HOPEFULS</a:t>
            </a:r>
            <a:endParaRPr lang="en-US" sz="1800" dirty="0"/>
          </a:p>
        </p:txBody>
      </p:sp>
      <p:sp>
        <p:nvSpPr>
          <p:cNvPr id="6" name="Text 4"/>
          <p:cNvSpPr/>
          <p:nvPr/>
        </p:nvSpPr>
        <p:spPr>
          <a:xfrm>
            <a:off x="14351198" y="357188"/>
            <a:ext cx="162669"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alpha val="40000"/>
                  </a:srgbClr>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4609118" y="357188"/>
            <a:ext cx="280817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ESSD AI CHALLENGE</a:t>
            </a:r>
            <a:endParaRPr lang="en-US" sz="1800" dirty="0"/>
          </a:p>
        </p:txBody>
      </p:sp>
      <p:sp>
        <p:nvSpPr>
          <p:cNvPr id="8" name="Text 6"/>
          <p:cNvSpPr/>
          <p:nvPr/>
        </p:nvSpPr>
        <p:spPr>
          <a:xfrm>
            <a:off x="952500" y="9791700"/>
            <a:ext cx="6184605" cy="304800"/>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9AA0AB"/>
                </a:solidFill>
                <a:latin typeface="Arial" pitchFamily="34" charset="0"/>
                <a:ea typeface="Arial" pitchFamily="34" charset="-122"/>
                <a:cs typeface="Arial" pitchFamily="34" charset="-120"/>
              </a:rPr>
              <a:t>COMPOUND HAZARD FORECASTING · APR 2026</a:t>
            </a:r>
            <a:endParaRPr lang="en-US" sz="1800" dirty="0"/>
          </a:p>
        </p:txBody>
      </p:sp>
      <p:sp>
        <p:nvSpPr>
          <p:cNvPr id="9" name="Text 7"/>
          <p:cNvSpPr/>
          <p:nvPr/>
        </p:nvSpPr>
        <p:spPr>
          <a:xfrm>
            <a:off x="16456075" y="9763125"/>
            <a:ext cx="39632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07</a:t>
            </a:r>
            <a:endParaRPr lang="en-US" sz="1800" dirty="0"/>
          </a:p>
        </p:txBody>
      </p:sp>
      <p:sp>
        <p:nvSpPr>
          <p:cNvPr id="10" name="Text 8"/>
          <p:cNvSpPr/>
          <p:nvPr/>
        </p:nvSpPr>
        <p:spPr>
          <a:xfrm>
            <a:off x="16776204" y="9782175"/>
            <a:ext cx="63549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9AA0AB">
                    <a:alpha val="50000"/>
                  </a:srgbClr>
                </a:solidFill>
                <a:latin typeface="Arial" pitchFamily="34" charset="0"/>
                <a:ea typeface="Arial" pitchFamily="34" charset="-122"/>
                <a:cs typeface="Arial" pitchFamily="34" charset="-120"/>
              </a:rPr>
              <a:t>/ 13</a:t>
            </a:r>
            <a:endParaRPr lang="en-US" sz="1800" dirty="0"/>
          </a:p>
        </p:txBody>
      </p:sp>
      <p:sp>
        <p:nvSpPr>
          <p:cNvPr id="11" name="Text 9"/>
          <p:cNvSpPr/>
          <p:nvPr/>
        </p:nvSpPr>
        <p:spPr>
          <a:xfrm>
            <a:off x="952500" y="952500"/>
            <a:ext cx="16874490" cy="333375"/>
          </a:xfrm>
          <a:prstGeom prst="rect">
            <a:avLst/>
          </a:prstGeom>
          <a:noFill/>
          <a:ln/>
        </p:spPr>
        <p:txBody>
          <a:bodyPr wrap="square" lIns="25400" tIns="25400" rIns="25400" bIns="25400" rtlCol="0" anchor="t">
            <a:normAutofit/>
          </a:bodyPr>
          <a:lstStyle/>
          <a:p>
            <a:pPr marL="0" indent="0" algn="l">
              <a:buNone/>
            </a:pPr>
            <a:r>
              <a:rPr lang="en-US" sz="1800" b="1" kern="0" spc="396" dirty="0">
                <a:solidFill>
                  <a:srgbClr val="FF5A1F"/>
                </a:solidFill>
                <a:latin typeface="Arial" pitchFamily="34" charset="0"/>
                <a:ea typeface="Arial" pitchFamily="34" charset="-122"/>
                <a:cs typeface="Arial" pitchFamily="34" charset="-120"/>
              </a:rPr>
              <a:t>INTERPRETABILITY · SHAP</a:t>
            </a:r>
            <a:endParaRPr lang="en-US" sz="1800" dirty="0"/>
          </a:p>
        </p:txBody>
      </p:sp>
      <p:sp>
        <p:nvSpPr>
          <p:cNvPr id="12" name="Text 10"/>
          <p:cNvSpPr/>
          <p:nvPr/>
        </p:nvSpPr>
        <p:spPr>
          <a:xfrm>
            <a:off x="952500" y="1552575"/>
            <a:ext cx="16678275" cy="1437084"/>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5400" b="1" kern="0" spc="-135" dirty="0">
                <a:solidFill>
                  <a:srgbClr val="F4EFE6"/>
                </a:solidFill>
                <a:latin typeface="Arial" pitchFamily="34" charset="0"/>
                <a:ea typeface="Arial" pitchFamily="34" charset="-122"/>
                <a:cs typeface="Arial" pitchFamily="34" charset="-120"/>
              </a:rPr>
              <a:t>Drought severity and seasonal timing </a:t>
            </a:r>
            <a:r>
              <a:rPr lang="en-US" sz="5400" b="1" kern="0" spc="-135" dirty="0">
                <a:solidFill>
                  <a:srgbClr val="FF5A1F"/>
                </a:solidFill>
                <a:latin typeface="Arial" pitchFamily="34" charset="0"/>
                <a:ea typeface="Arial" pitchFamily="34" charset="-122"/>
                <a:cs typeface="Arial" pitchFamily="34" charset="-120"/>
              </a:rPr>
              <a:t>drive the predictions.</a:t>
            </a:r>
            <a:endParaRPr lang="en-US" sz="5400" dirty="0"/>
          </a:p>
        </p:txBody>
      </p:sp>
      <p:sp>
        <p:nvSpPr>
          <p:cNvPr id="13" name="Shape 11"/>
          <p:cNvSpPr/>
          <p:nvPr/>
        </p:nvSpPr>
        <p:spPr>
          <a:xfrm>
            <a:off x="952500" y="3332559"/>
            <a:ext cx="8117979" cy="6324600"/>
          </a:xfrm>
          <a:prstGeom prst="rect">
            <a:avLst/>
          </a:prstGeom>
          <a:solidFill>
            <a:srgbClr val="1C2028"/>
          </a:solidFill>
          <a:ln w="9525">
            <a:solidFill>
              <a:srgbClr val="2A2F3A"/>
            </a:solidFill>
            <a:prstDash val="solid"/>
          </a:ln>
        </p:spPr>
        <p:txBody>
          <a:bodyPr/>
          <a:lstStyle/>
          <a:p>
            <a:endParaRPr lang="en-US"/>
          </a:p>
        </p:txBody>
      </p:sp>
      <p:sp>
        <p:nvSpPr>
          <p:cNvPr id="14" name="Text 12"/>
          <p:cNvSpPr/>
          <p:nvPr/>
        </p:nvSpPr>
        <p:spPr>
          <a:xfrm>
            <a:off x="1266825" y="3608784"/>
            <a:ext cx="7720867" cy="238125"/>
          </a:xfrm>
          <a:prstGeom prst="rect">
            <a:avLst/>
          </a:prstGeom>
          <a:noFill/>
          <a:ln/>
        </p:spPr>
        <p:txBody>
          <a:bodyPr wrap="square" lIns="25400" tIns="25400" rIns="25400" bIns="25400" rtlCol="0" anchor="t">
            <a:normAutofit lnSpcReduction="10000"/>
          </a:bodyPr>
          <a:lstStyle/>
          <a:p>
            <a:pPr marL="0" indent="0" algn="l">
              <a:buNone/>
            </a:pPr>
            <a:r>
              <a:rPr lang="en-US" sz="1350" kern="0" spc="162" dirty="0">
                <a:solidFill>
                  <a:srgbClr val="9AA0AB"/>
                </a:solidFill>
                <a:latin typeface="Arial" pitchFamily="34" charset="0"/>
                <a:ea typeface="Arial" pitchFamily="34" charset="-122"/>
                <a:cs typeface="Arial" pitchFamily="34" charset="-120"/>
              </a:rPr>
              <a:t>LIGHTGBM · SHAP FEATURE IMPACT</a:t>
            </a:r>
            <a:endParaRPr lang="en-US" sz="1350" dirty="0"/>
          </a:p>
        </p:txBody>
      </p:sp>
      <p:sp>
        <p:nvSpPr>
          <p:cNvPr id="15" name="Shape 13"/>
          <p:cNvSpPr/>
          <p:nvPr/>
        </p:nvSpPr>
        <p:spPr>
          <a:xfrm>
            <a:off x="1152525" y="3923109"/>
            <a:ext cx="7717929" cy="5534025"/>
          </a:xfrm>
          <a:prstGeom prst="rect">
            <a:avLst/>
          </a:prstGeom>
          <a:solidFill>
            <a:srgbClr val="FFFFFF"/>
          </a:solidFill>
          <a:ln/>
        </p:spPr>
        <p:txBody>
          <a:bodyPr/>
          <a:lstStyle/>
          <a:p>
            <a:endParaRPr lang="en-US"/>
          </a:p>
        </p:txBody>
      </p:sp>
      <p:pic>
        <p:nvPicPr>
          <p:cNvPr id="16" name="Image 0" descr="preencoded.png"/>
          <p:cNvPicPr>
            <a:picLocks noChangeAspect="1"/>
          </p:cNvPicPr>
          <p:nvPr/>
        </p:nvPicPr>
        <p:blipFill>
          <a:blip r:embed="rId3"/>
          <a:srcRect/>
          <a:stretch/>
        </p:blipFill>
        <p:spPr>
          <a:xfrm>
            <a:off x="2732187" y="3923109"/>
            <a:ext cx="4558457" cy="5534025"/>
          </a:xfrm>
          <a:prstGeom prst="rect">
            <a:avLst/>
          </a:prstGeom>
        </p:spPr>
      </p:pic>
      <p:sp>
        <p:nvSpPr>
          <p:cNvPr id="17" name="Shape 14"/>
          <p:cNvSpPr/>
          <p:nvPr/>
        </p:nvSpPr>
        <p:spPr>
          <a:xfrm>
            <a:off x="9603879" y="3332559"/>
            <a:ext cx="7731621" cy="9525"/>
          </a:xfrm>
          <a:prstGeom prst="rect">
            <a:avLst/>
          </a:prstGeom>
          <a:solidFill>
            <a:srgbClr val="2A2F3A"/>
          </a:solidFill>
          <a:ln/>
        </p:spPr>
        <p:txBody>
          <a:bodyPr/>
          <a:lstStyle/>
          <a:p>
            <a:endParaRPr lang="en-US"/>
          </a:p>
        </p:txBody>
      </p:sp>
      <p:sp>
        <p:nvSpPr>
          <p:cNvPr id="18" name="Text 15"/>
          <p:cNvSpPr/>
          <p:nvPr/>
        </p:nvSpPr>
        <p:spPr>
          <a:xfrm>
            <a:off x="9603879" y="3570684"/>
            <a:ext cx="609600" cy="772418"/>
          </a:xfrm>
          <a:prstGeom prst="rect">
            <a:avLst/>
          </a:prstGeom>
          <a:noFill/>
          <a:ln/>
        </p:spPr>
        <p:txBody>
          <a:bodyPr wrap="square" lIns="25400" tIns="25400" rIns="25400" bIns="25400" rtlCol="0" anchor="t">
            <a:normAutofit/>
          </a:bodyPr>
          <a:lstStyle/>
          <a:p>
            <a:pPr marL="0" indent="0" algn="l">
              <a:buNone/>
            </a:pPr>
            <a:r>
              <a:rPr lang="en-US" sz="1650" kern="0" spc="165" dirty="0">
                <a:solidFill>
                  <a:srgbClr val="FF5A1F"/>
                </a:solidFill>
                <a:latin typeface="Arial" pitchFamily="34" charset="0"/>
                <a:ea typeface="Arial" pitchFamily="34" charset="-122"/>
                <a:cs typeface="Arial" pitchFamily="34" charset="-120"/>
              </a:rPr>
              <a:t>01</a:t>
            </a:r>
            <a:endParaRPr lang="en-US" sz="1650" dirty="0"/>
          </a:p>
        </p:txBody>
      </p:sp>
      <p:sp>
        <p:nvSpPr>
          <p:cNvPr id="19" name="Text 16"/>
          <p:cNvSpPr/>
          <p:nvPr/>
        </p:nvSpPr>
        <p:spPr>
          <a:xfrm>
            <a:off x="10327779" y="3475434"/>
            <a:ext cx="7217953" cy="45720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000" b="1" dirty="0">
                <a:solidFill>
                  <a:srgbClr val="FF5A1F"/>
                </a:solidFill>
                <a:latin typeface="Arial" pitchFamily="34" charset="0"/>
                <a:ea typeface="Arial" pitchFamily="34" charset="-122"/>
                <a:cs typeface="Arial" pitchFamily="34" charset="-120"/>
              </a:rPr>
              <a:t>PDSI</a:t>
            </a:r>
            <a:endParaRPr lang="en-US" sz="3000" dirty="0"/>
          </a:p>
        </p:txBody>
      </p:sp>
      <p:sp>
        <p:nvSpPr>
          <p:cNvPr id="20" name="Text 17"/>
          <p:cNvSpPr/>
          <p:nvPr/>
        </p:nvSpPr>
        <p:spPr>
          <a:xfrm>
            <a:off x="10327779" y="3970734"/>
            <a:ext cx="7217953"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dirty="0">
                <a:solidFill>
                  <a:srgbClr val="9AA0AB"/>
                </a:solidFill>
                <a:latin typeface="Arial" pitchFamily="34" charset="0"/>
                <a:ea typeface="Arial" pitchFamily="34" charset="-122"/>
                <a:cs typeface="Arial" pitchFamily="34" charset="-120"/>
              </a:rPr>
              <a:t>Palmer Drought Severity Index — single strongest predictor.</a:t>
            </a:r>
            <a:endParaRPr lang="en-US" sz="1950" dirty="0"/>
          </a:p>
        </p:txBody>
      </p:sp>
      <p:sp>
        <p:nvSpPr>
          <p:cNvPr id="21" name="Shape 18"/>
          <p:cNvSpPr/>
          <p:nvPr/>
        </p:nvSpPr>
        <p:spPr>
          <a:xfrm>
            <a:off x="9603879" y="4514552"/>
            <a:ext cx="7731621" cy="9525"/>
          </a:xfrm>
          <a:prstGeom prst="rect">
            <a:avLst/>
          </a:prstGeom>
          <a:solidFill>
            <a:srgbClr val="2A2F3A"/>
          </a:solidFill>
          <a:ln/>
        </p:spPr>
        <p:txBody>
          <a:bodyPr/>
          <a:lstStyle/>
          <a:p>
            <a:endParaRPr lang="en-US"/>
          </a:p>
        </p:txBody>
      </p:sp>
      <p:sp>
        <p:nvSpPr>
          <p:cNvPr id="22" name="Text 19"/>
          <p:cNvSpPr/>
          <p:nvPr/>
        </p:nvSpPr>
        <p:spPr>
          <a:xfrm>
            <a:off x="9603879" y="4752677"/>
            <a:ext cx="609600" cy="595164"/>
          </a:xfrm>
          <a:prstGeom prst="rect">
            <a:avLst/>
          </a:prstGeom>
          <a:noFill/>
          <a:ln/>
        </p:spPr>
        <p:txBody>
          <a:bodyPr wrap="square" lIns="25400" tIns="25400" rIns="25400" bIns="25400" rtlCol="0" anchor="t">
            <a:normAutofit/>
          </a:bodyPr>
          <a:lstStyle/>
          <a:p>
            <a:pPr marL="0" indent="0" algn="l">
              <a:buNone/>
            </a:pPr>
            <a:r>
              <a:rPr lang="en-US" sz="1650" kern="0" spc="165" dirty="0">
                <a:solidFill>
                  <a:srgbClr val="9AA0AB"/>
                </a:solidFill>
                <a:latin typeface="Arial" pitchFamily="34" charset="0"/>
                <a:ea typeface="Arial" pitchFamily="34" charset="-122"/>
                <a:cs typeface="Arial" pitchFamily="34" charset="-120"/>
              </a:rPr>
              <a:t>02</a:t>
            </a:r>
            <a:endParaRPr lang="en-US" sz="1650" dirty="0"/>
          </a:p>
        </p:txBody>
      </p:sp>
      <p:sp>
        <p:nvSpPr>
          <p:cNvPr id="23" name="Text 20"/>
          <p:cNvSpPr/>
          <p:nvPr/>
        </p:nvSpPr>
        <p:spPr>
          <a:xfrm>
            <a:off x="10327779" y="4657427"/>
            <a:ext cx="7217953" cy="33144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100" b="1" dirty="0">
                <a:solidFill>
                  <a:srgbClr val="F4EFE6"/>
                </a:solidFill>
                <a:latin typeface="Arial" pitchFamily="34" charset="0"/>
                <a:ea typeface="Arial" pitchFamily="34" charset="-122"/>
                <a:cs typeface="Arial" pitchFamily="34" charset="-120"/>
              </a:rPr>
              <a:t>seasonal_cos / seasonal_sin</a:t>
            </a:r>
            <a:endParaRPr lang="en-US" sz="2100" dirty="0"/>
          </a:p>
        </p:txBody>
      </p:sp>
      <p:sp>
        <p:nvSpPr>
          <p:cNvPr id="24" name="Text 21"/>
          <p:cNvSpPr/>
          <p:nvPr/>
        </p:nvSpPr>
        <p:spPr>
          <a:xfrm>
            <a:off x="10327779" y="5026968"/>
            <a:ext cx="7217953"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dirty="0">
                <a:solidFill>
                  <a:srgbClr val="9AA0AB"/>
                </a:solidFill>
                <a:latin typeface="Arial" pitchFamily="34" charset="0"/>
                <a:ea typeface="Arial" pitchFamily="34" charset="-122"/>
                <a:cs typeface="Arial" pitchFamily="34" charset="-120"/>
              </a:rPr>
              <a:t>Calendar timing: late-summer weeks carry elevated risk.</a:t>
            </a:r>
            <a:endParaRPr lang="en-US" sz="1650" dirty="0"/>
          </a:p>
        </p:txBody>
      </p:sp>
      <p:sp>
        <p:nvSpPr>
          <p:cNvPr id="25" name="Shape 22"/>
          <p:cNvSpPr/>
          <p:nvPr/>
        </p:nvSpPr>
        <p:spPr>
          <a:xfrm>
            <a:off x="9603879" y="5519291"/>
            <a:ext cx="7731621" cy="9525"/>
          </a:xfrm>
          <a:prstGeom prst="rect">
            <a:avLst/>
          </a:prstGeom>
          <a:solidFill>
            <a:srgbClr val="2A2F3A"/>
          </a:solidFill>
          <a:ln/>
        </p:spPr>
        <p:txBody>
          <a:bodyPr/>
          <a:lstStyle/>
          <a:p>
            <a:endParaRPr lang="en-US"/>
          </a:p>
        </p:txBody>
      </p:sp>
      <p:sp>
        <p:nvSpPr>
          <p:cNvPr id="26" name="Text 23"/>
          <p:cNvSpPr/>
          <p:nvPr/>
        </p:nvSpPr>
        <p:spPr>
          <a:xfrm>
            <a:off x="9603879" y="5757416"/>
            <a:ext cx="609600" cy="595164"/>
          </a:xfrm>
          <a:prstGeom prst="rect">
            <a:avLst/>
          </a:prstGeom>
          <a:noFill/>
          <a:ln/>
        </p:spPr>
        <p:txBody>
          <a:bodyPr wrap="square" lIns="25400" tIns="25400" rIns="25400" bIns="25400" rtlCol="0" anchor="t">
            <a:normAutofit/>
          </a:bodyPr>
          <a:lstStyle/>
          <a:p>
            <a:pPr marL="0" indent="0" algn="l">
              <a:buNone/>
            </a:pPr>
            <a:r>
              <a:rPr lang="en-US" sz="1650" kern="0" spc="165" dirty="0">
                <a:solidFill>
                  <a:srgbClr val="9AA0AB"/>
                </a:solidFill>
                <a:latin typeface="Arial" pitchFamily="34" charset="0"/>
                <a:ea typeface="Arial" pitchFamily="34" charset="-122"/>
                <a:cs typeface="Arial" pitchFamily="34" charset="-120"/>
              </a:rPr>
              <a:t>03</a:t>
            </a:r>
            <a:endParaRPr lang="en-US" sz="1650" dirty="0"/>
          </a:p>
        </p:txBody>
      </p:sp>
      <p:sp>
        <p:nvSpPr>
          <p:cNvPr id="27" name="Text 24"/>
          <p:cNvSpPr/>
          <p:nvPr/>
        </p:nvSpPr>
        <p:spPr>
          <a:xfrm>
            <a:off x="10327779" y="5662166"/>
            <a:ext cx="7217953" cy="33144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100" b="1" dirty="0">
                <a:solidFill>
                  <a:srgbClr val="F4EFE6"/>
                </a:solidFill>
                <a:latin typeface="Arial" pitchFamily="34" charset="0"/>
                <a:ea typeface="Arial" pitchFamily="34" charset="-122"/>
                <a:cs typeface="Arial" pitchFamily="34" charset="-120"/>
              </a:rPr>
              <a:t>HI02</a:t>
            </a:r>
            <a:endParaRPr lang="en-US" sz="2100" dirty="0"/>
          </a:p>
        </p:txBody>
      </p:sp>
      <p:sp>
        <p:nvSpPr>
          <p:cNvPr id="28" name="Text 25"/>
          <p:cNvSpPr/>
          <p:nvPr/>
        </p:nvSpPr>
        <p:spPr>
          <a:xfrm>
            <a:off x="10327779" y="6031706"/>
            <a:ext cx="7217953"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dirty="0">
                <a:solidFill>
                  <a:srgbClr val="9AA0AB"/>
                </a:solidFill>
                <a:latin typeface="Arial" pitchFamily="34" charset="0"/>
                <a:ea typeface="Arial" pitchFamily="34" charset="-122"/>
                <a:cs typeface="Arial" pitchFamily="34" charset="-120"/>
              </a:rPr>
              <a:t>Heatwave indicator — heat and drought must co-occur.</a:t>
            </a:r>
            <a:endParaRPr lang="en-US" sz="1650" dirty="0"/>
          </a:p>
        </p:txBody>
      </p:sp>
      <p:sp>
        <p:nvSpPr>
          <p:cNvPr id="29" name="Shape 26"/>
          <p:cNvSpPr/>
          <p:nvPr/>
        </p:nvSpPr>
        <p:spPr>
          <a:xfrm>
            <a:off x="9603879" y="6524030"/>
            <a:ext cx="7731621" cy="9525"/>
          </a:xfrm>
          <a:prstGeom prst="rect">
            <a:avLst/>
          </a:prstGeom>
          <a:solidFill>
            <a:srgbClr val="2A2F3A"/>
          </a:solidFill>
          <a:ln/>
        </p:spPr>
        <p:txBody>
          <a:bodyPr/>
          <a:lstStyle/>
          <a:p>
            <a:endParaRPr lang="en-US"/>
          </a:p>
        </p:txBody>
      </p:sp>
      <p:sp>
        <p:nvSpPr>
          <p:cNvPr id="30" name="Text 27"/>
          <p:cNvSpPr/>
          <p:nvPr/>
        </p:nvSpPr>
        <p:spPr>
          <a:xfrm>
            <a:off x="9603879" y="6762155"/>
            <a:ext cx="609600" cy="595164"/>
          </a:xfrm>
          <a:prstGeom prst="rect">
            <a:avLst/>
          </a:prstGeom>
          <a:noFill/>
          <a:ln/>
        </p:spPr>
        <p:txBody>
          <a:bodyPr wrap="square" lIns="25400" tIns="25400" rIns="25400" bIns="25400" rtlCol="0" anchor="t">
            <a:normAutofit/>
          </a:bodyPr>
          <a:lstStyle/>
          <a:p>
            <a:pPr marL="0" indent="0" algn="l">
              <a:buNone/>
            </a:pPr>
            <a:r>
              <a:rPr lang="en-US" sz="1650" kern="0" spc="165" dirty="0">
                <a:solidFill>
                  <a:srgbClr val="9AA0AB"/>
                </a:solidFill>
                <a:latin typeface="Arial" pitchFamily="34" charset="0"/>
                <a:ea typeface="Arial" pitchFamily="34" charset="-122"/>
                <a:cs typeface="Arial" pitchFamily="34" charset="-120"/>
              </a:rPr>
              <a:t>04</a:t>
            </a:r>
            <a:endParaRPr lang="en-US" sz="1650" dirty="0"/>
          </a:p>
        </p:txBody>
      </p:sp>
      <p:sp>
        <p:nvSpPr>
          <p:cNvPr id="31" name="Text 28"/>
          <p:cNvSpPr/>
          <p:nvPr/>
        </p:nvSpPr>
        <p:spPr>
          <a:xfrm>
            <a:off x="10327779" y="6666905"/>
            <a:ext cx="7217953" cy="33144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100" b="1" dirty="0">
                <a:solidFill>
                  <a:srgbClr val="F4EFE6"/>
                </a:solidFill>
                <a:latin typeface="Arial" pitchFamily="34" charset="0"/>
                <a:ea typeface="Arial" pitchFamily="34" charset="-122"/>
                <a:cs typeface="Arial" pitchFamily="34" charset="-120"/>
              </a:rPr>
              <a:t>drought_trend_14d</a:t>
            </a:r>
            <a:endParaRPr lang="en-US" sz="2100" dirty="0"/>
          </a:p>
        </p:txBody>
      </p:sp>
      <p:sp>
        <p:nvSpPr>
          <p:cNvPr id="32" name="Text 29"/>
          <p:cNvSpPr/>
          <p:nvPr/>
        </p:nvSpPr>
        <p:spPr>
          <a:xfrm>
            <a:off x="10327779" y="7036445"/>
            <a:ext cx="7217953"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dirty="0">
                <a:solidFill>
                  <a:srgbClr val="9AA0AB"/>
                </a:solidFill>
                <a:latin typeface="Arial" pitchFamily="34" charset="0"/>
                <a:ea typeface="Arial" pitchFamily="34" charset="-122"/>
                <a:cs typeface="Arial" pitchFamily="34" charset="-120"/>
              </a:rPr>
              <a:t>Two-week drying trajectory matters more than a snapshot.</a:t>
            </a:r>
            <a:endParaRPr lang="en-US" sz="1650" dirty="0"/>
          </a:p>
        </p:txBody>
      </p:sp>
      <p:sp>
        <p:nvSpPr>
          <p:cNvPr id="33" name="Shape 30"/>
          <p:cNvSpPr/>
          <p:nvPr/>
        </p:nvSpPr>
        <p:spPr>
          <a:xfrm>
            <a:off x="9603879" y="7528768"/>
            <a:ext cx="7731621" cy="9525"/>
          </a:xfrm>
          <a:prstGeom prst="rect">
            <a:avLst/>
          </a:prstGeom>
          <a:solidFill>
            <a:srgbClr val="2A2F3A"/>
          </a:solidFill>
          <a:ln/>
        </p:spPr>
        <p:txBody>
          <a:bodyPr/>
          <a:lstStyle/>
          <a:p>
            <a:endParaRPr lang="en-US"/>
          </a:p>
        </p:txBody>
      </p:sp>
      <p:sp>
        <p:nvSpPr>
          <p:cNvPr id="34" name="Text 31"/>
          <p:cNvSpPr/>
          <p:nvPr/>
        </p:nvSpPr>
        <p:spPr>
          <a:xfrm>
            <a:off x="9603879" y="7766893"/>
            <a:ext cx="609600" cy="595164"/>
          </a:xfrm>
          <a:prstGeom prst="rect">
            <a:avLst/>
          </a:prstGeom>
          <a:noFill/>
          <a:ln/>
        </p:spPr>
        <p:txBody>
          <a:bodyPr wrap="square" lIns="25400" tIns="25400" rIns="25400" bIns="25400" rtlCol="0" anchor="t">
            <a:normAutofit/>
          </a:bodyPr>
          <a:lstStyle/>
          <a:p>
            <a:pPr marL="0" indent="0" algn="l">
              <a:buNone/>
            </a:pPr>
            <a:r>
              <a:rPr lang="en-US" sz="1650" kern="0" spc="165" dirty="0">
                <a:solidFill>
                  <a:srgbClr val="9AA0AB"/>
                </a:solidFill>
                <a:latin typeface="Arial" pitchFamily="34" charset="0"/>
                <a:ea typeface="Arial" pitchFamily="34" charset="-122"/>
                <a:cs typeface="Arial" pitchFamily="34" charset="-120"/>
              </a:rPr>
              <a:t>05</a:t>
            </a:r>
            <a:endParaRPr lang="en-US" sz="1650" dirty="0"/>
          </a:p>
        </p:txBody>
      </p:sp>
      <p:sp>
        <p:nvSpPr>
          <p:cNvPr id="35" name="Text 32"/>
          <p:cNvSpPr/>
          <p:nvPr/>
        </p:nvSpPr>
        <p:spPr>
          <a:xfrm>
            <a:off x="10327779" y="7671643"/>
            <a:ext cx="7217953" cy="33144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100" b="1" dirty="0">
                <a:solidFill>
                  <a:srgbClr val="F4EFE6"/>
                </a:solidFill>
                <a:latin typeface="Arial" pitchFamily="34" charset="0"/>
                <a:ea typeface="Arial" pitchFamily="34" charset="-122"/>
                <a:cs typeface="Arial" pitchFamily="34" charset="-120"/>
              </a:rPr>
              <a:t>spei90d</a:t>
            </a:r>
            <a:endParaRPr lang="en-US" sz="2100" dirty="0"/>
          </a:p>
        </p:txBody>
      </p:sp>
      <p:sp>
        <p:nvSpPr>
          <p:cNvPr id="36" name="Text 33"/>
          <p:cNvSpPr/>
          <p:nvPr/>
        </p:nvSpPr>
        <p:spPr>
          <a:xfrm>
            <a:off x="10327779" y="8041184"/>
            <a:ext cx="7217953"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dirty="0">
                <a:solidFill>
                  <a:srgbClr val="9AA0AB"/>
                </a:solidFill>
                <a:latin typeface="Arial" pitchFamily="34" charset="0"/>
                <a:ea typeface="Arial" pitchFamily="34" charset="-122"/>
                <a:cs typeface="Arial" pitchFamily="34" charset="-120"/>
              </a:rPr>
              <a:t>90-day standardised precipitation evapotranspiration.</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F1115"/>
          </a:solidFill>
          <a:ln/>
        </p:spPr>
        <p:txBody>
          <a:bodyPr/>
          <a:lstStyle/>
          <a:p>
            <a:endParaRPr lang="en-US"/>
          </a:p>
        </p:txBody>
      </p:sp>
      <p:sp>
        <p:nvSpPr>
          <p:cNvPr id="3" name="Shape 1"/>
          <p:cNvSpPr/>
          <p:nvPr/>
        </p:nvSpPr>
        <p:spPr>
          <a:xfrm>
            <a:off x="0" y="0"/>
            <a:ext cx="18288000" cy="57150"/>
          </a:xfrm>
          <a:prstGeom prst="rect">
            <a:avLst/>
          </a:prstGeom>
          <a:solidFill>
            <a:srgbClr val="FF2D2D"/>
          </a:solidFill>
          <a:ln/>
        </p:spPr>
        <p:txBody>
          <a:bodyPr/>
          <a:lstStyle/>
          <a:p>
            <a:endParaRPr lang="en-US"/>
          </a:p>
        </p:txBody>
      </p:sp>
      <p:sp>
        <p:nvSpPr>
          <p:cNvPr id="4" name="Text 2"/>
          <p:cNvSpPr/>
          <p:nvPr/>
        </p:nvSpPr>
        <p:spPr>
          <a:xfrm>
            <a:off x="10822930" y="342900"/>
            <a:ext cx="22487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1143059" y="357188"/>
            <a:ext cx="3127790"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ZERO SHOT HOPEFULS</a:t>
            </a:r>
            <a:endParaRPr lang="en-US" sz="1800" dirty="0"/>
          </a:p>
        </p:txBody>
      </p:sp>
      <p:sp>
        <p:nvSpPr>
          <p:cNvPr id="6" name="Text 4"/>
          <p:cNvSpPr/>
          <p:nvPr/>
        </p:nvSpPr>
        <p:spPr>
          <a:xfrm>
            <a:off x="14351198" y="357188"/>
            <a:ext cx="162669"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alpha val="40000"/>
                  </a:srgbClr>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4609118" y="357188"/>
            <a:ext cx="280817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ESSD AI CHALLENGE</a:t>
            </a:r>
            <a:endParaRPr lang="en-US" sz="1800" dirty="0"/>
          </a:p>
        </p:txBody>
      </p:sp>
      <p:sp>
        <p:nvSpPr>
          <p:cNvPr id="8" name="Text 6"/>
          <p:cNvSpPr/>
          <p:nvPr/>
        </p:nvSpPr>
        <p:spPr>
          <a:xfrm>
            <a:off x="16456075" y="9763125"/>
            <a:ext cx="39632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08</a:t>
            </a:r>
            <a:endParaRPr lang="en-US" sz="1800" dirty="0"/>
          </a:p>
        </p:txBody>
      </p:sp>
      <p:sp>
        <p:nvSpPr>
          <p:cNvPr id="9" name="Text 7"/>
          <p:cNvSpPr/>
          <p:nvPr/>
        </p:nvSpPr>
        <p:spPr>
          <a:xfrm>
            <a:off x="16776204" y="9782175"/>
            <a:ext cx="63549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9AA0AB">
                    <a:alpha val="50000"/>
                  </a:srgbClr>
                </a:solidFill>
                <a:latin typeface="Arial" pitchFamily="34" charset="0"/>
                <a:ea typeface="Arial" pitchFamily="34" charset="-122"/>
                <a:cs typeface="Arial" pitchFamily="34" charset="-120"/>
              </a:rPr>
              <a:t>/ 13</a:t>
            </a:r>
            <a:endParaRPr lang="en-US" sz="1800" dirty="0"/>
          </a:p>
        </p:txBody>
      </p:sp>
      <p:sp>
        <p:nvSpPr>
          <p:cNvPr id="10" name="Text 8"/>
          <p:cNvSpPr/>
          <p:nvPr/>
        </p:nvSpPr>
        <p:spPr>
          <a:xfrm>
            <a:off x="952500" y="952500"/>
            <a:ext cx="16874490" cy="333375"/>
          </a:xfrm>
          <a:prstGeom prst="rect">
            <a:avLst/>
          </a:prstGeom>
          <a:noFill/>
          <a:ln/>
        </p:spPr>
        <p:txBody>
          <a:bodyPr wrap="square" lIns="25400" tIns="25400" rIns="25400" bIns="25400" rtlCol="0" anchor="t">
            <a:normAutofit/>
          </a:bodyPr>
          <a:lstStyle/>
          <a:p>
            <a:pPr marL="0" indent="0" algn="l">
              <a:buNone/>
            </a:pPr>
            <a:r>
              <a:rPr lang="en-US" sz="1800" b="1" kern="0" spc="396" dirty="0">
                <a:solidFill>
                  <a:srgbClr val="FF5A1F"/>
                </a:solidFill>
                <a:latin typeface="Arial" pitchFamily="34" charset="0"/>
                <a:ea typeface="Arial" pitchFamily="34" charset="-122"/>
                <a:cs typeface="Arial" pitchFamily="34" charset="-120"/>
              </a:rPr>
              <a:t>LLM BENCHMARK · THREE LOCALLY-HOSTED MODELS</a:t>
            </a:r>
            <a:endParaRPr lang="en-US" sz="1800" dirty="0"/>
          </a:p>
        </p:txBody>
      </p:sp>
      <p:sp>
        <p:nvSpPr>
          <p:cNvPr id="11" name="Text 9"/>
          <p:cNvSpPr/>
          <p:nvPr/>
        </p:nvSpPr>
        <p:spPr>
          <a:xfrm>
            <a:off x="952500" y="1552575"/>
            <a:ext cx="16678275" cy="1514773"/>
          </a:xfrm>
          <a:prstGeom prst="rect">
            <a:avLst/>
          </a:prstGeom>
          <a:noFill/>
          <a:ln/>
        </p:spPr>
        <p:txBody>
          <a:bodyPr wrap="square" lIns="25400" tIns="25400" rIns="25400" bIns="25400" rtlCol="0" anchor="t">
            <a:normAutofit fontScale="92500"/>
          </a:bodyPr>
          <a:lstStyle/>
          <a:p>
            <a:pPr marL="0" indent="0" algn="l">
              <a:lnSpc>
                <a:spcPct val="102000"/>
              </a:lnSpc>
              <a:buNone/>
            </a:pPr>
            <a:r>
              <a:rPr lang="en-US" sz="5700" b="1" kern="0" spc="-142" dirty="0">
                <a:solidFill>
                  <a:srgbClr val="F4EFE6"/>
                </a:solidFill>
                <a:latin typeface="Arial" pitchFamily="34" charset="0"/>
                <a:ea typeface="Arial" pitchFamily="34" charset="-122"/>
                <a:cs typeface="Arial" pitchFamily="34" charset="-120"/>
              </a:rPr>
              <a:t>Small LLMs can parse the task, </a:t>
            </a:r>
            <a:r>
              <a:rPr lang="en-US" sz="5700" b="1" kern="0" spc="-142" dirty="0">
                <a:solidFill>
                  <a:srgbClr val="FF5A1F"/>
                </a:solidFill>
                <a:latin typeface="Arial" pitchFamily="34" charset="0"/>
                <a:ea typeface="Arial" pitchFamily="34" charset="-122"/>
                <a:cs typeface="Arial" pitchFamily="34" charset="-120"/>
              </a:rPr>
              <a:t>but not the numbers.</a:t>
            </a:r>
            <a:endParaRPr lang="en-US" sz="5700" dirty="0"/>
          </a:p>
        </p:txBody>
      </p:sp>
      <p:sp>
        <p:nvSpPr>
          <p:cNvPr id="12" name="Text 10"/>
          <p:cNvSpPr/>
          <p:nvPr/>
        </p:nvSpPr>
        <p:spPr>
          <a:xfrm>
            <a:off x="952500" y="3562648"/>
            <a:ext cx="8551142" cy="285750"/>
          </a:xfrm>
          <a:prstGeom prst="rect">
            <a:avLst/>
          </a:prstGeom>
          <a:noFill/>
          <a:ln/>
        </p:spPr>
        <p:txBody>
          <a:bodyPr wrap="square" lIns="25400" tIns="25400" rIns="25400" bIns="25400" rtlCol="0" anchor="t">
            <a:normAutofit lnSpcReduction="10000"/>
          </a:bodyPr>
          <a:lstStyle/>
          <a:p>
            <a:pPr marL="0" indent="0" algn="l">
              <a:buNone/>
            </a:pPr>
            <a:r>
              <a:rPr lang="en-US" sz="1650" kern="0" spc="247" dirty="0">
                <a:solidFill>
                  <a:srgbClr val="9AA0AB"/>
                </a:solidFill>
                <a:latin typeface="Arial" pitchFamily="34" charset="0"/>
                <a:ea typeface="Arial" pitchFamily="34" charset="-122"/>
                <a:cs typeface="Arial" pitchFamily="34" charset="-120"/>
              </a:rPr>
              <a:t>HOW WE RAN IT</a:t>
            </a:r>
            <a:endParaRPr lang="en-US" sz="1650" dirty="0"/>
          </a:p>
        </p:txBody>
      </p:sp>
      <p:sp>
        <p:nvSpPr>
          <p:cNvPr id="13" name="Shape 11"/>
          <p:cNvSpPr/>
          <p:nvPr/>
        </p:nvSpPr>
        <p:spPr>
          <a:xfrm>
            <a:off x="952500" y="4076998"/>
            <a:ext cx="8302079" cy="4896445"/>
          </a:xfrm>
          <a:prstGeom prst="rect">
            <a:avLst/>
          </a:prstGeom>
          <a:solidFill>
            <a:srgbClr val="16191F"/>
          </a:solidFill>
          <a:ln w="9525">
            <a:solidFill>
              <a:srgbClr val="2A2F3A"/>
            </a:solidFill>
            <a:prstDash val="solid"/>
          </a:ln>
        </p:spPr>
        <p:txBody>
          <a:bodyPr/>
          <a:lstStyle/>
          <a:p>
            <a:endParaRPr lang="en-US"/>
          </a:p>
        </p:txBody>
      </p:sp>
      <p:sp>
        <p:nvSpPr>
          <p:cNvPr id="14" name="Text 12"/>
          <p:cNvSpPr/>
          <p:nvPr/>
        </p:nvSpPr>
        <p:spPr>
          <a:xfrm>
            <a:off x="1266825" y="4391323"/>
            <a:ext cx="7903632" cy="373261"/>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650" dirty="0">
                <a:solidFill>
                  <a:srgbClr val="9AA0AB"/>
                </a:solidFill>
                <a:latin typeface="Arial" pitchFamily="34" charset="0"/>
                <a:ea typeface="Arial" pitchFamily="34" charset="-122"/>
                <a:cs typeface="Arial" pitchFamily="34" charset="-120"/>
              </a:rPr>
              <a:t>// prompt each row with 26 features</a:t>
            </a:r>
            <a:endParaRPr lang="en-US" sz="1650" dirty="0"/>
          </a:p>
        </p:txBody>
      </p:sp>
      <p:sp>
        <p:nvSpPr>
          <p:cNvPr id="15" name="Text 13"/>
          <p:cNvSpPr/>
          <p:nvPr/>
        </p:nvSpPr>
        <p:spPr>
          <a:xfrm>
            <a:off x="1266825" y="4726484"/>
            <a:ext cx="7903632" cy="373261"/>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650" dirty="0">
                <a:solidFill>
                  <a:srgbClr val="9AA0AB"/>
                </a:solidFill>
                <a:latin typeface="Arial" pitchFamily="34" charset="0"/>
                <a:ea typeface="Arial" pitchFamily="34" charset="-122"/>
                <a:cs typeface="Arial" pitchFamily="34" charset="-120"/>
              </a:rPr>
              <a:t>// name, value, units, domain range</a:t>
            </a:r>
            <a:endParaRPr lang="en-US" sz="1650" dirty="0"/>
          </a:p>
        </p:txBody>
      </p:sp>
      <p:sp>
        <p:nvSpPr>
          <p:cNvPr id="16" name="Text 14"/>
          <p:cNvSpPr/>
          <p:nvPr/>
        </p:nvSpPr>
        <p:spPr>
          <a:xfrm>
            <a:off x="1266825" y="5223570"/>
            <a:ext cx="658862" cy="276225"/>
          </a:xfrm>
          <a:prstGeom prst="rect">
            <a:avLst/>
          </a:prstGeom>
          <a:noFill/>
          <a:ln/>
        </p:spPr>
        <p:txBody>
          <a:bodyPr wrap="square" lIns="25400" tIns="25400" rIns="25400" bIns="25400" rtlCol="0" anchor="t">
            <a:normAutofit fontScale="62500" lnSpcReduction="20000"/>
          </a:bodyPr>
          <a:lstStyle/>
          <a:p>
            <a:pPr marL="0" indent="0" algn="l">
              <a:lnSpc>
                <a:spcPct val="160000"/>
              </a:lnSpc>
              <a:buNone/>
            </a:pPr>
            <a:r>
              <a:rPr lang="en-US" sz="1650" dirty="0">
                <a:solidFill>
                  <a:srgbClr val="FFB347"/>
                </a:solidFill>
                <a:latin typeface="Arial" pitchFamily="34" charset="0"/>
                <a:ea typeface="Arial" pitchFamily="34" charset="-122"/>
                <a:cs typeface="Arial" pitchFamily="34" charset="-120"/>
              </a:rPr>
              <a:t>output</a:t>
            </a:r>
            <a:endParaRPr lang="en-US" sz="1650" dirty="0"/>
          </a:p>
        </p:txBody>
      </p:sp>
      <p:sp>
        <p:nvSpPr>
          <p:cNvPr id="17" name="Text 15"/>
          <p:cNvSpPr/>
          <p:nvPr/>
        </p:nvSpPr>
        <p:spPr>
          <a:xfrm>
            <a:off x="1907679" y="5223570"/>
            <a:ext cx="198686" cy="276225"/>
          </a:xfrm>
          <a:prstGeom prst="rect">
            <a:avLst/>
          </a:prstGeom>
          <a:noFill/>
          <a:ln/>
        </p:spPr>
        <p:txBody>
          <a:bodyPr wrap="square" lIns="0" tIns="0" rIns="0" bIns="0" rtlCol="0" anchor="t">
            <a:normAutofit fontScale="85000" lnSpcReduction="20000"/>
          </a:bodyPr>
          <a:lstStyle/>
          <a:p>
            <a:pPr marL="0" indent="0" algn="l">
              <a:lnSpc>
                <a:spcPct val="160000"/>
              </a:lnSpc>
              <a:buNone/>
            </a:pPr>
            <a:r>
              <a:rPr lang="en-US" sz="1650" dirty="0">
                <a:solidFill>
                  <a:srgbClr val="F4EFE6"/>
                </a:solidFill>
                <a:latin typeface="Arial" pitchFamily="34" charset="0"/>
                <a:ea typeface="Arial" pitchFamily="34" charset="-122"/>
                <a:cs typeface="Arial" pitchFamily="34" charset="-120"/>
              </a:rPr>
              <a:t>=</a:t>
            </a:r>
            <a:endParaRPr lang="en-US" sz="1650" dirty="0"/>
          </a:p>
        </p:txBody>
      </p:sp>
      <p:sp>
        <p:nvSpPr>
          <p:cNvPr id="18" name="Text 16"/>
          <p:cNvSpPr/>
          <p:nvPr/>
        </p:nvSpPr>
        <p:spPr>
          <a:xfrm>
            <a:off x="2088356" y="5223570"/>
            <a:ext cx="146298" cy="276225"/>
          </a:xfrm>
          <a:prstGeom prst="rect">
            <a:avLst/>
          </a:prstGeom>
          <a:noFill/>
          <a:ln/>
        </p:spPr>
        <p:txBody>
          <a:bodyPr wrap="square" lIns="0" tIns="0" rIns="0" bIns="0" rtlCol="0" anchor="t">
            <a:normAutofit fontScale="85000" lnSpcReduction="20000"/>
          </a:bodyPr>
          <a:lstStyle/>
          <a:p>
            <a:pPr marL="0" indent="0" algn="l">
              <a:lnSpc>
                <a:spcPct val="160000"/>
              </a:lnSpc>
              <a:buNone/>
            </a:pPr>
            <a:r>
              <a:rPr lang="en-US" sz="1650" dirty="0">
                <a:solidFill>
                  <a:srgbClr val="F4EFE6"/>
                </a:solidFill>
                <a:latin typeface="Arial" pitchFamily="34" charset="0"/>
                <a:ea typeface="Arial" pitchFamily="34" charset="-122"/>
                <a:cs typeface="Arial" pitchFamily="34" charset="-120"/>
              </a:rPr>
              <a:t>{</a:t>
            </a:r>
            <a:endParaRPr lang="en-US" sz="1650" dirty="0"/>
          </a:p>
        </p:txBody>
      </p:sp>
      <p:sp>
        <p:nvSpPr>
          <p:cNvPr id="19" name="Text 17"/>
          <p:cNvSpPr/>
          <p:nvPr/>
        </p:nvSpPr>
        <p:spPr>
          <a:xfrm>
            <a:off x="1457325" y="5511105"/>
            <a:ext cx="7707417" cy="708422"/>
          </a:xfrm>
          <a:prstGeom prst="rect">
            <a:avLst/>
          </a:prstGeom>
          <a:noFill/>
          <a:ln/>
        </p:spPr>
        <p:txBody>
          <a:bodyPr wrap="square" lIns="25400" tIns="25400" rIns="25400" bIns="25400" rtlCol="0" anchor="t">
            <a:normAutofit/>
          </a:bodyPr>
          <a:lstStyle/>
          <a:p>
            <a:pPr marL="0" indent="0" algn="l">
              <a:lnSpc>
                <a:spcPct val="160000"/>
              </a:lnSpc>
              <a:buNone/>
            </a:pPr>
            <a:r>
              <a:rPr lang="en-US" sz="1650" dirty="0">
                <a:solidFill>
                  <a:srgbClr val="FF5A1F"/>
                </a:solidFill>
                <a:latin typeface="Arial" pitchFamily="34" charset="0"/>
                <a:ea typeface="Arial" pitchFamily="34" charset="-122"/>
                <a:cs typeface="Arial" pitchFamily="34" charset="-120"/>
              </a:rPr>
              <a:t>"prediction"</a:t>
            </a:r>
            <a:r>
              <a:rPr lang="en-US" sz="1650" dirty="0">
                <a:solidFill>
                  <a:srgbClr val="F4EFE6"/>
                </a:solidFill>
                <a:latin typeface="Arial" pitchFamily="34" charset="0"/>
                <a:ea typeface="Arial" pitchFamily="34" charset="-122"/>
                <a:cs typeface="Arial" pitchFamily="34" charset="-120"/>
              </a:rPr>
              <a:t>: 0 | 1, </a:t>
            </a:r>
            <a:r>
              <a:rPr lang="en-US" sz="1650" dirty="0">
                <a:solidFill>
                  <a:srgbClr val="FF5A1F"/>
                </a:solidFill>
                <a:latin typeface="Arial" pitchFamily="34" charset="0"/>
                <a:ea typeface="Arial" pitchFamily="34" charset="-122"/>
                <a:cs typeface="Arial" pitchFamily="34" charset="-120"/>
              </a:rPr>
              <a:t>"confidence"</a:t>
            </a:r>
            <a:r>
              <a:rPr lang="en-US" sz="1650" dirty="0">
                <a:solidFill>
                  <a:srgbClr val="F4EFE6"/>
                </a:solidFill>
                <a:latin typeface="Arial" pitchFamily="34" charset="0"/>
                <a:ea typeface="Arial" pitchFamily="34" charset="-122"/>
                <a:cs typeface="Arial" pitchFamily="34" charset="-120"/>
              </a:rPr>
              <a:t>: 0.0 – 1.0</a:t>
            </a:r>
            <a:endParaRPr lang="en-US" sz="1650" dirty="0"/>
          </a:p>
        </p:txBody>
      </p:sp>
      <p:sp>
        <p:nvSpPr>
          <p:cNvPr id="20" name="Text 18"/>
          <p:cNvSpPr/>
          <p:nvPr/>
        </p:nvSpPr>
        <p:spPr>
          <a:xfrm>
            <a:off x="1266825" y="6229052"/>
            <a:ext cx="146298" cy="276225"/>
          </a:xfrm>
          <a:prstGeom prst="rect">
            <a:avLst/>
          </a:prstGeom>
          <a:noFill/>
          <a:ln/>
        </p:spPr>
        <p:txBody>
          <a:bodyPr wrap="square" lIns="0" tIns="0" rIns="0" bIns="0" rtlCol="0" anchor="t">
            <a:normAutofit fontScale="85000" lnSpcReduction="20000"/>
          </a:bodyPr>
          <a:lstStyle/>
          <a:p>
            <a:pPr marL="0" indent="0" algn="l">
              <a:lnSpc>
                <a:spcPct val="160000"/>
              </a:lnSpc>
              <a:buNone/>
            </a:pPr>
            <a:r>
              <a:rPr lang="en-US" sz="1650" dirty="0">
                <a:solidFill>
                  <a:srgbClr val="F4EFE6"/>
                </a:solidFill>
                <a:latin typeface="Arial" pitchFamily="34" charset="0"/>
                <a:ea typeface="Arial" pitchFamily="34" charset="-122"/>
                <a:cs typeface="Arial" pitchFamily="34" charset="-120"/>
              </a:rPr>
              <a:t>}</a:t>
            </a:r>
            <a:endParaRPr lang="en-US" sz="1650" dirty="0"/>
          </a:p>
        </p:txBody>
      </p:sp>
      <p:sp>
        <p:nvSpPr>
          <p:cNvPr id="21" name="Shape 19"/>
          <p:cNvSpPr/>
          <p:nvPr/>
        </p:nvSpPr>
        <p:spPr>
          <a:xfrm>
            <a:off x="1266825" y="6745188"/>
            <a:ext cx="7673429" cy="9525"/>
          </a:xfrm>
          <a:prstGeom prst="rect">
            <a:avLst/>
          </a:prstGeom>
          <a:solidFill>
            <a:srgbClr val="2A2F3A"/>
          </a:solidFill>
          <a:ln/>
        </p:spPr>
        <p:txBody>
          <a:bodyPr/>
          <a:lstStyle/>
          <a:p>
            <a:endParaRPr lang="en-US"/>
          </a:p>
        </p:txBody>
      </p:sp>
      <p:sp>
        <p:nvSpPr>
          <p:cNvPr id="22" name="Text 20"/>
          <p:cNvSpPr/>
          <p:nvPr/>
        </p:nvSpPr>
        <p:spPr>
          <a:xfrm>
            <a:off x="1266825" y="6983313"/>
            <a:ext cx="7903632" cy="373261"/>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650" dirty="0">
                <a:solidFill>
                  <a:srgbClr val="9AA0AB"/>
                </a:solidFill>
                <a:latin typeface="Arial" pitchFamily="34" charset="0"/>
                <a:ea typeface="Arial" pitchFamily="34" charset="-122"/>
                <a:cs typeface="Arial" pitchFamily="34" charset="-120"/>
              </a:rPr>
              <a:t>// 4 prompt variants tested:</a:t>
            </a:r>
            <a:endParaRPr lang="en-US" sz="1650" dirty="0"/>
          </a:p>
        </p:txBody>
      </p:sp>
      <p:sp>
        <p:nvSpPr>
          <p:cNvPr id="23" name="Text 21"/>
          <p:cNvSpPr/>
          <p:nvPr/>
        </p:nvSpPr>
        <p:spPr>
          <a:xfrm>
            <a:off x="1266825" y="7318474"/>
            <a:ext cx="7903632" cy="373261"/>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650" dirty="0">
                <a:solidFill>
                  <a:srgbClr val="F4EFE6"/>
                </a:solidFill>
                <a:latin typeface="Arial" pitchFamily="34" charset="0"/>
                <a:ea typeface="Arial" pitchFamily="34" charset="-122"/>
                <a:cs typeface="Arial" pitchFamily="34" charset="-120"/>
              </a:rPr>
              <a:t>v1 · zero-shot, all 26 features</a:t>
            </a:r>
            <a:endParaRPr lang="en-US" sz="1650" dirty="0"/>
          </a:p>
        </p:txBody>
      </p:sp>
      <p:sp>
        <p:nvSpPr>
          <p:cNvPr id="24" name="Text 22"/>
          <p:cNvSpPr/>
          <p:nvPr/>
        </p:nvSpPr>
        <p:spPr>
          <a:xfrm>
            <a:off x="1266825" y="7653635"/>
            <a:ext cx="7903632" cy="373261"/>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650" dirty="0">
                <a:solidFill>
                  <a:srgbClr val="F4EFE6"/>
                </a:solidFill>
                <a:latin typeface="Arial" pitchFamily="34" charset="0"/>
                <a:ea typeface="Arial" pitchFamily="34" charset="-122"/>
                <a:cs typeface="Arial" pitchFamily="34" charset="-120"/>
              </a:rPr>
              <a:t>v2 · few-shot, all 26 features</a:t>
            </a:r>
            <a:endParaRPr lang="en-US" sz="1650" dirty="0"/>
          </a:p>
        </p:txBody>
      </p:sp>
      <p:sp>
        <p:nvSpPr>
          <p:cNvPr id="25" name="Text 23"/>
          <p:cNvSpPr/>
          <p:nvPr/>
        </p:nvSpPr>
        <p:spPr>
          <a:xfrm>
            <a:off x="1266825" y="7988796"/>
            <a:ext cx="7903632" cy="373261"/>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650" dirty="0">
                <a:solidFill>
                  <a:srgbClr val="F4EFE6"/>
                </a:solidFill>
                <a:latin typeface="Arial" pitchFamily="34" charset="0"/>
                <a:ea typeface="Arial" pitchFamily="34" charset="-122"/>
                <a:cs typeface="Arial" pitchFamily="34" charset="-120"/>
              </a:rPr>
              <a:t>v3 · zero-shot, top-8 SHAP</a:t>
            </a:r>
            <a:endParaRPr lang="en-US" sz="1650" dirty="0"/>
          </a:p>
        </p:txBody>
      </p:sp>
      <p:sp>
        <p:nvSpPr>
          <p:cNvPr id="26" name="Text 24"/>
          <p:cNvSpPr/>
          <p:nvPr/>
        </p:nvSpPr>
        <p:spPr>
          <a:xfrm>
            <a:off x="1266825" y="8323957"/>
            <a:ext cx="7903632" cy="373261"/>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650" dirty="0">
                <a:solidFill>
                  <a:srgbClr val="F4EFE6"/>
                </a:solidFill>
                <a:latin typeface="Arial" pitchFamily="34" charset="0"/>
                <a:ea typeface="Arial" pitchFamily="34" charset="-122"/>
                <a:cs typeface="Arial" pitchFamily="34" charset="-120"/>
              </a:rPr>
              <a:t>v3_few · few-shot, top-8 SHAP</a:t>
            </a:r>
            <a:endParaRPr lang="en-US" sz="1650" dirty="0"/>
          </a:p>
        </p:txBody>
      </p:sp>
      <p:sp>
        <p:nvSpPr>
          <p:cNvPr id="27" name="Text 25"/>
          <p:cNvSpPr/>
          <p:nvPr/>
        </p:nvSpPr>
        <p:spPr>
          <a:xfrm>
            <a:off x="952500" y="9240143"/>
            <a:ext cx="8551142"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9AA0AB"/>
                </a:solidFill>
                <a:latin typeface="Arial" pitchFamily="34" charset="0"/>
                <a:ea typeface="Arial" pitchFamily="34" charset="-122"/>
                <a:cs typeface="Arial" pitchFamily="34" charset="-120"/>
              </a:rPr>
              <a:t>Run on PNNL JupyterHub. Few-shot examples drawn exclusively from training set (2001–2015) to prevent leakage.</a:t>
            </a:r>
            <a:endParaRPr lang="en-US" sz="1800" dirty="0"/>
          </a:p>
        </p:txBody>
      </p:sp>
      <p:sp>
        <p:nvSpPr>
          <p:cNvPr id="28" name="Text 26"/>
          <p:cNvSpPr/>
          <p:nvPr/>
        </p:nvSpPr>
        <p:spPr>
          <a:xfrm>
            <a:off x="9787979" y="3562648"/>
            <a:ext cx="7773946" cy="285750"/>
          </a:xfrm>
          <a:prstGeom prst="rect">
            <a:avLst/>
          </a:prstGeom>
          <a:noFill/>
          <a:ln/>
        </p:spPr>
        <p:txBody>
          <a:bodyPr wrap="square" lIns="25400" tIns="25400" rIns="25400" bIns="25400" rtlCol="0" anchor="t">
            <a:normAutofit lnSpcReduction="10000"/>
          </a:bodyPr>
          <a:lstStyle/>
          <a:p>
            <a:pPr marL="0" indent="0" algn="l">
              <a:buNone/>
            </a:pPr>
            <a:r>
              <a:rPr lang="en-US" sz="1650" kern="0" spc="247" dirty="0">
                <a:solidFill>
                  <a:srgbClr val="9AA0AB"/>
                </a:solidFill>
                <a:latin typeface="Arial" pitchFamily="34" charset="0"/>
                <a:ea typeface="Arial" pitchFamily="34" charset="-122"/>
                <a:cs typeface="Arial" pitchFamily="34" charset="-120"/>
              </a:rPr>
              <a:t>THREE MODELS ON THE SAME 1,000-ROW TEST SAMPLE</a:t>
            </a:r>
            <a:endParaRPr lang="en-US" sz="1650" dirty="0"/>
          </a:p>
        </p:txBody>
      </p:sp>
      <p:sp>
        <p:nvSpPr>
          <p:cNvPr id="29" name="Shape 27"/>
          <p:cNvSpPr/>
          <p:nvPr/>
        </p:nvSpPr>
        <p:spPr>
          <a:xfrm>
            <a:off x="9787979" y="4038898"/>
            <a:ext cx="7547521" cy="9525"/>
          </a:xfrm>
          <a:prstGeom prst="rect">
            <a:avLst/>
          </a:prstGeom>
          <a:solidFill>
            <a:srgbClr val="2A2F3A"/>
          </a:solidFill>
          <a:ln/>
        </p:spPr>
        <p:txBody>
          <a:bodyPr/>
          <a:lstStyle/>
          <a:p>
            <a:endParaRPr lang="en-US"/>
          </a:p>
        </p:txBody>
      </p:sp>
      <p:sp>
        <p:nvSpPr>
          <p:cNvPr id="30" name="Text 28"/>
          <p:cNvSpPr/>
          <p:nvPr/>
        </p:nvSpPr>
        <p:spPr>
          <a:xfrm>
            <a:off x="9787979" y="4281785"/>
            <a:ext cx="324046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4EFE6"/>
                </a:solidFill>
                <a:latin typeface="Arial" pitchFamily="34" charset="0"/>
                <a:ea typeface="Arial" pitchFamily="34" charset="-122"/>
                <a:cs typeface="Arial" pitchFamily="34" charset="-120"/>
              </a:rPr>
              <a:t>Phi-3.5-mini-instruct</a:t>
            </a:r>
            <a:endParaRPr lang="en-US" sz="1800" dirty="0"/>
          </a:p>
        </p:txBody>
      </p:sp>
      <p:sp>
        <p:nvSpPr>
          <p:cNvPr id="31" name="Text 29"/>
          <p:cNvSpPr/>
          <p:nvPr/>
        </p:nvSpPr>
        <p:spPr>
          <a:xfrm>
            <a:off x="13086457" y="4238923"/>
            <a:ext cx="838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F4EFE6"/>
                </a:solidFill>
                <a:latin typeface="Arial" pitchFamily="34" charset="0"/>
                <a:ea typeface="Arial" pitchFamily="34" charset="-122"/>
                <a:cs typeface="Arial" pitchFamily="34" charset="-120"/>
              </a:rPr>
              <a:t>0.464</a:t>
            </a:r>
            <a:endParaRPr lang="en-US" sz="2250" dirty="0"/>
          </a:p>
        </p:txBody>
      </p:sp>
      <p:sp>
        <p:nvSpPr>
          <p:cNvPr id="32" name="Text 30"/>
          <p:cNvSpPr/>
          <p:nvPr/>
        </p:nvSpPr>
        <p:spPr>
          <a:xfrm>
            <a:off x="14000857" y="4238923"/>
            <a:ext cx="838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F4EFE6"/>
                </a:solidFill>
                <a:latin typeface="Arial" pitchFamily="34" charset="0"/>
                <a:ea typeface="Arial" pitchFamily="34" charset="-122"/>
                <a:cs typeface="Arial" pitchFamily="34" charset="-120"/>
              </a:rPr>
              <a:t>0.832</a:t>
            </a:r>
            <a:endParaRPr lang="en-US" sz="2250" dirty="0"/>
          </a:p>
        </p:txBody>
      </p:sp>
      <p:sp>
        <p:nvSpPr>
          <p:cNvPr id="33" name="Text 31"/>
          <p:cNvSpPr/>
          <p:nvPr/>
        </p:nvSpPr>
        <p:spPr>
          <a:xfrm>
            <a:off x="14839057" y="4343698"/>
            <a:ext cx="2496443" cy="209550"/>
          </a:xfrm>
          <a:prstGeom prst="rect">
            <a:avLst/>
          </a:prstGeom>
          <a:noFill/>
          <a:ln/>
        </p:spPr>
        <p:txBody>
          <a:bodyPr wrap="square" lIns="25400" tIns="25400" rIns="25400" bIns="25400" rtlCol="0" anchor="t">
            <a:normAutofit fontScale="92500" lnSpcReduction="10000"/>
          </a:bodyPr>
          <a:lstStyle/>
          <a:p>
            <a:pPr marL="0" indent="0" algn="r">
              <a:buNone/>
            </a:pPr>
            <a:r>
              <a:rPr lang="en-US" sz="1200" kern="0" spc="180" dirty="0">
                <a:solidFill>
                  <a:srgbClr val="FF5A1F"/>
                </a:solidFill>
                <a:latin typeface="Arial" pitchFamily="34" charset="0"/>
                <a:ea typeface="Arial" pitchFamily="34" charset="-122"/>
                <a:cs typeface="Arial" pitchFamily="34" charset="-120"/>
              </a:rPr>
              <a:t>BEST LLM</a:t>
            </a:r>
            <a:endParaRPr lang="en-US" sz="1200" dirty="0"/>
          </a:p>
        </p:txBody>
      </p:sp>
      <p:sp>
        <p:nvSpPr>
          <p:cNvPr id="34" name="Shape 32"/>
          <p:cNvSpPr/>
          <p:nvPr/>
        </p:nvSpPr>
        <p:spPr>
          <a:xfrm>
            <a:off x="9787979" y="4810423"/>
            <a:ext cx="7547521" cy="9525"/>
          </a:xfrm>
          <a:prstGeom prst="rect">
            <a:avLst/>
          </a:prstGeom>
          <a:solidFill>
            <a:srgbClr val="2A2F3A"/>
          </a:solidFill>
          <a:ln/>
        </p:spPr>
        <p:txBody>
          <a:bodyPr/>
          <a:lstStyle/>
          <a:p>
            <a:endParaRPr lang="en-US"/>
          </a:p>
        </p:txBody>
      </p:sp>
      <p:sp>
        <p:nvSpPr>
          <p:cNvPr id="35" name="Text 33"/>
          <p:cNvSpPr/>
          <p:nvPr/>
        </p:nvSpPr>
        <p:spPr>
          <a:xfrm>
            <a:off x="9787979" y="5053310"/>
            <a:ext cx="324046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4EFE6"/>
                </a:solidFill>
                <a:latin typeface="Arial" pitchFamily="34" charset="0"/>
                <a:ea typeface="Arial" pitchFamily="34" charset="-122"/>
                <a:cs typeface="Arial" pitchFamily="34" charset="-120"/>
              </a:rPr>
              <a:t>Phi-mini-MoE-instruct</a:t>
            </a:r>
            <a:endParaRPr lang="en-US" sz="1800" dirty="0"/>
          </a:p>
        </p:txBody>
      </p:sp>
      <p:sp>
        <p:nvSpPr>
          <p:cNvPr id="36" name="Text 34"/>
          <p:cNvSpPr/>
          <p:nvPr/>
        </p:nvSpPr>
        <p:spPr>
          <a:xfrm>
            <a:off x="13086457" y="5010448"/>
            <a:ext cx="838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F4EFE6"/>
                </a:solidFill>
                <a:latin typeface="Arial" pitchFamily="34" charset="0"/>
                <a:ea typeface="Arial" pitchFamily="34" charset="-122"/>
                <a:cs typeface="Arial" pitchFamily="34" charset="-120"/>
              </a:rPr>
              <a:t>0.225</a:t>
            </a:r>
            <a:endParaRPr lang="en-US" sz="2250" dirty="0"/>
          </a:p>
        </p:txBody>
      </p:sp>
      <p:sp>
        <p:nvSpPr>
          <p:cNvPr id="37" name="Text 35"/>
          <p:cNvSpPr/>
          <p:nvPr/>
        </p:nvSpPr>
        <p:spPr>
          <a:xfrm>
            <a:off x="14000857" y="5010448"/>
            <a:ext cx="838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F4EFE6"/>
                </a:solidFill>
                <a:latin typeface="Arial" pitchFamily="34" charset="0"/>
                <a:ea typeface="Arial" pitchFamily="34" charset="-122"/>
                <a:cs typeface="Arial" pitchFamily="34" charset="-120"/>
              </a:rPr>
              <a:t>0.794</a:t>
            </a:r>
            <a:endParaRPr lang="en-US" sz="2250" dirty="0"/>
          </a:p>
        </p:txBody>
      </p:sp>
      <p:sp>
        <p:nvSpPr>
          <p:cNvPr id="38" name="Text 36"/>
          <p:cNvSpPr/>
          <p:nvPr/>
        </p:nvSpPr>
        <p:spPr>
          <a:xfrm>
            <a:off x="14839057" y="5115223"/>
            <a:ext cx="2496443" cy="209550"/>
          </a:xfrm>
          <a:prstGeom prst="rect">
            <a:avLst/>
          </a:prstGeom>
          <a:noFill/>
          <a:ln/>
        </p:spPr>
        <p:txBody>
          <a:bodyPr wrap="square" lIns="25400" tIns="25400" rIns="25400" bIns="25400" rtlCol="0" anchor="t">
            <a:normAutofit fontScale="92500" lnSpcReduction="10000"/>
          </a:bodyPr>
          <a:lstStyle/>
          <a:p>
            <a:pPr marL="0" indent="0" algn="r">
              <a:buNone/>
            </a:pPr>
            <a:r>
              <a:rPr lang="en-US" sz="1200" kern="0" spc="180" dirty="0">
                <a:solidFill>
                  <a:srgbClr val="FF5A1F"/>
                </a:solidFill>
                <a:latin typeface="Arial" pitchFamily="34" charset="0"/>
                <a:ea typeface="Arial" pitchFamily="34" charset="-122"/>
                <a:cs typeface="Arial" pitchFamily="34" charset="-120"/>
              </a:rPr>
              <a:t>OVER-PREDICTS</a:t>
            </a:r>
            <a:endParaRPr lang="en-US" sz="1200" dirty="0"/>
          </a:p>
        </p:txBody>
      </p:sp>
      <p:sp>
        <p:nvSpPr>
          <p:cNvPr id="39" name="Shape 37"/>
          <p:cNvSpPr/>
          <p:nvPr/>
        </p:nvSpPr>
        <p:spPr>
          <a:xfrm>
            <a:off x="9787979" y="5581948"/>
            <a:ext cx="7547521" cy="9525"/>
          </a:xfrm>
          <a:prstGeom prst="rect">
            <a:avLst/>
          </a:prstGeom>
          <a:solidFill>
            <a:srgbClr val="2A2F3A"/>
          </a:solidFill>
          <a:ln/>
        </p:spPr>
        <p:txBody>
          <a:bodyPr/>
          <a:lstStyle/>
          <a:p>
            <a:endParaRPr lang="en-US"/>
          </a:p>
        </p:txBody>
      </p:sp>
      <p:sp>
        <p:nvSpPr>
          <p:cNvPr id="40" name="Text 38"/>
          <p:cNvSpPr/>
          <p:nvPr/>
        </p:nvSpPr>
        <p:spPr>
          <a:xfrm>
            <a:off x="9787979" y="5824835"/>
            <a:ext cx="324046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4EFE6"/>
                </a:solidFill>
                <a:latin typeface="Arial" pitchFamily="34" charset="0"/>
                <a:ea typeface="Arial" pitchFamily="34" charset="-122"/>
                <a:cs typeface="Arial" pitchFamily="34" charset="-120"/>
              </a:rPr>
              <a:t>gemma-3-12b-it</a:t>
            </a:r>
            <a:endParaRPr lang="en-US" sz="1800" dirty="0"/>
          </a:p>
        </p:txBody>
      </p:sp>
      <p:sp>
        <p:nvSpPr>
          <p:cNvPr id="41" name="Text 39"/>
          <p:cNvSpPr/>
          <p:nvPr/>
        </p:nvSpPr>
        <p:spPr>
          <a:xfrm>
            <a:off x="13086457" y="5781973"/>
            <a:ext cx="838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F4EFE6"/>
                </a:solidFill>
                <a:latin typeface="Arial" pitchFamily="34" charset="0"/>
                <a:ea typeface="Arial" pitchFamily="34" charset="-122"/>
                <a:cs typeface="Arial" pitchFamily="34" charset="-120"/>
              </a:rPr>
              <a:t>0.279</a:t>
            </a:r>
            <a:endParaRPr lang="en-US" sz="2250" dirty="0"/>
          </a:p>
        </p:txBody>
      </p:sp>
      <p:sp>
        <p:nvSpPr>
          <p:cNvPr id="42" name="Text 40"/>
          <p:cNvSpPr/>
          <p:nvPr/>
        </p:nvSpPr>
        <p:spPr>
          <a:xfrm>
            <a:off x="14000857" y="5781973"/>
            <a:ext cx="838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FF2D2D"/>
                </a:solidFill>
                <a:latin typeface="Arial" pitchFamily="34" charset="0"/>
                <a:ea typeface="Arial" pitchFamily="34" charset="-122"/>
                <a:cs typeface="Arial" pitchFamily="34" charset="-120"/>
              </a:rPr>
              <a:t>0.388</a:t>
            </a:r>
            <a:endParaRPr lang="en-US" sz="2250" dirty="0"/>
          </a:p>
        </p:txBody>
      </p:sp>
      <p:sp>
        <p:nvSpPr>
          <p:cNvPr id="43" name="Text 41"/>
          <p:cNvSpPr/>
          <p:nvPr/>
        </p:nvSpPr>
        <p:spPr>
          <a:xfrm>
            <a:off x="14839057" y="5886748"/>
            <a:ext cx="2496443" cy="209550"/>
          </a:xfrm>
          <a:prstGeom prst="rect">
            <a:avLst/>
          </a:prstGeom>
          <a:noFill/>
          <a:ln/>
        </p:spPr>
        <p:txBody>
          <a:bodyPr wrap="square" lIns="25400" tIns="25400" rIns="25400" bIns="25400" rtlCol="0" anchor="t">
            <a:normAutofit fontScale="92500" lnSpcReduction="10000"/>
          </a:bodyPr>
          <a:lstStyle/>
          <a:p>
            <a:pPr marL="0" indent="0" algn="r">
              <a:buNone/>
            </a:pPr>
            <a:r>
              <a:rPr lang="en-US" sz="1200" kern="0" spc="180" dirty="0">
                <a:solidFill>
                  <a:srgbClr val="FF2D2D"/>
                </a:solidFill>
                <a:latin typeface="Arial" pitchFamily="34" charset="0"/>
                <a:ea typeface="Arial" pitchFamily="34" charset="-122"/>
                <a:cs typeface="Arial" pitchFamily="34" charset="-120"/>
              </a:rPr>
              <a:t>BELOW RANDOM</a:t>
            </a:r>
            <a:endParaRPr lang="en-US" sz="1200" dirty="0"/>
          </a:p>
        </p:txBody>
      </p:sp>
      <p:sp>
        <p:nvSpPr>
          <p:cNvPr id="44" name="Shape 42"/>
          <p:cNvSpPr/>
          <p:nvPr/>
        </p:nvSpPr>
        <p:spPr>
          <a:xfrm>
            <a:off x="9787979" y="6620173"/>
            <a:ext cx="7547521" cy="1878062"/>
          </a:xfrm>
          <a:prstGeom prst="rect">
            <a:avLst/>
          </a:prstGeom>
          <a:solidFill>
            <a:srgbClr val="16191F"/>
          </a:solidFill>
          <a:ln w="9525">
            <a:solidFill>
              <a:srgbClr val="FF5A1F"/>
            </a:solidFill>
            <a:prstDash val="solid"/>
          </a:ln>
        </p:spPr>
        <p:txBody>
          <a:bodyPr/>
          <a:lstStyle/>
          <a:p>
            <a:endParaRPr lang="en-US"/>
          </a:p>
        </p:txBody>
      </p:sp>
      <p:sp>
        <p:nvSpPr>
          <p:cNvPr id="45" name="Text 43"/>
          <p:cNvSpPr/>
          <p:nvPr/>
        </p:nvSpPr>
        <p:spPr>
          <a:xfrm>
            <a:off x="10026104" y="6858298"/>
            <a:ext cx="7283409" cy="30480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500" kern="0" spc="225" dirty="0">
                <a:solidFill>
                  <a:srgbClr val="FF5A1F"/>
                </a:solidFill>
                <a:latin typeface="Arial" pitchFamily="34" charset="0"/>
                <a:ea typeface="Arial" pitchFamily="34" charset="-122"/>
                <a:cs typeface="Arial" pitchFamily="34" charset="-120"/>
              </a:rPr>
              <a:t>THE FAILURE MODE</a:t>
            </a:r>
            <a:endParaRPr lang="en-US" sz="1500" dirty="0"/>
          </a:p>
        </p:txBody>
      </p:sp>
      <p:sp>
        <p:nvSpPr>
          <p:cNvPr id="47" name="Text 45"/>
          <p:cNvSpPr/>
          <p:nvPr/>
        </p:nvSpPr>
        <p:spPr>
          <a:xfrm>
            <a:off x="12793117" y="7248823"/>
            <a:ext cx="957263" cy="323850"/>
          </a:xfrm>
          <a:prstGeom prst="rect">
            <a:avLst/>
          </a:prstGeom>
          <a:noFill/>
          <a:ln/>
        </p:spPr>
        <p:txBody>
          <a:bodyPr wrap="square" lIns="25400" tIns="25400" rIns="25400" bIns="25400" rtlCol="0" anchor="t">
            <a:normAutofit fontScale="77500" lnSpcReduction="20000"/>
          </a:bodyPr>
          <a:lstStyle/>
          <a:p>
            <a:pPr marL="0" indent="0" algn="l">
              <a:lnSpc>
                <a:spcPct val="140000"/>
              </a:lnSpc>
              <a:buNone/>
            </a:pPr>
            <a:endParaRPr lang="en-US" sz="1950" dirty="0"/>
          </a:p>
        </p:txBody>
      </p:sp>
      <p:sp>
        <p:nvSpPr>
          <p:cNvPr id="48" name="Text 46"/>
          <p:cNvSpPr/>
          <p:nvPr/>
        </p:nvSpPr>
        <p:spPr>
          <a:xfrm>
            <a:off x="10026104" y="7279184"/>
            <a:ext cx="7127203" cy="1017091"/>
          </a:xfrm>
          <a:prstGeom prst="rect">
            <a:avLst/>
          </a:prstGeom>
          <a:noFill/>
          <a:ln/>
        </p:spPr>
        <p:txBody>
          <a:bodyPr wrap="square" lIns="0" tIns="0" rIns="0" bIns="0" rtlCol="0" anchor="t">
            <a:normAutofit fontScale="92500"/>
          </a:bodyPr>
          <a:lstStyle/>
          <a:p>
            <a:pPr>
              <a:lnSpc>
                <a:spcPct val="140000"/>
              </a:lnSpc>
            </a:pPr>
            <a:r>
              <a:rPr lang="en-US" sz="1950" dirty="0">
                <a:solidFill>
                  <a:srgbClr val="F4EFE6"/>
                </a:solidFill>
                <a:latin typeface="Arial" pitchFamily="34" charset="0"/>
                <a:ea typeface="Arial" pitchFamily="34" charset="-122"/>
                <a:cs typeface="Arial" pitchFamily="34" charset="-120"/>
              </a:rPr>
              <a:t>Confidence calibration is inverted — models report higher confidence when wrong than when right. Their self-assessment is unusable.</a:t>
            </a:r>
            <a:endParaRPr lang="en-US" sz="1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F1115"/>
          </a:solidFill>
          <a:ln/>
        </p:spPr>
        <p:txBody>
          <a:bodyPr/>
          <a:lstStyle/>
          <a:p>
            <a:endParaRPr lang="en-US"/>
          </a:p>
        </p:txBody>
      </p:sp>
      <p:sp>
        <p:nvSpPr>
          <p:cNvPr id="3" name="Shape 1"/>
          <p:cNvSpPr/>
          <p:nvPr/>
        </p:nvSpPr>
        <p:spPr>
          <a:xfrm>
            <a:off x="0" y="0"/>
            <a:ext cx="18288000" cy="57150"/>
          </a:xfrm>
          <a:prstGeom prst="rect">
            <a:avLst/>
          </a:prstGeom>
          <a:solidFill>
            <a:srgbClr val="FF2D2D"/>
          </a:solidFill>
          <a:ln/>
        </p:spPr>
        <p:txBody>
          <a:bodyPr/>
          <a:lstStyle/>
          <a:p>
            <a:endParaRPr lang="en-US"/>
          </a:p>
        </p:txBody>
      </p:sp>
      <p:sp>
        <p:nvSpPr>
          <p:cNvPr id="4" name="Text 2"/>
          <p:cNvSpPr/>
          <p:nvPr/>
        </p:nvSpPr>
        <p:spPr>
          <a:xfrm>
            <a:off x="10822930" y="342900"/>
            <a:ext cx="22487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1143059" y="357188"/>
            <a:ext cx="3127790"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ZERO SHOT HOPEFULS</a:t>
            </a:r>
            <a:endParaRPr lang="en-US" sz="1800" dirty="0"/>
          </a:p>
        </p:txBody>
      </p:sp>
      <p:sp>
        <p:nvSpPr>
          <p:cNvPr id="6" name="Text 4"/>
          <p:cNvSpPr/>
          <p:nvPr/>
        </p:nvSpPr>
        <p:spPr>
          <a:xfrm>
            <a:off x="14351198" y="357188"/>
            <a:ext cx="162669"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alpha val="40000"/>
                  </a:srgbClr>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4609118" y="357188"/>
            <a:ext cx="280817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ESSD AI CHALLENGE</a:t>
            </a:r>
            <a:endParaRPr lang="en-US" sz="1800" dirty="0"/>
          </a:p>
        </p:txBody>
      </p:sp>
      <p:sp>
        <p:nvSpPr>
          <p:cNvPr id="8" name="Text 6"/>
          <p:cNvSpPr/>
          <p:nvPr/>
        </p:nvSpPr>
        <p:spPr>
          <a:xfrm>
            <a:off x="16456075" y="9763125"/>
            <a:ext cx="39632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09</a:t>
            </a:r>
            <a:endParaRPr lang="en-US" sz="1800" dirty="0"/>
          </a:p>
        </p:txBody>
      </p:sp>
      <p:sp>
        <p:nvSpPr>
          <p:cNvPr id="9" name="Text 7"/>
          <p:cNvSpPr/>
          <p:nvPr/>
        </p:nvSpPr>
        <p:spPr>
          <a:xfrm>
            <a:off x="16776204" y="9782175"/>
            <a:ext cx="63549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9AA0AB">
                    <a:alpha val="50000"/>
                  </a:srgbClr>
                </a:solidFill>
                <a:latin typeface="Arial" pitchFamily="34" charset="0"/>
                <a:ea typeface="Arial" pitchFamily="34" charset="-122"/>
                <a:cs typeface="Arial" pitchFamily="34" charset="-120"/>
              </a:rPr>
              <a:t>/ 13</a:t>
            </a:r>
            <a:endParaRPr lang="en-US" sz="1800" dirty="0"/>
          </a:p>
        </p:txBody>
      </p:sp>
      <p:sp>
        <p:nvSpPr>
          <p:cNvPr id="10" name="Text 8"/>
          <p:cNvSpPr/>
          <p:nvPr/>
        </p:nvSpPr>
        <p:spPr>
          <a:xfrm>
            <a:off x="952500" y="952500"/>
            <a:ext cx="16874490" cy="333375"/>
          </a:xfrm>
          <a:prstGeom prst="rect">
            <a:avLst/>
          </a:prstGeom>
          <a:noFill/>
          <a:ln/>
        </p:spPr>
        <p:txBody>
          <a:bodyPr wrap="square" lIns="25400" tIns="25400" rIns="25400" bIns="25400" rtlCol="0" anchor="t">
            <a:normAutofit/>
          </a:bodyPr>
          <a:lstStyle/>
          <a:p>
            <a:pPr marL="0" indent="0" algn="l">
              <a:buNone/>
            </a:pPr>
            <a:r>
              <a:rPr lang="en-US" sz="1800" b="1" kern="0" spc="396" dirty="0">
                <a:solidFill>
                  <a:srgbClr val="FF5A1F"/>
                </a:solidFill>
                <a:latin typeface="Arial" pitchFamily="34" charset="0"/>
                <a:ea typeface="Arial" pitchFamily="34" charset="-122"/>
                <a:cs typeface="Arial" pitchFamily="34" charset="-120"/>
              </a:rPr>
              <a:t>ML VS LLM · HEAD-TO-HEAD</a:t>
            </a:r>
            <a:endParaRPr lang="en-US" sz="1800" dirty="0"/>
          </a:p>
        </p:txBody>
      </p:sp>
      <p:sp>
        <p:nvSpPr>
          <p:cNvPr id="11" name="Text 9"/>
          <p:cNvSpPr/>
          <p:nvPr/>
        </p:nvSpPr>
        <p:spPr>
          <a:xfrm>
            <a:off x="952500" y="1552575"/>
            <a:ext cx="16678275" cy="1247775"/>
          </a:xfrm>
          <a:prstGeom prst="rect">
            <a:avLst/>
          </a:prstGeom>
          <a:noFill/>
          <a:ln/>
        </p:spPr>
        <p:txBody>
          <a:bodyPr wrap="square" lIns="25400" tIns="25400" rIns="25400" bIns="25400" rtlCol="0" anchor="t">
            <a:normAutofit fontScale="77500" lnSpcReduction="20000"/>
          </a:bodyPr>
          <a:lstStyle/>
          <a:p>
            <a:pPr marL="0" indent="0" algn="l">
              <a:lnSpc>
                <a:spcPct val="102000"/>
              </a:lnSpc>
              <a:buNone/>
            </a:pPr>
            <a:r>
              <a:rPr lang="en-US" sz="5700" b="1" kern="0" spc="-142" dirty="0">
                <a:solidFill>
                  <a:srgbClr val="F4EFE6"/>
                </a:solidFill>
                <a:latin typeface="Arial" pitchFamily="34" charset="0"/>
                <a:ea typeface="Arial" pitchFamily="34" charset="-122"/>
                <a:cs typeface="Arial" pitchFamily="34" charset="-120"/>
              </a:rPr>
              <a:t>For operational forecasting, </a:t>
            </a:r>
            <a:r>
              <a:rPr lang="en-US" sz="5700" b="1" kern="0" spc="-142" dirty="0">
                <a:solidFill>
                  <a:srgbClr val="FF5A1F"/>
                </a:solidFill>
                <a:latin typeface="Arial" pitchFamily="34" charset="0"/>
                <a:ea typeface="Arial" pitchFamily="34" charset="-122"/>
                <a:cs typeface="Arial" pitchFamily="34" charset="-120"/>
              </a:rPr>
              <a:t>ML wins on every axis that matters.</a:t>
            </a:r>
            <a:endParaRPr lang="en-US" sz="5700" dirty="0"/>
          </a:p>
        </p:txBody>
      </p:sp>
      <p:sp>
        <p:nvSpPr>
          <p:cNvPr id="12" name="Shape 10"/>
          <p:cNvSpPr/>
          <p:nvPr/>
        </p:nvSpPr>
        <p:spPr>
          <a:xfrm>
            <a:off x="952500" y="3219450"/>
            <a:ext cx="16383000" cy="5562600"/>
          </a:xfrm>
          <a:prstGeom prst="rect">
            <a:avLst/>
          </a:prstGeom>
          <a:solidFill>
            <a:srgbClr val="16191F"/>
          </a:solidFill>
          <a:ln w="9525">
            <a:solidFill>
              <a:srgbClr val="2A2F3A"/>
            </a:solidFill>
            <a:prstDash val="solid"/>
          </a:ln>
        </p:spPr>
        <p:txBody>
          <a:bodyPr/>
          <a:lstStyle/>
          <a:p>
            <a:endParaRPr lang="en-US"/>
          </a:p>
        </p:txBody>
      </p:sp>
      <p:sp>
        <p:nvSpPr>
          <p:cNvPr id="13" name="Shape 11"/>
          <p:cNvSpPr/>
          <p:nvPr/>
        </p:nvSpPr>
        <p:spPr>
          <a:xfrm>
            <a:off x="962025" y="3829050"/>
            <a:ext cx="5294114" cy="9525"/>
          </a:xfrm>
          <a:prstGeom prst="rect">
            <a:avLst/>
          </a:prstGeom>
          <a:solidFill>
            <a:srgbClr val="2A2F3A"/>
          </a:solidFill>
          <a:ln/>
        </p:spPr>
        <p:txBody>
          <a:bodyPr/>
          <a:lstStyle/>
          <a:p>
            <a:endParaRPr lang="en-US"/>
          </a:p>
        </p:txBody>
      </p:sp>
      <p:sp>
        <p:nvSpPr>
          <p:cNvPr id="14" name="Text 12"/>
          <p:cNvSpPr/>
          <p:nvPr/>
        </p:nvSpPr>
        <p:spPr>
          <a:xfrm>
            <a:off x="1190625" y="3419475"/>
            <a:ext cx="4995737" cy="257175"/>
          </a:xfrm>
          <a:prstGeom prst="rect">
            <a:avLst/>
          </a:prstGeom>
          <a:noFill/>
          <a:ln/>
        </p:spPr>
        <p:txBody>
          <a:bodyPr wrap="square" lIns="25400" tIns="25400" rIns="25400" bIns="25400" rtlCol="0" anchor="t">
            <a:normAutofit lnSpcReduction="10000"/>
          </a:bodyPr>
          <a:lstStyle/>
          <a:p>
            <a:pPr marL="0" indent="0" algn="l">
              <a:buNone/>
            </a:pPr>
            <a:r>
              <a:rPr lang="en-US" sz="1500" kern="0" spc="225" dirty="0">
                <a:solidFill>
                  <a:srgbClr val="9AA0AB"/>
                </a:solidFill>
                <a:latin typeface="Arial" pitchFamily="34" charset="0"/>
                <a:ea typeface="Arial" pitchFamily="34" charset="-122"/>
                <a:cs typeface="Arial" pitchFamily="34" charset="-120"/>
              </a:rPr>
              <a:t>CRITERION</a:t>
            </a:r>
            <a:endParaRPr lang="en-US" sz="1500" dirty="0"/>
          </a:p>
        </p:txBody>
      </p:sp>
      <p:sp>
        <p:nvSpPr>
          <p:cNvPr id="15" name="Shape 13"/>
          <p:cNvSpPr/>
          <p:nvPr/>
        </p:nvSpPr>
        <p:spPr>
          <a:xfrm>
            <a:off x="6256139" y="3829050"/>
            <a:ext cx="4812953" cy="9525"/>
          </a:xfrm>
          <a:prstGeom prst="rect">
            <a:avLst/>
          </a:prstGeom>
          <a:solidFill>
            <a:srgbClr val="2A2F3A"/>
          </a:solidFill>
          <a:ln/>
        </p:spPr>
        <p:txBody>
          <a:bodyPr/>
          <a:lstStyle/>
          <a:p>
            <a:endParaRPr lang="en-US"/>
          </a:p>
        </p:txBody>
      </p:sp>
      <p:sp>
        <p:nvSpPr>
          <p:cNvPr id="16" name="Text 14"/>
          <p:cNvSpPr/>
          <p:nvPr/>
        </p:nvSpPr>
        <p:spPr>
          <a:xfrm>
            <a:off x="6484739" y="3419475"/>
            <a:ext cx="4500141" cy="257175"/>
          </a:xfrm>
          <a:prstGeom prst="rect">
            <a:avLst/>
          </a:prstGeom>
          <a:noFill/>
          <a:ln/>
        </p:spPr>
        <p:txBody>
          <a:bodyPr wrap="square" lIns="25400" tIns="25400" rIns="25400" bIns="25400" rtlCol="0" anchor="t">
            <a:normAutofit lnSpcReduction="10000"/>
          </a:bodyPr>
          <a:lstStyle/>
          <a:p>
            <a:pPr marL="0" indent="0" algn="l">
              <a:buNone/>
            </a:pPr>
            <a:r>
              <a:rPr lang="en-US" sz="1500" kern="0" spc="225" dirty="0">
                <a:solidFill>
                  <a:srgbClr val="FF5A1F"/>
                </a:solidFill>
                <a:latin typeface="Arial" pitchFamily="34" charset="0"/>
                <a:ea typeface="Arial" pitchFamily="34" charset="-122"/>
                <a:cs typeface="Arial" pitchFamily="34" charset="-120"/>
              </a:rPr>
              <a:t>LIGHTGBM</a:t>
            </a:r>
            <a:endParaRPr lang="en-US" sz="1500" dirty="0"/>
          </a:p>
        </p:txBody>
      </p:sp>
      <p:sp>
        <p:nvSpPr>
          <p:cNvPr id="17" name="Shape 15"/>
          <p:cNvSpPr/>
          <p:nvPr/>
        </p:nvSpPr>
        <p:spPr>
          <a:xfrm>
            <a:off x="11069092" y="3829050"/>
            <a:ext cx="4812953" cy="9525"/>
          </a:xfrm>
          <a:prstGeom prst="rect">
            <a:avLst/>
          </a:prstGeom>
          <a:solidFill>
            <a:srgbClr val="2A2F3A"/>
          </a:solidFill>
          <a:ln/>
        </p:spPr>
        <p:txBody>
          <a:bodyPr/>
          <a:lstStyle/>
          <a:p>
            <a:endParaRPr lang="en-US"/>
          </a:p>
        </p:txBody>
      </p:sp>
      <p:sp>
        <p:nvSpPr>
          <p:cNvPr id="18" name="Text 16"/>
          <p:cNvSpPr/>
          <p:nvPr/>
        </p:nvSpPr>
        <p:spPr>
          <a:xfrm>
            <a:off x="11297692" y="3419475"/>
            <a:ext cx="4500141" cy="257175"/>
          </a:xfrm>
          <a:prstGeom prst="rect">
            <a:avLst/>
          </a:prstGeom>
          <a:noFill/>
          <a:ln/>
        </p:spPr>
        <p:txBody>
          <a:bodyPr wrap="square" lIns="25400" tIns="25400" rIns="25400" bIns="25400" rtlCol="0" anchor="t">
            <a:normAutofit lnSpcReduction="10000"/>
          </a:bodyPr>
          <a:lstStyle/>
          <a:p>
            <a:pPr marL="0" indent="0" algn="l">
              <a:buNone/>
            </a:pPr>
            <a:r>
              <a:rPr lang="en-US" sz="1500" kern="0" spc="225" dirty="0">
                <a:solidFill>
                  <a:srgbClr val="9AA0AB"/>
                </a:solidFill>
                <a:latin typeface="Arial" pitchFamily="34" charset="0"/>
                <a:ea typeface="Arial" pitchFamily="34" charset="-122"/>
                <a:cs typeface="Arial" pitchFamily="34" charset="-120"/>
              </a:rPr>
              <a:t>BEST LLM · PHI-3.5-MINI</a:t>
            </a:r>
            <a:endParaRPr lang="en-US" sz="1500" dirty="0"/>
          </a:p>
        </p:txBody>
      </p:sp>
      <p:sp>
        <p:nvSpPr>
          <p:cNvPr id="19" name="Shape 17"/>
          <p:cNvSpPr/>
          <p:nvPr/>
        </p:nvSpPr>
        <p:spPr>
          <a:xfrm>
            <a:off x="15882045" y="3829050"/>
            <a:ext cx="1443930" cy="9525"/>
          </a:xfrm>
          <a:prstGeom prst="rect">
            <a:avLst/>
          </a:prstGeom>
          <a:solidFill>
            <a:srgbClr val="2A2F3A"/>
          </a:solidFill>
          <a:ln/>
        </p:spPr>
        <p:txBody>
          <a:bodyPr/>
          <a:lstStyle/>
          <a:p>
            <a:endParaRPr lang="en-US"/>
          </a:p>
        </p:txBody>
      </p:sp>
      <p:sp>
        <p:nvSpPr>
          <p:cNvPr id="20" name="Text 18"/>
          <p:cNvSpPr/>
          <p:nvPr/>
        </p:nvSpPr>
        <p:spPr>
          <a:xfrm>
            <a:off x="15853470" y="3419475"/>
            <a:ext cx="1243905" cy="257175"/>
          </a:xfrm>
          <a:prstGeom prst="rect">
            <a:avLst/>
          </a:prstGeom>
          <a:noFill/>
          <a:ln/>
        </p:spPr>
        <p:txBody>
          <a:bodyPr wrap="square" lIns="25400" tIns="25400" rIns="25400" bIns="25400" rtlCol="0" anchor="t">
            <a:normAutofit lnSpcReduction="10000"/>
          </a:bodyPr>
          <a:lstStyle/>
          <a:p>
            <a:pPr marL="0" indent="0" algn="r">
              <a:buNone/>
            </a:pPr>
            <a:r>
              <a:rPr lang="en-US" sz="1500" kern="0" spc="225" dirty="0">
                <a:solidFill>
                  <a:srgbClr val="9AA0AB"/>
                </a:solidFill>
                <a:latin typeface="Arial" pitchFamily="34" charset="0"/>
                <a:ea typeface="Arial" pitchFamily="34" charset="-122"/>
                <a:cs typeface="Arial" pitchFamily="34" charset="-120"/>
              </a:rPr>
              <a:t>ML WINS</a:t>
            </a:r>
            <a:endParaRPr lang="en-US" sz="1500" dirty="0"/>
          </a:p>
        </p:txBody>
      </p:sp>
      <p:sp>
        <p:nvSpPr>
          <p:cNvPr id="21" name="Shape 19"/>
          <p:cNvSpPr/>
          <p:nvPr/>
        </p:nvSpPr>
        <p:spPr>
          <a:xfrm>
            <a:off x="962025" y="3838575"/>
            <a:ext cx="5294114" cy="9525"/>
          </a:xfrm>
          <a:prstGeom prst="rect">
            <a:avLst/>
          </a:prstGeom>
          <a:solidFill>
            <a:srgbClr val="2A2F3A"/>
          </a:solidFill>
          <a:ln/>
        </p:spPr>
        <p:txBody>
          <a:bodyPr/>
          <a:lstStyle/>
          <a:p>
            <a:endParaRPr lang="en-US"/>
          </a:p>
        </p:txBody>
      </p:sp>
      <p:sp>
        <p:nvSpPr>
          <p:cNvPr id="22" name="Text 20"/>
          <p:cNvSpPr/>
          <p:nvPr/>
        </p:nvSpPr>
        <p:spPr>
          <a:xfrm>
            <a:off x="1190625" y="4000500"/>
            <a:ext cx="4995737"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4EFE6"/>
                </a:solidFill>
                <a:latin typeface="Arial" pitchFamily="34" charset="0"/>
                <a:ea typeface="Arial" pitchFamily="34" charset="-122"/>
                <a:cs typeface="Arial" pitchFamily="34" charset="-120"/>
              </a:rPr>
              <a:t>Accuracy (F1)</a:t>
            </a:r>
            <a:endParaRPr lang="en-US" sz="1800" dirty="0"/>
          </a:p>
        </p:txBody>
      </p:sp>
      <p:sp>
        <p:nvSpPr>
          <p:cNvPr id="23" name="Shape 21"/>
          <p:cNvSpPr/>
          <p:nvPr/>
        </p:nvSpPr>
        <p:spPr>
          <a:xfrm>
            <a:off x="6256139" y="3838575"/>
            <a:ext cx="4812953" cy="9525"/>
          </a:xfrm>
          <a:prstGeom prst="rect">
            <a:avLst/>
          </a:prstGeom>
          <a:solidFill>
            <a:srgbClr val="2A2F3A"/>
          </a:solidFill>
          <a:ln/>
        </p:spPr>
        <p:txBody>
          <a:bodyPr/>
          <a:lstStyle/>
          <a:p>
            <a:endParaRPr lang="en-US"/>
          </a:p>
        </p:txBody>
      </p:sp>
      <p:sp>
        <p:nvSpPr>
          <p:cNvPr id="24" name="Text 22"/>
          <p:cNvSpPr/>
          <p:nvPr/>
        </p:nvSpPr>
        <p:spPr>
          <a:xfrm>
            <a:off x="6484739" y="4000500"/>
            <a:ext cx="4500141"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5A1F"/>
                </a:solidFill>
                <a:latin typeface="Arial" pitchFamily="34" charset="0"/>
                <a:ea typeface="Arial" pitchFamily="34" charset="-122"/>
                <a:cs typeface="Arial" pitchFamily="34" charset="-120"/>
              </a:rPr>
              <a:t>0.644</a:t>
            </a:r>
            <a:endParaRPr lang="en-US" sz="1800" dirty="0"/>
          </a:p>
        </p:txBody>
      </p:sp>
      <p:sp>
        <p:nvSpPr>
          <p:cNvPr id="25" name="Shape 23"/>
          <p:cNvSpPr/>
          <p:nvPr/>
        </p:nvSpPr>
        <p:spPr>
          <a:xfrm>
            <a:off x="11069092" y="3838575"/>
            <a:ext cx="4812953" cy="9525"/>
          </a:xfrm>
          <a:prstGeom prst="rect">
            <a:avLst/>
          </a:prstGeom>
          <a:solidFill>
            <a:srgbClr val="2A2F3A"/>
          </a:solidFill>
          <a:ln/>
        </p:spPr>
        <p:txBody>
          <a:bodyPr/>
          <a:lstStyle/>
          <a:p>
            <a:endParaRPr lang="en-US"/>
          </a:p>
        </p:txBody>
      </p:sp>
      <p:sp>
        <p:nvSpPr>
          <p:cNvPr id="26" name="Text 24"/>
          <p:cNvSpPr/>
          <p:nvPr/>
        </p:nvSpPr>
        <p:spPr>
          <a:xfrm>
            <a:off x="11297692" y="4000500"/>
            <a:ext cx="4500141" cy="342900"/>
          </a:xfrm>
          <a:prstGeom prst="rect">
            <a:avLst/>
          </a:prstGeom>
          <a:noFill/>
          <a:ln/>
        </p:spPr>
        <p:txBody>
          <a:bodyPr wrap="square" lIns="25400" tIns="25400" rIns="25400" bIns="25400" rtlCol="0" anchor="t">
            <a:normAutofit/>
          </a:bodyPr>
          <a:lstStyle/>
          <a:p>
            <a:pPr marL="0" indent="0" algn="l">
              <a:buNone/>
            </a:pPr>
            <a:r>
              <a:rPr lang="en-US" sz="1800" dirty="0">
                <a:solidFill>
                  <a:srgbClr val="9AA0AB"/>
                </a:solidFill>
                <a:latin typeface="Arial" pitchFamily="34" charset="0"/>
                <a:ea typeface="Arial" pitchFamily="34" charset="-122"/>
                <a:cs typeface="Arial" pitchFamily="34" charset="-120"/>
              </a:rPr>
              <a:t>0.464</a:t>
            </a:r>
            <a:endParaRPr lang="en-US" sz="1800" dirty="0"/>
          </a:p>
        </p:txBody>
      </p:sp>
      <p:sp>
        <p:nvSpPr>
          <p:cNvPr id="27" name="Shape 25"/>
          <p:cNvSpPr/>
          <p:nvPr/>
        </p:nvSpPr>
        <p:spPr>
          <a:xfrm>
            <a:off x="15882045" y="3838575"/>
            <a:ext cx="1443930" cy="9525"/>
          </a:xfrm>
          <a:prstGeom prst="rect">
            <a:avLst/>
          </a:prstGeom>
          <a:solidFill>
            <a:srgbClr val="2A2F3A"/>
          </a:solidFill>
          <a:ln/>
        </p:spPr>
        <p:txBody>
          <a:bodyPr/>
          <a:lstStyle/>
          <a:p>
            <a:endParaRPr lang="en-US"/>
          </a:p>
        </p:txBody>
      </p:sp>
      <p:sp>
        <p:nvSpPr>
          <p:cNvPr id="28" name="Text 26"/>
          <p:cNvSpPr/>
          <p:nvPr/>
        </p:nvSpPr>
        <p:spPr>
          <a:xfrm>
            <a:off x="16034445" y="4000500"/>
            <a:ext cx="1062930" cy="342900"/>
          </a:xfrm>
          <a:prstGeom prst="rect">
            <a:avLst/>
          </a:prstGeom>
          <a:noFill/>
          <a:ln/>
        </p:spPr>
        <p:txBody>
          <a:bodyPr wrap="square" lIns="25400" tIns="25400" rIns="25400" bIns="25400" rtlCol="0" anchor="t">
            <a:normAutofit/>
          </a:bodyPr>
          <a:lstStyle/>
          <a:p>
            <a:pPr marL="0" indent="0" algn="r">
              <a:buNone/>
            </a:pPr>
            <a:r>
              <a:rPr lang="en-US" sz="1800" dirty="0">
                <a:solidFill>
                  <a:srgbClr val="FF5A1F"/>
                </a:solidFill>
                <a:latin typeface="Arial" pitchFamily="34" charset="0"/>
                <a:ea typeface="Arial" pitchFamily="34" charset="-122"/>
                <a:cs typeface="Arial" pitchFamily="34" charset="-120"/>
              </a:rPr>
              <a:t>✓</a:t>
            </a:r>
            <a:endParaRPr lang="en-US" sz="1800" dirty="0"/>
          </a:p>
        </p:txBody>
      </p:sp>
      <p:sp>
        <p:nvSpPr>
          <p:cNvPr id="29" name="Shape 27"/>
          <p:cNvSpPr/>
          <p:nvPr/>
        </p:nvSpPr>
        <p:spPr>
          <a:xfrm>
            <a:off x="962025" y="4457700"/>
            <a:ext cx="5294114" cy="9525"/>
          </a:xfrm>
          <a:prstGeom prst="rect">
            <a:avLst/>
          </a:prstGeom>
          <a:solidFill>
            <a:srgbClr val="2A2F3A"/>
          </a:solidFill>
          <a:ln/>
        </p:spPr>
        <p:txBody>
          <a:bodyPr/>
          <a:lstStyle/>
          <a:p>
            <a:endParaRPr lang="en-US"/>
          </a:p>
        </p:txBody>
      </p:sp>
      <p:sp>
        <p:nvSpPr>
          <p:cNvPr id="30" name="Text 28"/>
          <p:cNvSpPr/>
          <p:nvPr/>
        </p:nvSpPr>
        <p:spPr>
          <a:xfrm>
            <a:off x="1190625" y="4619625"/>
            <a:ext cx="4995737"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4EFE6"/>
                </a:solidFill>
                <a:latin typeface="Arial" pitchFamily="34" charset="0"/>
                <a:ea typeface="Arial" pitchFamily="34" charset="-122"/>
                <a:cs typeface="Arial" pitchFamily="34" charset="-120"/>
              </a:rPr>
              <a:t>Discrimination (AUC)</a:t>
            </a:r>
            <a:endParaRPr lang="en-US" sz="1800" dirty="0"/>
          </a:p>
        </p:txBody>
      </p:sp>
      <p:sp>
        <p:nvSpPr>
          <p:cNvPr id="31" name="Shape 29"/>
          <p:cNvSpPr/>
          <p:nvPr/>
        </p:nvSpPr>
        <p:spPr>
          <a:xfrm>
            <a:off x="6256139" y="4457700"/>
            <a:ext cx="4812953" cy="9525"/>
          </a:xfrm>
          <a:prstGeom prst="rect">
            <a:avLst/>
          </a:prstGeom>
          <a:solidFill>
            <a:srgbClr val="2A2F3A"/>
          </a:solidFill>
          <a:ln/>
        </p:spPr>
        <p:txBody>
          <a:bodyPr/>
          <a:lstStyle/>
          <a:p>
            <a:endParaRPr lang="en-US"/>
          </a:p>
        </p:txBody>
      </p:sp>
      <p:sp>
        <p:nvSpPr>
          <p:cNvPr id="32" name="Text 30"/>
          <p:cNvSpPr/>
          <p:nvPr/>
        </p:nvSpPr>
        <p:spPr>
          <a:xfrm>
            <a:off x="6484739" y="4619625"/>
            <a:ext cx="4500141"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5A1F"/>
                </a:solidFill>
                <a:latin typeface="Arial" pitchFamily="34" charset="0"/>
                <a:ea typeface="Arial" pitchFamily="34" charset="-122"/>
                <a:cs typeface="Arial" pitchFamily="34" charset="-120"/>
              </a:rPr>
              <a:t>0.987</a:t>
            </a:r>
            <a:endParaRPr lang="en-US" sz="1800" dirty="0"/>
          </a:p>
        </p:txBody>
      </p:sp>
      <p:sp>
        <p:nvSpPr>
          <p:cNvPr id="33" name="Shape 31"/>
          <p:cNvSpPr/>
          <p:nvPr/>
        </p:nvSpPr>
        <p:spPr>
          <a:xfrm>
            <a:off x="11069092" y="4457700"/>
            <a:ext cx="4812953" cy="9525"/>
          </a:xfrm>
          <a:prstGeom prst="rect">
            <a:avLst/>
          </a:prstGeom>
          <a:solidFill>
            <a:srgbClr val="2A2F3A"/>
          </a:solidFill>
          <a:ln/>
        </p:spPr>
        <p:txBody>
          <a:bodyPr/>
          <a:lstStyle/>
          <a:p>
            <a:endParaRPr lang="en-US"/>
          </a:p>
        </p:txBody>
      </p:sp>
      <p:sp>
        <p:nvSpPr>
          <p:cNvPr id="34" name="Text 32"/>
          <p:cNvSpPr/>
          <p:nvPr/>
        </p:nvSpPr>
        <p:spPr>
          <a:xfrm>
            <a:off x="11297692" y="4619625"/>
            <a:ext cx="4500141" cy="342900"/>
          </a:xfrm>
          <a:prstGeom prst="rect">
            <a:avLst/>
          </a:prstGeom>
          <a:noFill/>
          <a:ln/>
        </p:spPr>
        <p:txBody>
          <a:bodyPr wrap="square" lIns="25400" tIns="25400" rIns="25400" bIns="25400" rtlCol="0" anchor="t">
            <a:normAutofit/>
          </a:bodyPr>
          <a:lstStyle/>
          <a:p>
            <a:pPr marL="0" indent="0" algn="l">
              <a:buNone/>
            </a:pPr>
            <a:r>
              <a:rPr lang="en-US" sz="1800" dirty="0">
                <a:solidFill>
                  <a:srgbClr val="9AA0AB"/>
                </a:solidFill>
                <a:latin typeface="Arial" pitchFamily="34" charset="0"/>
                <a:ea typeface="Arial" pitchFamily="34" charset="-122"/>
                <a:cs typeface="Arial" pitchFamily="34" charset="-120"/>
              </a:rPr>
              <a:t>0.832</a:t>
            </a:r>
            <a:endParaRPr lang="en-US" sz="1800" dirty="0"/>
          </a:p>
        </p:txBody>
      </p:sp>
      <p:sp>
        <p:nvSpPr>
          <p:cNvPr id="35" name="Shape 33"/>
          <p:cNvSpPr/>
          <p:nvPr/>
        </p:nvSpPr>
        <p:spPr>
          <a:xfrm>
            <a:off x="15882045" y="4457700"/>
            <a:ext cx="1443930" cy="9525"/>
          </a:xfrm>
          <a:prstGeom prst="rect">
            <a:avLst/>
          </a:prstGeom>
          <a:solidFill>
            <a:srgbClr val="2A2F3A"/>
          </a:solidFill>
          <a:ln/>
        </p:spPr>
        <p:txBody>
          <a:bodyPr/>
          <a:lstStyle/>
          <a:p>
            <a:endParaRPr lang="en-US"/>
          </a:p>
        </p:txBody>
      </p:sp>
      <p:sp>
        <p:nvSpPr>
          <p:cNvPr id="36" name="Text 34"/>
          <p:cNvSpPr/>
          <p:nvPr/>
        </p:nvSpPr>
        <p:spPr>
          <a:xfrm>
            <a:off x="16034445" y="4619625"/>
            <a:ext cx="1062930" cy="342900"/>
          </a:xfrm>
          <a:prstGeom prst="rect">
            <a:avLst/>
          </a:prstGeom>
          <a:noFill/>
          <a:ln/>
        </p:spPr>
        <p:txBody>
          <a:bodyPr wrap="square" lIns="25400" tIns="25400" rIns="25400" bIns="25400" rtlCol="0" anchor="t">
            <a:normAutofit/>
          </a:bodyPr>
          <a:lstStyle/>
          <a:p>
            <a:pPr marL="0" indent="0" algn="r">
              <a:buNone/>
            </a:pPr>
            <a:r>
              <a:rPr lang="en-US" sz="1800" dirty="0">
                <a:solidFill>
                  <a:srgbClr val="FF5A1F"/>
                </a:solidFill>
                <a:latin typeface="Arial" pitchFamily="34" charset="0"/>
                <a:ea typeface="Arial" pitchFamily="34" charset="-122"/>
                <a:cs typeface="Arial" pitchFamily="34" charset="-120"/>
              </a:rPr>
              <a:t>✓</a:t>
            </a:r>
            <a:endParaRPr lang="en-US" sz="1800" dirty="0"/>
          </a:p>
        </p:txBody>
      </p:sp>
      <p:sp>
        <p:nvSpPr>
          <p:cNvPr id="37" name="Shape 35"/>
          <p:cNvSpPr/>
          <p:nvPr/>
        </p:nvSpPr>
        <p:spPr>
          <a:xfrm>
            <a:off x="962025" y="5076825"/>
            <a:ext cx="5294114" cy="9525"/>
          </a:xfrm>
          <a:prstGeom prst="rect">
            <a:avLst/>
          </a:prstGeom>
          <a:solidFill>
            <a:srgbClr val="2A2F3A"/>
          </a:solidFill>
          <a:ln/>
        </p:spPr>
        <p:txBody>
          <a:bodyPr/>
          <a:lstStyle/>
          <a:p>
            <a:endParaRPr lang="en-US"/>
          </a:p>
        </p:txBody>
      </p:sp>
      <p:sp>
        <p:nvSpPr>
          <p:cNvPr id="38" name="Text 36"/>
          <p:cNvSpPr/>
          <p:nvPr/>
        </p:nvSpPr>
        <p:spPr>
          <a:xfrm>
            <a:off x="1190625" y="5238750"/>
            <a:ext cx="4995737"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4EFE6"/>
                </a:solidFill>
                <a:latin typeface="Arial" pitchFamily="34" charset="0"/>
                <a:ea typeface="Arial" pitchFamily="34" charset="-122"/>
                <a:cs typeface="Arial" pitchFamily="34" charset="-120"/>
              </a:rPr>
              <a:t>Calibration (Brier ↓)</a:t>
            </a:r>
            <a:endParaRPr lang="en-US" sz="1800" dirty="0"/>
          </a:p>
        </p:txBody>
      </p:sp>
      <p:sp>
        <p:nvSpPr>
          <p:cNvPr id="39" name="Shape 37"/>
          <p:cNvSpPr/>
          <p:nvPr/>
        </p:nvSpPr>
        <p:spPr>
          <a:xfrm>
            <a:off x="6256139" y="5076825"/>
            <a:ext cx="4812953" cy="9525"/>
          </a:xfrm>
          <a:prstGeom prst="rect">
            <a:avLst/>
          </a:prstGeom>
          <a:solidFill>
            <a:srgbClr val="2A2F3A"/>
          </a:solidFill>
          <a:ln/>
        </p:spPr>
        <p:txBody>
          <a:bodyPr/>
          <a:lstStyle/>
          <a:p>
            <a:endParaRPr lang="en-US"/>
          </a:p>
        </p:txBody>
      </p:sp>
      <p:sp>
        <p:nvSpPr>
          <p:cNvPr id="40" name="Text 38"/>
          <p:cNvSpPr/>
          <p:nvPr/>
        </p:nvSpPr>
        <p:spPr>
          <a:xfrm>
            <a:off x="6484739" y="5238750"/>
            <a:ext cx="4500141"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5A1F"/>
                </a:solidFill>
                <a:latin typeface="Arial" pitchFamily="34" charset="0"/>
                <a:ea typeface="Arial" pitchFamily="34" charset="-122"/>
                <a:cs typeface="Arial" pitchFamily="34" charset="-120"/>
              </a:rPr>
              <a:t>0.020</a:t>
            </a:r>
            <a:endParaRPr lang="en-US" sz="1800" dirty="0"/>
          </a:p>
        </p:txBody>
      </p:sp>
      <p:sp>
        <p:nvSpPr>
          <p:cNvPr id="41" name="Shape 39"/>
          <p:cNvSpPr/>
          <p:nvPr/>
        </p:nvSpPr>
        <p:spPr>
          <a:xfrm>
            <a:off x="11069092" y="5076825"/>
            <a:ext cx="4812953" cy="9525"/>
          </a:xfrm>
          <a:prstGeom prst="rect">
            <a:avLst/>
          </a:prstGeom>
          <a:solidFill>
            <a:srgbClr val="2A2F3A"/>
          </a:solidFill>
          <a:ln/>
        </p:spPr>
        <p:txBody>
          <a:bodyPr/>
          <a:lstStyle/>
          <a:p>
            <a:endParaRPr lang="en-US"/>
          </a:p>
        </p:txBody>
      </p:sp>
      <p:sp>
        <p:nvSpPr>
          <p:cNvPr id="42" name="Text 40"/>
          <p:cNvSpPr/>
          <p:nvPr/>
        </p:nvSpPr>
        <p:spPr>
          <a:xfrm>
            <a:off x="11297692" y="5238750"/>
            <a:ext cx="4500141" cy="342900"/>
          </a:xfrm>
          <a:prstGeom prst="rect">
            <a:avLst/>
          </a:prstGeom>
          <a:noFill/>
          <a:ln/>
        </p:spPr>
        <p:txBody>
          <a:bodyPr wrap="square" lIns="25400" tIns="25400" rIns="25400" bIns="25400" rtlCol="0" anchor="t">
            <a:normAutofit/>
          </a:bodyPr>
          <a:lstStyle/>
          <a:p>
            <a:pPr marL="0" indent="0" algn="l">
              <a:buNone/>
            </a:pPr>
            <a:r>
              <a:rPr lang="en-US" sz="1800" dirty="0">
                <a:solidFill>
                  <a:srgbClr val="9AA0AB"/>
                </a:solidFill>
                <a:latin typeface="Arial" pitchFamily="34" charset="0"/>
                <a:ea typeface="Arial" pitchFamily="34" charset="-122"/>
                <a:cs typeface="Arial" pitchFamily="34" charset="-120"/>
              </a:rPr>
              <a:t>0.149</a:t>
            </a:r>
            <a:endParaRPr lang="en-US" sz="1800" dirty="0"/>
          </a:p>
        </p:txBody>
      </p:sp>
      <p:sp>
        <p:nvSpPr>
          <p:cNvPr id="43" name="Shape 41"/>
          <p:cNvSpPr/>
          <p:nvPr/>
        </p:nvSpPr>
        <p:spPr>
          <a:xfrm>
            <a:off x="15882045" y="5076825"/>
            <a:ext cx="1443930" cy="9525"/>
          </a:xfrm>
          <a:prstGeom prst="rect">
            <a:avLst/>
          </a:prstGeom>
          <a:solidFill>
            <a:srgbClr val="2A2F3A"/>
          </a:solidFill>
          <a:ln/>
        </p:spPr>
        <p:txBody>
          <a:bodyPr/>
          <a:lstStyle/>
          <a:p>
            <a:endParaRPr lang="en-US"/>
          </a:p>
        </p:txBody>
      </p:sp>
      <p:sp>
        <p:nvSpPr>
          <p:cNvPr id="44" name="Text 42"/>
          <p:cNvSpPr/>
          <p:nvPr/>
        </p:nvSpPr>
        <p:spPr>
          <a:xfrm>
            <a:off x="16034445" y="5238750"/>
            <a:ext cx="1062930" cy="342900"/>
          </a:xfrm>
          <a:prstGeom prst="rect">
            <a:avLst/>
          </a:prstGeom>
          <a:noFill/>
          <a:ln/>
        </p:spPr>
        <p:txBody>
          <a:bodyPr wrap="square" lIns="25400" tIns="25400" rIns="25400" bIns="25400" rtlCol="0" anchor="t">
            <a:normAutofit/>
          </a:bodyPr>
          <a:lstStyle/>
          <a:p>
            <a:pPr marL="0" indent="0" algn="r">
              <a:buNone/>
            </a:pPr>
            <a:r>
              <a:rPr lang="en-US" sz="1800" dirty="0">
                <a:solidFill>
                  <a:srgbClr val="FF5A1F"/>
                </a:solidFill>
                <a:latin typeface="Arial" pitchFamily="34" charset="0"/>
                <a:ea typeface="Arial" pitchFamily="34" charset="-122"/>
                <a:cs typeface="Arial" pitchFamily="34" charset="-120"/>
              </a:rPr>
              <a:t>✓</a:t>
            </a:r>
            <a:endParaRPr lang="en-US" sz="1800" dirty="0"/>
          </a:p>
        </p:txBody>
      </p:sp>
      <p:sp>
        <p:nvSpPr>
          <p:cNvPr id="45" name="Shape 43"/>
          <p:cNvSpPr/>
          <p:nvPr/>
        </p:nvSpPr>
        <p:spPr>
          <a:xfrm>
            <a:off x="962025" y="5695950"/>
            <a:ext cx="5294114" cy="9525"/>
          </a:xfrm>
          <a:prstGeom prst="rect">
            <a:avLst/>
          </a:prstGeom>
          <a:solidFill>
            <a:srgbClr val="2A2F3A"/>
          </a:solidFill>
          <a:ln/>
        </p:spPr>
        <p:txBody>
          <a:bodyPr/>
          <a:lstStyle/>
          <a:p>
            <a:endParaRPr lang="en-US"/>
          </a:p>
        </p:txBody>
      </p:sp>
      <p:sp>
        <p:nvSpPr>
          <p:cNvPr id="46" name="Text 44"/>
          <p:cNvSpPr/>
          <p:nvPr/>
        </p:nvSpPr>
        <p:spPr>
          <a:xfrm>
            <a:off x="1190625" y="5857875"/>
            <a:ext cx="4995737"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4EFE6"/>
                </a:solidFill>
                <a:latin typeface="Arial" pitchFamily="34" charset="0"/>
                <a:ea typeface="Arial" pitchFamily="34" charset="-122"/>
                <a:cs typeface="Arial" pitchFamily="34" charset="-120"/>
              </a:rPr>
              <a:t>Consistency</a:t>
            </a:r>
            <a:endParaRPr lang="en-US" sz="1800" dirty="0"/>
          </a:p>
        </p:txBody>
      </p:sp>
      <p:sp>
        <p:nvSpPr>
          <p:cNvPr id="47" name="Shape 45"/>
          <p:cNvSpPr/>
          <p:nvPr/>
        </p:nvSpPr>
        <p:spPr>
          <a:xfrm>
            <a:off x="6256139" y="5695950"/>
            <a:ext cx="4812953" cy="9525"/>
          </a:xfrm>
          <a:prstGeom prst="rect">
            <a:avLst/>
          </a:prstGeom>
          <a:solidFill>
            <a:srgbClr val="2A2F3A"/>
          </a:solidFill>
          <a:ln/>
        </p:spPr>
        <p:txBody>
          <a:bodyPr/>
          <a:lstStyle/>
          <a:p>
            <a:endParaRPr lang="en-US"/>
          </a:p>
        </p:txBody>
      </p:sp>
      <p:sp>
        <p:nvSpPr>
          <p:cNvPr id="48" name="Text 46"/>
          <p:cNvSpPr/>
          <p:nvPr/>
        </p:nvSpPr>
        <p:spPr>
          <a:xfrm>
            <a:off x="6484739" y="5857875"/>
            <a:ext cx="4500141"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5A1F"/>
                </a:solidFill>
                <a:latin typeface="Arial" pitchFamily="34" charset="0"/>
                <a:ea typeface="Arial" pitchFamily="34" charset="-122"/>
                <a:cs typeface="Arial" pitchFamily="34" charset="-120"/>
              </a:rPr>
              <a:t>High · deterministic</a:t>
            </a:r>
            <a:endParaRPr lang="en-US" sz="1800" dirty="0"/>
          </a:p>
        </p:txBody>
      </p:sp>
      <p:sp>
        <p:nvSpPr>
          <p:cNvPr id="49" name="Shape 47"/>
          <p:cNvSpPr/>
          <p:nvPr/>
        </p:nvSpPr>
        <p:spPr>
          <a:xfrm>
            <a:off x="11069092" y="5695950"/>
            <a:ext cx="4812953" cy="9525"/>
          </a:xfrm>
          <a:prstGeom prst="rect">
            <a:avLst/>
          </a:prstGeom>
          <a:solidFill>
            <a:srgbClr val="2A2F3A"/>
          </a:solidFill>
          <a:ln/>
        </p:spPr>
        <p:txBody>
          <a:bodyPr/>
          <a:lstStyle/>
          <a:p>
            <a:endParaRPr lang="en-US"/>
          </a:p>
        </p:txBody>
      </p:sp>
      <p:sp>
        <p:nvSpPr>
          <p:cNvPr id="50" name="Text 48"/>
          <p:cNvSpPr/>
          <p:nvPr/>
        </p:nvSpPr>
        <p:spPr>
          <a:xfrm>
            <a:off x="11297692" y="5857875"/>
            <a:ext cx="4500141" cy="342900"/>
          </a:xfrm>
          <a:prstGeom prst="rect">
            <a:avLst/>
          </a:prstGeom>
          <a:noFill/>
          <a:ln/>
        </p:spPr>
        <p:txBody>
          <a:bodyPr wrap="square" lIns="25400" tIns="25400" rIns="25400" bIns="25400" rtlCol="0" anchor="t">
            <a:normAutofit/>
          </a:bodyPr>
          <a:lstStyle/>
          <a:p>
            <a:pPr marL="0" indent="0" algn="l">
              <a:buNone/>
            </a:pPr>
            <a:r>
              <a:rPr lang="en-US" sz="1800" dirty="0">
                <a:solidFill>
                  <a:srgbClr val="9AA0AB"/>
                </a:solidFill>
                <a:latin typeface="Arial" pitchFamily="34" charset="0"/>
                <a:ea typeface="Arial" pitchFamily="34" charset="-122"/>
                <a:cs typeface="Arial" pitchFamily="34" charset="-120"/>
              </a:rPr>
              <a:t>Medium · prompt-sensitive</a:t>
            </a:r>
            <a:endParaRPr lang="en-US" sz="1800" dirty="0"/>
          </a:p>
        </p:txBody>
      </p:sp>
      <p:sp>
        <p:nvSpPr>
          <p:cNvPr id="51" name="Shape 49"/>
          <p:cNvSpPr/>
          <p:nvPr/>
        </p:nvSpPr>
        <p:spPr>
          <a:xfrm>
            <a:off x="15882045" y="5695950"/>
            <a:ext cx="1443930" cy="9525"/>
          </a:xfrm>
          <a:prstGeom prst="rect">
            <a:avLst/>
          </a:prstGeom>
          <a:solidFill>
            <a:srgbClr val="2A2F3A"/>
          </a:solidFill>
          <a:ln/>
        </p:spPr>
        <p:txBody>
          <a:bodyPr/>
          <a:lstStyle/>
          <a:p>
            <a:endParaRPr lang="en-US"/>
          </a:p>
        </p:txBody>
      </p:sp>
      <p:sp>
        <p:nvSpPr>
          <p:cNvPr id="52" name="Text 50"/>
          <p:cNvSpPr/>
          <p:nvPr/>
        </p:nvSpPr>
        <p:spPr>
          <a:xfrm>
            <a:off x="16034445" y="5857875"/>
            <a:ext cx="1062930" cy="342900"/>
          </a:xfrm>
          <a:prstGeom prst="rect">
            <a:avLst/>
          </a:prstGeom>
          <a:noFill/>
          <a:ln/>
        </p:spPr>
        <p:txBody>
          <a:bodyPr wrap="square" lIns="25400" tIns="25400" rIns="25400" bIns="25400" rtlCol="0" anchor="t">
            <a:normAutofit/>
          </a:bodyPr>
          <a:lstStyle/>
          <a:p>
            <a:pPr marL="0" indent="0" algn="r">
              <a:buNone/>
            </a:pPr>
            <a:r>
              <a:rPr lang="en-US" sz="1800" dirty="0">
                <a:solidFill>
                  <a:srgbClr val="FF5A1F"/>
                </a:solidFill>
                <a:latin typeface="Arial" pitchFamily="34" charset="0"/>
                <a:ea typeface="Arial" pitchFamily="34" charset="-122"/>
                <a:cs typeface="Arial" pitchFamily="34" charset="-120"/>
              </a:rPr>
              <a:t>✓</a:t>
            </a:r>
            <a:endParaRPr lang="en-US" sz="1800" dirty="0"/>
          </a:p>
        </p:txBody>
      </p:sp>
      <p:sp>
        <p:nvSpPr>
          <p:cNvPr id="53" name="Shape 51"/>
          <p:cNvSpPr/>
          <p:nvPr/>
        </p:nvSpPr>
        <p:spPr>
          <a:xfrm>
            <a:off x="962025" y="6315075"/>
            <a:ext cx="5294114" cy="9525"/>
          </a:xfrm>
          <a:prstGeom prst="rect">
            <a:avLst/>
          </a:prstGeom>
          <a:solidFill>
            <a:srgbClr val="2A2F3A"/>
          </a:solidFill>
          <a:ln/>
        </p:spPr>
        <p:txBody>
          <a:bodyPr/>
          <a:lstStyle/>
          <a:p>
            <a:endParaRPr lang="en-US"/>
          </a:p>
        </p:txBody>
      </p:sp>
      <p:sp>
        <p:nvSpPr>
          <p:cNvPr id="54" name="Text 52"/>
          <p:cNvSpPr/>
          <p:nvPr/>
        </p:nvSpPr>
        <p:spPr>
          <a:xfrm>
            <a:off x="1190625" y="6477000"/>
            <a:ext cx="4995737"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4EFE6"/>
                </a:solidFill>
                <a:latin typeface="Arial" pitchFamily="34" charset="0"/>
                <a:ea typeface="Arial" pitchFamily="34" charset="-122"/>
                <a:cs typeface="Arial" pitchFamily="34" charset="-120"/>
              </a:rPr>
              <a:t>Speed / row</a:t>
            </a:r>
            <a:endParaRPr lang="en-US" sz="1800" dirty="0"/>
          </a:p>
        </p:txBody>
      </p:sp>
      <p:sp>
        <p:nvSpPr>
          <p:cNvPr id="55" name="Shape 53"/>
          <p:cNvSpPr/>
          <p:nvPr/>
        </p:nvSpPr>
        <p:spPr>
          <a:xfrm>
            <a:off x="6256139" y="6315075"/>
            <a:ext cx="4812953" cy="9525"/>
          </a:xfrm>
          <a:prstGeom prst="rect">
            <a:avLst/>
          </a:prstGeom>
          <a:solidFill>
            <a:srgbClr val="2A2F3A"/>
          </a:solidFill>
          <a:ln/>
        </p:spPr>
        <p:txBody>
          <a:bodyPr/>
          <a:lstStyle/>
          <a:p>
            <a:endParaRPr lang="en-US"/>
          </a:p>
        </p:txBody>
      </p:sp>
      <p:sp>
        <p:nvSpPr>
          <p:cNvPr id="56" name="Text 54"/>
          <p:cNvSpPr/>
          <p:nvPr/>
        </p:nvSpPr>
        <p:spPr>
          <a:xfrm>
            <a:off x="6484739" y="6477000"/>
            <a:ext cx="4500141"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5A1F"/>
                </a:solidFill>
                <a:latin typeface="Arial" pitchFamily="34" charset="0"/>
                <a:ea typeface="Arial" pitchFamily="34" charset="-122"/>
                <a:cs typeface="Arial" pitchFamily="34" charset="-120"/>
              </a:rPr>
              <a:t>Milliseconds</a:t>
            </a:r>
            <a:endParaRPr lang="en-US" sz="1800" dirty="0"/>
          </a:p>
        </p:txBody>
      </p:sp>
      <p:sp>
        <p:nvSpPr>
          <p:cNvPr id="57" name="Shape 55"/>
          <p:cNvSpPr/>
          <p:nvPr/>
        </p:nvSpPr>
        <p:spPr>
          <a:xfrm>
            <a:off x="11069092" y="6315075"/>
            <a:ext cx="4812953" cy="9525"/>
          </a:xfrm>
          <a:prstGeom prst="rect">
            <a:avLst/>
          </a:prstGeom>
          <a:solidFill>
            <a:srgbClr val="2A2F3A"/>
          </a:solidFill>
          <a:ln/>
        </p:spPr>
        <p:txBody>
          <a:bodyPr/>
          <a:lstStyle/>
          <a:p>
            <a:endParaRPr lang="en-US"/>
          </a:p>
        </p:txBody>
      </p:sp>
      <p:sp>
        <p:nvSpPr>
          <p:cNvPr id="58" name="Text 56"/>
          <p:cNvSpPr/>
          <p:nvPr/>
        </p:nvSpPr>
        <p:spPr>
          <a:xfrm>
            <a:off x="11297692" y="6477000"/>
            <a:ext cx="4500141" cy="342900"/>
          </a:xfrm>
          <a:prstGeom prst="rect">
            <a:avLst/>
          </a:prstGeom>
          <a:noFill/>
          <a:ln/>
        </p:spPr>
        <p:txBody>
          <a:bodyPr wrap="square" lIns="25400" tIns="25400" rIns="25400" bIns="25400" rtlCol="0" anchor="t">
            <a:normAutofit/>
          </a:bodyPr>
          <a:lstStyle/>
          <a:p>
            <a:pPr marL="0" indent="0" algn="l">
              <a:buNone/>
            </a:pPr>
            <a:r>
              <a:rPr lang="en-US" sz="1800" dirty="0">
                <a:solidFill>
                  <a:srgbClr val="9AA0AB"/>
                </a:solidFill>
                <a:latin typeface="Arial" pitchFamily="34" charset="0"/>
                <a:ea typeface="Arial" pitchFamily="34" charset="-122"/>
                <a:cs typeface="Arial" pitchFamily="34" charset="-120"/>
              </a:rPr>
              <a:t>Seconds</a:t>
            </a:r>
            <a:endParaRPr lang="en-US" sz="1800" dirty="0"/>
          </a:p>
        </p:txBody>
      </p:sp>
      <p:sp>
        <p:nvSpPr>
          <p:cNvPr id="59" name="Shape 57"/>
          <p:cNvSpPr/>
          <p:nvPr/>
        </p:nvSpPr>
        <p:spPr>
          <a:xfrm>
            <a:off x="15882045" y="6315075"/>
            <a:ext cx="1443930" cy="9525"/>
          </a:xfrm>
          <a:prstGeom prst="rect">
            <a:avLst/>
          </a:prstGeom>
          <a:solidFill>
            <a:srgbClr val="2A2F3A"/>
          </a:solidFill>
          <a:ln/>
        </p:spPr>
        <p:txBody>
          <a:bodyPr/>
          <a:lstStyle/>
          <a:p>
            <a:endParaRPr lang="en-US"/>
          </a:p>
        </p:txBody>
      </p:sp>
      <p:sp>
        <p:nvSpPr>
          <p:cNvPr id="60" name="Text 58"/>
          <p:cNvSpPr/>
          <p:nvPr/>
        </p:nvSpPr>
        <p:spPr>
          <a:xfrm>
            <a:off x="16034445" y="6477000"/>
            <a:ext cx="1062930" cy="342900"/>
          </a:xfrm>
          <a:prstGeom prst="rect">
            <a:avLst/>
          </a:prstGeom>
          <a:noFill/>
          <a:ln/>
        </p:spPr>
        <p:txBody>
          <a:bodyPr wrap="square" lIns="25400" tIns="25400" rIns="25400" bIns="25400" rtlCol="0" anchor="t">
            <a:normAutofit/>
          </a:bodyPr>
          <a:lstStyle/>
          <a:p>
            <a:pPr marL="0" indent="0" algn="r">
              <a:buNone/>
            </a:pPr>
            <a:r>
              <a:rPr lang="en-US" sz="1800" dirty="0">
                <a:solidFill>
                  <a:srgbClr val="FF5A1F"/>
                </a:solidFill>
                <a:latin typeface="Arial" pitchFamily="34" charset="0"/>
                <a:ea typeface="Arial" pitchFamily="34" charset="-122"/>
                <a:cs typeface="Arial" pitchFamily="34" charset="-120"/>
              </a:rPr>
              <a:t>✓</a:t>
            </a:r>
            <a:endParaRPr lang="en-US" sz="1800" dirty="0"/>
          </a:p>
        </p:txBody>
      </p:sp>
      <p:sp>
        <p:nvSpPr>
          <p:cNvPr id="61" name="Shape 59"/>
          <p:cNvSpPr/>
          <p:nvPr/>
        </p:nvSpPr>
        <p:spPr>
          <a:xfrm>
            <a:off x="962025" y="6934200"/>
            <a:ext cx="5294114" cy="9525"/>
          </a:xfrm>
          <a:prstGeom prst="rect">
            <a:avLst/>
          </a:prstGeom>
          <a:solidFill>
            <a:srgbClr val="2A2F3A"/>
          </a:solidFill>
          <a:ln/>
        </p:spPr>
        <p:txBody>
          <a:bodyPr/>
          <a:lstStyle/>
          <a:p>
            <a:endParaRPr lang="en-US"/>
          </a:p>
        </p:txBody>
      </p:sp>
      <p:sp>
        <p:nvSpPr>
          <p:cNvPr id="62" name="Text 60"/>
          <p:cNvSpPr/>
          <p:nvPr/>
        </p:nvSpPr>
        <p:spPr>
          <a:xfrm>
            <a:off x="1190625" y="7096125"/>
            <a:ext cx="4995737"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4EFE6"/>
                </a:solidFill>
                <a:latin typeface="Arial" pitchFamily="34" charset="0"/>
                <a:ea typeface="Arial" pitchFamily="34" charset="-122"/>
                <a:cs typeface="Arial" pitchFamily="34" charset="-120"/>
              </a:rPr>
              <a:t>Setup effort</a:t>
            </a:r>
            <a:endParaRPr lang="en-US" sz="1800" dirty="0"/>
          </a:p>
        </p:txBody>
      </p:sp>
      <p:sp>
        <p:nvSpPr>
          <p:cNvPr id="63" name="Shape 61"/>
          <p:cNvSpPr/>
          <p:nvPr/>
        </p:nvSpPr>
        <p:spPr>
          <a:xfrm>
            <a:off x="6256139" y="6934200"/>
            <a:ext cx="4812953" cy="9525"/>
          </a:xfrm>
          <a:prstGeom prst="rect">
            <a:avLst/>
          </a:prstGeom>
          <a:solidFill>
            <a:srgbClr val="2A2F3A"/>
          </a:solidFill>
          <a:ln/>
        </p:spPr>
        <p:txBody>
          <a:bodyPr/>
          <a:lstStyle/>
          <a:p>
            <a:endParaRPr lang="en-US"/>
          </a:p>
        </p:txBody>
      </p:sp>
      <p:sp>
        <p:nvSpPr>
          <p:cNvPr id="64" name="Text 62"/>
          <p:cNvSpPr/>
          <p:nvPr/>
        </p:nvSpPr>
        <p:spPr>
          <a:xfrm>
            <a:off x="6484739" y="7096125"/>
            <a:ext cx="4500141" cy="333375"/>
          </a:xfrm>
          <a:prstGeom prst="rect">
            <a:avLst/>
          </a:prstGeom>
          <a:noFill/>
          <a:ln/>
        </p:spPr>
        <p:txBody>
          <a:bodyPr wrap="square" lIns="25400" tIns="25400" rIns="25400" bIns="25400" rtlCol="0" anchor="t">
            <a:normAutofit/>
          </a:bodyPr>
          <a:lstStyle/>
          <a:p>
            <a:pPr marL="0" indent="0" algn="l">
              <a:buNone/>
            </a:pPr>
            <a:r>
              <a:rPr lang="en-US" sz="1800" b="1" dirty="0">
                <a:solidFill>
                  <a:srgbClr val="FF5A1F"/>
                </a:solidFill>
                <a:latin typeface="Arial" pitchFamily="34" charset="0"/>
                <a:ea typeface="Arial" pitchFamily="34" charset="-122"/>
                <a:cs typeface="Arial" pitchFamily="34" charset="-120"/>
              </a:rPr>
              <a:t>High · features + tuning</a:t>
            </a:r>
            <a:endParaRPr lang="en-US" sz="1800" dirty="0"/>
          </a:p>
        </p:txBody>
      </p:sp>
      <p:sp>
        <p:nvSpPr>
          <p:cNvPr id="65" name="Shape 63"/>
          <p:cNvSpPr/>
          <p:nvPr/>
        </p:nvSpPr>
        <p:spPr>
          <a:xfrm>
            <a:off x="11069092" y="6934200"/>
            <a:ext cx="4812953" cy="9525"/>
          </a:xfrm>
          <a:prstGeom prst="rect">
            <a:avLst/>
          </a:prstGeom>
          <a:solidFill>
            <a:srgbClr val="2A2F3A"/>
          </a:solidFill>
          <a:ln/>
        </p:spPr>
        <p:txBody>
          <a:bodyPr/>
          <a:lstStyle/>
          <a:p>
            <a:endParaRPr lang="en-US"/>
          </a:p>
        </p:txBody>
      </p:sp>
      <p:sp>
        <p:nvSpPr>
          <p:cNvPr id="66" name="Text 64"/>
          <p:cNvSpPr/>
          <p:nvPr/>
        </p:nvSpPr>
        <p:spPr>
          <a:xfrm>
            <a:off x="11297692" y="7096125"/>
            <a:ext cx="4500141" cy="333375"/>
          </a:xfrm>
          <a:prstGeom prst="rect">
            <a:avLst/>
          </a:prstGeom>
          <a:noFill/>
          <a:ln/>
        </p:spPr>
        <p:txBody>
          <a:bodyPr wrap="square" lIns="25400" tIns="25400" rIns="25400" bIns="25400" rtlCol="0" anchor="t">
            <a:normAutofit/>
          </a:bodyPr>
          <a:lstStyle/>
          <a:p>
            <a:pPr marL="0" indent="0" algn="l">
              <a:buNone/>
            </a:pPr>
            <a:r>
              <a:rPr lang="en-US" sz="1800" dirty="0">
                <a:solidFill>
                  <a:srgbClr val="9AA0AB"/>
                </a:solidFill>
                <a:latin typeface="Arial" pitchFamily="34" charset="0"/>
                <a:ea typeface="Arial" pitchFamily="34" charset="-122"/>
                <a:cs typeface="Arial" pitchFamily="34" charset="-120"/>
              </a:rPr>
              <a:t>Low · prompt only</a:t>
            </a:r>
            <a:endParaRPr lang="en-US" sz="1800" dirty="0"/>
          </a:p>
        </p:txBody>
      </p:sp>
      <p:sp>
        <p:nvSpPr>
          <p:cNvPr id="67" name="Shape 65"/>
          <p:cNvSpPr/>
          <p:nvPr/>
        </p:nvSpPr>
        <p:spPr>
          <a:xfrm>
            <a:off x="15882045" y="6934200"/>
            <a:ext cx="1443930" cy="9525"/>
          </a:xfrm>
          <a:prstGeom prst="rect">
            <a:avLst/>
          </a:prstGeom>
          <a:solidFill>
            <a:srgbClr val="2A2F3A"/>
          </a:solidFill>
          <a:ln/>
        </p:spPr>
        <p:txBody>
          <a:bodyPr/>
          <a:lstStyle/>
          <a:p>
            <a:endParaRPr lang="en-US"/>
          </a:p>
        </p:txBody>
      </p:sp>
      <p:sp>
        <p:nvSpPr>
          <p:cNvPr id="68" name="Text 66"/>
          <p:cNvSpPr/>
          <p:nvPr/>
        </p:nvSpPr>
        <p:spPr>
          <a:xfrm>
            <a:off x="16034445" y="7096125"/>
            <a:ext cx="1062930" cy="333375"/>
          </a:xfrm>
          <a:prstGeom prst="rect">
            <a:avLst/>
          </a:prstGeom>
          <a:noFill/>
          <a:ln/>
        </p:spPr>
        <p:txBody>
          <a:bodyPr wrap="square" lIns="25400" tIns="25400" rIns="25400" bIns="25400" rtlCol="0" anchor="t">
            <a:normAutofit/>
          </a:bodyPr>
          <a:lstStyle/>
          <a:p>
            <a:pPr marL="0" indent="0" algn="r">
              <a:buNone/>
            </a:pPr>
            <a:r>
              <a:rPr lang="en-US" sz="1800" dirty="0">
                <a:solidFill>
                  <a:srgbClr val="9AA0AB"/>
                </a:solidFill>
                <a:latin typeface="Arial" pitchFamily="34" charset="0"/>
                <a:ea typeface="Arial" pitchFamily="34" charset="-122"/>
                <a:cs typeface="Arial" pitchFamily="34" charset="-120"/>
              </a:rPr>
              <a:t>—</a:t>
            </a:r>
            <a:endParaRPr lang="en-US" sz="1800" dirty="0"/>
          </a:p>
        </p:txBody>
      </p:sp>
      <p:sp>
        <p:nvSpPr>
          <p:cNvPr id="69" name="Shape 67"/>
          <p:cNvSpPr/>
          <p:nvPr/>
        </p:nvSpPr>
        <p:spPr>
          <a:xfrm>
            <a:off x="962025" y="7543800"/>
            <a:ext cx="5294114" cy="9525"/>
          </a:xfrm>
          <a:prstGeom prst="rect">
            <a:avLst/>
          </a:prstGeom>
          <a:solidFill>
            <a:srgbClr val="2A2F3A"/>
          </a:solidFill>
          <a:ln/>
        </p:spPr>
        <p:txBody>
          <a:bodyPr/>
          <a:lstStyle/>
          <a:p>
            <a:endParaRPr lang="en-US"/>
          </a:p>
        </p:txBody>
      </p:sp>
      <p:sp>
        <p:nvSpPr>
          <p:cNvPr id="70" name="Text 68"/>
          <p:cNvSpPr/>
          <p:nvPr/>
        </p:nvSpPr>
        <p:spPr>
          <a:xfrm>
            <a:off x="1190625" y="7705725"/>
            <a:ext cx="4995737" cy="333375"/>
          </a:xfrm>
          <a:prstGeom prst="rect">
            <a:avLst/>
          </a:prstGeom>
          <a:noFill/>
          <a:ln/>
        </p:spPr>
        <p:txBody>
          <a:bodyPr wrap="square" lIns="25400" tIns="25400" rIns="25400" bIns="25400" rtlCol="0" anchor="t">
            <a:normAutofit/>
          </a:bodyPr>
          <a:lstStyle/>
          <a:p>
            <a:pPr marL="0" indent="0" algn="l">
              <a:buNone/>
            </a:pPr>
            <a:r>
              <a:rPr lang="en-US" sz="1800" dirty="0">
                <a:solidFill>
                  <a:srgbClr val="F4EFE6"/>
                </a:solidFill>
                <a:latin typeface="Arial" pitchFamily="34" charset="0"/>
                <a:ea typeface="Arial" pitchFamily="34" charset="-122"/>
                <a:cs typeface="Arial" pitchFamily="34" charset="-120"/>
              </a:rPr>
              <a:t>Labeled data needed</a:t>
            </a:r>
            <a:endParaRPr lang="en-US" sz="1800" dirty="0"/>
          </a:p>
        </p:txBody>
      </p:sp>
      <p:sp>
        <p:nvSpPr>
          <p:cNvPr id="71" name="Shape 69"/>
          <p:cNvSpPr/>
          <p:nvPr/>
        </p:nvSpPr>
        <p:spPr>
          <a:xfrm>
            <a:off x="6256139" y="7543800"/>
            <a:ext cx="4812953" cy="9525"/>
          </a:xfrm>
          <a:prstGeom prst="rect">
            <a:avLst/>
          </a:prstGeom>
          <a:solidFill>
            <a:srgbClr val="2A2F3A"/>
          </a:solidFill>
          <a:ln/>
        </p:spPr>
        <p:txBody>
          <a:bodyPr/>
          <a:lstStyle/>
          <a:p>
            <a:endParaRPr lang="en-US"/>
          </a:p>
        </p:txBody>
      </p:sp>
      <p:sp>
        <p:nvSpPr>
          <p:cNvPr id="72" name="Text 70"/>
          <p:cNvSpPr/>
          <p:nvPr/>
        </p:nvSpPr>
        <p:spPr>
          <a:xfrm>
            <a:off x="6484739" y="7705725"/>
            <a:ext cx="4500141" cy="333375"/>
          </a:xfrm>
          <a:prstGeom prst="rect">
            <a:avLst/>
          </a:prstGeom>
          <a:noFill/>
          <a:ln/>
        </p:spPr>
        <p:txBody>
          <a:bodyPr wrap="square" lIns="25400" tIns="25400" rIns="25400" bIns="25400" rtlCol="0" anchor="t">
            <a:normAutofit/>
          </a:bodyPr>
          <a:lstStyle/>
          <a:p>
            <a:pPr marL="0" indent="0" algn="l">
              <a:buNone/>
            </a:pPr>
            <a:r>
              <a:rPr lang="en-US" sz="1800" b="1" dirty="0">
                <a:solidFill>
                  <a:srgbClr val="FF5A1F"/>
                </a:solidFill>
                <a:latin typeface="Arial" pitchFamily="34" charset="0"/>
                <a:ea typeface="Arial" pitchFamily="34" charset="-122"/>
                <a:cs typeface="Arial" pitchFamily="34" charset="-120"/>
              </a:rPr>
              <a:t>Yes</a:t>
            </a:r>
            <a:endParaRPr lang="en-US" sz="1800" dirty="0"/>
          </a:p>
        </p:txBody>
      </p:sp>
      <p:sp>
        <p:nvSpPr>
          <p:cNvPr id="73" name="Shape 71"/>
          <p:cNvSpPr/>
          <p:nvPr/>
        </p:nvSpPr>
        <p:spPr>
          <a:xfrm>
            <a:off x="11069092" y="7543800"/>
            <a:ext cx="4812953" cy="9525"/>
          </a:xfrm>
          <a:prstGeom prst="rect">
            <a:avLst/>
          </a:prstGeom>
          <a:solidFill>
            <a:srgbClr val="2A2F3A"/>
          </a:solidFill>
          <a:ln/>
        </p:spPr>
        <p:txBody>
          <a:bodyPr/>
          <a:lstStyle/>
          <a:p>
            <a:endParaRPr lang="en-US"/>
          </a:p>
        </p:txBody>
      </p:sp>
      <p:sp>
        <p:nvSpPr>
          <p:cNvPr id="74" name="Text 72"/>
          <p:cNvSpPr/>
          <p:nvPr/>
        </p:nvSpPr>
        <p:spPr>
          <a:xfrm>
            <a:off x="11297692" y="7705725"/>
            <a:ext cx="4500141" cy="333375"/>
          </a:xfrm>
          <a:prstGeom prst="rect">
            <a:avLst/>
          </a:prstGeom>
          <a:noFill/>
          <a:ln/>
        </p:spPr>
        <p:txBody>
          <a:bodyPr wrap="square" lIns="25400" tIns="25400" rIns="25400" bIns="25400" rtlCol="0" anchor="t">
            <a:normAutofit/>
          </a:bodyPr>
          <a:lstStyle/>
          <a:p>
            <a:pPr marL="0" indent="0" algn="l">
              <a:buNone/>
            </a:pPr>
            <a:r>
              <a:rPr lang="en-US" sz="1800" dirty="0">
                <a:solidFill>
                  <a:srgbClr val="9AA0AB"/>
                </a:solidFill>
                <a:latin typeface="Arial" pitchFamily="34" charset="0"/>
                <a:ea typeface="Arial" pitchFamily="34" charset="-122"/>
                <a:cs typeface="Arial" pitchFamily="34" charset="-120"/>
              </a:rPr>
              <a:t>No</a:t>
            </a:r>
            <a:endParaRPr lang="en-US" sz="1800" dirty="0"/>
          </a:p>
        </p:txBody>
      </p:sp>
      <p:sp>
        <p:nvSpPr>
          <p:cNvPr id="75" name="Shape 73"/>
          <p:cNvSpPr/>
          <p:nvPr/>
        </p:nvSpPr>
        <p:spPr>
          <a:xfrm>
            <a:off x="15882045" y="7543800"/>
            <a:ext cx="1443930" cy="9525"/>
          </a:xfrm>
          <a:prstGeom prst="rect">
            <a:avLst/>
          </a:prstGeom>
          <a:solidFill>
            <a:srgbClr val="2A2F3A"/>
          </a:solidFill>
          <a:ln/>
        </p:spPr>
        <p:txBody>
          <a:bodyPr/>
          <a:lstStyle/>
          <a:p>
            <a:endParaRPr lang="en-US"/>
          </a:p>
        </p:txBody>
      </p:sp>
      <p:sp>
        <p:nvSpPr>
          <p:cNvPr id="76" name="Text 74"/>
          <p:cNvSpPr/>
          <p:nvPr/>
        </p:nvSpPr>
        <p:spPr>
          <a:xfrm>
            <a:off x="16034445" y="7705725"/>
            <a:ext cx="1062930" cy="333375"/>
          </a:xfrm>
          <a:prstGeom prst="rect">
            <a:avLst/>
          </a:prstGeom>
          <a:noFill/>
          <a:ln/>
        </p:spPr>
        <p:txBody>
          <a:bodyPr wrap="square" lIns="25400" tIns="25400" rIns="25400" bIns="25400" rtlCol="0" anchor="t">
            <a:normAutofit/>
          </a:bodyPr>
          <a:lstStyle/>
          <a:p>
            <a:pPr marL="0" indent="0" algn="r">
              <a:buNone/>
            </a:pPr>
            <a:r>
              <a:rPr lang="en-US" sz="1800" dirty="0">
                <a:solidFill>
                  <a:srgbClr val="9AA0AB"/>
                </a:solidFill>
                <a:latin typeface="Arial" pitchFamily="34" charset="0"/>
                <a:ea typeface="Arial" pitchFamily="34" charset="-122"/>
                <a:cs typeface="Arial" pitchFamily="34" charset="-120"/>
              </a:rPr>
              <a:t>—</a:t>
            </a:r>
            <a:endParaRPr lang="en-US" sz="1800" dirty="0"/>
          </a:p>
        </p:txBody>
      </p:sp>
      <p:sp>
        <p:nvSpPr>
          <p:cNvPr id="77" name="Shape 75"/>
          <p:cNvSpPr/>
          <p:nvPr/>
        </p:nvSpPr>
        <p:spPr>
          <a:xfrm>
            <a:off x="962025" y="8153400"/>
            <a:ext cx="5294114" cy="9525"/>
          </a:xfrm>
          <a:prstGeom prst="rect">
            <a:avLst/>
          </a:prstGeom>
          <a:solidFill>
            <a:srgbClr val="2A2F3A"/>
          </a:solidFill>
          <a:ln/>
        </p:spPr>
        <p:txBody>
          <a:bodyPr/>
          <a:lstStyle/>
          <a:p>
            <a:endParaRPr lang="en-US"/>
          </a:p>
        </p:txBody>
      </p:sp>
      <p:sp>
        <p:nvSpPr>
          <p:cNvPr id="78" name="Text 76"/>
          <p:cNvSpPr/>
          <p:nvPr/>
        </p:nvSpPr>
        <p:spPr>
          <a:xfrm>
            <a:off x="1190625" y="8315325"/>
            <a:ext cx="4995737"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4EFE6"/>
                </a:solidFill>
                <a:latin typeface="Arial" pitchFamily="34" charset="0"/>
                <a:ea typeface="Arial" pitchFamily="34" charset="-122"/>
                <a:cs typeface="Arial" pitchFamily="34" charset="-120"/>
              </a:rPr>
              <a:t>Interpretability</a:t>
            </a:r>
            <a:endParaRPr lang="en-US" sz="1800" dirty="0"/>
          </a:p>
        </p:txBody>
      </p:sp>
      <p:sp>
        <p:nvSpPr>
          <p:cNvPr id="79" name="Shape 77"/>
          <p:cNvSpPr/>
          <p:nvPr/>
        </p:nvSpPr>
        <p:spPr>
          <a:xfrm>
            <a:off x="6256139" y="8153400"/>
            <a:ext cx="4812953" cy="9525"/>
          </a:xfrm>
          <a:prstGeom prst="rect">
            <a:avLst/>
          </a:prstGeom>
          <a:solidFill>
            <a:srgbClr val="2A2F3A"/>
          </a:solidFill>
          <a:ln/>
        </p:spPr>
        <p:txBody>
          <a:bodyPr/>
          <a:lstStyle/>
          <a:p>
            <a:endParaRPr lang="en-US"/>
          </a:p>
        </p:txBody>
      </p:sp>
      <p:sp>
        <p:nvSpPr>
          <p:cNvPr id="80" name="Text 78"/>
          <p:cNvSpPr/>
          <p:nvPr/>
        </p:nvSpPr>
        <p:spPr>
          <a:xfrm>
            <a:off x="6484739" y="8315325"/>
            <a:ext cx="4500141"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5A1F"/>
                </a:solidFill>
                <a:latin typeface="Arial" pitchFamily="34" charset="0"/>
                <a:ea typeface="Arial" pitchFamily="34" charset="-122"/>
                <a:cs typeface="Arial" pitchFamily="34" charset="-120"/>
              </a:rPr>
              <a:t>SHAP, coefficients</a:t>
            </a:r>
            <a:endParaRPr lang="en-US" sz="1800" dirty="0"/>
          </a:p>
        </p:txBody>
      </p:sp>
      <p:sp>
        <p:nvSpPr>
          <p:cNvPr id="81" name="Shape 79"/>
          <p:cNvSpPr/>
          <p:nvPr/>
        </p:nvSpPr>
        <p:spPr>
          <a:xfrm>
            <a:off x="11069092" y="8153400"/>
            <a:ext cx="4812953" cy="9525"/>
          </a:xfrm>
          <a:prstGeom prst="rect">
            <a:avLst/>
          </a:prstGeom>
          <a:solidFill>
            <a:srgbClr val="2A2F3A"/>
          </a:solidFill>
          <a:ln/>
        </p:spPr>
        <p:txBody>
          <a:bodyPr/>
          <a:lstStyle/>
          <a:p>
            <a:endParaRPr lang="en-US"/>
          </a:p>
        </p:txBody>
      </p:sp>
      <p:sp>
        <p:nvSpPr>
          <p:cNvPr id="82" name="Text 80"/>
          <p:cNvSpPr/>
          <p:nvPr/>
        </p:nvSpPr>
        <p:spPr>
          <a:xfrm>
            <a:off x="11297692" y="8315325"/>
            <a:ext cx="4500141" cy="342900"/>
          </a:xfrm>
          <a:prstGeom prst="rect">
            <a:avLst/>
          </a:prstGeom>
          <a:noFill/>
          <a:ln/>
        </p:spPr>
        <p:txBody>
          <a:bodyPr wrap="square" lIns="25400" tIns="25400" rIns="25400" bIns="25400" rtlCol="0" anchor="t">
            <a:normAutofit/>
          </a:bodyPr>
          <a:lstStyle/>
          <a:p>
            <a:pPr marL="0" indent="0" algn="l">
              <a:buNone/>
            </a:pPr>
            <a:r>
              <a:rPr lang="en-US" sz="1800" dirty="0">
                <a:solidFill>
                  <a:srgbClr val="9AA0AB"/>
                </a:solidFill>
                <a:latin typeface="Arial" pitchFamily="34" charset="0"/>
                <a:ea typeface="Arial" pitchFamily="34" charset="-122"/>
                <a:cs typeface="Arial" pitchFamily="34" charset="-120"/>
              </a:rPr>
              <a:t>Natural language · unreliable</a:t>
            </a:r>
            <a:endParaRPr lang="en-US" sz="1800" dirty="0"/>
          </a:p>
        </p:txBody>
      </p:sp>
      <p:sp>
        <p:nvSpPr>
          <p:cNvPr id="83" name="Shape 81"/>
          <p:cNvSpPr/>
          <p:nvPr/>
        </p:nvSpPr>
        <p:spPr>
          <a:xfrm>
            <a:off x="15882045" y="8153400"/>
            <a:ext cx="1443930" cy="9525"/>
          </a:xfrm>
          <a:prstGeom prst="rect">
            <a:avLst/>
          </a:prstGeom>
          <a:solidFill>
            <a:srgbClr val="2A2F3A"/>
          </a:solidFill>
          <a:ln/>
        </p:spPr>
        <p:txBody>
          <a:bodyPr/>
          <a:lstStyle/>
          <a:p>
            <a:endParaRPr lang="en-US"/>
          </a:p>
        </p:txBody>
      </p:sp>
      <p:sp>
        <p:nvSpPr>
          <p:cNvPr id="84" name="Text 82"/>
          <p:cNvSpPr/>
          <p:nvPr/>
        </p:nvSpPr>
        <p:spPr>
          <a:xfrm>
            <a:off x="16034445" y="8315325"/>
            <a:ext cx="1062930" cy="342900"/>
          </a:xfrm>
          <a:prstGeom prst="rect">
            <a:avLst/>
          </a:prstGeom>
          <a:noFill/>
          <a:ln/>
        </p:spPr>
        <p:txBody>
          <a:bodyPr wrap="square" lIns="25400" tIns="25400" rIns="25400" bIns="25400" rtlCol="0" anchor="t">
            <a:normAutofit/>
          </a:bodyPr>
          <a:lstStyle/>
          <a:p>
            <a:pPr marL="0" indent="0" algn="r">
              <a:buNone/>
            </a:pPr>
            <a:r>
              <a:rPr lang="en-US" sz="1800" dirty="0">
                <a:solidFill>
                  <a:srgbClr val="FF5A1F"/>
                </a:solidFill>
                <a:latin typeface="Arial" pitchFamily="34" charset="0"/>
                <a:ea typeface="Arial" pitchFamily="34" charset="-122"/>
                <a:cs typeface="Arial" pitchFamily="34" charset="-120"/>
              </a:rPr>
              <a:t>✓</a:t>
            </a:r>
            <a:endParaRPr lang="en-US" sz="1800" dirty="0"/>
          </a:p>
        </p:txBody>
      </p:sp>
      <p:sp>
        <p:nvSpPr>
          <p:cNvPr id="85" name="Shape 83"/>
          <p:cNvSpPr/>
          <p:nvPr/>
        </p:nvSpPr>
        <p:spPr>
          <a:xfrm>
            <a:off x="952500" y="9010650"/>
            <a:ext cx="28575" cy="905619"/>
          </a:xfrm>
          <a:prstGeom prst="rect">
            <a:avLst/>
          </a:prstGeom>
          <a:solidFill>
            <a:srgbClr val="FF5A1F"/>
          </a:solidFill>
          <a:ln/>
        </p:spPr>
        <p:txBody>
          <a:bodyPr/>
          <a:lstStyle/>
          <a:p>
            <a:endParaRPr lang="en-US"/>
          </a:p>
        </p:txBody>
      </p:sp>
      <p:sp>
        <p:nvSpPr>
          <p:cNvPr id="86" name="Text 84"/>
          <p:cNvSpPr/>
          <p:nvPr/>
        </p:nvSpPr>
        <p:spPr>
          <a:xfrm>
            <a:off x="1171575" y="9010650"/>
            <a:ext cx="8015383"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kern="0" spc="270" dirty="0">
                <a:solidFill>
                  <a:srgbClr val="FF5A1F"/>
                </a:solidFill>
                <a:latin typeface="Arial" pitchFamily="34" charset="0"/>
                <a:ea typeface="Arial" pitchFamily="34" charset="-122"/>
                <a:cs typeface="Arial" pitchFamily="34" charset="-120"/>
              </a:rPr>
              <a:t>TAKEAWAY</a:t>
            </a:r>
            <a:endParaRPr lang="en-US" sz="1350" dirty="0"/>
          </a:p>
        </p:txBody>
      </p:sp>
      <p:sp>
        <p:nvSpPr>
          <p:cNvPr id="89" name="Text 87"/>
          <p:cNvSpPr/>
          <p:nvPr/>
        </p:nvSpPr>
        <p:spPr>
          <a:xfrm>
            <a:off x="1171575" y="9334500"/>
            <a:ext cx="7859790" cy="603796"/>
          </a:xfrm>
          <a:prstGeom prst="rect">
            <a:avLst/>
          </a:prstGeom>
          <a:noFill/>
          <a:ln/>
        </p:spPr>
        <p:txBody>
          <a:bodyPr wrap="square" lIns="0" tIns="0" rIns="0" bIns="0" rtlCol="0" anchor="t">
            <a:normAutofit fontScale="92500" lnSpcReduction="20000"/>
          </a:bodyPr>
          <a:lstStyle/>
          <a:p>
            <a:pPr>
              <a:lnSpc>
                <a:spcPct val="135000"/>
              </a:lnSpc>
            </a:pPr>
            <a:r>
              <a:rPr lang="en-US" dirty="0" err="1">
                <a:solidFill>
                  <a:srgbClr val="F4EFE6"/>
                </a:solidFill>
                <a:latin typeface="Arial" pitchFamily="34" charset="0"/>
                <a:ea typeface="Arial" pitchFamily="34" charset="-122"/>
                <a:cs typeface="Arial" pitchFamily="34" charset="-120"/>
              </a:rPr>
              <a:t>LightGBM</a:t>
            </a:r>
            <a:r>
              <a:rPr lang="en-US" dirty="0">
                <a:solidFill>
                  <a:srgbClr val="F4EFE6"/>
                </a:solidFill>
                <a:latin typeface="Arial" pitchFamily="34" charset="0"/>
                <a:ea typeface="Arial" pitchFamily="34" charset="-122"/>
                <a:cs typeface="Arial" pitchFamily="34" charset="-120"/>
              </a:rPr>
              <a:t> beats the best LLM by ~39%</a:t>
            </a:r>
            <a:endParaRPr lang="en-US" dirty="0"/>
          </a:p>
          <a:p>
            <a:pPr marL="0" indent="0" algn="l">
              <a:lnSpc>
                <a:spcPct val="135000"/>
              </a:lnSpc>
              <a:buNone/>
            </a:pPr>
            <a:r>
              <a:rPr lang="en-US" sz="1800" dirty="0">
                <a:solidFill>
                  <a:srgbClr val="F4EFE6"/>
                </a:solidFill>
                <a:latin typeface="Arial" pitchFamily="34" charset="0"/>
                <a:ea typeface="Arial" pitchFamily="34" charset="-122"/>
                <a:cs typeface="Arial" pitchFamily="34" charset="-120"/>
              </a:rPr>
              <a:t>on F1 with the same features, data, and metrics.</a:t>
            </a:r>
            <a:endParaRPr lang="en-US" sz="1800" dirty="0"/>
          </a:p>
        </p:txBody>
      </p:sp>
      <p:sp>
        <p:nvSpPr>
          <p:cNvPr id="90" name="Text 88"/>
          <p:cNvSpPr/>
          <p:nvPr/>
        </p:nvSpPr>
        <p:spPr>
          <a:xfrm>
            <a:off x="9525000" y="9010650"/>
            <a:ext cx="8044815"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kern="0" spc="270" dirty="0">
                <a:solidFill>
                  <a:srgbClr val="FFB347"/>
                </a:solidFill>
                <a:latin typeface="Arial" pitchFamily="34" charset="0"/>
                <a:ea typeface="Arial" pitchFamily="34" charset="-122"/>
                <a:cs typeface="Arial" pitchFamily="34" charset="-120"/>
              </a:rPr>
              <a:t>WHERE LLMs STILL HELP</a:t>
            </a:r>
            <a:endParaRPr lang="en-US" sz="1350" dirty="0"/>
          </a:p>
        </p:txBody>
      </p:sp>
      <p:sp>
        <p:nvSpPr>
          <p:cNvPr id="91" name="Text 89"/>
          <p:cNvSpPr/>
          <p:nvPr/>
        </p:nvSpPr>
        <p:spPr>
          <a:xfrm>
            <a:off x="9525000" y="9318278"/>
            <a:ext cx="7722133" cy="603796"/>
          </a:xfrm>
          <a:prstGeom prst="rect">
            <a:avLst/>
          </a:prstGeom>
          <a:noFill/>
          <a:ln/>
        </p:spPr>
        <p:txBody>
          <a:bodyPr wrap="square" lIns="0" tIns="0" rIns="0" bIns="0" rtlCol="0" anchor="t">
            <a:normAutofit fontScale="92500" lnSpcReduction="20000"/>
          </a:bodyPr>
          <a:lstStyle/>
          <a:p>
            <a:pPr marL="0" indent="0" algn="l">
              <a:lnSpc>
                <a:spcPct val="135000"/>
              </a:lnSpc>
              <a:buNone/>
            </a:pPr>
            <a:r>
              <a:rPr lang="en-US" sz="1800" dirty="0">
                <a:solidFill>
                  <a:srgbClr val="9AA0AB"/>
                </a:solidFill>
                <a:latin typeface="Arial" pitchFamily="34" charset="0"/>
                <a:ea typeface="Arial" pitchFamily="34" charset="-122"/>
                <a:cs typeface="Arial" pitchFamily="34" charset="-120"/>
              </a:rPr>
              <a:t>Rapid prototyping when no labeled data exists yet — Phi-3.5-mini reaches F1 0.46 with zero training.</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F1115"/>
          </a:solidFill>
          <a:ln/>
        </p:spPr>
        <p:txBody>
          <a:bodyPr/>
          <a:lstStyle/>
          <a:p>
            <a:endParaRPr lang="en-US"/>
          </a:p>
        </p:txBody>
      </p:sp>
      <p:sp>
        <p:nvSpPr>
          <p:cNvPr id="3" name="Shape 1"/>
          <p:cNvSpPr/>
          <p:nvPr/>
        </p:nvSpPr>
        <p:spPr>
          <a:xfrm>
            <a:off x="0" y="0"/>
            <a:ext cx="18288000" cy="57150"/>
          </a:xfrm>
          <a:prstGeom prst="rect">
            <a:avLst/>
          </a:prstGeom>
          <a:solidFill>
            <a:srgbClr val="FF2D2D"/>
          </a:solidFill>
          <a:ln/>
        </p:spPr>
        <p:txBody>
          <a:bodyPr/>
          <a:lstStyle/>
          <a:p>
            <a:endParaRPr lang="en-US"/>
          </a:p>
        </p:txBody>
      </p:sp>
      <p:sp>
        <p:nvSpPr>
          <p:cNvPr id="4" name="Text 2"/>
          <p:cNvSpPr/>
          <p:nvPr/>
        </p:nvSpPr>
        <p:spPr>
          <a:xfrm>
            <a:off x="10822930" y="342900"/>
            <a:ext cx="22487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1143059" y="357188"/>
            <a:ext cx="3127790"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ZERO SHOT HOPEFULS</a:t>
            </a:r>
            <a:endParaRPr lang="en-US" sz="1800" dirty="0"/>
          </a:p>
        </p:txBody>
      </p:sp>
      <p:sp>
        <p:nvSpPr>
          <p:cNvPr id="6" name="Text 4"/>
          <p:cNvSpPr/>
          <p:nvPr/>
        </p:nvSpPr>
        <p:spPr>
          <a:xfrm>
            <a:off x="14351198" y="357188"/>
            <a:ext cx="162669"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alpha val="40000"/>
                  </a:srgbClr>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4609118" y="357188"/>
            <a:ext cx="280817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ESSD AI CHALLENGE</a:t>
            </a:r>
            <a:endParaRPr lang="en-US" sz="1800" dirty="0"/>
          </a:p>
        </p:txBody>
      </p:sp>
      <p:sp>
        <p:nvSpPr>
          <p:cNvPr id="8" name="Text 6"/>
          <p:cNvSpPr/>
          <p:nvPr/>
        </p:nvSpPr>
        <p:spPr>
          <a:xfrm>
            <a:off x="952500" y="9791700"/>
            <a:ext cx="6184605" cy="304800"/>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9AA0AB"/>
                </a:solidFill>
                <a:latin typeface="Arial" pitchFamily="34" charset="0"/>
                <a:ea typeface="Arial" pitchFamily="34" charset="-122"/>
                <a:cs typeface="Arial" pitchFamily="34" charset="-120"/>
              </a:rPr>
              <a:t>COMPOUND HAZARD FORECASTING · APR 2026</a:t>
            </a:r>
            <a:endParaRPr lang="en-US" sz="1800" dirty="0"/>
          </a:p>
        </p:txBody>
      </p:sp>
      <p:sp>
        <p:nvSpPr>
          <p:cNvPr id="9" name="Text 7"/>
          <p:cNvSpPr/>
          <p:nvPr/>
        </p:nvSpPr>
        <p:spPr>
          <a:xfrm>
            <a:off x="16456075" y="9763125"/>
            <a:ext cx="39632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10</a:t>
            </a:r>
            <a:endParaRPr lang="en-US" sz="1800" dirty="0"/>
          </a:p>
        </p:txBody>
      </p:sp>
      <p:sp>
        <p:nvSpPr>
          <p:cNvPr id="10" name="Text 8"/>
          <p:cNvSpPr/>
          <p:nvPr/>
        </p:nvSpPr>
        <p:spPr>
          <a:xfrm>
            <a:off x="16776204" y="9782175"/>
            <a:ext cx="63549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9AA0AB">
                    <a:alpha val="50000"/>
                  </a:srgbClr>
                </a:solidFill>
                <a:latin typeface="Arial" pitchFamily="34" charset="0"/>
                <a:ea typeface="Arial" pitchFamily="34" charset="-122"/>
                <a:cs typeface="Arial" pitchFamily="34" charset="-120"/>
              </a:rPr>
              <a:t>/ 13</a:t>
            </a:r>
            <a:endParaRPr lang="en-US" sz="1800" dirty="0"/>
          </a:p>
        </p:txBody>
      </p:sp>
      <p:sp>
        <p:nvSpPr>
          <p:cNvPr id="11" name="Text 9"/>
          <p:cNvSpPr/>
          <p:nvPr/>
        </p:nvSpPr>
        <p:spPr>
          <a:xfrm>
            <a:off x="952500" y="952500"/>
            <a:ext cx="16874490" cy="333375"/>
          </a:xfrm>
          <a:prstGeom prst="rect">
            <a:avLst/>
          </a:prstGeom>
          <a:noFill/>
          <a:ln/>
        </p:spPr>
        <p:txBody>
          <a:bodyPr wrap="square" lIns="25400" tIns="25400" rIns="25400" bIns="25400" rtlCol="0" anchor="t">
            <a:normAutofit/>
          </a:bodyPr>
          <a:lstStyle/>
          <a:p>
            <a:pPr marL="0" indent="0" algn="l">
              <a:buNone/>
            </a:pPr>
            <a:r>
              <a:rPr lang="en-US" sz="1800" b="1" kern="0" spc="396" dirty="0">
                <a:solidFill>
                  <a:srgbClr val="FF5A1F"/>
                </a:solidFill>
                <a:latin typeface="Arial" pitchFamily="34" charset="0"/>
                <a:ea typeface="Arial" pitchFamily="34" charset="-122"/>
                <a:cs typeface="Arial" pitchFamily="34" charset="-120"/>
              </a:rPr>
              <a:t>LIMITATIONS · RISKS · FUTURE WORK</a:t>
            </a:r>
            <a:endParaRPr lang="en-US" sz="1800" dirty="0"/>
          </a:p>
        </p:txBody>
      </p:sp>
      <p:sp>
        <p:nvSpPr>
          <p:cNvPr id="12" name="Text 10"/>
          <p:cNvSpPr/>
          <p:nvPr/>
        </p:nvSpPr>
        <p:spPr>
          <a:xfrm>
            <a:off x="952500" y="1590675"/>
            <a:ext cx="16678275" cy="81528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000" b="1" kern="0" spc="-150" dirty="0">
                <a:solidFill>
                  <a:srgbClr val="F4EFE6"/>
                </a:solidFill>
                <a:latin typeface="Arial" pitchFamily="34" charset="0"/>
                <a:ea typeface="Arial" pitchFamily="34" charset="-122"/>
                <a:cs typeface="Arial" pitchFamily="34" charset="-120"/>
              </a:rPr>
              <a:t>What the model </a:t>
            </a:r>
            <a:r>
              <a:rPr lang="en-US" sz="6000" b="1" kern="0" spc="-150" dirty="0">
                <a:solidFill>
                  <a:srgbClr val="FF5A1F"/>
                </a:solidFill>
                <a:latin typeface="Arial" pitchFamily="34" charset="0"/>
                <a:ea typeface="Arial" pitchFamily="34" charset="-122"/>
                <a:cs typeface="Arial" pitchFamily="34" charset="-120"/>
              </a:rPr>
              <a:t>doesn't know.</a:t>
            </a:r>
            <a:endParaRPr lang="en-US" sz="6000" dirty="0"/>
          </a:p>
        </p:txBody>
      </p:sp>
      <p:sp>
        <p:nvSpPr>
          <p:cNvPr id="13" name="Shape 11"/>
          <p:cNvSpPr/>
          <p:nvPr/>
        </p:nvSpPr>
        <p:spPr>
          <a:xfrm>
            <a:off x="952500" y="2901255"/>
            <a:ext cx="5232350" cy="4469309"/>
          </a:xfrm>
          <a:prstGeom prst="rect">
            <a:avLst/>
          </a:prstGeom>
          <a:ln w="9525">
            <a:solidFill>
              <a:srgbClr val="2A2F3A"/>
            </a:solidFill>
            <a:prstDash val="solid"/>
          </a:ln>
        </p:spPr>
        <p:txBody>
          <a:bodyPr/>
          <a:lstStyle/>
          <a:p>
            <a:endParaRPr lang="en-US"/>
          </a:p>
        </p:txBody>
      </p:sp>
      <p:sp>
        <p:nvSpPr>
          <p:cNvPr id="14" name="Text 12"/>
          <p:cNvSpPr/>
          <p:nvPr/>
        </p:nvSpPr>
        <p:spPr>
          <a:xfrm>
            <a:off x="1304925" y="3253680"/>
            <a:ext cx="4663325" cy="257175"/>
          </a:xfrm>
          <a:prstGeom prst="rect">
            <a:avLst/>
          </a:prstGeom>
          <a:noFill/>
          <a:ln/>
        </p:spPr>
        <p:txBody>
          <a:bodyPr wrap="square" lIns="25400" tIns="25400" rIns="25400" bIns="25400" rtlCol="0" anchor="t">
            <a:normAutofit lnSpcReduction="10000"/>
          </a:bodyPr>
          <a:lstStyle/>
          <a:p>
            <a:pPr marL="0" indent="0" algn="l">
              <a:buNone/>
            </a:pPr>
            <a:r>
              <a:rPr lang="en-US" sz="1500" kern="0" spc="300" dirty="0">
                <a:solidFill>
                  <a:srgbClr val="9AA0AB"/>
                </a:solidFill>
                <a:latin typeface="Arial" pitchFamily="34" charset="0"/>
                <a:ea typeface="Arial" pitchFamily="34" charset="-122"/>
                <a:cs typeface="Arial" pitchFamily="34" charset="-120"/>
              </a:rPr>
              <a:t>DATA</a:t>
            </a:r>
            <a:endParaRPr lang="en-US" sz="1500" dirty="0"/>
          </a:p>
        </p:txBody>
      </p:sp>
      <p:sp>
        <p:nvSpPr>
          <p:cNvPr id="15" name="Text 13"/>
          <p:cNvSpPr/>
          <p:nvPr/>
        </p:nvSpPr>
        <p:spPr>
          <a:xfrm>
            <a:off x="1304925" y="3663255"/>
            <a:ext cx="4663325" cy="826591"/>
          </a:xfrm>
          <a:prstGeom prst="rect">
            <a:avLst/>
          </a:prstGeom>
          <a:noFill/>
          <a:ln/>
        </p:spPr>
        <p:txBody>
          <a:bodyPr wrap="square" lIns="25400" tIns="25400" rIns="25400" bIns="25400" rtlCol="0" anchor="t">
            <a:normAutofit fontScale="92500"/>
          </a:bodyPr>
          <a:lstStyle/>
          <a:p>
            <a:pPr marL="0" indent="0" algn="l">
              <a:lnSpc>
                <a:spcPct val="115000"/>
              </a:lnSpc>
              <a:buNone/>
            </a:pPr>
            <a:r>
              <a:rPr lang="en-US" sz="2700" b="1" kern="0" spc="-40" dirty="0">
                <a:solidFill>
                  <a:srgbClr val="F4EFE6"/>
                </a:solidFill>
                <a:latin typeface="Arial" pitchFamily="34" charset="0"/>
                <a:ea typeface="Arial" pitchFamily="34" charset="-122"/>
                <a:cs typeface="Arial" pitchFamily="34" charset="-120"/>
              </a:rPr>
              <a:t>Training window ends in 2020</a:t>
            </a:r>
            <a:endParaRPr lang="en-US" sz="2700" dirty="0"/>
          </a:p>
        </p:txBody>
      </p:sp>
      <p:sp>
        <p:nvSpPr>
          <p:cNvPr id="16" name="Text 14"/>
          <p:cNvSpPr/>
          <p:nvPr/>
        </p:nvSpPr>
        <p:spPr>
          <a:xfrm>
            <a:off x="1304925" y="4642247"/>
            <a:ext cx="4663325" cy="131802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9AA0AB"/>
                </a:solidFill>
                <a:latin typeface="Arial" pitchFamily="34" charset="0"/>
                <a:ea typeface="Arial" pitchFamily="34" charset="-122"/>
                <a:cs typeface="Arial" pitchFamily="34" charset="-120"/>
              </a:rPr>
              <a:t>2021–2025 brought record heat, drought, and fire seasons. The model has not seen them. Recent climate regimes may be out-of-distribution.</a:t>
            </a:r>
            <a:endParaRPr lang="en-US" sz="1800" dirty="0"/>
          </a:p>
        </p:txBody>
      </p:sp>
      <p:sp>
        <p:nvSpPr>
          <p:cNvPr id="17" name="Shape 15"/>
          <p:cNvSpPr/>
          <p:nvPr/>
        </p:nvSpPr>
        <p:spPr>
          <a:xfrm>
            <a:off x="6527750" y="2901255"/>
            <a:ext cx="5232350" cy="4469309"/>
          </a:xfrm>
          <a:prstGeom prst="rect">
            <a:avLst/>
          </a:prstGeom>
          <a:ln w="9525">
            <a:solidFill>
              <a:srgbClr val="2A2F3A"/>
            </a:solidFill>
            <a:prstDash val="solid"/>
          </a:ln>
        </p:spPr>
        <p:txBody>
          <a:bodyPr/>
          <a:lstStyle/>
          <a:p>
            <a:endParaRPr lang="en-US"/>
          </a:p>
        </p:txBody>
      </p:sp>
      <p:sp>
        <p:nvSpPr>
          <p:cNvPr id="18" name="Text 16"/>
          <p:cNvSpPr/>
          <p:nvPr/>
        </p:nvSpPr>
        <p:spPr>
          <a:xfrm>
            <a:off x="6880175" y="3253680"/>
            <a:ext cx="4663325" cy="257175"/>
          </a:xfrm>
          <a:prstGeom prst="rect">
            <a:avLst/>
          </a:prstGeom>
          <a:noFill/>
          <a:ln/>
        </p:spPr>
        <p:txBody>
          <a:bodyPr wrap="square" lIns="25400" tIns="25400" rIns="25400" bIns="25400" rtlCol="0" anchor="t">
            <a:normAutofit lnSpcReduction="10000"/>
          </a:bodyPr>
          <a:lstStyle/>
          <a:p>
            <a:pPr marL="0" indent="0" algn="l">
              <a:buNone/>
            </a:pPr>
            <a:r>
              <a:rPr lang="en-US" sz="1500" kern="0" spc="300" dirty="0">
                <a:solidFill>
                  <a:srgbClr val="9AA0AB"/>
                </a:solidFill>
                <a:latin typeface="Arial" pitchFamily="34" charset="0"/>
                <a:ea typeface="Arial" pitchFamily="34" charset="-122"/>
                <a:cs typeface="Arial" pitchFamily="34" charset="-120"/>
              </a:rPr>
              <a:t>CLASS IMBALANCE</a:t>
            </a:r>
            <a:endParaRPr lang="en-US" sz="1500" dirty="0"/>
          </a:p>
        </p:txBody>
      </p:sp>
      <p:sp>
        <p:nvSpPr>
          <p:cNvPr id="19" name="Text 17"/>
          <p:cNvSpPr/>
          <p:nvPr/>
        </p:nvSpPr>
        <p:spPr>
          <a:xfrm>
            <a:off x="6880175" y="3663255"/>
            <a:ext cx="4663325" cy="432346"/>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700" b="1" kern="0" spc="-40" dirty="0">
                <a:solidFill>
                  <a:srgbClr val="F4EFE6"/>
                </a:solidFill>
                <a:latin typeface="Arial" pitchFamily="34" charset="0"/>
                <a:ea typeface="Arial" pitchFamily="34" charset="-122"/>
                <a:cs typeface="Arial" pitchFamily="34" charset="-120"/>
              </a:rPr>
              <a:t>~4% base rate caps precision</a:t>
            </a:r>
            <a:endParaRPr lang="en-US" sz="2700" dirty="0"/>
          </a:p>
        </p:txBody>
      </p:sp>
      <p:sp>
        <p:nvSpPr>
          <p:cNvPr id="20" name="Text 18"/>
          <p:cNvSpPr/>
          <p:nvPr/>
        </p:nvSpPr>
        <p:spPr>
          <a:xfrm>
            <a:off x="6880175" y="4248001"/>
            <a:ext cx="4663325" cy="131802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9AA0AB"/>
                </a:solidFill>
                <a:latin typeface="Arial" pitchFamily="34" charset="0"/>
                <a:ea typeface="Arial" pitchFamily="34" charset="-122"/>
                <a:cs typeface="Arial" pitchFamily="34" charset="-120"/>
              </a:rPr>
              <a:t>Even with balanced weighting, false alarms are inherent to rare-event forecasting. The 0.65 threshold favours recall — an operational choice.</a:t>
            </a:r>
            <a:endParaRPr lang="en-US" sz="1800" dirty="0"/>
          </a:p>
        </p:txBody>
      </p:sp>
      <p:sp>
        <p:nvSpPr>
          <p:cNvPr id="21" name="Shape 19"/>
          <p:cNvSpPr/>
          <p:nvPr/>
        </p:nvSpPr>
        <p:spPr>
          <a:xfrm>
            <a:off x="12103001" y="2901255"/>
            <a:ext cx="5232350" cy="4469309"/>
          </a:xfrm>
          <a:prstGeom prst="rect">
            <a:avLst/>
          </a:prstGeom>
          <a:solidFill>
            <a:srgbClr val="16191F"/>
          </a:solidFill>
          <a:ln w="9525">
            <a:solidFill>
              <a:srgbClr val="FF5A1F"/>
            </a:solidFill>
            <a:prstDash val="solid"/>
          </a:ln>
        </p:spPr>
        <p:txBody>
          <a:bodyPr/>
          <a:lstStyle/>
          <a:p>
            <a:endParaRPr lang="en-US"/>
          </a:p>
        </p:txBody>
      </p:sp>
      <p:sp>
        <p:nvSpPr>
          <p:cNvPr id="22" name="Text 20"/>
          <p:cNvSpPr/>
          <p:nvPr/>
        </p:nvSpPr>
        <p:spPr>
          <a:xfrm>
            <a:off x="12455426" y="3253680"/>
            <a:ext cx="4663325" cy="257175"/>
          </a:xfrm>
          <a:prstGeom prst="rect">
            <a:avLst/>
          </a:prstGeom>
          <a:noFill/>
          <a:ln/>
        </p:spPr>
        <p:txBody>
          <a:bodyPr wrap="square" lIns="25400" tIns="25400" rIns="25400" bIns="25400" rtlCol="0" anchor="t">
            <a:normAutofit lnSpcReduction="10000"/>
          </a:bodyPr>
          <a:lstStyle/>
          <a:p>
            <a:pPr marL="0" indent="0" algn="l">
              <a:buNone/>
            </a:pPr>
            <a:r>
              <a:rPr lang="en-US" sz="1500" kern="0" spc="300" dirty="0">
                <a:solidFill>
                  <a:srgbClr val="FF5A1F"/>
                </a:solidFill>
                <a:latin typeface="Arial" pitchFamily="34" charset="0"/>
                <a:ea typeface="Arial" pitchFamily="34" charset="-122"/>
                <a:cs typeface="Arial" pitchFamily="34" charset="-120"/>
              </a:rPr>
              <a:t>SCOPE</a:t>
            </a:r>
            <a:endParaRPr lang="en-US" sz="1500" dirty="0"/>
          </a:p>
        </p:txBody>
      </p:sp>
      <p:sp>
        <p:nvSpPr>
          <p:cNvPr id="23" name="Text 21"/>
          <p:cNvSpPr/>
          <p:nvPr/>
        </p:nvSpPr>
        <p:spPr>
          <a:xfrm>
            <a:off x="12455426" y="3663255"/>
            <a:ext cx="4663325" cy="826591"/>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2700" b="1" kern="0" spc="-40" dirty="0">
                <a:solidFill>
                  <a:srgbClr val="F4EFE6"/>
                </a:solidFill>
                <a:latin typeface="Arial" pitchFamily="34" charset="0"/>
                <a:ea typeface="Arial" pitchFamily="34" charset="-122"/>
                <a:cs typeface="Arial" pitchFamily="34" charset="-120"/>
              </a:rPr>
              <a:t>LLM comparison is small-model only</a:t>
            </a:r>
            <a:endParaRPr lang="en-US" sz="2700" dirty="0"/>
          </a:p>
        </p:txBody>
      </p:sp>
      <p:sp>
        <p:nvSpPr>
          <p:cNvPr id="24" name="Text 22"/>
          <p:cNvSpPr/>
          <p:nvPr/>
        </p:nvSpPr>
        <p:spPr>
          <a:xfrm>
            <a:off x="12455426" y="4642247"/>
            <a:ext cx="4663325" cy="1318022"/>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800" dirty="0">
                <a:solidFill>
                  <a:srgbClr val="9AA0AB"/>
                </a:solidFill>
                <a:latin typeface="Arial" pitchFamily="34" charset="0"/>
                <a:ea typeface="Arial" pitchFamily="34" charset="-122"/>
                <a:cs typeface="Arial" pitchFamily="34" charset="-120"/>
              </a:rPr>
              <a:t>7–12B models only, run locally on JupyterHub. Frontier models (70B+) or climate-domain fine-tunes may narrow the gap we found.</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F1115"/>
          </a:solidFill>
          <a:ln/>
        </p:spPr>
        <p:txBody>
          <a:bodyPr/>
          <a:lstStyle/>
          <a:p>
            <a:endParaRPr lang="en-US"/>
          </a:p>
        </p:txBody>
      </p:sp>
      <p:sp>
        <p:nvSpPr>
          <p:cNvPr id="3" name="Shape 1"/>
          <p:cNvSpPr/>
          <p:nvPr/>
        </p:nvSpPr>
        <p:spPr>
          <a:xfrm>
            <a:off x="0" y="0"/>
            <a:ext cx="18288000" cy="57150"/>
          </a:xfrm>
          <a:prstGeom prst="rect">
            <a:avLst/>
          </a:prstGeom>
          <a:solidFill>
            <a:srgbClr val="FF2D2D"/>
          </a:solidFill>
          <a:ln/>
        </p:spPr>
        <p:txBody>
          <a:bodyPr/>
          <a:lstStyle/>
          <a:p>
            <a:endParaRPr lang="en-US"/>
          </a:p>
        </p:txBody>
      </p:sp>
      <p:sp>
        <p:nvSpPr>
          <p:cNvPr id="4" name="Text 2"/>
          <p:cNvSpPr/>
          <p:nvPr/>
        </p:nvSpPr>
        <p:spPr>
          <a:xfrm>
            <a:off x="10822930" y="342900"/>
            <a:ext cx="22487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1143059" y="357188"/>
            <a:ext cx="3127790"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ZERO SHOT HOPEFULS</a:t>
            </a:r>
            <a:endParaRPr lang="en-US" sz="1800" dirty="0"/>
          </a:p>
        </p:txBody>
      </p:sp>
      <p:sp>
        <p:nvSpPr>
          <p:cNvPr id="6" name="Text 4"/>
          <p:cNvSpPr/>
          <p:nvPr/>
        </p:nvSpPr>
        <p:spPr>
          <a:xfrm>
            <a:off x="14351198" y="357188"/>
            <a:ext cx="162669"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alpha val="40000"/>
                  </a:srgbClr>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4609118" y="357188"/>
            <a:ext cx="280817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ESSD AI CHALLENGE</a:t>
            </a:r>
            <a:endParaRPr lang="en-US" sz="1800" dirty="0"/>
          </a:p>
        </p:txBody>
      </p:sp>
      <p:sp>
        <p:nvSpPr>
          <p:cNvPr id="8" name="Text 6"/>
          <p:cNvSpPr/>
          <p:nvPr/>
        </p:nvSpPr>
        <p:spPr>
          <a:xfrm>
            <a:off x="952500" y="9791700"/>
            <a:ext cx="6184605" cy="304800"/>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9AA0AB"/>
                </a:solidFill>
                <a:latin typeface="Arial" pitchFamily="34" charset="0"/>
                <a:ea typeface="Arial" pitchFamily="34" charset="-122"/>
                <a:cs typeface="Arial" pitchFamily="34" charset="-120"/>
              </a:rPr>
              <a:t>COMPOUND HAZARD FORECASTING · APR 2026</a:t>
            </a:r>
            <a:endParaRPr lang="en-US" sz="1800" dirty="0"/>
          </a:p>
        </p:txBody>
      </p:sp>
      <p:sp>
        <p:nvSpPr>
          <p:cNvPr id="9" name="Text 7"/>
          <p:cNvSpPr/>
          <p:nvPr/>
        </p:nvSpPr>
        <p:spPr>
          <a:xfrm>
            <a:off x="16456075" y="9763125"/>
            <a:ext cx="39632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11</a:t>
            </a:r>
            <a:endParaRPr lang="en-US" sz="1800" dirty="0"/>
          </a:p>
        </p:txBody>
      </p:sp>
      <p:sp>
        <p:nvSpPr>
          <p:cNvPr id="10" name="Text 8"/>
          <p:cNvSpPr/>
          <p:nvPr/>
        </p:nvSpPr>
        <p:spPr>
          <a:xfrm>
            <a:off x="16776204" y="9782175"/>
            <a:ext cx="63549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9AA0AB">
                    <a:alpha val="50000"/>
                  </a:srgbClr>
                </a:solidFill>
                <a:latin typeface="Arial" pitchFamily="34" charset="0"/>
                <a:ea typeface="Arial" pitchFamily="34" charset="-122"/>
                <a:cs typeface="Arial" pitchFamily="34" charset="-120"/>
              </a:rPr>
              <a:t>/ 13</a:t>
            </a:r>
            <a:endParaRPr lang="en-US" sz="1800" dirty="0"/>
          </a:p>
        </p:txBody>
      </p:sp>
      <p:sp>
        <p:nvSpPr>
          <p:cNvPr id="11" name="Text 9"/>
          <p:cNvSpPr/>
          <p:nvPr/>
        </p:nvSpPr>
        <p:spPr>
          <a:xfrm>
            <a:off x="952500" y="952500"/>
            <a:ext cx="16874490" cy="333375"/>
          </a:xfrm>
          <a:prstGeom prst="rect">
            <a:avLst/>
          </a:prstGeom>
          <a:noFill/>
          <a:ln/>
        </p:spPr>
        <p:txBody>
          <a:bodyPr wrap="square" lIns="25400" tIns="25400" rIns="25400" bIns="25400" rtlCol="0" anchor="t">
            <a:normAutofit/>
          </a:bodyPr>
          <a:lstStyle/>
          <a:p>
            <a:pPr marL="0" indent="0" algn="l">
              <a:buNone/>
            </a:pPr>
            <a:r>
              <a:rPr lang="en-US" sz="1800" b="1" kern="0" spc="396" dirty="0">
                <a:solidFill>
                  <a:srgbClr val="FF5A1F"/>
                </a:solidFill>
                <a:latin typeface="Arial" pitchFamily="34" charset="0"/>
                <a:ea typeface="Arial" pitchFamily="34" charset="-122"/>
                <a:cs typeface="Arial" pitchFamily="34" charset="-120"/>
              </a:rPr>
              <a:t>KEY INSIGHTS</a:t>
            </a:r>
            <a:endParaRPr lang="en-US" sz="1800" dirty="0"/>
          </a:p>
        </p:txBody>
      </p:sp>
      <p:sp>
        <p:nvSpPr>
          <p:cNvPr id="12" name="Text 10"/>
          <p:cNvSpPr/>
          <p:nvPr/>
        </p:nvSpPr>
        <p:spPr>
          <a:xfrm>
            <a:off x="952500" y="1590675"/>
            <a:ext cx="16874490" cy="81528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000" b="1" kern="0" spc="-150" dirty="0">
                <a:solidFill>
                  <a:srgbClr val="F4EFE6"/>
                </a:solidFill>
                <a:latin typeface="Arial" pitchFamily="34" charset="0"/>
                <a:ea typeface="Arial" pitchFamily="34" charset="-122"/>
                <a:cs typeface="Arial" pitchFamily="34" charset="-120"/>
              </a:rPr>
              <a:t>Three things we learned </a:t>
            </a:r>
            <a:r>
              <a:rPr lang="en-US" sz="6000" b="1" kern="0" spc="-150" dirty="0">
                <a:solidFill>
                  <a:srgbClr val="FF5A1F"/>
                </a:solidFill>
                <a:latin typeface="Arial" pitchFamily="34" charset="0"/>
                <a:ea typeface="Arial" pitchFamily="34" charset="-122"/>
                <a:cs typeface="Arial" pitchFamily="34" charset="-120"/>
              </a:rPr>
              <a:t>about the problem itself.</a:t>
            </a:r>
            <a:endParaRPr lang="en-US" sz="6000" dirty="0"/>
          </a:p>
        </p:txBody>
      </p:sp>
      <p:sp>
        <p:nvSpPr>
          <p:cNvPr id="13" name="Shape 11"/>
          <p:cNvSpPr/>
          <p:nvPr/>
        </p:nvSpPr>
        <p:spPr>
          <a:xfrm>
            <a:off x="952500" y="3455789"/>
            <a:ext cx="16383000" cy="9525"/>
          </a:xfrm>
          <a:prstGeom prst="rect">
            <a:avLst/>
          </a:prstGeom>
          <a:solidFill>
            <a:srgbClr val="2A2F3A"/>
          </a:solidFill>
          <a:ln/>
        </p:spPr>
        <p:txBody>
          <a:bodyPr/>
          <a:lstStyle/>
          <a:p>
            <a:endParaRPr lang="en-US"/>
          </a:p>
        </p:txBody>
      </p:sp>
      <p:sp>
        <p:nvSpPr>
          <p:cNvPr id="14" name="Text 12"/>
          <p:cNvSpPr/>
          <p:nvPr/>
        </p:nvSpPr>
        <p:spPr>
          <a:xfrm>
            <a:off x="952500" y="3808214"/>
            <a:ext cx="1028700" cy="590550"/>
          </a:xfrm>
          <a:prstGeom prst="rect">
            <a:avLst/>
          </a:prstGeom>
          <a:noFill/>
          <a:ln/>
        </p:spPr>
        <p:txBody>
          <a:bodyPr wrap="square" lIns="25400" tIns="25400" rIns="25400" bIns="25400" rtlCol="0" anchor="t">
            <a:normAutofit/>
          </a:bodyPr>
          <a:lstStyle/>
          <a:p>
            <a:pPr marL="0" indent="0" algn="l">
              <a:buNone/>
            </a:pPr>
            <a:r>
              <a:rPr lang="en-US" sz="3300" b="1" kern="0" spc="165" dirty="0">
                <a:solidFill>
                  <a:srgbClr val="FF5A1F"/>
                </a:solidFill>
                <a:latin typeface="Arial" pitchFamily="34" charset="0"/>
                <a:ea typeface="Arial" pitchFamily="34" charset="-122"/>
                <a:cs typeface="Arial" pitchFamily="34" charset="-120"/>
              </a:rPr>
              <a:t>01</a:t>
            </a:r>
            <a:endParaRPr lang="en-US" sz="3300" dirty="0"/>
          </a:p>
        </p:txBody>
      </p:sp>
      <p:sp>
        <p:nvSpPr>
          <p:cNvPr id="15" name="Text 13"/>
          <p:cNvSpPr/>
          <p:nvPr/>
        </p:nvSpPr>
        <p:spPr>
          <a:xfrm>
            <a:off x="2286000" y="3884414"/>
            <a:ext cx="7554278" cy="91440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000" b="1" kern="0" spc="-30" dirty="0">
                <a:solidFill>
                  <a:srgbClr val="F4EFE6"/>
                </a:solidFill>
                <a:latin typeface="Arial" pitchFamily="34" charset="0"/>
                <a:ea typeface="Arial" pitchFamily="34" charset="-122"/>
                <a:cs typeface="Arial" pitchFamily="34" charset="-120"/>
              </a:rPr>
              <a:t>Drought severity is the single strongest signal.</a:t>
            </a:r>
            <a:endParaRPr lang="en-US" sz="3000" dirty="0"/>
          </a:p>
        </p:txBody>
      </p:sp>
      <p:sp>
        <p:nvSpPr>
          <p:cNvPr id="16" name="Text 14"/>
          <p:cNvSpPr/>
          <p:nvPr/>
        </p:nvSpPr>
        <p:spPr>
          <a:xfrm>
            <a:off x="10001250" y="3979664"/>
            <a:ext cx="7554278" cy="1077962"/>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dirty="0">
                <a:solidFill>
                  <a:srgbClr val="9AA0AB"/>
                </a:solidFill>
                <a:latin typeface="Arial" pitchFamily="34" charset="0"/>
                <a:ea typeface="Arial" pitchFamily="34" charset="-122"/>
                <a:cs typeface="Arial" pitchFamily="34" charset="-120"/>
              </a:rPr>
              <a:t>PDSI dominates SHAP rankings. When PDSI drops below ~-2, compound-event probability climbs sharply — matching physical intuition.</a:t>
            </a:r>
            <a:endParaRPr lang="en-US" sz="1950" dirty="0"/>
          </a:p>
        </p:txBody>
      </p:sp>
      <p:sp>
        <p:nvSpPr>
          <p:cNvPr id="17" name="Shape 15"/>
          <p:cNvSpPr/>
          <p:nvPr/>
        </p:nvSpPr>
        <p:spPr>
          <a:xfrm>
            <a:off x="952500" y="5362426"/>
            <a:ext cx="16383000" cy="9525"/>
          </a:xfrm>
          <a:prstGeom prst="rect">
            <a:avLst/>
          </a:prstGeom>
          <a:solidFill>
            <a:srgbClr val="2A2F3A"/>
          </a:solidFill>
          <a:ln/>
        </p:spPr>
        <p:txBody>
          <a:bodyPr/>
          <a:lstStyle/>
          <a:p>
            <a:endParaRPr lang="en-US"/>
          </a:p>
        </p:txBody>
      </p:sp>
      <p:sp>
        <p:nvSpPr>
          <p:cNvPr id="18" name="Text 16"/>
          <p:cNvSpPr/>
          <p:nvPr/>
        </p:nvSpPr>
        <p:spPr>
          <a:xfrm>
            <a:off x="952500" y="5714851"/>
            <a:ext cx="1028700" cy="590550"/>
          </a:xfrm>
          <a:prstGeom prst="rect">
            <a:avLst/>
          </a:prstGeom>
          <a:noFill/>
          <a:ln/>
        </p:spPr>
        <p:txBody>
          <a:bodyPr wrap="square" lIns="25400" tIns="25400" rIns="25400" bIns="25400" rtlCol="0" anchor="t">
            <a:normAutofit/>
          </a:bodyPr>
          <a:lstStyle/>
          <a:p>
            <a:pPr marL="0" indent="0" algn="l">
              <a:buNone/>
            </a:pPr>
            <a:r>
              <a:rPr lang="en-US" sz="3300" b="1" kern="0" spc="165" dirty="0">
                <a:solidFill>
                  <a:srgbClr val="FF5A1F"/>
                </a:solidFill>
                <a:latin typeface="Arial" pitchFamily="34" charset="0"/>
                <a:ea typeface="Arial" pitchFamily="34" charset="-122"/>
                <a:cs typeface="Arial" pitchFamily="34" charset="-120"/>
              </a:rPr>
              <a:t>02</a:t>
            </a:r>
            <a:endParaRPr lang="en-US" sz="3300" dirty="0"/>
          </a:p>
        </p:txBody>
      </p:sp>
      <p:sp>
        <p:nvSpPr>
          <p:cNvPr id="19" name="Text 17"/>
          <p:cNvSpPr/>
          <p:nvPr/>
        </p:nvSpPr>
        <p:spPr>
          <a:xfrm>
            <a:off x="2286000" y="5791051"/>
            <a:ext cx="7554278" cy="47625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000" b="1" kern="0" spc="-30" dirty="0">
                <a:solidFill>
                  <a:srgbClr val="F4EFE6"/>
                </a:solidFill>
                <a:latin typeface="Arial" pitchFamily="34" charset="0"/>
                <a:ea typeface="Arial" pitchFamily="34" charset="-122"/>
                <a:cs typeface="Arial" pitchFamily="34" charset="-120"/>
              </a:rPr>
              <a:t>Threshold choice changes the story.</a:t>
            </a:r>
            <a:endParaRPr lang="en-US" sz="3000" dirty="0"/>
          </a:p>
        </p:txBody>
      </p:sp>
      <p:sp>
        <p:nvSpPr>
          <p:cNvPr id="20" name="Text 18"/>
          <p:cNvSpPr/>
          <p:nvPr/>
        </p:nvSpPr>
        <p:spPr>
          <a:xfrm>
            <a:off x="10001250" y="5886301"/>
            <a:ext cx="7554278" cy="7313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9AA0AB"/>
                </a:solidFill>
                <a:latin typeface="Arial" pitchFamily="34" charset="0"/>
                <a:ea typeface="Arial" pitchFamily="34" charset="-122"/>
                <a:cs typeface="Arial" pitchFamily="34" charset="-120"/>
              </a:rPr>
              <a:t>Moving the decision threshold from 0.50 → 0.65 lifted recall from ~60% to 80% — critical for a rare-event early warning.</a:t>
            </a:r>
            <a:endParaRPr lang="en-US" sz="1950" dirty="0"/>
          </a:p>
        </p:txBody>
      </p:sp>
      <p:sp>
        <p:nvSpPr>
          <p:cNvPr id="21" name="Shape 19"/>
          <p:cNvSpPr/>
          <p:nvPr/>
        </p:nvSpPr>
        <p:spPr>
          <a:xfrm>
            <a:off x="952500" y="6922443"/>
            <a:ext cx="16383000" cy="9525"/>
          </a:xfrm>
          <a:prstGeom prst="rect">
            <a:avLst/>
          </a:prstGeom>
          <a:solidFill>
            <a:srgbClr val="2A2F3A"/>
          </a:solidFill>
          <a:ln/>
        </p:spPr>
        <p:txBody>
          <a:bodyPr/>
          <a:lstStyle/>
          <a:p>
            <a:endParaRPr lang="en-US"/>
          </a:p>
        </p:txBody>
      </p:sp>
      <p:sp>
        <p:nvSpPr>
          <p:cNvPr id="22" name="Text 20"/>
          <p:cNvSpPr/>
          <p:nvPr/>
        </p:nvSpPr>
        <p:spPr>
          <a:xfrm>
            <a:off x="952500" y="7274868"/>
            <a:ext cx="1028700" cy="590550"/>
          </a:xfrm>
          <a:prstGeom prst="rect">
            <a:avLst/>
          </a:prstGeom>
          <a:noFill/>
          <a:ln/>
        </p:spPr>
        <p:txBody>
          <a:bodyPr wrap="square" lIns="25400" tIns="25400" rIns="25400" bIns="25400" rtlCol="0" anchor="t">
            <a:normAutofit/>
          </a:bodyPr>
          <a:lstStyle/>
          <a:p>
            <a:pPr marL="0" indent="0" algn="l">
              <a:buNone/>
            </a:pPr>
            <a:r>
              <a:rPr lang="en-US" sz="3300" b="1" kern="0" spc="165" dirty="0">
                <a:solidFill>
                  <a:srgbClr val="FF5A1F"/>
                </a:solidFill>
                <a:latin typeface="Arial" pitchFamily="34" charset="0"/>
                <a:ea typeface="Arial" pitchFamily="34" charset="-122"/>
                <a:cs typeface="Arial" pitchFamily="34" charset="-120"/>
              </a:rPr>
              <a:t>03</a:t>
            </a:r>
            <a:endParaRPr lang="en-US" sz="3300" dirty="0"/>
          </a:p>
        </p:txBody>
      </p:sp>
      <p:sp>
        <p:nvSpPr>
          <p:cNvPr id="23" name="Text 21"/>
          <p:cNvSpPr/>
          <p:nvPr/>
        </p:nvSpPr>
        <p:spPr>
          <a:xfrm>
            <a:off x="2286000" y="7351068"/>
            <a:ext cx="7554278" cy="91440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000" b="1" kern="0" spc="-30" dirty="0">
                <a:solidFill>
                  <a:srgbClr val="F4EFE6"/>
                </a:solidFill>
                <a:latin typeface="Arial" pitchFamily="34" charset="0"/>
                <a:ea typeface="Arial" pitchFamily="34" charset="-122"/>
                <a:cs typeface="Arial" pitchFamily="34" charset="-120"/>
              </a:rPr>
              <a:t>For structured numeric prediction, purpose-built ML still wins.</a:t>
            </a:r>
            <a:endParaRPr lang="en-US" sz="3000" dirty="0"/>
          </a:p>
        </p:txBody>
      </p:sp>
      <p:sp>
        <p:nvSpPr>
          <p:cNvPr id="24" name="Text 22"/>
          <p:cNvSpPr/>
          <p:nvPr/>
        </p:nvSpPr>
        <p:spPr>
          <a:xfrm>
            <a:off x="10001250" y="7446318"/>
            <a:ext cx="7554278" cy="7313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9AA0AB"/>
                </a:solidFill>
                <a:latin typeface="Arial" pitchFamily="34" charset="0"/>
                <a:ea typeface="Arial" pitchFamily="34" charset="-122"/>
                <a:cs typeface="Arial" pitchFamily="34" charset="-120"/>
              </a:rPr>
              <a:t>Feature engineering and calibration compound in value; prompt engineering alone does not substitute for training data.</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7145" y="0"/>
            <a:ext cx="18288000" cy="10287000"/>
          </a:xfrm>
          <a:prstGeom prst="rect">
            <a:avLst/>
          </a:prstGeom>
          <a:solidFill>
            <a:srgbClr val="0F1115"/>
          </a:solidFill>
          <a:ln/>
        </p:spPr>
        <p:txBody>
          <a:bodyPr/>
          <a:lstStyle/>
          <a:p>
            <a:endParaRPr lang="en-US"/>
          </a:p>
        </p:txBody>
      </p:sp>
      <p:sp>
        <p:nvSpPr>
          <p:cNvPr id="3" name="Shape 1"/>
          <p:cNvSpPr/>
          <p:nvPr/>
        </p:nvSpPr>
        <p:spPr>
          <a:xfrm>
            <a:off x="0" y="0"/>
            <a:ext cx="18288000" cy="57150"/>
          </a:xfrm>
          <a:prstGeom prst="rect">
            <a:avLst/>
          </a:prstGeom>
          <a:solidFill>
            <a:srgbClr val="FF2D2D"/>
          </a:solidFill>
          <a:ln/>
        </p:spPr>
        <p:txBody>
          <a:bodyPr/>
          <a:lstStyle/>
          <a:p>
            <a:endParaRPr lang="en-US"/>
          </a:p>
        </p:txBody>
      </p:sp>
      <p:sp>
        <p:nvSpPr>
          <p:cNvPr id="4" name="Text 2"/>
          <p:cNvSpPr/>
          <p:nvPr/>
        </p:nvSpPr>
        <p:spPr>
          <a:xfrm>
            <a:off x="10822930" y="342900"/>
            <a:ext cx="22487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1143059" y="357188"/>
            <a:ext cx="3127790"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ZERO SHOT HOPEFULS</a:t>
            </a:r>
            <a:endParaRPr lang="en-US" sz="1800" dirty="0"/>
          </a:p>
        </p:txBody>
      </p:sp>
      <p:sp>
        <p:nvSpPr>
          <p:cNvPr id="6" name="Text 4"/>
          <p:cNvSpPr/>
          <p:nvPr/>
        </p:nvSpPr>
        <p:spPr>
          <a:xfrm>
            <a:off x="14351198" y="357188"/>
            <a:ext cx="162669"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alpha val="40000"/>
                  </a:srgbClr>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4609118" y="357188"/>
            <a:ext cx="280817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9AA0AB"/>
                </a:solidFill>
                <a:latin typeface="Arial" pitchFamily="34" charset="0"/>
                <a:ea typeface="Arial" pitchFamily="34" charset="-122"/>
                <a:cs typeface="Arial" pitchFamily="34" charset="-120"/>
              </a:rPr>
              <a:t>ESSD AI CHALLENGE</a:t>
            </a:r>
            <a:endParaRPr lang="en-US" sz="1800" dirty="0"/>
          </a:p>
        </p:txBody>
      </p:sp>
      <p:sp>
        <p:nvSpPr>
          <p:cNvPr id="8" name="Text 6"/>
          <p:cNvSpPr/>
          <p:nvPr/>
        </p:nvSpPr>
        <p:spPr>
          <a:xfrm>
            <a:off x="952500" y="9791700"/>
            <a:ext cx="6184605" cy="304800"/>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9AA0AB"/>
                </a:solidFill>
                <a:latin typeface="Arial" pitchFamily="34" charset="0"/>
                <a:ea typeface="Arial" pitchFamily="34" charset="-122"/>
                <a:cs typeface="Arial" pitchFamily="34" charset="-120"/>
              </a:rPr>
              <a:t>COMPOUND HAZARD FORECASTING · APR 2026</a:t>
            </a:r>
            <a:endParaRPr lang="en-US" sz="1800" dirty="0"/>
          </a:p>
        </p:txBody>
      </p:sp>
      <p:sp>
        <p:nvSpPr>
          <p:cNvPr id="9" name="Text 7"/>
          <p:cNvSpPr/>
          <p:nvPr/>
        </p:nvSpPr>
        <p:spPr>
          <a:xfrm>
            <a:off x="16456075" y="9763125"/>
            <a:ext cx="396329" cy="3333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F5A1F"/>
                </a:solidFill>
                <a:latin typeface="Arial" pitchFamily="34" charset="0"/>
                <a:ea typeface="Arial" pitchFamily="34" charset="-122"/>
                <a:cs typeface="Arial" pitchFamily="34" charset="-120"/>
              </a:rPr>
              <a:t>12</a:t>
            </a:r>
            <a:endParaRPr lang="en-US" sz="1800" dirty="0"/>
          </a:p>
        </p:txBody>
      </p:sp>
      <p:sp>
        <p:nvSpPr>
          <p:cNvPr id="10" name="Text 8"/>
          <p:cNvSpPr/>
          <p:nvPr/>
        </p:nvSpPr>
        <p:spPr>
          <a:xfrm>
            <a:off x="16776204" y="9782175"/>
            <a:ext cx="63549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9AA0AB">
                    <a:alpha val="50000"/>
                  </a:srgbClr>
                </a:solidFill>
                <a:latin typeface="Arial" pitchFamily="34" charset="0"/>
                <a:ea typeface="Arial" pitchFamily="34" charset="-122"/>
                <a:cs typeface="Arial" pitchFamily="34" charset="-120"/>
              </a:rPr>
              <a:t>/ 13</a:t>
            </a:r>
            <a:endParaRPr lang="en-US" sz="1800" dirty="0"/>
          </a:p>
        </p:txBody>
      </p:sp>
      <p:sp>
        <p:nvSpPr>
          <p:cNvPr id="11" name="Text 9"/>
          <p:cNvSpPr/>
          <p:nvPr/>
        </p:nvSpPr>
        <p:spPr>
          <a:xfrm>
            <a:off x="952500" y="952500"/>
            <a:ext cx="16874490" cy="333375"/>
          </a:xfrm>
          <a:prstGeom prst="rect">
            <a:avLst/>
          </a:prstGeom>
          <a:noFill/>
          <a:ln/>
        </p:spPr>
        <p:txBody>
          <a:bodyPr wrap="square" lIns="25400" tIns="25400" rIns="25400" bIns="25400" rtlCol="0" anchor="t">
            <a:normAutofit/>
          </a:bodyPr>
          <a:lstStyle/>
          <a:p>
            <a:pPr marL="0" indent="0" algn="l">
              <a:buNone/>
            </a:pPr>
            <a:r>
              <a:rPr lang="en-US" sz="1800" b="1" kern="0" spc="396" dirty="0">
                <a:solidFill>
                  <a:srgbClr val="FF5A1F"/>
                </a:solidFill>
                <a:latin typeface="Arial" pitchFamily="34" charset="0"/>
                <a:ea typeface="Arial" pitchFamily="34" charset="-122"/>
                <a:cs typeface="Arial" pitchFamily="34" charset="-120"/>
              </a:rPr>
              <a:t>LEARNING OUTCOMES</a:t>
            </a:r>
            <a:endParaRPr lang="en-US" sz="1800" dirty="0"/>
          </a:p>
        </p:txBody>
      </p:sp>
      <p:sp>
        <p:nvSpPr>
          <p:cNvPr id="12" name="Text 10"/>
          <p:cNvSpPr/>
          <p:nvPr/>
        </p:nvSpPr>
        <p:spPr>
          <a:xfrm>
            <a:off x="952500" y="1590675"/>
            <a:ext cx="16874490" cy="81528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000" b="1" kern="0" spc="-150" dirty="0">
                <a:solidFill>
                  <a:srgbClr val="F4EFE6"/>
                </a:solidFill>
                <a:latin typeface="Arial" pitchFamily="34" charset="0"/>
                <a:ea typeface="Arial" pitchFamily="34" charset="-122"/>
                <a:cs typeface="Arial" pitchFamily="34" charset="-120"/>
              </a:rPr>
              <a:t>Four people, </a:t>
            </a:r>
            <a:r>
              <a:rPr lang="en-US" sz="6000" b="1" kern="0" spc="-150" dirty="0">
                <a:solidFill>
                  <a:srgbClr val="FF5A1F"/>
                </a:solidFill>
                <a:latin typeface="Arial" pitchFamily="34" charset="0"/>
                <a:ea typeface="Arial" pitchFamily="34" charset="-122"/>
                <a:cs typeface="Arial" pitchFamily="34" charset="-120"/>
              </a:rPr>
              <a:t>four lessons.</a:t>
            </a:r>
            <a:endParaRPr lang="en-US" sz="6000" dirty="0"/>
          </a:p>
        </p:txBody>
      </p:sp>
      <p:sp>
        <p:nvSpPr>
          <p:cNvPr id="13" name="Shape 11"/>
          <p:cNvSpPr/>
          <p:nvPr/>
        </p:nvSpPr>
        <p:spPr>
          <a:xfrm>
            <a:off x="952500" y="2901255"/>
            <a:ext cx="8058150" cy="2940397"/>
          </a:xfrm>
          <a:prstGeom prst="rect">
            <a:avLst/>
          </a:prstGeom>
          <a:solidFill>
            <a:srgbClr val="16191F"/>
          </a:solidFill>
          <a:ln w="9525">
            <a:solidFill>
              <a:srgbClr val="2A2F3A"/>
            </a:solidFill>
            <a:prstDash val="solid"/>
          </a:ln>
        </p:spPr>
        <p:txBody>
          <a:bodyPr/>
          <a:lstStyle/>
          <a:p>
            <a:endParaRPr lang="en-US"/>
          </a:p>
        </p:txBody>
      </p:sp>
      <p:sp>
        <p:nvSpPr>
          <p:cNvPr id="14" name="Shape 12"/>
          <p:cNvSpPr/>
          <p:nvPr/>
        </p:nvSpPr>
        <p:spPr>
          <a:xfrm>
            <a:off x="1304925" y="3253680"/>
            <a:ext cx="1085850" cy="1085850"/>
          </a:xfrm>
          <a:prstGeom prst="rect">
            <a:avLst/>
          </a:prstGeom>
          <a:solidFill>
            <a:srgbClr val="1C2028"/>
          </a:solidFill>
          <a:ln w="19050">
            <a:solidFill>
              <a:srgbClr val="FF5A1F"/>
            </a:solidFill>
            <a:prstDash val="solid"/>
          </a:ln>
        </p:spPr>
        <p:txBody>
          <a:bodyPr/>
          <a:lstStyle/>
          <a:p>
            <a:endParaRPr lang="en-US"/>
          </a:p>
        </p:txBody>
      </p:sp>
      <p:sp>
        <p:nvSpPr>
          <p:cNvPr id="15" name="Text 13"/>
          <p:cNvSpPr/>
          <p:nvPr/>
        </p:nvSpPr>
        <p:spPr>
          <a:xfrm>
            <a:off x="1285875" y="3272730"/>
            <a:ext cx="1123950" cy="1085850"/>
          </a:xfrm>
          <a:prstGeom prst="rect">
            <a:avLst/>
          </a:prstGeom>
          <a:noFill/>
          <a:ln/>
        </p:spPr>
        <p:txBody>
          <a:bodyPr wrap="square" lIns="25400" tIns="25400" rIns="25400" bIns="25400" rtlCol="0" anchor="ctr">
            <a:normAutofit/>
          </a:bodyPr>
          <a:lstStyle/>
          <a:p>
            <a:pPr marL="0" indent="0" algn="ctr">
              <a:buNone/>
            </a:pPr>
            <a:r>
              <a:rPr lang="en-US" sz="2850" b="1" kern="0" spc="57" dirty="0">
                <a:solidFill>
                  <a:srgbClr val="FF5A1F"/>
                </a:solidFill>
                <a:latin typeface="Arial" pitchFamily="34" charset="0"/>
                <a:ea typeface="Arial" pitchFamily="34" charset="-122"/>
                <a:cs typeface="Arial" pitchFamily="34" charset="-120"/>
              </a:rPr>
              <a:t>AJ</a:t>
            </a:r>
            <a:endParaRPr lang="en-US" sz="2850" dirty="0"/>
          </a:p>
        </p:txBody>
      </p:sp>
      <p:sp>
        <p:nvSpPr>
          <p:cNvPr id="16" name="Text 14"/>
          <p:cNvSpPr/>
          <p:nvPr/>
        </p:nvSpPr>
        <p:spPr>
          <a:xfrm>
            <a:off x="2752725" y="3253680"/>
            <a:ext cx="6082665" cy="409575"/>
          </a:xfrm>
          <a:prstGeom prst="rect">
            <a:avLst/>
          </a:prstGeom>
          <a:noFill/>
          <a:ln/>
        </p:spPr>
        <p:txBody>
          <a:bodyPr wrap="square" lIns="25400" tIns="25400" rIns="25400" bIns="25400" rtlCol="0" anchor="t">
            <a:normAutofit lnSpcReduction="10000"/>
          </a:bodyPr>
          <a:lstStyle/>
          <a:p>
            <a:pPr marL="0" indent="0" algn="l">
              <a:buNone/>
            </a:pPr>
            <a:r>
              <a:rPr lang="en-US" sz="2400" b="1" kern="0" spc="-24" dirty="0">
                <a:solidFill>
                  <a:srgbClr val="F4EFE6"/>
                </a:solidFill>
                <a:latin typeface="Arial" pitchFamily="34" charset="0"/>
                <a:ea typeface="Arial" pitchFamily="34" charset="-122"/>
                <a:cs typeface="Arial" pitchFamily="34" charset="-120"/>
              </a:rPr>
              <a:t>Avi Joshi</a:t>
            </a:r>
            <a:endParaRPr lang="en-US" sz="2400" dirty="0"/>
          </a:p>
        </p:txBody>
      </p:sp>
      <p:sp>
        <p:nvSpPr>
          <p:cNvPr id="17" name="Text 15"/>
          <p:cNvSpPr/>
          <p:nvPr/>
        </p:nvSpPr>
        <p:spPr>
          <a:xfrm>
            <a:off x="2752725" y="3663255"/>
            <a:ext cx="6082665" cy="238125"/>
          </a:xfrm>
          <a:prstGeom prst="rect">
            <a:avLst/>
          </a:prstGeom>
          <a:noFill/>
          <a:ln/>
        </p:spPr>
        <p:txBody>
          <a:bodyPr wrap="square" lIns="25400" tIns="25400" rIns="25400" bIns="25400" rtlCol="0" anchor="t">
            <a:normAutofit lnSpcReduction="10000"/>
          </a:bodyPr>
          <a:lstStyle/>
          <a:p>
            <a:pPr marL="0" indent="0" algn="l">
              <a:buNone/>
            </a:pPr>
            <a:r>
              <a:rPr lang="en-US" sz="1350" kern="0" spc="203" dirty="0">
                <a:solidFill>
                  <a:srgbClr val="FF5A1F"/>
                </a:solidFill>
                <a:latin typeface="Arial" pitchFamily="34" charset="0"/>
                <a:ea typeface="Arial" pitchFamily="34" charset="-122"/>
                <a:cs typeface="Arial" pitchFamily="34" charset="-120"/>
              </a:rPr>
              <a:t>LLM LEAD</a:t>
            </a:r>
            <a:endParaRPr lang="en-US" sz="1350" dirty="0"/>
          </a:p>
        </p:txBody>
      </p:sp>
      <p:sp>
        <p:nvSpPr>
          <p:cNvPr id="18" name="Text 16"/>
          <p:cNvSpPr/>
          <p:nvPr/>
        </p:nvSpPr>
        <p:spPr>
          <a:xfrm>
            <a:off x="2752725" y="3996630"/>
            <a:ext cx="6082665" cy="99804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F5A1F"/>
                </a:solidFill>
                <a:latin typeface="Arial" pitchFamily="34" charset="0"/>
                <a:ea typeface="Arial" pitchFamily="34" charset="-122"/>
                <a:cs typeface="Arial" pitchFamily="34" charset="-120"/>
              </a:rPr>
              <a:t>“ </a:t>
            </a:r>
            <a:r>
              <a:rPr lang="en-US" dirty="0">
                <a:solidFill>
                  <a:srgbClr val="F4EFE6"/>
                </a:solidFill>
                <a:latin typeface="Arial" pitchFamily="34" charset="0"/>
                <a:ea typeface="Arial" pitchFamily="34" charset="-122"/>
                <a:cs typeface="Arial" pitchFamily="34" charset="-120"/>
              </a:rPr>
              <a:t>LLMs can be delusional, always verify their work.</a:t>
            </a:r>
            <a:r>
              <a:rPr lang="en-US" sz="1800" dirty="0">
                <a:solidFill>
                  <a:srgbClr val="F4EFE6"/>
                </a:solidFill>
                <a:latin typeface="Arial" pitchFamily="34" charset="0"/>
                <a:ea typeface="Arial" pitchFamily="34" charset="-122"/>
                <a:cs typeface="Arial" pitchFamily="34" charset="-120"/>
              </a:rPr>
              <a:t> </a:t>
            </a:r>
            <a:r>
              <a:rPr lang="en-US" sz="1800" dirty="0">
                <a:solidFill>
                  <a:srgbClr val="FF5A1F"/>
                </a:solidFill>
                <a:latin typeface="Arial" pitchFamily="34" charset="0"/>
                <a:ea typeface="Arial" pitchFamily="34" charset="-122"/>
                <a:cs typeface="Arial" pitchFamily="34" charset="-120"/>
              </a:rPr>
              <a:t>”</a:t>
            </a:r>
            <a:endParaRPr lang="en-US" sz="1800" dirty="0"/>
          </a:p>
        </p:txBody>
      </p:sp>
      <p:sp>
        <p:nvSpPr>
          <p:cNvPr id="19" name="Shape 17"/>
          <p:cNvSpPr/>
          <p:nvPr/>
        </p:nvSpPr>
        <p:spPr>
          <a:xfrm>
            <a:off x="9277350" y="2901255"/>
            <a:ext cx="8058150" cy="2940397"/>
          </a:xfrm>
          <a:prstGeom prst="rect">
            <a:avLst/>
          </a:prstGeom>
          <a:solidFill>
            <a:srgbClr val="16191F"/>
          </a:solidFill>
          <a:ln w="9525">
            <a:solidFill>
              <a:srgbClr val="2A2F3A"/>
            </a:solidFill>
            <a:prstDash val="solid"/>
          </a:ln>
        </p:spPr>
        <p:txBody>
          <a:bodyPr/>
          <a:lstStyle/>
          <a:p>
            <a:endParaRPr lang="en-US"/>
          </a:p>
        </p:txBody>
      </p:sp>
      <p:sp>
        <p:nvSpPr>
          <p:cNvPr id="20" name="Shape 18"/>
          <p:cNvSpPr/>
          <p:nvPr/>
        </p:nvSpPr>
        <p:spPr>
          <a:xfrm>
            <a:off x="9629775" y="3253680"/>
            <a:ext cx="1085850" cy="1085850"/>
          </a:xfrm>
          <a:prstGeom prst="rect">
            <a:avLst/>
          </a:prstGeom>
          <a:solidFill>
            <a:srgbClr val="1C2028"/>
          </a:solidFill>
          <a:ln w="19050">
            <a:solidFill>
              <a:srgbClr val="FF5A1F"/>
            </a:solidFill>
            <a:prstDash val="solid"/>
          </a:ln>
        </p:spPr>
        <p:txBody>
          <a:bodyPr/>
          <a:lstStyle/>
          <a:p>
            <a:endParaRPr lang="en-US"/>
          </a:p>
        </p:txBody>
      </p:sp>
      <p:sp>
        <p:nvSpPr>
          <p:cNvPr id="21" name="Text 19"/>
          <p:cNvSpPr/>
          <p:nvPr/>
        </p:nvSpPr>
        <p:spPr>
          <a:xfrm>
            <a:off x="9610725" y="3272730"/>
            <a:ext cx="1123950" cy="1085850"/>
          </a:xfrm>
          <a:prstGeom prst="rect">
            <a:avLst/>
          </a:prstGeom>
          <a:noFill/>
          <a:ln/>
        </p:spPr>
        <p:txBody>
          <a:bodyPr wrap="square" lIns="25400" tIns="25400" rIns="25400" bIns="25400" rtlCol="0" anchor="ctr">
            <a:normAutofit/>
          </a:bodyPr>
          <a:lstStyle/>
          <a:p>
            <a:pPr marL="0" indent="0" algn="ctr">
              <a:buNone/>
            </a:pPr>
            <a:r>
              <a:rPr lang="en-US" sz="2850" b="1" kern="0" spc="57" dirty="0">
                <a:solidFill>
                  <a:srgbClr val="FF5A1F"/>
                </a:solidFill>
                <a:latin typeface="Arial" pitchFamily="34" charset="0"/>
                <a:ea typeface="Arial" pitchFamily="34" charset="-122"/>
                <a:cs typeface="Arial" pitchFamily="34" charset="-120"/>
              </a:rPr>
              <a:t>SS</a:t>
            </a:r>
            <a:endParaRPr lang="en-US" sz="2850" dirty="0"/>
          </a:p>
        </p:txBody>
      </p:sp>
      <p:sp>
        <p:nvSpPr>
          <p:cNvPr id="22" name="Text 20"/>
          <p:cNvSpPr/>
          <p:nvPr/>
        </p:nvSpPr>
        <p:spPr>
          <a:xfrm>
            <a:off x="11077575" y="3253680"/>
            <a:ext cx="6082665" cy="409575"/>
          </a:xfrm>
          <a:prstGeom prst="rect">
            <a:avLst/>
          </a:prstGeom>
          <a:noFill/>
          <a:ln/>
        </p:spPr>
        <p:txBody>
          <a:bodyPr wrap="square" lIns="25400" tIns="25400" rIns="25400" bIns="25400" rtlCol="0" anchor="t">
            <a:normAutofit lnSpcReduction="10000"/>
          </a:bodyPr>
          <a:lstStyle/>
          <a:p>
            <a:pPr marL="0" indent="0" algn="l">
              <a:buNone/>
            </a:pPr>
            <a:r>
              <a:rPr lang="en-US" sz="2400" b="1" kern="0" spc="-24" dirty="0">
                <a:solidFill>
                  <a:srgbClr val="F4EFE6"/>
                </a:solidFill>
                <a:latin typeface="Arial" pitchFamily="34" charset="0"/>
                <a:ea typeface="Arial" pitchFamily="34" charset="-122"/>
                <a:cs typeface="Arial" pitchFamily="34" charset="-120"/>
              </a:rPr>
              <a:t>Sarah Saslow</a:t>
            </a:r>
            <a:endParaRPr lang="en-US" sz="2400" dirty="0"/>
          </a:p>
        </p:txBody>
      </p:sp>
      <p:sp>
        <p:nvSpPr>
          <p:cNvPr id="23" name="Text 21"/>
          <p:cNvSpPr/>
          <p:nvPr/>
        </p:nvSpPr>
        <p:spPr>
          <a:xfrm>
            <a:off x="11077575" y="3663255"/>
            <a:ext cx="6082665" cy="238125"/>
          </a:xfrm>
          <a:prstGeom prst="rect">
            <a:avLst/>
          </a:prstGeom>
          <a:noFill/>
          <a:ln/>
        </p:spPr>
        <p:txBody>
          <a:bodyPr wrap="square" lIns="25400" tIns="25400" rIns="25400" bIns="25400" rtlCol="0" anchor="t">
            <a:normAutofit lnSpcReduction="10000"/>
          </a:bodyPr>
          <a:lstStyle/>
          <a:p>
            <a:pPr marL="0" indent="0" algn="l">
              <a:buNone/>
            </a:pPr>
            <a:r>
              <a:rPr lang="en-US" sz="1350" kern="0" spc="203" dirty="0">
                <a:solidFill>
                  <a:srgbClr val="FF5A1F"/>
                </a:solidFill>
                <a:latin typeface="Arial" pitchFamily="34" charset="0"/>
                <a:ea typeface="Arial" pitchFamily="34" charset="-122"/>
                <a:cs typeface="Arial" pitchFamily="34" charset="-120"/>
              </a:rPr>
              <a:t>GITHUB APPRENTICE</a:t>
            </a:r>
            <a:endParaRPr lang="en-US" sz="1350" dirty="0"/>
          </a:p>
        </p:txBody>
      </p:sp>
      <p:sp>
        <p:nvSpPr>
          <p:cNvPr id="24" name="Text 22"/>
          <p:cNvSpPr/>
          <p:nvPr/>
        </p:nvSpPr>
        <p:spPr>
          <a:xfrm>
            <a:off x="11077575" y="3996630"/>
            <a:ext cx="6082665" cy="99804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F5A1F"/>
                </a:solidFill>
                <a:latin typeface="Arial" pitchFamily="34" charset="0"/>
                <a:ea typeface="Arial" pitchFamily="34" charset="-122"/>
                <a:cs typeface="Arial" pitchFamily="34" charset="-120"/>
              </a:rPr>
              <a:t>“</a:t>
            </a:r>
            <a:r>
              <a:rPr lang="en-US" sz="1800" dirty="0">
                <a:solidFill>
                  <a:srgbClr val="F4EFE6"/>
                </a:solidFill>
                <a:latin typeface="Arial" pitchFamily="34" charset="0"/>
                <a:ea typeface="Arial" pitchFamily="34" charset="-122"/>
                <a:cs typeface="Arial" pitchFamily="34" charset="-120"/>
              </a:rPr>
              <a:t>Start small and build from there. You don't have to complete your entire task in one ask. </a:t>
            </a:r>
            <a:r>
              <a:rPr lang="en-US" sz="1800" dirty="0">
                <a:solidFill>
                  <a:srgbClr val="FF5A1F"/>
                </a:solidFill>
                <a:latin typeface="Arial" pitchFamily="34" charset="0"/>
                <a:ea typeface="Arial" pitchFamily="34" charset="-122"/>
                <a:cs typeface="Arial" pitchFamily="34" charset="-120"/>
              </a:rPr>
              <a:t>”</a:t>
            </a:r>
            <a:endParaRPr lang="en-US" sz="1800" dirty="0"/>
          </a:p>
        </p:txBody>
      </p:sp>
      <p:sp>
        <p:nvSpPr>
          <p:cNvPr id="25" name="Shape 23"/>
          <p:cNvSpPr/>
          <p:nvPr/>
        </p:nvSpPr>
        <p:spPr>
          <a:xfrm>
            <a:off x="952500" y="6108353"/>
            <a:ext cx="8058150" cy="2940397"/>
          </a:xfrm>
          <a:prstGeom prst="rect">
            <a:avLst/>
          </a:prstGeom>
          <a:solidFill>
            <a:srgbClr val="16191F"/>
          </a:solidFill>
          <a:ln w="9525">
            <a:solidFill>
              <a:srgbClr val="2A2F3A"/>
            </a:solidFill>
            <a:prstDash val="solid"/>
          </a:ln>
        </p:spPr>
        <p:txBody>
          <a:bodyPr/>
          <a:lstStyle/>
          <a:p>
            <a:endParaRPr lang="en-US"/>
          </a:p>
        </p:txBody>
      </p:sp>
      <p:sp>
        <p:nvSpPr>
          <p:cNvPr id="26" name="Shape 24"/>
          <p:cNvSpPr/>
          <p:nvPr/>
        </p:nvSpPr>
        <p:spPr>
          <a:xfrm>
            <a:off x="1304925" y="6460778"/>
            <a:ext cx="1085850" cy="1085850"/>
          </a:xfrm>
          <a:prstGeom prst="rect">
            <a:avLst/>
          </a:prstGeom>
          <a:solidFill>
            <a:srgbClr val="1C2028"/>
          </a:solidFill>
          <a:ln w="19050">
            <a:solidFill>
              <a:srgbClr val="FF5A1F"/>
            </a:solidFill>
            <a:prstDash val="solid"/>
          </a:ln>
        </p:spPr>
        <p:txBody>
          <a:bodyPr/>
          <a:lstStyle/>
          <a:p>
            <a:endParaRPr lang="en-US"/>
          </a:p>
        </p:txBody>
      </p:sp>
      <p:sp>
        <p:nvSpPr>
          <p:cNvPr id="27" name="Text 25"/>
          <p:cNvSpPr/>
          <p:nvPr/>
        </p:nvSpPr>
        <p:spPr>
          <a:xfrm>
            <a:off x="1285875" y="6479828"/>
            <a:ext cx="1123950" cy="1085850"/>
          </a:xfrm>
          <a:prstGeom prst="rect">
            <a:avLst/>
          </a:prstGeom>
          <a:noFill/>
          <a:ln/>
        </p:spPr>
        <p:txBody>
          <a:bodyPr wrap="square" lIns="25400" tIns="25400" rIns="25400" bIns="25400" rtlCol="0" anchor="ctr">
            <a:normAutofit/>
          </a:bodyPr>
          <a:lstStyle/>
          <a:p>
            <a:pPr marL="0" indent="0" algn="ctr">
              <a:buNone/>
            </a:pPr>
            <a:r>
              <a:rPr lang="en-US" sz="2850" b="1" kern="0" spc="57" dirty="0">
                <a:solidFill>
                  <a:srgbClr val="FF5A1F"/>
                </a:solidFill>
                <a:latin typeface="Arial" pitchFamily="34" charset="0"/>
                <a:ea typeface="Arial" pitchFamily="34" charset="-122"/>
                <a:cs typeface="Arial" pitchFamily="34" charset="-120"/>
              </a:rPr>
              <a:t>LH</a:t>
            </a:r>
            <a:endParaRPr lang="en-US" sz="2850" dirty="0"/>
          </a:p>
        </p:txBody>
      </p:sp>
      <p:sp>
        <p:nvSpPr>
          <p:cNvPr id="28" name="Text 26"/>
          <p:cNvSpPr/>
          <p:nvPr/>
        </p:nvSpPr>
        <p:spPr>
          <a:xfrm>
            <a:off x="2752725" y="6460778"/>
            <a:ext cx="6082665" cy="409575"/>
          </a:xfrm>
          <a:prstGeom prst="rect">
            <a:avLst/>
          </a:prstGeom>
          <a:noFill/>
          <a:ln/>
        </p:spPr>
        <p:txBody>
          <a:bodyPr wrap="square" lIns="25400" tIns="25400" rIns="25400" bIns="25400" rtlCol="0" anchor="t">
            <a:normAutofit lnSpcReduction="10000"/>
          </a:bodyPr>
          <a:lstStyle/>
          <a:p>
            <a:pPr marL="0" indent="0" algn="l">
              <a:buNone/>
            </a:pPr>
            <a:r>
              <a:rPr lang="en-US" sz="2400" b="1" kern="0" spc="-24" dirty="0">
                <a:solidFill>
                  <a:srgbClr val="F4EFE6"/>
                </a:solidFill>
                <a:latin typeface="Arial" pitchFamily="34" charset="0"/>
                <a:ea typeface="Arial" pitchFamily="34" charset="-122"/>
                <a:cs typeface="Arial" pitchFamily="34" charset="-120"/>
              </a:rPr>
              <a:t>Leah Hare</a:t>
            </a:r>
            <a:endParaRPr lang="en-US" sz="2400" dirty="0"/>
          </a:p>
        </p:txBody>
      </p:sp>
      <p:sp>
        <p:nvSpPr>
          <p:cNvPr id="29" name="Text 27"/>
          <p:cNvSpPr/>
          <p:nvPr/>
        </p:nvSpPr>
        <p:spPr>
          <a:xfrm>
            <a:off x="2752725" y="6870353"/>
            <a:ext cx="6082665" cy="238125"/>
          </a:xfrm>
          <a:prstGeom prst="rect">
            <a:avLst/>
          </a:prstGeom>
          <a:noFill/>
          <a:ln/>
        </p:spPr>
        <p:txBody>
          <a:bodyPr wrap="square" lIns="25400" tIns="25400" rIns="25400" bIns="25400" rtlCol="0" anchor="t">
            <a:normAutofit lnSpcReduction="10000"/>
          </a:bodyPr>
          <a:lstStyle/>
          <a:p>
            <a:pPr marL="0" indent="0" algn="l">
              <a:buNone/>
            </a:pPr>
            <a:r>
              <a:rPr lang="en-US" sz="1350" kern="0" spc="203" dirty="0">
                <a:solidFill>
                  <a:srgbClr val="FF5A1F"/>
                </a:solidFill>
                <a:latin typeface="Arial" pitchFamily="34" charset="0"/>
                <a:ea typeface="Arial" pitchFamily="34" charset="-122"/>
                <a:cs typeface="Arial" pitchFamily="34" charset="-120"/>
              </a:rPr>
              <a:t>WORKFLOW &amp; DOCS</a:t>
            </a:r>
            <a:endParaRPr lang="en-US" sz="1350" dirty="0"/>
          </a:p>
        </p:txBody>
      </p:sp>
      <p:sp>
        <p:nvSpPr>
          <p:cNvPr id="30" name="Text 28"/>
          <p:cNvSpPr/>
          <p:nvPr/>
        </p:nvSpPr>
        <p:spPr>
          <a:xfrm>
            <a:off x="2752725" y="7203728"/>
            <a:ext cx="6082665" cy="678061"/>
          </a:xfrm>
          <a:prstGeom prst="rect">
            <a:avLst/>
          </a:prstGeom>
          <a:noFill/>
          <a:ln/>
        </p:spPr>
        <p:txBody>
          <a:bodyPr wrap="square" lIns="25400" tIns="25400" rIns="25400" bIns="25400" rtlCol="0" anchor="t">
            <a:normAutofit fontScale="62500" lnSpcReduction="20000"/>
          </a:bodyPr>
          <a:lstStyle/>
          <a:p>
            <a:pPr>
              <a:lnSpc>
                <a:spcPct val="140000"/>
              </a:lnSpc>
            </a:pPr>
            <a:r>
              <a:rPr lang="en-US" sz="2700" dirty="0">
                <a:solidFill>
                  <a:srgbClr val="FF5A1F"/>
                </a:solidFill>
                <a:latin typeface="Arial" pitchFamily="34" charset="0"/>
                <a:ea typeface="Arial" pitchFamily="34" charset="-122"/>
                <a:cs typeface="Arial" pitchFamily="34" charset="-120"/>
              </a:rPr>
              <a:t>“ </a:t>
            </a:r>
            <a:r>
              <a:rPr lang="en-US" sz="2700" dirty="0">
                <a:solidFill>
                  <a:schemeClr val="bg1"/>
                </a:solidFill>
                <a:latin typeface="Arial" panose="020B0604020202020204" pitchFamily="34" charset="0"/>
                <a:cs typeface="Arial" panose="020B0604020202020204" pitchFamily="34" charset="0"/>
              </a:rPr>
              <a:t>Don't be afraid to try. Keep notes of what worked and what didn't.</a:t>
            </a:r>
            <a:r>
              <a:rPr lang="en-US" sz="2700" dirty="0">
                <a:solidFill>
                  <a:srgbClr val="F4EFE6"/>
                </a:solidFill>
                <a:latin typeface="Arial" pitchFamily="34" charset="0"/>
                <a:ea typeface="Arial" pitchFamily="34" charset="-122"/>
                <a:cs typeface="Arial" pitchFamily="34" charset="-120"/>
              </a:rPr>
              <a:t> </a:t>
            </a:r>
            <a:r>
              <a:rPr lang="en-US" sz="2700" dirty="0">
                <a:solidFill>
                  <a:srgbClr val="FF5A1F"/>
                </a:solidFill>
                <a:latin typeface="Arial" pitchFamily="34" charset="0"/>
                <a:ea typeface="Arial" pitchFamily="34" charset="-122"/>
                <a:cs typeface="Arial" pitchFamily="34" charset="-120"/>
              </a:rPr>
              <a:t>”</a:t>
            </a:r>
            <a:endParaRPr lang="en-US" sz="2700" dirty="0"/>
          </a:p>
        </p:txBody>
      </p:sp>
      <p:sp>
        <p:nvSpPr>
          <p:cNvPr id="31" name="Shape 29"/>
          <p:cNvSpPr/>
          <p:nvPr/>
        </p:nvSpPr>
        <p:spPr>
          <a:xfrm>
            <a:off x="9277350" y="6108353"/>
            <a:ext cx="8058150" cy="2940397"/>
          </a:xfrm>
          <a:prstGeom prst="rect">
            <a:avLst/>
          </a:prstGeom>
          <a:solidFill>
            <a:srgbClr val="16191F"/>
          </a:solidFill>
          <a:ln w="9525">
            <a:solidFill>
              <a:srgbClr val="2A2F3A"/>
            </a:solidFill>
            <a:prstDash val="solid"/>
          </a:ln>
        </p:spPr>
        <p:txBody>
          <a:bodyPr/>
          <a:lstStyle/>
          <a:p>
            <a:endParaRPr lang="en-US"/>
          </a:p>
        </p:txBody>
      </p:sp>
      <p:sp>
        <p:nvSpPr>
          <p:cNvPr id="32" name="Shape 30"/>
          <p:cNvSpPr/>
          <p:nvPr/>
        </p:nvSpPr>
        <p:spPr>
          <a:xfrm>
            <a:off x="9629775" y="6460778"/>
            <a:ext cx="1085850" cy="1085850"/>
          </a:xfrm>
          <a:prstGeom prst="rect">
            <a:avLst/>
          </a:prstGeom>
          <a:solidFill>
            <a:srgbClr val="1C2028"/>
          </a:solidFill>
          <a:ln w="19050">
            <a:solidFill>
              <a:srgbClr val="FF5A1F"/>
            </a:solidFill>
            <a:prstDash val="solid"/>
          </a:ln>
        </p:spPr>
        <p:txBody>
          <a:bodyPr/>
          <a:lstStyle/>
          <a:p>
            <a:endParaRPr lang="en-US"/>
          </a:p>
        </p:txBody>
      </p:sp>
      <p:sp>
        <p:nvSpPr>
          <p:cNvPr id="33" name="Text 31"/>
          <p:cNvSpPr/>
          <p:nvPr/>
        </p:nvSpPr>
        <p:spPr>
          <a:xfrm>
            <a:off x="9610725" y="6479828"/>
            <a:ext cx="1123950" cy="1085850"/>
          </a:xfrm>
          <a:prstGeom prst="rect">
            <a:avLst/>
          </a:prstGeom>
          <a:noFill/>
          <a:ln/>
        </p:spPr>
        <p:txBody>
          <a:bodyPr wrap="square" lIns="25400" tIns="25400" rIns="25400" bIns="25400" rtlCol="0" anchor="ctr">
            <a:normAutofit/>
          </a:bodyPr>
          <a:lstStyle/>
          <a:p>
            <a:pPr marL="0" indent="0" algn="ctr">
              <a:buNone/>
            </a:pPr>
            <a:r>
              <a:rPr lang="en-US" sz="2850" b="1" kern="0" spc="57" dirty="0">
                <a:solidFill>
                  <a:srgbClr val="FF5A1F"/>
                </a:solidFill>
                <a:latin typeface="Arial" pitchFamily="34" charset="0"/>
                <a:ea typeface="Arial" pitchFamily="34" charset="-122"/>
                <a:cs typeface="Arial" pitchFamily="34" charset="-120"/>
              </a:rPr>
              <a:t>CP</a:t>
            </a:r>
            <a:endParaRPr lang="en-US" sz="2850" dirty="0"/>
          </a:p>
        </p:txBody>
      </p:sp>
      <p:sp>
        <p:nvSpPr>
          <p:cNvPr id="34" name="Text 32"/>
          <p:cNvSpPr/>
          <p:nvPr/>
        </p:nvSpPr>
        <p:spPr>
          <a:xfrm>
            <a:off x="11077575" y="6460778"/>
            <a:ext cx="6082665" cy="409575"/>
          </a:xfrm>
          <a:prstGeom prst="rect">
            <a:avLst/>
          </a:prstGeom>
          <a:noFill/>
          <a:ln/>
        </p:spPr>
        <p:txBody>
          <a:bodyPr wrap="square" lIns="25400" tIns="25400" rIns="25400" bIns="25400" rtlCol="0" anchor="t">
            <a:normAutofit lnSpcReduction="10000"/>
          </a:bodyPr>
          <a:lstStyle/>
          <a:p>
            <a:pPr marL="0" indent="0" algn="l">
              <a:buNone/>
            </a:pPr>
            <a:r>
              <a:rPr lang="en-US" sz="2400" b="1" kern="0" spc="-24" dirty="0">
                <a:solidFill>
                  <a:srgbClr val="F4EFE6"/>
                </a:solidFill>
                <a:latin typeface="Arial" pitchFamily="34" charset="0"/>
                <a:ea typeface="Arial" pitchFamily="34" charset="-122"/>
                <a:cs typeface="Arial" pitchFamily="34" charset="-120"/>
              </a:rPr>
              <a:t>Carolyn Pearce</a:t>
            </a:r>
            <a:endParaRPr lang="en-US" sz="2400" dirty="0"/>
          </a:p>
        </p:txBody>
      </p:sp>
      <p:sp>
        <p:nvSpPr>
          <p:cNvPr id="35" name="Text 33"/>
          <p:cNvSpPr/>
          <p:nvPr/>
        </p:nvSpPr>
        <p:spPr>
          <a:xfrm>
            <a:off x="11077575" y="6870353"/>
            <a:ext cx="6082665" cy="238125"/>
          </a:xfrm>
          <a:prstGeom prst="rect">
            <a:avLst/>
          </a:prstGeom>
          <a:noFill/>
          <a:ln/>
        </p:spPr>
        <p:txBody>
          <a:bodyPr wrap="square" lIns="25400" tIns="25400" rIns="25400" bIns="25400" rtlCol="0" anchor="t">
            <a:normAutofit lnSpcReduction="10000"/>
          </a:bodyPr>
          <a:lstStyle/>
          <a:p>
            <a:pPr marL="0" indent="0" algn="l">
              <a:buNone/>
            </a:pPr>
            <a:r>
              <a:rPr lang="en-US" sz="1350" kern="0" spc="203" dirty="0">
                <a:solidFill>
                  <a:srgbClr val="FF5A1F"/>
                </a:solidFill>
                <a:latin typeface="Arial" pitchFamily="34" charset="0"/>
                <a:ea typeface="Arial" pitchFamily="34" charset="-122"/>
                <a:cs typeface="Arial" pitchFamily="34" charset="-120"/>
              </a:rPr>
              <a:t>ANALYSIS &amp; EVALUATION</a:t>
            </a:r>
            <a:endParaRPr lang="en-US" sz="1350" dirty="0"/>
          </a:p>
        </p:txBody>
      </p:sp>
      <p:sp>
        <p:nvSpPr>
          <p:cNvPr id="36" name="Text 34"/>
          <p:cNvSpPr/>
          <p:nvPr/>
        </p:nvSpPr>
        <p:spPr>
          <a:xfrm>
            <a:off x="11077575" y="7203728"/>
            <a:ext cx="6082665" cy="998041"/>
          </a:xfrm>
          <a:prstGeom prst="rect">
            <a:avLst/>
          </a:prstGeom>
          <a:noFill/>
          <a:ln/>
        </p:spPr>
        <p:txBody>
          <a:bodyPr wrap="square" lIns="25400" tIns="25400" rIns="25400" bIns="25400" rtlCol="0" anchor="t">
            <a:normAutofit/>
          </a:bodyPr>
          <a:lstStyle/>
          <a:p>
            <a:pPr>
              <a:lnSpc>
                <a:spcPct val="140000"/>
              </a:lnSpc>
            </a:pPr>
            <a:r>
              <a:rPr lang="en-US" sz="1700" dirty="0">
                <a:solidFill>
                  <a:srgbClr val="FF5A1F"/>
                </a:solidFill>
                <a:latin typeface="Arial" pitchFamily="34" charset="0"/>
                <a:ea typeface="Arial" pitchFamily="34" charset="-122"/>
                <a:cs typeface="Arial" pitchFamily="34" charset="-120"/>
              </a:rPr>
              <a:t>“ </a:t>
            </a:r>
            <a:r>
              <a:rPr lang="en-US" sz="1700" dirty="0">
                <a:solidFill>
                  <a:schemeClr val="bg1"/>
                </a:solidFill>
                <a:latin typeface="Arial" panose="020B0604020202020204" pitchFamily="34" charset="0"/>
                <a:cs typeface="Arial" panose="020B0604020202020204" pitchFamily="34" charset="0"/>
              </a:rPr>
              <a:t>Learning about AI is much more fun as a team (especially if you have a spirit guide)</a:t>
            </a:r>
            <a:r>
              <a:rPr lang="en-US" sz="1700" dirty="0">
                <a:solidFill>
                  <a:srgbClr val="F4EFE6"/>
                </a:solidFill>
                <a:latin typeface="Arial" pitchFamily="34" charset="0"/>
                <a:ea typeface="Arial" pitchFamily="34" charset="-122"/>
                <a:cs typeface="Arial" pitchFamily="34" charset="-120"/>
              </a:rPr>
              <a:t>. </a:t>
            </a:r>
            <a:r>
              <a:rPr lang="en-US" sz="1700" dirty="0">
                <a:solidFill>
                  <a:srgbClr val="FF5A1F"/>
                </a:solidFill>
                <a:latin typeface="Arial" pitchFamily="34" charset="0"/>
                <a:ea typeface="Arial" pitchFamily="34" charset="-122"/>
                <a:cs typeface="Arial" pitchFamily="34" charset="-120"/>
              </a:rPr>
              <a:t>”</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F1115"/>
          </a:solidFill>
          <a:ln/>
        </p:spPr>
        <p:txBody>
          <a:bodyPr/>
          <a:lstStyle/>
          <a:p>
            <a:endParaRPr lang="en-US"/>
          </a:p>
        </p:txBody>
      </p:sp>
      <p:sp>
        <p:nvSpPr>
          <p:cNvPr id="3" name="Shape 1"/>
          <p:cNvSpPr/>
          <p:nvPr/>
        </p:nvSpPr>
        <p:spPr>
          <a:xfrm>
            <a:off x="0" y="0"/>
            <a:ext cx="18288000" cy="57150"/>
          </a:xfrm>
          <a:prstGeom prst="rect">
            <a:avLst/>
          </a:prstGeom>
          <a:solidFill>
            <a:srgbClr val="FF2D2D"/>
          </a:solidFill>
          <a:ln/>
        </p:spPr>
        <p:txBody>
          <a:bodyPr/>
          <a:lstStyle/>
          <a:p>
            <a:endParaRPr lang="en-US"/>
          </a:p>
        </p:txBody>
      </p:sp>
      <p:sp>
        <p:nvSpPr>
          <p:cNvPr id="4" name="Text 2"/>
          <p:cNvSpPr/>
          <p:nvPr/>
        </p:nvSpPr>
        <p:spPr>
          <a:xfrm>
            <a:off x="952500" y="952500"/>
            <a:ext cx="3015119" cy="257175"/>
          </a:xfrm>
          <a:prstGeom prst="rect">
            <a:avLst/>
          </a:prstGeom>
          <a:noFill/>
          <a:ln/>
        </p:spPr>
        <p:txBody>
          <a:bodyPr wrap="square" lIns="25400" tIns="25400" rIns="25400" bIns="25400" rtlCol="0" anchor="t">
            <a:normAutofit lnSpcReduction="10000"/>
          </a:bodyPr>
          <a:lstStyle/>
          <a:p>
            <a:pPr marL="0" indent="0" algn="l">
              <a:buNone/>
            </a:pPr>
            <a:r>
              <a:rPr lang="en-US" sz="1500" kern="0" spc="225" dirty="0">
                <a:solidFill>
                  <a:srgbClr val="FF5A1F"/>
                </a:solidFill>
                <a:latin typeface="Arial" pitchFamily="34" charset="0"/>
                <a:ea typeface="Arial" pitchFamily="34" charset="-122"/>
                <a:cs typeface="Arial" pitchFamily="34" charset="-120"/>
              </a:rPr>
              <a:t>■ </a:t>
            </a:r>
            <a:r>
              <a:rPr lang="en-US" sz="1500" kern="0" spc="225" dirty="0">
                <a:solidFill>
                  <a:srgbClr val="9AA0AB"/>
                </a:solidFill>
                <a:latin typeface="Arial" pitchFamily="34" charset="0"/>
                <a:ea typeface="Arial" pitchFamily="34" charset="-122"/>
                <a:cs typeface="Arial" pitchFamily="34" charset="-120"/>
              </a:rPr>
              <a:t>ZERO SHOT HOPEFULS</a:t>
            </a:r>
            <a:endParaRPr lang="en-US" sz="1500" dirty="0"/>
          </a:p>
        </p:txBody>
      </p:sp>
      <p:sp>
        <p:nvSpPr>
          <p:cNvPr id="5" name="Text 3"/>
          <p:cNvSpPr/>
          <p:nvPr/>
        </p:nvSpPr>
        <p:spPr>
          <a:xfrm>
            <a:off x="16694944" y="952500"/>
            <a:ext cx="716756" cy="257175"/>
          </a:xfrm>
          <a:prstGeom prst="rect">
            <a:avLst/>
          </a:prstGeom>
          <a:noFill/>
          <a:ln/>
        </p:spPr>
        <p:txBody>
          <a:bodyPr wrap="square" lIns="25400" tIns="25400" rIns="25400" bIns="25400" rtlCol="0" anchor="t">
            <a:normAutofit lnSpcReduction="10000"/>
          </a:bodyPr>
          <a:lstStyle/>
          <a:p>
            <a:pPr marL="0" indent="0" algn="l">
              <a:buNone/>
            </a:pPr>
            <a:r>
              <a:rPr lang="en-US" sz="1500" kern="0" spc="225" dirty="0">
                <a:solidFill>
                  <a:srgbClr val="9AA0AB"/>
                </a:solidFill>
                <a:latin typeface="Arial" pitchFamily="34" charset="0"/>
                <a:ea typeface="Arial" pitchFamily="34" charset="-122"/>
                <a:cs typeface="Arial" pitchFamily="34" charset="-120"/>
              </a:rPr>
              <a:t>Q &amp; A</a:t>
            </a:r>
            <a:endParaRPr lang="en-US" sz="1500" dirty="0"/>
          </a:p>
        </p:txBody>
      </p:sp>
      <p:sp>
        <p:nvSpPr>
          <p:cNvPr id="6" name="Text 4"/>
          <p:cNvSpPr/>
          <p:nvPr/>
        </p:nvSpPr>
        <p:spPr>
          <a:xfrm>
            <a:off x="952500" y="2854672"/>
            <a:ext cx="16874490" cy="2720280"/>
          </a:xfrm>
          <a:prstGeom prst="rect">
            <a:avLst/>
          </a:prstGeom>
          <a:noFill/>
          <a:ln/>
        </p:spPr>
        <p:txBody>
          <a:bodyPr wrap="square" lIns="25400" tIns="25400" rIns="25400" bIns="25400" rtlCol="0" anchor="t">
            <a:normAutofit fontScale="92500" lnSpcReduction="20000"/>
          </a:bodyPr>
          <a:lstStyle/>
          <a:p>
            <a:pPr marL="0" indent="0" algn="l">
              <a:lnSpc>
                <a:spcPct val="88000"/>
              </a:lnSpc>
              <a:buNone/>
            </a:pPr>
            <a:r>
              <a:rPr lang="en-US" sz="24000" b="1" kern="0" spc="-1200" dirty="0">
                <a:solidFill>
                  <a:srgbClr val="F4EFE6"/>
                </a:solidFill>
                <a:latin typeface="Arial" pitchFamily="34" charset="0"/>
                <a:ea typeface="Arial" pitchFamily="34" charset="-122"/>
                <a:cs typeface="Arial" pitchFamily="34" charset="-120"/>
              </a:rPr>
              <a:t>Thank you.</a:t>
            </a:r>
            <a:endParaRPr lang="en-US" sz="24000" dirty="0"/>
          </a:p>
        </p:txBody>
      </p:sp>
      <p:sp>
        <p:nvSpPr>
          <p:cNvPr id="8" name="Shape 6"/>
          <p:cNvSpPr/>
          <p:nvPr/>
        </p:nvSpPr>
        <p:spPr>
          <a:xfrm>
            <a:off x="952500" y="8782050"/>
            <a:ext cx="176510" cy="266700"/>
          </a:xfrm>
          <a:prstGeom prst="roundRect">
            <a:avLst>
              <a:gd name="adj" fmla="val 5396"/>
            </a:avLst>
          </a:prstGeom>
          <a:solidFill>
            <a:srgbClr val="C9461A"/>
          </a:solidFill>
          <a:ln/>
        </p:spPr>
        <p:txBody>
          <a:bodyPr/>
          <a:lstStyle/>
          <a:p>
            <a:endParaRPr lang="en-US"/>
          </a:p>
        </p:txBody>
      </p:sp>
      <p:sp>
        <p:nvSpPr>
          <p:cNvPr id="9" name="Shape 7"/>
          <p:cNvSpPr/>
          <p:nvPr/>
        </p:nvSpPr>
        <p:spPr>
          <a:xfrm>
            <a:off x="1157585" y="8782050"/>
            <a:ext cx="176510" cy="266700"/>
          </a:xfrm>
          <a:prstGeom prst="roundRect">
            <a:avLst>
              <a:gd name="adj" fmla="val 5396"/>
            </a:avLst>
          </a:prstGeom>
          <a:solidFill>
            <a:srgbClr val="FF5A1F"/>
          </a:solidFill>
          <a:ln/>
        </p:spPr>
        <p:txBody>
          <a:bodyPr/>
          <a:lstStyle/>
          <a:p>
            <a:endParaRPr lang="en-US"/>
          </a:p>
        </p:txBody>
      </p:sp>
      <p:sp>
        <p:nvSpPr>
          <p:cNvPr id="10" name="Shape 8"/>
          <p:cNvSpPr/>
          <p:nvPr/>
        </p:nvSpPr>
        <p:spPr>
          <a:xfrm>
            <a:off x="1362670" y="8782050"/>
            <a:ext cx="176659" cy="266700"/>
          </a:xfrm>
          <a:prstGeom prst="roundRect">
            <a:avLst>
              <a:gd name="adj" fmla="val 5392"/>
            </a:avLst>
          </a:prstGeom>
          <a:solidFill>
            <a:srgbClr val="2A2F3A"/>
          </a:solidFill>
          <a:ln/>
        </p:spPr>
        <p:txBody>
          <a:bodyPr/>
          <a:lstStyle/>
          <a:p>
            <a:endParaRPr lang="en-US"/>
          </a:p>
        </p:txBody>
      </p:sp>
      <p:sp>
        <p:nvSpPr>
          <p:cNvPr id="11" name="Shape 9"/>
          <p:cNvSpPr/>
          <p:nvPr/>
        </p:nvSpPr>
        <p:spPr>
          <a:xfrm>
            <a:off x="1567904" y="8782050"/>
            <a:ext cx="176510" cy="266700"/>
          </a:xfrm>
          <a:prstGeom prst="roundRect">
            <a:avLst>
              <a:gd name="adj" fmla="val 5396"/>
            </a:avLst>
          </a:prstGeom>
          <a:solidFill>
            <a:srgbClr val="5C2A0E"/>
          </a:solidFill>
          <a:ln/>
        </p:spPr>
        <p:txBody>
          <a:bodyPr/>
          <a:lstStyle/>
          <a:p>
            <a:endParaRPr lang="en-US"/>
          </a:p>
        </p:txBody>
      </p:sp>
      <p:sp>
        <p:nvSpPr>
          <p:cNvPr id="12" name="Shape 10"/>
          <p:cNvSpPr/>
          <p:nvPr/>
        </p:nvSpPr>
        <p:spPr>
          <a:xfrm>
            <a:off x="1772989" y="8782050"/>
            <a:ext cx="176659" cy="266700"/>
          </a:xfrm>
          <a:prstGeom prst="roundRect">
            <a:avLst>
              <a:gd name="adj" fmla="val 5392"/>
            </a:avLst>
          </a:prstGeom>
          <a:solidFill>
            <a:srgbClr val="C9461A"/>
          </a:solidFill>
          <a:ln/>
        </p:spPr>
        <p:txBody>
          <a:bodyPr/>
          <a:lstStyle/>
          <a:p>
            <a:endParaRPr lang="en-US"/>
          </a:p>
        </p:txBody>
      </p:sp>
      <p:sp>
        <p:nvSpPr>
          <p:cNvPr id="13" name="Shape 11"/>
          <p:cNvSpPr/>
          <p:nvPr/>
        </p:nvSpPr>
        <p:spPr>
          <a:xfrm>
            <a:off x="1978223" y="8782050"/>
            <a:ext cx="176510" cy="266700"/>
          </a:xfrm>
          <a:prstGeom prst="roundRect">
            <a:avLst>
              <a:gd name="adj" fmla="val 5396"/>
            </a:avLst>
          </a:prstGeom>
          <a:solidFill>
            <a:srgbClr val="FF5A1F"/>
          </a:solidFill>
          <a:ln/>
        </p:spPr>
        <p:txBody>
          <a:bodyPr/>
          <a:lstStyle/>
          <a:p>
            <a:endParaRPr lang="en-US"/>
          </a:p>
        </p:txBody>
      </p:sp>
      <p:sp>
        <p:nvSpPr>
          <p:cNvPr id="14" name="Shape 12"/>
          <p:cNvSpPr/>
          <p:nvPr/>
        </p:nvSpPr>
        <p:spPr>
          <a:xfrm>
            <a:off x="2183309" y="8782050"/>
            <a:ext cx="176510" cy="266700"/>
          </a:xfrm>
          <a:prstGeom prst="roundRect">
            <a:avLst>
              <a:gd name="adj" fmla="val 5396"/>
            </a:avLst>
          </a:prstGeom>
          <a:solidFill>
            <a:srgbClr val="2A2F3A"/>
          </a:solidFill>
          <a:ln/>
        </p:spPr>
        <p:txBody>
          <a:bodyPr/>
          <a:lstStyle/>
          <a:p>
            <a:endParaRPr lang="en-US"/>
          </a:p>
        </p:txBody>
      </p:sp>
      <p:sp>
        <p:nvSpPr>
          <p:cNvPr id="15" name="Shape 13"/>
          <p:cNvSpPr/>
          <p:nvPr/>
        </p:nvSpPr>
        <p:spPr>
          <a:xfrm>
            <a:off x="2388394" y="8782050"/>
            <a:ext cx="176659" cy="266700"/>
          </a:xfrm>
          <a:prstGeom prst="roundRect">
            <a:avLst>
              <a:gd name="adj" fmla="val 5392"/>
            </a:avLst>
          </a:prstGeom>
          <a:solidFill>
            <a:srgbClr val="FFE08A"/>
          </a:solidFill>
          <a:ln/>
        </p:spPr>
        <p:txBody>
          <a:bodyPr/>
          <a:lstStyle/>
          <a:p>
            <a:endParaRPr lang="en-US"/>
          </a:p>
        </p:txBody>
      </p:sp>
      <p:sp>
        <p:nvSpPr>
          <p:cNvPr id="16" name="Shape 14"/>
          <p:cNvSpPr/>
          <p:nvPr/>
        </p:nvSpPr>
        <p:spPr>
          <a:xfrm>
            <a:off x="2593628" y="8782050"/>
            <a:ext cx="176510" cy="266700"/>
          </a:xfrm>
          <a:prstGeom prst="roundRect">
            <a:avLst>
              <a:gd name="adj" fmla="val 5396"/>
            </a:avLst>
          </a:prstGeom>
          <a:solidFill>
            <a:srgbClr val="FF5A1F"/>
          </a:solidFill>
          <a:ln/>
        </p:spPr>
        <p:txBody>
          <a:bodyPr/>
          <a:lstStyle/>
          <a:p>
            <a:endParaRPr lang="en-US"/>
          </a:p>
        </p:txBody>
      </p:sp>
      <p:sp>
        <p:nvSpPr>
          <p:cNvPr id="17" name="Shape 15"/>
          <p:cNvSpPr/>
          <p:nvPr/>
        </p:nvSpPr>
        <p:spPr>
          <a:xfrm>
            <a:off x="2798713" y="8782050"/>
            <a:ext cx="176659" cy="266700"/>
          </a:xfrm>
          <a:prstGeom prst="roundRect">
            <a:avLst>
              <a:gd name="adj" fmla="val 5392"/>
            </a:avLst>
          </a:prstGeom>
          <a:solidFill>
            <a:srgbClr val="C9461A"/>
          </a:solidFill>
          <a:ln/>
        </p:spPr>
        <p:txBody>
          <a:bodyPr/>
          <a:lstStyle/>
          <a:p>
            <a:endParaRPr lang="en-US"/>
          </a:p>
        </p:txBody>
      </p:sp>
      <p:sp>
        <p:nvSpPr>
          <p:cNvPr id="18" name="Shape 16"/>
          <p:cNvSpPr/>
          <p:nvPr/>
        </p:nvSpPr>
        <p:spPr>
          <a:xfrm>
            <a:off x="3003947" y="8782050"/>
            <a:ext cx="176510" cy="266700"/>
          </a:xfrm>
          <a:prstGeom prst="roundRect">
            <a:avLst>
              <a:gd name="adj" fmla="val 5396"/>
            </a:avLst>
          </a:prstGeom>
          <a:solidFill>
            <a:srgbClr val="5C2A0E"/>
          </a:solidFill>
          <a:ln/>
        </p:spPr>
        <p:txBody>
          <a:bodyPr/>
          <a:lstStyle/>
          <a:p>
            <a:endParaRPr lang="en-US"/>
          </a:p>
        </p:txBody>
      </p:sp>
      <p:sp>
        <p:nvSpPr>
          <p:cNvPr id="19" name="Shape 17"/>
          <p:cNvSpPr/>
          <p:nvPr/>
        </p:nvSpPr>
        <p:spPr>
          <a:xfrm>
            <a:off x="3209032" y="8782050"/>
            <a:ext cx="176510" cy="266700"/>
          </a:xfrm>
          <a:prstGeom prst="roundRect">
            <a:avLst>
              <a:gd name="adj" fmla="val 5396"/>
            </a:avLst>
          </a:prstGeom>
          <a:solidFill>
            <a:srgbClr val="FFB347"/>
          </a:solidFill>
          <a:ln/>
        </p:spPr>
        <p:txBody>
          <a:bodyPr/>
          <a:lstStyle/>
          <a:p>
            <a:endParaRPr lang="en-US"/>
          </a:p>
        </p:txBody>
      </p:sp>
      <p:sp>
        <p:nvSpPr>
          <p:cNvPr id="20" name="Shape 18"/>
          <p:cNvSpPr/>
          <p:nvPr/>
        </p:nvSpPr>
        <p:spPr>
          <a:xfrm>
            <a:off x="3414117" y="8782050"/>
            <a:ext cx="176659" cy="266700"/>
          </a:xfrm>
          <a:prstGeom prst="roundRect">
            <a:avLst>
              <a:gd name="adj" fmla="val 5392"/>
            </a:avLst>
          </a:prstGeom>
          <a:solidFill>
            <a:srgbClr val="FF5A1F"/>
          </a:solidFill>
          <a:ln/>
        </p:spPr>
        <p:txBody>
          <a:bodyPr/>
          <a:lstStyle/>
          <a:p>
            <a:endParaRPr lang="en-US"/>
          </a:p>
        </p:txBody>
      </p:sp>
      <p:sp>
        <p:nvSpPr>
          <p:cNvPr id="21" name="Shape 19"/>
          <p:cNvSpPr/>
          <p:nvPr/>
        </p:nvSpPr>
        <p:spPr>
          <a:xfrm>
            <a:off x="3619351" y="8782050"/>
            <a:ext cx="176510" cy="266700"/>
          </a:xfrm>
          <a:prstGeom prst="roundRect">
            <a:avLst>
              <a:gd name="adj" fmla="val 5396"/>
            </a:avLst>
          </a:prstGeom>
          <a:solidFill>
            <a:srgbClr val="2A2F3A"/>
          </a:solidFill>
          <a:ln/>
        </p:spPr>
        <p:txBody>
          <a:bodyPr/>
          <a:lstStyle/>
          <a:p>
            <a:endParaRPr lang="en-US"/>
          </a:p>
        </p:txBody>
      </p:sp>
      <p:sp>
        <p:nvSpPr>
          <p:cNvPr id="22" name="Shape 20"/>
          <p:cNvSpPr/>
          <p:nvPr/>
        </p:nvSpPr>
        <p:spPr>
          <a:xfrm>
            <a:off x="3824436" y="8782050"/>
            <a:ext cx="176659" cy="266700"/>
          </a:xfrm>
          <a:prstGeom prst="roundRect">
            <a:avLst>
              <a:gd name="adj" fmla="val 5392"/>
            </a:avLst>
          </a:prstGeom>
          <a:solidFill>
            <a:srgbClr val="C9461A"/>
          </a:solidFill>
          <a:ln/>
        </p:spPr>
        <p:txBody>
          <a:bodyPr/>
          <a:lstStyle/>
          <a:p>
            <a:endParaRPr lang="en-US"/>
          </a:p>
        </p:txBody>
      </p:sp>
      <p:sp>
        <p:nvSpPr>
          <p:cNvPr id="23" name="Shape 21"/>
          <p:cNvSpPr/>
          <p:nvPr/>
        </p:nvSpPr>
        <p:spPr>
          <a:xfrm>
            <a:off x="4029670" y="8782050"/>
            <a:ext cx="176510" cy="266700"/>
          </a:xfrm>
          <a:prstGeom prst="roundRect">
            <a:avLst>
              <a:gd name="adj" fmla="val 5396"/>
            </a:avLst>
          </a:prstGeom>
          <a:solidFill>
            <a:srgbClr val="5C2A0E"/>
          </a:solidFill>
          <a:ln/>
        </p:spPr>
        <p:txBody>
          <a:bodyPr/>
          <a:lstStyle/>
          <a:p>
            <a:endParaRPr lang="en-US"/>
          </a:p>
        </p:txBody>
      </p:sp>
      <p:sp>
        <p:nvSpPr>
          <p:cNvPr id="24" name="Shape 22"/>
          <p:cNvSpPr/>
          <p:nvPr/>
        </p:nvSpPr>
        <p:spPr>
          <a:xfrm>
            <a:off x="4234755" y="8782050"/>
            <a:ext cx="176510" cy="266700"/>
          </a:xfrm>
          <a:prstGeom prst="roundRect">
            <a:avLst>
              <a:gd name="adj" fmla="val 5396"/>
            </a:avLst>
          </a:prstGeom>
          <a:solidFill>
            <a:srgbClr val="FFB347"/>
          </a:solidFill>
          <a:ln/>
        </p:spPr>
        <p:txBody>
          <a:bodyPr/>
          <a:lstStyle/>
          <a:p>
            <a:endParaRPr lang="en-US"/>
          </a:p>
        </p:txBody>
      </p:sp>
      <p:sp>
        <p:nvSpPr>
          <p:cNvPr id="25" name="Shape 23"/>
          <p:cNvSpPr/>
          <p:nvPr/>
        </p:nvSpPr>
        <p:spPr>
          <a:xfrm>
            <a:off x="4439841" y="8782050"/>
            <a:ext cx="176659" cy="266700"/>
          </a:xfrm>
          <a:prstGeom prst="roundRect">
            <a:avLst>
              <a:gd name="adj" fmla="val 5392"/>
            </a:avLst>
          </a:prstGeom>
          <a:solidFill>
            <a:srgbClr val="2A2F3A"/>
          </a:solidFill>
          <a:ln/>
        </p:spPr>
        <p:txBody>
          <a:bodyPr/>
          <a:lstStyle/>
          <a:p>
            <a:endParaRPr lang="en-US"/>
          </a:p>
        </p:txBody>
      </p:sp>
      <p:sp>
        <p:nvSpPr>
          <p:cNvPr id="26" name="Shape 24"/>
          <p:cNvSpPr/>
          <p:nvPr/>
        </p:nvSpPr>
        <p:spPr>
          <a:xfrm>
            <a:off x="4645075" y="8782050"/>
            <a:ext cx="176510" cy="266700"/>
          </a:xfrm>
          <a:prstGeom prst="roundRect">
            <a:avLst>
              <a:gd name="adj" fmla="val 5396"/>
            </a:avLst>
          </a:prstGeom>
          <a:solidFill>
            <a:srgbClr val="FF5A1F"/>
          </a:solidFill>
          <a:ln/>
        </p:spPr>
        <p:txBody>
          <a:bodyPr/>
          <a:lstStyle/>
          <a:p>
            <a:endParaRPr lang="en-US"/>
          </a:p>
        </p:txBody>
      </p:sp>
      <p:sp>
        <p:nvSpPr>
          <p:cNvPr id="27" name="Shape 25"/>
          <p:cNvSpPr/>
          <p:nvPr/>
        </p:nvSpPr>
        <p:spPr>
          <a:xfrm>
            <a:off x="4850160" y="8782050"/>
            <a:ext cx="176659" cy="266700"/>
          </a:xfrm>
          <a:prstGeom prst="roundRect">
            <a:avLst>
              <a:gd name="adj" fmla="val 5392"/>
            </a:avLst>
          </a:prstGeom>
          <a:solidFill>
            <a:srgbClr val="C9461A"/>
          </a:solidFill>
          <a:ln/>
        </p:spPr>
        <p:txBody>
          <a:bodyPr/>
          <a:lstStyle/>
          <a:p>
            <a:endParaRPr lang="en-US"/>
          </a:p>
        </p:txBody>
      </p:sp>
      <p:sp>
        <p:nvSpPr>
          <p:cNvPr id="28" name="Shape 26"/>
          <p:cNvSpPr/>
          <p:nvPr/>
        </p:nvSpPr>
        <p:spPr>
          <a:xfrm>
            <a:off x="5055394" y="8782050"/>
            <a:ext cx="176510" cy="266700"/>
          </a:xfrm>
          <a:prstGeom prst="roundRect">
            <a:avLst>
              <a:gd name="adj" fmla="val 5396"/>
            </a:avLst>
          </a:prstGeom>
          <a:solidFill>
            <a:srgbClr val="5C2A0E"/>
          </a:solidFill>
          <a:ln/>
        </p:spPr>
        <p:txBody>
          <a:bodyPr/>
          <a:lstStyle/>
          <a:p>
            <a:endParaRPr lang="en-US"/>
          </a:p>
        </p:txBody>
      </p:sp>
      <p:sp>
        <p:nvSpPr>
          <p:cNvPr id="29" name="Shape 27"/>
          <p:cNvSpPr/>
          <p:nvPr/>
        </p:nvSpPr>
        <p:spPr>
          <a:xfrm>
            <a:off x="5260479" y="8782050"/>
            <a:ext cx="176510" cy="266700"/>
          </a:xfrm>
          <a:prstGeom prst="roundRect">
            <a:avLst>
              <a:gd name="adj" fmla="val 5396"/>
            </a:avLst>
          </a:prstGeom>
          <a:solidFill>
            <a:srgbClr val="2A2F3A"/>
          </a:solidFill>
          <a:ln/>
        </p:spPr>
        <p:txBody>
          <a:bodyPr/>
          <a:lstStyle/>
          <a:p>
            <a:endParaRPr lang="en-US"/>
          </a:p>
        </p:txBody>
      </p:sp>
      <p:sp>
        <p:nvSpPr>
          <p:cNvPr id="30" name="Shape 28"/>
          <p:cNvSpPr/>
          <p:nvPr/>
        </p:nvSpPr>
        <p:spPr>
          <a:xfrm>
            <a:off x="5465564" y="8782050"/>
            <a:ext cx="176659" cy="266700"/>
          </a:xfrm>
          <a:prstGeom prst="roundRect">
            <a:avLst>
              <a:gd name="adj" fmla="val 5392"/>
            </a:avLst>
          </a:prstGeom>
          <a:solidFill>
            <a:srgbClr val="FFE08A"/>
          </a:solidFill>
          <a:ln/>
        </p:spPr>
        <p:txBody>
          <a:bodyPr/>
          <a:lstStyle/>
          <a:p>
            <a:endParaRPr lang="en-US"/>
          </a:p>
        </p:txBody>
      </p:sp>
      <p:sp>
        <p:nvSpPr>
          <p:cNvPr id="31" name="Shape 29"/>
          <p:cNvSpPr/>
          <p:nvPr/>
        </p:nvSpPr>
        <p:spPr>
          <a:xfrm>
            <a:off x="5670798" y="8782050"/>
            <a:ext cx="176510" cy="266700"/>
          </a:xfrm>
          <a:prstGeom prst="roundRect">
            <a:avLst>
              <a:gd name="adj" fmla="val 5396"/>
            </a:avLst>
          </a:prstGeom>
          <a:solidFill>
            <a:srgbClr val="FFE08A"/>
          </a:solidFill>
          <a:ln/>
        </p:spPr>
        <p:txBody>
          <a:bodyPr/>
          <a:lstStyle/>
          <a:p>
            <a:endParaRPr lang="en-US"/>
          </a:p>
        </p:txBody>
      </p:sp>
      <p:sp>
        <p:nvSpPr>
          <p:cNvPr id="32" name="Shape 30"/>
          <p:cNvSpPr/>
          <p:nvPr/>
        </p:nvSpPr>
        <p:spPr>
          <a:xfrm>
            <a:off x="5875883" y="8782050"/>
            <a:ext cx="176659" cy="266700"/>
          </a:xfrm>
          <a:prstGeom prst="roundRect">
            <a:avLst>
              <a:gd name="adj" fmla="val 5392"/>
            </a:avLst>
          </a:prstGeom>
          <a:solidFill>
            <a:srgbClr val="2A2F3A"/>
          </a:solidFill>
          <a:ln/>
        </p:spPr>
        <p:txBody>
          <a:bodyPr/>
          <a:lstStyle/>
          <a:p>
            <a:endParaRPr lang="en-US"/>
          </a:p>
        </p:txBody>
      </p:sp>
      <p:sp>
        <p:nvSpPr>
          <p:cNvPr id="33" name="Shape 31"/>
          <p:cNvSpPr/>
          <p:nvPr/>
        </p:nvSpPr>
        <p:spPr>
          <a:xfrm>
            <a:off x="6081117" y="8782050"/>
            <a:ext cx="176510" cy="266700"/>
          </a:xfrm>
          <a:prstGeom prst="roundRect">
            <a:avLst>
              <a:gd name="adj" fmla="val 5396"/>
            </a:avLst>
          </a:prstGeom>
          <a:solidFill>
            <a:srgbClr val="C9461A"/>
          </a:solidFill>
          <a:ln/>
        </p:spPr>
        <p:txBody>
          <a:bodyPr/>
          <a:lstStyle/>
          <a:p>
            <a:endParaRPr lang="en-US"/>
          </a:p>
        </p:txBody>
      </p:sp>
      <p:sp>
        <p:nvSpPr>
          <p:cNvPr id="34" name="Shape 32"/>
          <p:cNvSpPr/>
          <p:nvPr/>
        </p:nvSpPr>
        <p:spPr>
          <a:xfrm>
            <a:off x="6286202" y="8782050"/>
            <a:ext cx="176510" cy="266700"/>
          </a:xfrm>
          <a:prstGeom prst="roundRect">
            <a:avLst>
              <a:gd name="adj" fmla="val 5396"/>
            </a:avLst>
          </a:prstGeom>
          <a:solidFill>
            <a:srgbClr val="FFE08A"/>
          </a:solidFill>
          <a:ln/>
        </p:spPr>
        <p:txBody>
          <a:bodyPr/>
          <a:lstStyle/>
          <a:p>
            <a:endParaRPr lang="en-US"/>
          </a:p>
        </p:txBody>
      </p:sp>
      <p:sp>
        <p:nvSpPr>
          <p:cNvPr id="35" name="Shape 33"/>
          <p:cNvSpPr/>
          <p:nvPr/>
        </p:nvSpPr>
        <p:spPr>
          <a:xfrm>
            <a:off x="6491288" y="8782050"/>
            <a:ext cx="176659" cy="266700"/>
          </a:xfrm>
          <a:prstGeom prst="roundRect">
            <a:avLst>
              <a:gd name="adj" fmla="val 5392"/>
            </a:avLst>
          </a:prstGeom>
          <a:solidFill>
            <a:srgbClr val="5C2A0E"/>
          </a:solidFill>
          <a:ln/>
        </p:spPr>
        <p:txBody>
          <a:bodyPr/>
          <a:lstStyle/>
          <a:p>
            <a:endParaRPr lang="en-US"/>
          </a:p>
        </p:txBody>
      </p:sp>
      <p:sp>
        <p:nvSpPr>
          <p:cNvPr id="36" name="Shape 34"/>
          <p:cNvSpPr/>
          <p:nvPr/>
        </p:nvSpPr>
        <p:spPr>
          <a:xfrm>
            <a:off x="6696521" y="8782050"/>
            <a:ext cx="176510" cy="266700"/>
          </a:xfrm>
          <a:prstGeom prst="roundRect">
            <a:avLst>
              <a:gd name="adj" fmla="val 5396"/>
            </a:avLst>
          </a:prstGeom>
          <a:solidFill>
            <a:srgbClr val="C9461A"/>
          </a:solidFill>
          <a:ln/>
        </p:spPr>
        <p:txBody>
          <a:bodyPr/>
          <a:lstStyle/>
          <a:p>
            <a:endParaRPr lang="en-US"/>
          </a:p>
        </p:txBody>
      </p:sp>
      <p:sp>
        <p:nvSpPr>
          <p:cNvPr id="37" name="Shape 35"/>
          <p:cNvSpPr/>
          <p:nvPr/>
        </p:nvSpPr>
        <p:spPr>
          <a:xfrm>
            <a:off x="6901607" y="8782050"/>
            <a:ext cx="176659" cy="266700"/>
          </a:xfrm>
          <a:prstGeom prst="roundRect">
            <a:avLst>
              <a:gd name="adj" fmla="val 5392"/>
            </a:avLst>
          </a:prstGeom>
          <a:solidFill>
            <a:srgbClr val="FF5A1F"/>
          </a:solidFill>
          <a:ln/>
        </p:spPr>
        <p:txBody>
          <a:bodyPr/>
          <a:lstStyle/>
          <a:p>
            <a:endParaRPr lang="en-US"/>
          </a:p>
        </p:txBody>
      </p:sp>
      <p:sp>
        <p:nvSpPr>
          <p:cNvPr id="38" name="Shape 36"/>
          <p:cNvSpPr/>
          <p:nvPr/>
        </p:nvSpPr>
        <p:spPr>
          <a:xfrm>
            <a:off x="7106841" y="8782050"/>
            <a:ext cx="176510" cy="266700"/>
          </a:xfrm>
          <a:prstGeom prst="roundRect">
            <a:avLst>
              <a:gd name="adj" fmla="val 5396"/>
            </a:avLst>
          </a:prstGeom>
          <a:solidFill>
            <a:srgbClr val="FFB347"/>
          </a:solidFill>
          <a:ln/>
        </p:spPr>
        <p:txBody>
          <a:bodyPr/>
          <a:lstStyle/>
          <a:p>
            <a:endParaRPr lang="en-US"/>
          </a:p>
        </p:txBody>
      </p:sp>
      <p:sp>
        <p:nvSpPr>
          <p:cNvPr id="39" name="Shape 37"/>
          <p:cNvSpPr/>
          <p:nvPr/>
        </p:nvSpPr>
        <p:spPr>
          <a:xfrm>
            <a:off x="7311926" y="8782050"/>
            <a:ext cx="176510" cy="266700"/>
          </a:xfrm>
          <a:prstGeom prst="roundRect">
            <a:avLst>
              <a:gd name="adj" fmla="val 5396"/>
            </a:avLst>
          </a:prstGeom>
          <a:solidFill>
            <a:srgbClr val="5C2A0E"/>
          </a:solidFill>
          <a:ln/>
        </p:spPr>
        <p:txBody>
          <a:bodyPr/>
          <a:lstStyle/>
          <a:p>
            <a:endParaRPr lang="en-US"/>
          </a:p>
        </p:txBody>
      </p:sp>
      <p:sp>
        <p:nvSpPr>
          <p:cNvPr id="40" name="Shape 38"/>
          <p:cNvSpPr/>
          <p:nvPr/>
        </p:nvSpPr>
        <p:spPr>
          <a:xfrm>
            <a:off x="7517011" y="8782050"/>
            <a:ext cx="176659" cy="266700"/>
          </a:xfrm>
          <a:prstGeom prst="roundRect">
            <a:avLst>
              <a:gd name="adj" fmla="val 5392"/>
            </a:avLst>
          </a:prstGeom>
          <a:solidFill>
            <a:srgbClr val="5C2A0E"/>
          </a:solidFill>
          <a:ln/>
        </p:spPr>
        <p:txBody>
          <a:bodyPr/>
          <a:lstStyle/>
          <a:p>
            <a:endParaRPr lang="en-US"/>
          </a:p>
        </p:txBody>
      </p:sp>
      <p:sp>
        <p:nvSpPr>
          <p:cNvPr id="41" name="Shape 39"/>
          <p:cNvSpPr/>
          <p:nvPr/>
        </p:nvSpPr>
        <p:spPr>
          <a:xfrm>
            <a:off x="7722245" y="8782050"/>
            <a:ext cx="176510" cy="266700"/>
          </a:xfrm>
          <a:prstGeom prst="roundRect">
            <a:avLst>
              <a:gd name="adj" fmla="val 5396"/>
            </a:avLst>
          </a:prstGeom>
          <a:solidFill>
            <a:srgbClr val="FFE08A"/>
          </a:solidFill>
          <a:ln/>
        </p:spPr>
        <p:txBody>
          <a:bodyPr/>
          <a:lstStyle/>
          <a:p>
            <a:endParaRPr lang="en-US"/>
          </a:p>
        </p:txBody>
      </p:sp>
      <p:sp>
        <p:nvSpPr>
          <p:cNvPr id="42" name="Shape 40"/>
          <p:cNvSpPr/>
          <p:nvPr/>
        </p:nvSpPr>
        <p:spPr>
          <a:xfrm>
            <a:off x="7927330" y="8782050"/>
            <a:ext cx="176659" cy="266700"/>
          </a:xfrm>
          <a:prstGeom prst="roundRect">
            <a:avLst>
              <a:gd name="adj" fmla="val 5392"/>
            </a:avLst>
          </a:prstGeom>
          <a:solidFill>
            <a:srgbClr val="C9461A"/>
          </a:solidFill>
          <a:ln/>
        </p:spPr>
        <p:txBody>
          <a:bodyPr/>
          <a:lstStyle/>
          <a:p>
            <a:endParaRPr lang="en-US"/>
          </a:p>
        </p:txBody>
      </p:sp>
      <p:sp>
        <p:nvSpPr>
          <p:cNvPr id="43" name="Shape 41"/>
          <p:cNvSpPr/>
          <p:nvPr/>
        </p:nvSpPr>
        <p:spPr>
          <a:xfrm>
            <a:off x="8132564" y="8782050"/>
            <a:ext cx="176510" cy="266700"/>
          </a:xfrm>
          <a:prstGeom prst="roundRect">
            <a:avLst>
              <a:gd name="adj" fmla="val 5396"/>
            </a:avLst>
          </a:prstGeom>
          <a:solidFill>
            <a:srgbClr val="5C2A0E"/>
          </a:solidFill>
          <a:ln/>
        </p:spPr>
        <p:txBody>
          <a:bodyPr/>
          <a:lstStyle/>
          <a:p>
            <a:endParaRPr lang="en-US"/>
          </a:p>
        </p:txBody>
      </p:sp>
      <p:sp>
        <p:nvSpPr>
          <p:cNvPr id="44" name="Shape 42"/>
          <p:cNvSpPr/>
          <p:nvPr/>
        </p:nvSpPr>
        <p:spPr>
          <a:xfrm>
            <a:off x="8337649" y="8782050"/>
            <a:ext cx="176510" cy="266700"/>
          </a:xfrm>
          <a:prstGeom prst="roundRect">
            <a:avLst>
              <a:gd name="adj" fmla="val 5396"/>
            </a:avLst>
          </a:prstGeom>
          <a:solidFill>
            <a:srgbClr val="FF5A1F"/>
          </a:solidFill>
          <a:ln/>
        </p:spPr>
        <p:txBody>
          <a:bodyPr/>
          <a:lstStyle/>
          <a:p>
            <a:endParaRPr lang="en-US"/>
          </a:p>
        </p:txBody>
      </p:sp>
      <p:sp>
        <p:nvSpPr>
          <p:cNvPr id="45" name="Shape 43"/>
          <p:cNvSpPr/>
          <p:nvPr/>
        </p:nvSpPr>
        <p:spPr>
          <a:xfrm>
            <a:off x="8542734" y="8782050"/>
            <a:ext cx="176659" cy="266700"/>
          </a:xfrm>
          <a:prstGeom prst="roundRect">
            <a:avLst>
              <a:gd name="adj" fmla="val 5392"/>
            </a:avLst>
          </a:prstGeom>
          <a:solidFill>
            <a:srgbClr val="5C2A0E"/>
          </a:solidFill>
          <a:ln/>
        </p:spPr>
        <p:txBody>
          <a:bodyPr/>
          <a:lstStyle/>
          <a:p>
            <a:endParaRPr lang="en-US"/>
          </a:p>
        </p:txBody>
      </p:sp>
      <p:sp>
        <p:nvSpPr>
          <p:cNvPr id="46" name="Shape 44"/>
          <p:cNvSpPr/>
          <p:nvPr/>
        </p:nvSpPr>
        <p:spPr>
          <a:xfrm>
            <a:off x="8747968" y="8782050"/>
            <a:ext cx="176510" cy="266700"/>
          </a:xfrm>
          <a:prstGeom prst="roundRect">
            <a:avLst>
              <a:gd name="adj" fmla="val 5396"/>
            </a:avLst>
          </a:prstGeom>
          <a:solidFill>
            <a:srgbClr val="2A2F3A"/>
          </a:solidFill>
          <a:ln/>
        </p:spPr>
        <p:txBody>
          <a:bodyPr/>
          <a:lstStyle/>
          <a:p>
            <a:endParaRPr lang="en-US"/>
          </a:p>
        </p:txBody>
      </p:sp>
      <p:sp>
        <p:nvSpPr>
          <p:cNvPr id="47" name="Shape 45"/>
          <p:cNvSpPr/>
          <p:nvPr/>
        </p:nvSpPr>
        <p:spPr>
          <a:xfrm>
            <a:off x="8953054" y="8782050"/>
            <a:ext cx="176659" cy="266700"/>
          </a:xfrm>
          <a:prstGeom prst="roundRect">
            <a:avLst>
              <a:gd name="adj" fmla="val 5392"/>
            </a:avLst>
          </a:prstGeom>
          <a:solidFill>
            <a:srgbClr val="FFB347"/>
          </a:solidFill>
          <a:ln/>
        </p:spPr>
        <p:txBody>
          <a:bodyPr/>
          <a:lstStyle/>
          <a:p>
            <a:endParaRPr lang="en-US"/>
          </a:p>
        </p:txBody>
      </p:sp>
      <p:sp>
        <p:nvSpPr>
          <p:cNvPr id="48" name="Shape 46"/>
          <p:cNvSpPr/>
          <p:nvPr/>
        </p:nvSpPr>
        <p:spPr>
          <a:xfrm>
            <a:off x="9158288" y="8782050"/>
            <a:ext cx="176510" cy="266700"/>
          </a:xfrm>
          <a:prstGeom prst="roundRect">
            <a:avLst>
              <a:gd name="adj" fmla="val 5396"/>
            </a:avLst>
          </a:prstGeom>
          <a:solidFill>
            <a:srgbClr val="C9461A"/>
          </a:solidFill>
          <a:ln/>
        </p:spPr>
        <p:txBody>
          <a:bodyPr/>
          <a:lstStyle/>
          <a:p>
            <a:endParaRPr lang="en-US"/>
          </a:p>
        </p:txBody>
      </p:sp>
      <p:sp>
        <p:nvSpPr>
          <p:cNvPr id="49" name="Shape 47"/>
          <p:cNvSpPr/>
          <p:nvPr/>
        </p:nvSpPr>
        <p:spPr>
          <a:xfrm>
            <a:off x="9363373" y="8782050"/>
            <a:ext cx="176510" cy="266700"/>
          </a:xfrm>
          <a:prstGeom prst="roundRect">
            <a:avLst>
              <a:gd name="adj" fmla="val 5396"/>
            </a:avLst>
          </a:prstGeom>
          <a:solidFill>
            <a:srgbClr val="C9461A"/>
          </a:solidFill>
          <a:ln/>
        </p:spPr>
        <p:txBody>
          <a:bodyPr/>
          <a:lstStyle/>
          <a:p>
            <a:endParaRPr lang="en-US"/>
          </a:p>
        </p:txBody>
      </p:sp>
      <p:sp>
        <p:nvSpPr>
          <p:cNvPr id="50" name="Shape 48"/>
          <p:cNvSpPr/>
          <p:nvPr/>
        </p:nvSpPr>
        <p:spPr>
          <a:xfrm>
            <a:off x="9568458" y="8782050"/>
            <a:ext cx="176659" cy="266700"/>
          </a:xfrm>
          <a:prstGeom prst="roundRect">
            <a:avLst>
              <a:gd name="adj" fmla="val 5392"/>
            </a:avLst>
          </a:prstGeom>
          <a:solidFill>
            <a:srgbClr val="2A2F3A"/>
          </a:solidFill>
          <a:ln/>
        </p:spPr>
        <p:txBody>
          <a:bodyPr/>
          <a:lstStyle/>
          <a:p>
            <a:endParaRPr lang="en-US"/>
          </a:p>
        </p:txBody>
      </p:sp>
      <p:sp>
        <p:nvSpPr>
          <p:cNvPr id="51" name="Shape 49"/>
          <p:cNvSpPr/>
          <p:nvPr/>
        </p:nvSpPr>
        <p:spPr>
          <a:xfrm>
            <a:off x="9773692" y="8782050"/>
            <a:ext cx="176510" cy="266700"/>
          </a:xfrm>
          <a:prstGeom prst="roundRect">
            <a:avLst>
              <a:gd name="adj" fmla="val 5396"/>
            </a:avLst>
          </a:prstGeom>
          <a:solidFill>
            <a:srgbClr val="FFE08A"/>
          </a:solidFill>
          <a:ln/>
        </p:spPr>
        <p:txBody>
          <a:bodyPr/>
          <a:lstStyle/>
          <a:p>
            <a:endParaRPr lang="en-US"/>
          </a:p>
        </p:txBody>
      </p:sp>
      <p:sp>
        <p:nvSpPr>
          <p:cNvPr id="52" name="Shape 50"/>
          <p:cNvSpPr/>
          <p:nvPr/>
        </p:nvSpPr>
        <p:spPr>
          <a:xfrm>
            <a:off x="9978777" y="8782050"/>
            <a:ext cx="176659" cy="266700"/>
          </a:xfrm>
          <a:prstGeom prst="roundRect">
            <a:avLst>
              <a:gd name="adj" fmla="val 5392"/>
            </a:avLst>
          </a:prstGeom>
          <a:solidFill>
            <a:srgbClr val="5C2A0E"/>
          </a:solidFill>
          <a:ln/>
        </p:spPr>
        <p:txBody>
          <a:bodyPr/>
          <a:lstStyle/>
          <a:p>
            <a:endParaRPr lang="en-US"/>
          </a:p>
        </p:txBody>
      </p:sp>
      <p:sp>
        <p:nvSpPr>
          <p:cNvPr id="53" name="Shape 51"/>
          <p:cNvSpPr/>
          <p:nvPr/>
        </p:nvSpPr>
        <p:spPr>
          <a:xfrm>
            <a:off x="10184011" y="8782050"/>
            <a:ext cx="176510" cy="266700"/>
          </a:xfrm>
          <a:prstGeom prst="roundRect">
            <a:avLst>
              <a:gd name="adj" fmla="val 5396"/>
            </a:avLst>
          </a:prstGeom>
          <a:solidFill>
            <a:srgbClr val="FFE08A"/>
          </a:solidFill>
          <a:ln/>
        </p:spPr>
        <p:txBody>
          <a:bodyPr/>
          <a:lstStyle/>
          <a:p>
            <a:endParaRPr lang="en-US"/>
          </a:p>
        </p:txBody>
      </p:sp>
      <p:sp>
        <p:nvSpPr>
          <p:cNvPr id="54" name="Shape 52"/>
          <p:cNvSpPr/>
          <p:nvPr/>
        </p:nvSpPr>
        <p:spPr>
          <a:xfrm>
            <a:off x="10389096" y="8782050"/>
            <a:ext cx="176510" cy="266700"/>
          </a:xfrm>
          <a:prstGeom prst="roundRect">
            <a:avLst>
              <a:gd name="adj" fmla="val 5396"/>
            </a:avLst>
          </a:prstGeom>
          <a:solidFill>
            <a:srgbClr val="C9461A"/>
          </a:solidFill>
          <a:ln/>
        </p:spPr>
        <p:txBody>
          <a:bodyPr/>
          <a:lstStyle/>
          <a:p>
            <a:endParaRPr lang="en-US"/>
          </a:p>
        </p:txBody>
      </p:sp>
      <p:sp>
        <p:nvSpPr>
          <p:cNvPr id="55" name="Shape 53"/>
          <p:cNvSpPr/>
          <p:nvPr/>
        </p:nvSpPr>
        <p:spPr>
          <a:xfrm>
            <a:off x="10594181" y="8782050"/>
            <a:ext cx="176659" cy="266700"/>
          </a:xfrm>
          <a:prstGeom prst="roundRect">
            <a:avLst>
              <a:gd name="adj" fmla="val 5392"/>
            </a:avLst>
          </a:prstGeom>
          <a:solidFill>
            <a:srgbClr val="5C2A0E"/>
          </a:solidFill>
          <a:ln/>
        </p:spPr>
        <p:txBody>
          <a:bodyPr/>
          <a:lstStyle/>
          <a:p>
            <a:endParaRPr lang="en-US"/>
          </a:p>
        </p:txBody>
      </p:sp>
      <p:sp>
        <p:nvSpPr>
          <p:cNvPr id="56" name="Shape 54"/>
          <p:cNvSpPr/>
          <p:nvPr/>
        </p:nvSpPr>
        <p:spPr>
          <a:xfrm>
            <a:off x="10799415" y="8782050"/>
            <a:ext cx="176510" cy="266700"/>
          </a:xfrm>
          <a:prstGeom prst="roundRect">
            <a:avLst>
              <a:gd name="adj" fmla="val 5396"/>
            </a:avLst>
          </a:prstGeom>
          <a:solidFill>
            <a:srgbClr val="FF5A1F"/>
          </a:solidFill>
          <a:ln/>
        </p:spPr>
        <p:txBody>
          <a:bodyPr/>
          <a:lstStyle/>
          <a:p>
            <a:endParaRPr lang="en-US"/>
          </a:p>
        </p:txBody>
      </p:sp>
      <p:sp>
        <p:nvSpPr>
          <p:cNvPr id="57" name="Shape 55"/>
          <p:cNvSpPr/>
          <p:nvPr/>
        </p:nvSpPr>
        <p:spPr>
          <a:xfrm>
            <a:off x="11004500" y="8782050"/>
            <a:ext cx="176659" cy="266700"/>
          </a:xfrm>
          <a:prstGeom prst="roundRect">
            <a:avLst>
              <a:gd name="adj" fmla="val 5392"/>
            </a:avLst>
          </a:prstGeom>
          <a:solidFill>
            <a:srgbClr val="C9461A"/>
          </a:solidFill>
          <a:ln/>
        </p:spPr>
        <p:txBody>
          <a:bodyPr/>
          <a:lstStyle/>
          <a:p>
            <a:endParaRPr lang="en-US"/>
          </a:p>
        </p:txBody>
      </p:sp>
      <p:sp>
        <p:nvSpPr>
          <p:cNvPr id="58" name="Shape 56"/>
          <p:cNvSpPr/>
          <p:nvPr/>
        </p:nvSpPr>
        <p:spPr>
          <a:xfrm>
            <a:off x="11209734" y="8782050"/>
            <a:ext cx="176510" cy="266700"/>
          </a:xfrm>
          <a:prstGeom prst="roundRect">
            <a:avLst>
              <a:gd name="adj" fmla="val 5396"/>
            </a:avLst>
          </a:prstGeom>
          <a:solidFill>
            <a:srgbClr val="FFB347"/>
          </a:solidFill>
          <a:ln/>
        </p:spPr>
        <p:txBody>
          <a:bodyPr/>
          <a:lstStyle/>
          <a:p>
            <a:endParaRPr lang="en-US"/>
          </a:p>
        </p:txBody>
      </p:sp>
      <p:sp>
        <p:nvSpPr>
          <p:cNvPr id="59" name="Shape 57"/>
          <p:cNvSpPr/>
          <p:nvPr/>
        </p:nvSpPr>
        <p:spPr>
          <a:xfrm>
            <a:off x="11414820" y="8782050"/>
            <a:ext cx="176510" cy="266700"/>
          </a:xfrm>
          <a:prstGeom prst="roundRect">
            <a:avLst>
              <a:gd name="adj" fmla="val 5396"/>
            </a:avLst>
          </a:prstGeom>
          <a:solidFill>
            <a:srgbClr val="FF5A1F"/>
          </a:solidFill>
          <a:ln/>
        </p:spPr>
        <p:txBody>
          <a:bodyPr/>
          <a:lstStyle/>
          <a:p>
            <a:endParaRPr lang="en-US"/>
          </a:p>
        </p:txBody>
      </p:sp>
      <p:sp>
        <p:nvSpPr>
          <p:cNvPr id="60" name="Shape 58"/>
          <p:cNvSpPr/>
          <p:nvPr/>
        </p:nvSpPr>
        <p:spPr>
          <a:xfrm>
            <a:off x="11619905" y="8782050"/>
            <a:ext cx="176659" cy="266700"/>
          </a:xfrm>
          <a:prstGeom prst="roundRect">
            <a:avLst>
              <a:gd name="adj" fmla="val 5392"/>
            </a:avLst>
          </a:prstGeom>
          <a:solidFill>
            <a:srgbClr val="2A2F3A"/>
          </a:solidFill>
          <a:ln/>
        </p:spPr>
        <p:txBody>
          <a:bodyPr/>
          <a:lstStyle/>
          <a:p>
            <a:endParaRPr lang="en-US"/>
          </a:p>
        </p:txBody>
      </p:sp>
      <p:sp>
        <p:nvSpPr>
          <p:cNvPr id="61" name="Shape 59"/>
          <p:cNvSpPr/>
          <p:nvPr/>
        </p:nvSpPr>
        <p:spPr>
          <a:xfrm>
            <a:off x="11825139" y="8782050"/>
            <a:ext cx="176510" cy="266700"/>
          </a:xfrm>
          <a:prstGeom prst="roundRect">
            <a:avLst>
              <a:gd name="adj" fmla="val 5396"/>
            </a:avLst>
          </a:prstGeom>
          <a:solidFill>
            <a:srgbClr val="5C2A0E"/>
          </a:solidFill>
          <a:ln/>
        </p:spPr>
        <p:txBody>
          <a:bodyPr/>
          <a:lstStyle/>
          <a:p>
            <a:endParaRPr lang="en-US"/>
          </a:p>
        </p:txBody>
      </p:sp>
      <p:sp>
        <p:nvSpPr>
          <p:cNvPr id="62" name="Shape 60"/>
          <p:cNvSpPr/>
          <p:nvPr/>
        </p:nvSpPr>
        <p:spPr>
          <a:xfrm>
            <a:off x="12030224" y="8782050"/>
            <a:ext cx="176659" cy="266700"/>
          </a:xfrm>
          <a:prstGeom prst="roundRect">
            <a:avLst>
              <a:gd name="adj" fmla="val 5392"/>
            </a:avLst>
          </a:prstGeom>
          <a:solidFill>
            <a:srgbClr val="C9461A"/>
          </a:solidFill>
          <a:ln/>
        </p:spPr>
        <p:txBody>
          <a:bodyPr/>
          <a:lstStyle/>
          <a:p>
            <a:endParaRPr lang="en-US"/>
          </a:p>
        </p:txBody>
      </p:sp>
      <p:sp>
        <p:nvSpPr>
          <p:cNvPr id="63" name="Shape 61"/>
          <p:cNvSpPr/>
          <p:nvPr/>
        </p:nvSpPr>
        <p:spPr>
          <a:xfrm>
            <a:off x="12235458" y="8782050"/>
            <a:ext cx="176510" cy="266700"/>
          </a:xfrm>
          <a:prstGeom prst="roundRect">
            <a:avLst>
              <a:gd name="adj" fmla="val 5396"/>
            </a:avLst>
          </a:prstGeom>
          <a:solidFill>
            <a:srgbClr val="2A2F3A"/>
          </a:solidFill>
          <a:ln/>
        </p:spPr>
        <p:txBody>
          <a:bodyPr/>
          <a:lstStyle/>
          <a:p>
            <a:endParaRPr lang="en-US"/>
          </a:p>
        </p:txBody>
      </p:sp>
      <p:sp>
        <p:nvSpPr>
          <p:cNvPr id="64" name="Shape 62"/>
          <p:cNvSpPr/>
          <p:nvPr/>
        </p:nvSpPr>
        <p:spPr>
          <a:xfrm>
            <a:off x="12440543" y="8782050"/>
            <a:ext cx="176510" cy="266700"/>
          </a:xfrm>
          <a:prstGeom prst="roundRect">
            <a:avLst>
              <a:gd name="adj" fmla="val 5396"/>
            </a:avLst>
          </a:prstGeom>
          <a:solidFill>
            <a:srgbClr val="2A2F3A"/>
          </a:solidFill>
          <a:ln/>
        </p:spPr>
        <p:txBody>
          <a:bodyPr/>
          <a:lstStyle/>
          <a:p>
            <a:endParaRPr lang="en-US"/>
          </a:p>
        </p:txBody>
      </p:sp>
      <p:sp>
        <p:nvSpPr>
          <p:cNvPr id="65" name="Shape 63"/>
          <p:cNvSpPr/>
          <p:nvPr/>
        </p:nvSpPr>
        <p:spPr>
          <a:xfrm>
            <a:off x="12645628" y="8782050"/>
            <a:ext cx="176659" cy="266700"/>
          </a:xfrm>
          <a:prstGeom prst="roundRect">
            <a:avLst>
              <a:gd name="adj" fmla="val 5392"/>
            </a:avLst>
          </a:prstGeom>
          <a:solidFill>
            <a:srgbClr val="C9461A"/>
          </a:solidFill>
          <a:ln/>
        </p:spPr>
        <p:txBody>
          <a:bodyPr/>
          <a:lstStyle/>
          <a:p>
            <a:endParaRPr lang="en-US"/>
          </a:p>
        </p:txBody>
      </p:sp>
      <p:sp>
        <p:nvSpPr>
          <p:cNvPr id="66" name="Shape 64"/>
          <p:cNvSpPr/>
          <p:nvPr/>
        </p:nvSpPr>
        <p:spPr>
          <a:xfrm>
            <a:off x="12850862" y="8782050"/>
            <a:ext cx="176510" cy="266700"/>
          </a:xfrm>
          <a:prstGeom prst="roundRect">
            <a:avLst>
              <a:gd name="adj" fmla="val 5396"/>
            </a:avLst>
          </a:prstGeom>
          <a:solidFill>
            <a:srgbClr val="FFB347"/>
          </a:solidFill>
          <a:ln/>
        </p:spPr>
        <p:txBody>
          <a:bodyPr/>
          <a:lstStyle/>
          <a:p>
            <a:endParaRPr lang="en-US"/>
          </a:p>
        </p:txBody>
      </p:sp>
      <p:sp>
        <p:nvSpPr>
          <p:cNvPr id="67" name="Shape 65"/>
          <p:cNvSpPr/>
          <p:nvPr/>
        </p:nvSpPr>
        <p:spPr>
          <a:xfrm>
            <a:off x="13055947" y="8782050"/>
            <a:ext cx="176659" cy="266700"/>
          </a:xfrm>
          <a:prstGeom prst="roundRect">
            <a:avLst>
              <a:gd name="adj" fmla="val 5392"/>
            </a:avLst>
          </a:prstGeom>
          <a:solidFill>
            <a:srgbClr val="FF5A1F"/>
          </a:solidFill>
          <a:ln/>
        </p:spPr>
        <p:txBody>
          <a:bodyPr/>
          <a:lstStyle/>
          <a:p>
            <a:endParaRPr lang="en-US"/>
          </a:p>
        </p:txBody>
      </p:sp>
      <p:sp>
        <p:nvSpPr>
          <p:cNvPr id="68" name="Shape 66"/>
          <p:cNvSpPr/>
          <p:nvPr/>
        </p:nvSpPr>
        <p:spPr>
          <a:xfrm>
            <a:off x="13261181" y="8782050"/>
            <a:ext cx="176510" cy="266700"/>
          </a:xfrm>
          <a:prstGeom prst="roundRect">
            <a:avLst>
              <a:gd name="adj" fmla="val 5396"/>
            </a:avLst>
          </a:prstGeom>
          <a:solidFill>
            <a:srgbClr val="FFE08A"/>
          </a:solidFill>
          <a:ln/>
        </p:spPr>
        <p:txBody>
          <a:bodyPr/>
          <a:lstStyle/>
          <a:p>
            <a:endParaRPr lang="en-US"/>
          </a:p>
        </p:txBody>
      </p:sp>
      <p:sp>
        <p:nvSpPr>
          <p:cNvPr id="69" name="Shape 67"/>
          <p:cNvSpPr/>
          <p:nvPr/>
        </p:nvSpPr>
        <p:spPr>
          <a:xfrm>
            <a:off x="13466266" y="8782050"/>
            <a:ext cx="176510" cy="266700"/>
          </a:xfrm>
          <a:prstGeom prst="roundRect">
            <a:avLst>
              <a:gd name="adj" fmla="val 5396"/>
            </a:avLst>
          </a:prstGeom>
          <a:solidFill>
            <a:srgbClr val="5C2A0E"/>
          </a:solidFill>
          <a:ln/>
        </p:spPr>
        <p:txBody>
          <a:bodyPr/>
          <a:lstStyle/>
          <a:p>
            <a:endParaRPr lang="en-US"/>
          </a:p>
        </p:txBody>
      </p:sp>
      <p:sp>
        <p:nvSpPr>
          <p:cNvPr id="70" name="Shape 68"/>
          <p:cNvSpPr/>
          <p:nvPr/>
        </p:nvSpPr>
        <p:spPr>
          <a:xfrm>
            <a:off x="13671352" y="8782050"/>
            <a:ext cx="176659" cy="266700"/>
          </a:xfrm>
          <a:prstGeom prst="roundRect">
            <a:avLst>
              <a:gd name="adj" fmla="val 5392"/>
            </a:avLst>
          </a:prstGeom>
          <a:solidFill>
            <a:srgbClr val="C9461A"/>
          </a:solidFill>
          <a:ln/>
        </p:spPr>
        <p:txBody>
          <a:bodyPr/>
          <a:lstStyle/>
          <a:p>
            <a:endParaRPr lang="en-US"/>
          </a:p>
        </p:txBody>
      </p:sp>
      <p:sp>
        <p:nvSpPr>
          <p:cNvPr id="71" name="Shape 69"/>
          <p:cNvSpPr/>
          <p:nvPr/>
        </p:nvSpPr>
        <p:spPr>
          <a:xfrm>
            <a:off x="13876586" y="8782050"/>
            <a:ext cx="176510" cy="266700"/>
          </a:xfrm>
          <a:prstGeom prst="roundRect">
            <a:avLst>
              <a:gd name="adj" fmla="val 5396"/>
            </a:avLst>
          </a:prstGeom>
          <a:solidFill>
            <a:srgbClr val="C9461A"/>
          </a:solidFill>
          <a:ln/>
        </p:spPr>
        <p:txBody>
          <a:bodyPr/>
          <a:lstStyle/>
          <a:p>
            <a:endParaRPr lang="en-US"/>
          </a:p>
        </p:txBody>
      </p:sp>
      <p:sp>
        <p:nvSpPr>
          <p:cNvPr id="72" name="Shape 70"/>
          <p:cNvSpPr/>
          <p:nvPr/>
        </p:nvSpPr>
        <p:spPr>
          <a:xfrm>
            <a:off x="14081671" y="8782050"/>
            <a:ext cx="176659" cy="266700"/>
          </a:xfrm>
          <a:prstGeom prst="roundRect">
            <a:avLst>
              <a:gd name="adj" fmla="val 5392"/>
            </a:avLst>
          </a:prstGeom>
          <a:solidFill>
            <a:srgbClr val="C9461A"/>
          </a:solidFill>
          <a:ln/>
        </p:spPr>
        <p:txBody>
          <a:bodyPr/>
          <a:lstStyle/>
          <a:p>
            <a:endParaRPr lang="en-US"/>
          </a:p>
        </p:txBody>
      </p:sp>
      <p:sp>
        <p:nvSpPr>
          <p:cNvPr id="73" name="Shape 71"/>
          <p:cNvSpPr/>
          <p:nvPr/>
        </p:nvSpPr>
        <p:spPr>
          <a:xfrm>
            <a:off x="14286905" y="8782050"/>
            <a:ext cx="176510" cy="266700"/>
          </a:xfrm>
          <a:prstGeom prst="roundRect">
            <a:avLst>
              <a:gd name="adj" fmla="val 5396"/>
            </a:avLst>
          </a:prstGeom>
          <a:solidFill>
            <a:srgbClr val="FFE08A"/>
          </a:solidFill>
          <a:ln/>
        </p:spPr>
        <p:txBody>
          <a:bodyPr/>
          <a:lstStyle/>
          <a:p>
            <a:endParaRPr lang="en-US"/>
          </a:p>
        </p:txBody>
      </p:sp>
      <p:sp>
        <p:nvSpPr>
          <p:cNvPr id="74" name="Shape 72"/>
          <p:cNvSpPr/>
          <p:nvPr/>
        </p:nvSpPr>
        <p:spPr>
          <a:xfrm>
            <a:off x="14491990" y="8782050"/>
            <a:ext cx="176510" cy="266700"/>
          </a:xfrm>
          <a:prstGeom prst="roundRect">
            <a:avLst>
              <a:gd name="adj" fmla="val 5396"/>
            </a:avLst>
          </a:prstGeom>
          <a:solidFill>
            <a:srgbClr val="C9461A"/>
          </a:solidFill>
          <a:ln/>
        </p:spPr>
        <p:txBody>
          <a:bodyPr/>
          <a:lstStyle/>
          <a:p>
            <a:endParaRPr lang="en-US"/>
          </a:p>
        </p:txBody>
      </p:sp>
      <p:sp>
        <p:nvSpPr>
          <p:cNvPr id="75" name="Shape 73"/>
          <p:cNvSpPr/>
          <p:nvPr/>
        </p:nvSpPr>
        <p:spPr>
          <a:xfrm>
            <a:off x="14697075" y="8782050"/>
            <a:ext cx="176659" cy="266700"/>
          </a:xfrm>
          <a:prstGeom prst="roundRect">
            <a:avLst>
              <a:gd name="adj" fmla="val 5392"/>
            </a:avLst>
          </a:prstGeom>
          <a:solidFill>
            <a:srgbClr val="C9461A"/>
          </a:solidFill>
          <a:ln/>
        </p:spPr>
        <p:txBody>
          <a:bodyPr/>
          <a:lstStyle/>
          <a:p>
            <a:endParaRPr lang="en-US"/>
          </a:p>
        </p:txBody>
      </p:sp>
      <p:sp>
        <p:nvSpPr>
          <p:cNvPr id="76" name="Shape 74"/>
          <p:cNvSpPr/>
          <p:nvPr/>
        </p:nvSpPr>
        <p:spPr>
          <a:xfrm>
            <a:off x="14902309" y="8782050"/>
            <a:ext cx="176510" cy="266700"/>
          </a:xfrm>
          <a:prstGeom prst="roundRect">
            <a:avLst>
              <a:gd name="adj" fmla="val 5396"/>
            </a:avLst>
          </a:prstGeom>
          <a:solidFill>
            <a:srgbClr val="5C2A0E"/>
          </a:solidFill>
          <a:ln/>
        </p:spPr>
        <p:txBody>
          <a:bodyPr/>
          <a:lstStyle/>
          <a:p>
            <a:endParaRPr lang="en-US"/>
          </a:p>
        </p:txBody>
      </p:sp>
      <p:sp>
        <p:nvSpPr>
          <p:cNvPr id="77" name="Shape 75"/>
          <p:cNvSpPr/>
          <p:nvPr/>
        </p:nvSpPr>
        <p:spPr>
          <a:xfrm>
            <a:off x="15107394" y="8782050"/>
            <a:ext cx="176659" cy="266700"/>
          </a:xfrm>
          <a:prstGeom prst="roundRect">
            <a:avLst>
              <a:gd name="adj" fmla="val 5392"/>
            </a:avLst>
          </a:prstGeom>
          <a:solidFill>
            <a:srgbClr val="5C2A0E"/>
          </a:solidFill>
          <a:ln/>
        </p:spPr>
        <p:txBody>
          <a:bodyPr/>
          <a:lstStyle/>
          <a:p>
            <a:endParaRPr lang="en-US"/>
          </a:p>
        </p:txBody>
      </p:sp>
      <p:sp>
        <p:nvSpPr>
          <p:cNvPr id="78" name="Shape 76"/>
          <p:cNvSpPr/>
          <p:nvPr/>
        </p:nvSpPr>
        <p:spPr>
          <a:xfrm>
            <a:off x="15312628" y="8782050"/>
            <a:ext cx="176510" cy="266700"/>
          </a:xfrm>
          <a:prstGeom prst="roundRect">
            <a:avLst>
              <a:gd name="adj" fmla="val 5396"/>
            </a:avLst>
          </a:prstGeom>
          <a:solidFill>
            <a:srgbClr val="FFB347"/>
          </a:solidFill>
          <a:ln/>
        </p:spPr>
        <p:txBody>
          <a:bodyPr/>
          <a:lstStyle/>
          <a:p>
            <a:endParaRPr lang="en-US"/>
          </a:p>
        </p:txBody>
      </p:sp>
      <p:sp>
        <p:nvSpPr>
          <p:cNvPr id="79" name="Shape 77"/>
          <p:cNvSpPr/>
          <p:nvPr/>
        </p:nvSpPr>
        <p:spPr>
          <a:xfrm>
            <a:off x="15517713" y="8782050"/>
            <a:ext cx="176510" cy="266700"/>
          </a:xfrm>
          <a:prstGeom prst="roundRect">
            <a:avLst>
              <a:gd name="adj" fmla="val 5396"/>
            </a:avLst>
          </a:prstGeom>
          <a:solidFill>
            <a:srgbClr val="2A2F3A"/>
          </a:solidFill>
          <a:ln/>
        </p:spPr>
        <p:txBody>
          <a:bodyPr/>
          <a:lstStyle/>
          <a:p>
            <a:endParaRPr lang="en-US"/>
          </a:p>
        </p:txBody>
      </p:sp>
      <p:sp>
        <p:nvSpPr>
          <p:cNvPr id="80" name="Shape 78"/>
          <p:cNvSpPr/>
          <p:nvPr/>
        </p:nvSpPr>
        <p:spPr>
          <a:xfrm>
            <a:off x="15722798" y="8782050"/>
            <a:ext cx="176659" cy="266700"/>
          </a:xfrm>
          <a:prstGeom prst="roundRect">
            <a:avLst>
              <a:gd name="adj" fmla="val 5392"/>
            </a:avLst>
          </a:prstGeom>
          <a:solidFill>
            <a:srgbClr val="5C2A0E"/>
          </a:solidFill>
          <a:ln/>
        </p:spPr>
        <p:txBody>
          <a:bodyPr/>
          <a:lstStyle/>
          <a:p>
            <a:endParaRPr lang="en-US"/>
          </a:p>
        </p:txBody>
      </p:sp>
      <p:sp>
        <p:nvSpPr>
          <p:cNvPr id="81" name="Shape 79"/>
          <p:cNvSpPr/>
          <p:nvPr/>
        </p:nvSpPr>
        <p:spPr>
          <a:xfrm>
            <a:off x="15928032" y="8782050"/>
            <a:ext cx="176510" cy="266700"/>
          </a:xfrm>
          <a:prstGeom prst="roundRect">
            <a:avLst>
              <a:gd name="adj" fmla="val 5396"/>
            </a:avLst>
          </a:prstGeom>
          <a:solidFill>
            <a:srgbClr val="FFB347"/>
          </a:solidFill>
          <a:ln/>
        </p:spPr>
        <p:txBody>
          <a:bodyPr/>
          <a:lstStyle/>
          <a:p>
            <a:endParaRPr lang="en-US"/>
          </a:p>
        </p:txBody>
      </p:sp>
      <p:sp>
        <p:nvSpPr>
          <p:cNvPr id="82" name="Shape 80"/>
          <p:cNvSpPr/>
          <p:nvPr/>
        </p:nvSpPr>
        <p:spPr>
          <a:xfrm>
            <a:off x="16133118" y="8782050"/>
            <a:ext cx="176659" cy="266700"/>
          </a:xfrm>
          <a:prstGeom prst="roundRect">
            <a:avLst>
              <a:gd name="adj" fmla="val 5392"/>
            </a:avLst>
          </a:prstGeom>
          <a:solidFill>
            <a:srgbClr val="FFE08A"/>
          </a:solidFill>
          <a:ln/>
        </p:spPr>
        <p:txBody>
          <a:bodyPr/>
          <a:lstStyle/>
          <a:p>
            <a:endParaRPr lang="en-US"/>
          </a:p>
        </p:txBody>
      </p:sp>
      <p:sp>
        <p:nvSpPr>
          <p:cNvPr id="83" name="Shape 81"/>
          <p:cNvSpPr/>
          <p:nvPr/>
        </p:nvSpPr>
        <p:spPr>
          <a:xfrm>
            <a:off x="16338352" y="8782050"/>
            <a:ext cx="176510" cy="266700"/>
          </a:xfrm>
          <a:prstGeom prst="roundRect">
            <a:avLst>
              <a:gd name="adj" fmla="val 5396"/>
            </a:avLst>
          </a:prstGeom>
          <a:solidFill>
            <a:srgbClr val="FFE08A"/>
          </a:solidFill>
          <a:ln/>
        </p:spPr>
        <p:txBody>
          <a:bodyPr/>
          <a:lstStyle/>
          <a:p>
            <a:endParaRPr lang="en-US"/>
          </a:p>
        </p:txBody>
      </p:sp>
      <p:sp>
        <p:nvSpPr>
          <p:cNvPr id="84" name="Shape 82"/>
          <p:cNvSpPr/>
          <p:nvPr/>
        </p:nvSpPr>
        <p:spPr>
          <a:xfrm>
            <a:off x="16543437" y="8782050"/>
            <a:ext cx="176510" cy="266700"/>
          </a:xfrm>
          <a:prstGeom prst="roundRect">
            <a:avLst>
              <a:gd name="adj" fmla="val 5396"/>
            </a:avLst>
          </a:prstGeom>
          <a:solidFill>
            <a:srgbClr val="FFE08A"/>
          </a:solidFill>
          <a:ln/>
        </p:spPr>
        <p:txBody>
          <a:bodyPr/>
          <a:lstStyle/>
          <a:p>
            <a:endParaRPr lang="en-US"/>
          </a:p>
        </p:txBody>
      </p:sp>
      <p:sp>
        <p:nvSpPr>
          <p:cNvPr id="85" name="Shape 83"/>
          <p:cNvSpPr/>
          <p:nvPr/>
        </p:nvSpPr>
        <p:spPr>
          <a:xfrm>
            <a:off x="16748522" y="8782050"/>
            <a:ext cx="176659" cy="266700"/>
          </a:xfrm>
          <a:prstGeom prst="roundRect">
            <a:avLst>
              <a:gd name="adj" fmla="val 5392"/>
            </a:avLst>
          </a:prstGeom>
          <a:solidFill>
            <a:srgbClr val="FFE08A"/>
          </a:solidFill>
          <a:ln/>
        </p:spPr>
        <p:txBody>
          <a:bodyPr/>
          <a:lstStyle/>
          <a:p>
            <a:endParaRPr lang="en-US"/>
          </a:p>
        </p:txBody>
      </p:sp>
      <p:sp>
        <p:nvSpPr>
          <p:cNvPr id="86" name="Shape 84"/>
          <p:cNvSpPr/>
          <p:nvPr/>
        </p:nvSpPr>
        <p:spPr>
          <a:xfrm>
            <a:off x="16953756" y="8782050"/>
            <a:ext cx="176510" cy="266700"/>
          </a:xfrm>
          <a:prstGeom prst="roundRect">
            <a:avLst>
              <a:gd name="adj" fmla="val 5396"/>
            </a:avLst>
          </a:prstGeom>
          <a:solidFill>
            <a:srgbClr val="FFB347"/>
          </a:solidFill>
          <a:ln/>
        </p:spPr>
        <p:txBody>
          <a:bodyPr/>
          <a:lstStyle/>
          <a:p>
            <a:endParaRPr lang="en-US"/>
          </a:p>
        </p:txBody>
      </p:sp>
      <p:sp>
        <p:nvSpPr>
          <p:cNvPr id="87" name="Shape 85"/>
          <p:cNvSpPr/>
          <p:nvPr/>
        </p:nvSpPr>
        <p:spPr>
          <a:xfrm>
            <a:off x="17158841" y="8782050"/>
            <a:ext cx="176659" cy="266700"/>
          </a:xfrm>
          <a:prstGeom prst="roundRect">
            <a:avLst>
              <a:gd name="adj" fmla="val 5392"/>
            </a:avLst>
          </a:prstGeom>
          <a:solidFill>
            <a:srgbClr val="FF5A1F"/>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2658</Words>
  <Application>Microsoft Office PowerPoint</Application>
  <PresentationFormat>Custom</PresentationFormat>
  <Paragraphs>333</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Joshi, Avi</cp:lastModifiedBy>
  <cp:revision>6</cp:revision>
  <dcterms:created xsi:type="dcterms:W3CDTF">2026-04-22T22:57:39Z</dcterms:created>
  <dcterms:modified xsi:type="dcterms:W3CDTF">2026-04-23T15:00:23Z</dcterms:modified>
</cp:coreProperties>
</file>