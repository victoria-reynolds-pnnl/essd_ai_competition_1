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3" r:id="rId1"/>
  </p:sldMasterIdLst>
  <p:notesMasterIdLst>
    <p:notesMasterId r:id="rId23"/>
  </p:notesMasterIdLst>
  <p:handoutMasterIdLst>
    <p:handoutMasterId r:id="rId24"/>
  </p:handoutMasterIdLst>
  <p:sldIdLst>
    <p:sldId id="260" r:id="rId2"/>
    <p:sldId id="269" r:id="rId3"/>
    <p:sldId id="270" r:id="rId4"/>
    <p:sldId id="277" r:id="rId5"/>
    <p:sldId id="291" r:id="rId6"/>
    <p:sldId id="278" r:id="rId7"/>
    <p:sldId id="289" r:id="rId8"/>
    <p:sldId id="279" r:id="rId9"/>
    <p:sldId id="286" r:id="rId10"/>
    <p:sldId id="273" r:id="rId11"/>
    <p:sldId id="280" r:id="rId12"/>
    <p:sldId id="274" r:id="rId13"/>
    <p:sldId id="292" r:id="rId14"/>
    <p:sldId id="268" r:id="rId15"/>
    <p:sldId id="261" r:id="rId16"/>
    <p:sldId id="281" r:id="rId17"/>
    <p:sldId id="287" r:id="rId18"/>
    <p:sldId id="282" r:id="rId19"/>
    <p:sldId id="283" r:id="rId20"/>
    <p:sldId id="284" r:id="rId21"/>
    <p:sldId id="285" r:id="rId22"/>
  </p:sldIdLst>
  <p:sldSz cx="14630400" cy="8229600"/>
  <p:notesSz cx="6858000" cy="9144000"/>
  <p:defaultTex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719500"/>
    <a:srgbClr val="007836"/>
    <a:srgbClr val="BE0F34"/>
    <a:srgbClr val="820150"/>
    <a:srgbClr val="502D7F"/>
    <a:srgbClr val="00338E"/>
    <a:srgbClr val="0081AB"/>
    <a:srgbClr val="758F9D"/>
    <a:srgbClr val="B3B3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33665F-4843-A97D-7E5D-03EF133BAA41}" v="1" dt="2026-04-23T23:41:02.949"/>
    <p1510:client id="{4DAD177B-B633-4149-81A7-E006CCDA1FA6}" v="1487" dt="2026-04-23T21:36:26.410"/>
    <p1510:client id="{DB970224-2EBF-3EB9-FE72-C3B31C5FE093}" v="261" dt="2026-04-23T23:34:55.241"/>
  </p1510:revLst>
</p1510:revInfo>
</file>

<file path=ppt/tableStyles.xml><?xml version="1.0" encoding="utf-8"?>
<a:tblStyleLst xmlns:a="http://schemas.openxmlformats.org/drawingml/2006/main" def="{5C22544A-7EE6-4342-B048-85BDC9FD1C3A}">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389006-4297-48A9-957E-04BCD684FD18}" type="doc">
      <dgm:prSet loTypeId="urn:microsoft.com/office/officeart/2005/8/layout/vList2" loCatId="list" qsTypeId="urn:microsoft.com/office/officeart/2005/8/quickstyle/simple1" qsCatId="simple" csTypeId="urn:microsoft.com/office/officeart/2005/8/colors/accent2_2" csCatId="accent2" phldr="1"/>
      <dgm:spPr/>
      <dgm:t>
        <a:bodyPr/>
        <a:lstStyle/>
        <a:p>
          <a:endParaRPr lang="en-US"/>
        </a:p>
      </dgm:t>
    </dgm:pt>
    <dgm:pt modelId="{4DC74E4C-6BBB-4B39-948B-51CBFC4A4DF8}">
      <dgm:prSet/>
      <dgm:spPr/>
      <dgm:t>
        <a:bodyPr/>
        <a:lstStyle/>
        <a:p>
          <a:r>
            <a:rPr lang="en-US"/>
            <a:t>Problem</a:t>
          </a:r>
        </a:p>
      </dgm:t>
    </dgm:pt>
    <dgm:pt modelId="{F0D10889-77C2-4E69-9529-9D13974F81EF}" type="parTrans" cxnId="{3298E9BA-774E-4CF1-B8B5-4498BA47D829}">
      <dgm:prSet/>
      <dgm:spPr/>
      <dgm:t>
        <a:bodyPr/>
        <a:lstStyle/>
        <a:p>
          <a:endParaRPr lang="en-US"/>
        </a:p>
      </dgm:t>
    </dgm:pt>
    <dgm:pt modelId="{EB5B282C-2EEE-440B-83C3-ED7048545583}" type="sibTrans" cxnId="{3298E9BA-774E-4CF1-B8B5-4498BA47D829}">
      <dgm:prSet/>
      <dgm:spPr/>
      <dgm:t>
        <a:bodyPr/>
        <a:lstStyle/>
        <a:p>
          <a:endParaRPr lang="en-US"/>
        </a:p>
      </dgm:t>
    </dgm:pt>
    <dgm:pt modelId="{056E6498-D95F-4779-957B-AA72E6122940}">
      <dgm:prSet/>
      <dgm:spPr/>
      <dgm:t>
        <a:bodyPr/>
        <a:lstStyle/>
        <a:p>
          <a:r>
            <a:rPr lang="en-US"/>
            <a:t>Detect pump-limit pressure escalation or major thermal-output changes with one hour of advance
Maintain reliable and consistent model performance across multiple operating modes</a:t>
          </a:r>
        </a:p>
      </dgm:t>
    </dgm:pt>
    <dgm:pt modelId="{A02328E8-3AFB-4EFD-94A3-89B9633C1DEF}" type="parTrans" cxnId="{9F119092-B202-43A7-8537-184E13547B8F}">
      <dgm:prSet/>
      <dgm:spPr/>
      <dgm:t>
        <a:bodyPr/>
        <a:lstStyle/>
        <a:p>
          <a:endParaRPr lang="en-US"/>
        </a:p>
      </dgm:t>
    </dgm:pt>
    <dgm:pt modelId="{5B2A285A-B567-4AEE-84D6-19DFB7764C5F}" type="sibTrans" cxnId="{9F119092-B202-43A7-8537-184E13547B8F}">
      <dgm:prSet/>
      <dgm:spPr/>
      <dgm:t>
        <a:bodyPr/>
        <a:lstStyle/>
        <a:p>
          <a:endParaRPr lang="en-US"/>
        </a:p>
      </dgm:t>
    </dgm:pt>
    <dgm:pt modelId="{CE1EE03B-EEE6-4E24-8BDD-8CC1C81E2D5B}">
      <dgm:prSet/>
      <dgm:spPr/>
      <dgm:t>
        <a:bodyPr/>
        <a:lstStyle/>
        <a:p>
          <a:r>
            <a:rPr lang="en-US"/>
            <a:t>Success Criteria</a:t>
          </a:r>
        </a:p>
      </dgm:t>
    </dgm:pt>
    <dgm:pt modelId="{CA20AF41-8ED2-4F54-BBA1-638D25BD3B47}" type="parTrans" cxnId="{756B48D1-24A6-4461-A762-EB71F4864DB1}">
      <dgm:prSet/>
      <dgm:spPr/>
      <dgm:t>
        <a:bodyPr/>
        <a:lstStyle/>
        <a:p>
          <a:endParaRPr lang="en-US"/>
        </a:p>
      </dgm:t>
    </dgm:pt>
    <dgm:pt modelId="{BB32D584-4D69-4837-91AC-0CF43556D88E}" type="sibTrans" cxnId="{756B48D1-24A6-4461-A762-EB71F4864DB1}">
      <dgm:prSet/>
      <dgm:spPr/>
      <dgm:t>
        <a:bodyPr/>
        <a:lstStyle/>
        <a:p>
          <a:endParaRPr lang="en-US"/>
        </a:p>
      </dgm:t>
    </dgm:pt>
    <dgm:pt modelId="{66D6D789-7A6D-425F-8B69-B75C4BB8C98D}">
      <dgm:prSet/>
      <dgm:spPr/>
      <dgm:t>
        <a:bodyPr/>
        <a:lstStyle/>
        <a:p>
          <a:r>
            <a:rPr lang="en-US"/>
            <a:t>Develop a causal, short-horizon forecasting model that predicts </a:t>
          </a:r>
          <a:r>
            <a:rPr lang="en-US" b="1"/>
            <a:t>TC-well injection interval pressure</a:t>
          </a:r>
          <a:r>
            <a:rPr lang="en-US"/>
            <a:t>, as well as </a:t>
          </a:r>
          <a:r>
            <a:rPr lang="en-US" b="1"/>
            <a:t>TN/TL-well production temperature and flow</a:t>
          </a:r>
          <a:r>
            <a:rPr lang="en-US"/>
            <a:t> during hot-water injection and ambient-water recirculation operations
Provide early warning of pump-limit pressure escalation and shifts in recoverable thermal output</a:t>
          </a:r>
        </a:p>
      </dgm:t>
    </dgm:pt>
    <dgm:pt modelId="{9398930A-6703-40D3-8D0A-5A3CDDE756CF}" type="parTrans" cxnId="{CBE9BAED-5ED7-40F8-AE76-8A04FDB75941}">
      <dgm:prSet/>
      <dgm:spPr/>
      <dgm:t>
        <a:bodyPr/>
        <a:lstStyle/>
        <a:p>
          <a:endParaRPr lang="en-US"/>
        </a:p>
      </dgm:t>
    </dgm:pt>
    <dgm:pt modelId="{94BF60AA-85FC-4972-98DB-8DE389447489}" type="sibTrans" cxnId="{CBE9BAED-5ED7-40F8-AE76-8A04FDB75941}">
      <dgm:prSet/>
      <dgm:spPr/>
      <dgm:t>
        <a:bodyPr/>
        <a:lstStyle/>
        <a:p>
          <a:endParaRPr lang="en-US"/>
        </a:p>
      </dgm:t>
    </dgm:pt>
    <dgm:pt modelId="{742E2C71-BF3E-41E7-883B-8342B5AAA4F7}">
      <dgm:prSet/>
      <dgm:spPr/>
      <dgm:t>
        <a:bodyPr/>
        <a:lstStyle/>
        <a:p>
          <a:r>
            <a:rPr lang="en-US"/>
            <a:t>Goal</a:t>
          </a:r>
        </a:p>
      </dgm:t>
    </dgm:pt>
    <dgm:pt modelId="{DE7DCCCD-14CB-4938-B4C4-5625F46D6B5F}" type="parTrans" cxnId="{8109761A-BF1F-41FA-8DE8-F8098EAB4F86}">
      <dgm:prSet/>
      <dgm:spPr/>
      <dgm:t>
        <a:bodyPr/>
        <a:lstStyle/>
        <a:p>
          <a:endParaRPr lang="en-US"/>
        </a:p>
      </dgm:t>
    </dgm:pt>
    <dgm:pt modelId="{5E20C091-157B-4606-8ACE-548A07DF080C}" type="sibTrans" cxnId="{8109761A-BF1F-41FA-8DE8-F8098EAB4F86}">
      <dgm:prSet/>
      <dgm:spPr/>
      <dgm:t>
        <a:bodyPr/>
        <a:lstStyle/>
        <a:p>
          <a:endParaRPr lang="en-US"/>
        </a:p>
      </dgm:t>
    </dgm:pt>
    <dgm:pt modelId="{09A2BB5D-32CD-4EFD-B209-FC4430EE44CC}">
      <dgm:prSet/>
      <dgm:spPr/>
      <dgm:t>
        <a:bodyPr/>
        <a:lstStyle/>
        <a:p>
          <a:r>
            <a:rPr lang="en-US" b="1"/>
            <a:t>Fracture Thermal Energy Storage (FTES) </a:t>
          </a:r>
          <a:r>
            <a:rPr lang="en-US"/>
            <a:t>stores heat underground by injecting warm water into subsurface rock and recovering it through nearby production wells.
Effective operation requires forecasting rising injection pressures and changes in produced water temperature and flow, which impact heat recovery</a:t>
          </a:r>
        </a:p>
      </dgm:t>
    </dgm:pt>
    <dgm:pt modelId="{04C90079-CEC5-40F8-BAAE-CC61295D818B}" type="parTrans" cxnId="{F50DD1D2-54BA-47BB-A83B-DA663FC72492}">
      <dgm:prSet/>
      <dgm:spPr/>
      <dgm:t>
        <a:bodyPr/>
        <a:lstStyle/>
        <a:p>
          <a:endParaRPr lang="en-US"/>
        </a:p>
      </dgm:t>
    </dgm:pt>
    <dgm:pt modelId="{351CAE7A-9E39-4A9A-9066-D73FBB062476}" type="sibTrans" cxnId="{F50DD1D2-54BA-47BB-A83B-DA663FC72492}">
      <dgm:prSet/>
      <dgm:spPr/>
      <dgm:t>
        <a:bodyPr/>
        <a:lstStyle/>
        <a:p>
          <a:endParaRPr lang="en-US"/>
        </a:p>
      </dgm:t>
    </dgm:pt>
    <dgm:pt modelId="{B31D7159-F07C-4897-9279-AB636CB552EC}" type="pres">
      <dgm:prSet presAssocID="{46389006-4297-48A9-957E-04BCD684FD18}" presName="linear" presStyleCnt="0">
        <dgm:presLayoutVars>
          <dgm:animLvl val="lvl"/>
          <dgm:resizeHandles val="exact"/>
        </dgm:presLayoutVars>
      </dgm:prSet>
      <dgm:spPr/>
    </dgm:pt>
    <dgm:pt modelId="{72DC9AD7-2C57-460F-BB2F-527BEE8608DA}" type="pres">
      <dgm:prSet presAssocID="{4DC74E4C-6BBB-4B39-948B-51CBFC4A4DF8}" presName="parentText" presStyleLbl="node1" presStyleIdx="0" presStyleCnt="3">
        <dgm:presLayoutVars>
          <dgm:chMax val="0"/>
          <dgm:bulletEnabled val="1"/>
        </dgm:presLayoutVars>
      </dgm:prSet>
      <dgm:spPr/>
    </dgm:pt>
    <dgm:pt modelId="{3C014F31-1957-470B-92C8-219A19739C73}" type="pres">
      <dgm:prSet presAssocID="{4DC74E4C-6BBB-4B39-948B-51CBFC4A4DF8}" presName="childText" presStyleLbl="revTx" presStyleIdx="0" presStyleCnt="3">
        <dgm:presLayoutVars>
          <dgm:bulletEnabled val="1"/>
        </dgm:presLayoutVars>
      </dgm:prSet>
      <dgm:spPr/>
    </dgm:pt>
    <dgm:pt modelId="{D96A202F-4D6C-4B20-8545-6FC388FC2980}" type="pres">
      <dgm:prSet presAssocID="{742E2C71-BF3E-41E7-883B-8342B5AAA4F7}" presName="parentText" presStyleLbl="node1" presStyleIdx="1" presStyleCnt="3">
        <dgm:presLayoutVars>
          <dgm:chMax val="0"/>
          <dgm:bulletEnabled val="1"/>
        </dgm:presLayoutVars>
      </dgm:prSet>
      <dgm:spPr/>
    </dgm:pt>
    <dgm:pt modelId="{16B9B216-16AC-49E3-93B1-93941A08450B}" type="pres">
      <dgm:prSet presAssocID="{742E2C71-BF3E-41E7-883B-8342B5AAA4F7}" presName="childText" presStyleLbl="revTx" presStyleIdx="1" presStyleCnt="3">
        <dgm:presLayoutVars>
          <dgm:bulletEnabled val="1"/>
        </dgm:presLayoutVars>
      </dgm:prSet>
      <dgm:spPr/>
    </dgm:pt>
    <dgm:pt modelId="{AF3225E7-AE1B-4C0B-A187-31B6153BA9A1}" type="pres">
      <dgm:prSet presAssocID="{CE1EE03B-EEE6-4E24-8BDD-8CC1C81E2D5B}" presName="parentText" presStyleLbl="node1" presStyleIdx="2" presStyleCnt="3">
        <dgm:presLayoutVars>
          <dgm:chMax val="0"/>
          <dgm:bulletEnabled val="1"/>
        </dgm:presLayoutVars>
      </dgm:prSet>
      <dgm:spPr/>
    </dgm:pt>
    <dgm:pt modelId="{07300BBF-9D26-426D-98A3-CD6C8BA6AD4F}" type="pres">
      <dgm:prSet presAssocID="{CE1EE03B-EEE6-4E24-8BDD-8CC1C81E2D5B}" presName="childText" presStyleLbl="revTx" presStyleIdx="2" presStyleCnt="3">
        <dgm:presLayoutVars>
          <dgm:bulletEnabled val="1"/>
        </dgm:presLayoutVars>
      </dgm:prSet>
      <dgm:spPr/>
    </dgm:pt>
  </dgm:ptLst>
  <dgm:cxnLst>
    <dgm:cxn modelId="{8109761A-BF1F-41FA-8DE8-F8098EAB4F86}" srcId="{46389006-4297-48A9-957E-04BCD684FD18}" destId="{742E2C71-BF3E-41E7-883B-8342B5AAA4F7}" srcOrd="1" destOrd="0" parTransId="{DE7DCCCD-14CB-4938-B4C4-5625F46D6B5F}" sibTransId="{5E20C091-157B-4606-8ACE-548A07DF080C}"/>
    <dgm:cxn modelId="{FCAE4127-E76A-43B9-B2D5-6F3CCB39EF9E}" type="presOf" srcId="{056E6498-D95F-4779-957B-AA72E6122940}" destId="{07300BBF-9D26-426D-98A3-CD6C8BA6AD4F}" srcOrd="0" destOrd="0" presId="urn:microsoft.com/office/officeart/2005/8/layout/vList2"/>
    <dgm:cxn modelId="{7DD3B26B-E92E-42EF-B842-27E4903EA0C5}" type="presOf" srcId="{09A2BB5D-32CD-4EFD-B209-FC4430EE44CC}" destId="{3C014F31-1957-470B-92C8-219A19739C73}" srcOrd="0" destOrd="0" presId="urn:microsoft.com/office/officeart/2005/8/layout/vList2"/>
    <dgm:cxn modelId="{12522C4F-B454-46A3-86C8-3CF615B6A7A1}" type="presOf" srcId="{CE1EE03B-EEE6-4E24-8BDD-8CC1C81E2D5B}" destId="{AF3225E7-AE1B-4C0B-A187-31B6153BA9A1}" srcOrd="0" destOrd="0" presId="urn:microsoft.com/office/officeart/2005/8/layout/vList2"/>
    <dgm:cxn modelId="{9F119092-B202-43A7-8537-184E13547B8F}" srcId="{CE1EE03B-EEE6-4E24-8BDD-8CC1C81E2D5B}" destId="{056E6498-D95F-4779-957B-AA72E6122940}" srcOrd="0" destOrd="0" parTransId="{A02328E8-3AFB-4EFD-94A3-89B9633C1DEF}" sibTransId="{5B2A285A-B567-4AEE-84D6-19DFB7764C5F}"/>
    <dgm:cxn modelId="{781CB6A3-2868-4577-831C-8F35BF868809}" type="presOf" srcId="{742E2C71-BF3E-41E7-883B-8342B5AAA4F7}" destId="{D96A202F-4D6C-4B20-8545-6FC388FC2980}" srcOrd="0" destOrd="0" presId="urn:microsoft.com/office/officeart/2005/8/layout/vList2"/>
    <dgm:cxn modelId="{3298E9BA-774E-4CF1-B8B5-4498BA47D829}" srcId="{46389006-4297-48A9-957E-04BCD684FD18}" destId="{4DC74E4C-6BBB-4B39-948B-51CBFC4A4DF8}" srcOrd="0" destOrd="0" parTransId="{F0D10889-77C2-4E69-9529-9D13974F81EF}" sibTransId="{EB5B282C-2EEE-440B-83C3-ED7048545583}"/>
    <dgm:cxn modelId="{756B48D1-24A6-4461-A762-EB71F4864DB1}" srcId="{46389006-4297-48A9-957E-04BCD684FD18}" destId="{CE1EE03B-EEE6-4E24-8BDD-8CC1C81E2D5B}" srcOrd="2" destOrd="0" parTransId="{CA20AF41-8ED2-4F54-BBA1-638D25BD3B47}" sibTransId="{BB32D584-4D69-4837-91AC-0CF43556D88E}"/>
    <dgm:cxn modelId="{F50DD1D2-54BA-47BB-A83B-DA663FC72492}" srcId="{4DC74E4C-6BBB-4B39-948B-51CBFC4A4DF8}" destId="{09A2BB5D-32CD-4EFD-B209-FC4430EE44CC}" srcOrd="0" destOrd="0" parTransId="{04C90079-CEC5-40F8-BAAE-CC61295D818B}" sibTransId="{351CAE7A-9E39-4A9A-9066-D73FBB062476}"/>
    <dgm:cxn modelId="{CBE9BAED-5ED7-40F8-AE76-8A04FDB75941}" srcId="{742E2C71-BF3E-41E7-883B-8342B5AAA4F7}" destId="{66D6D789-7A6D-425F-8B69-B75C4BB8C98D}" srcOrd="0" destOrd="0" parTransId="{9398930A-6703-40D3-8D0A-5A3CDDE756CF}" sibTransId="{94BF60AA-85FC-4972-98DB-8DE389447489}"/>
    <dgm:cxn modelId="{894317F2-B98D-4175-A66D-5F0B3003B573}" type="presOf" srcId="{66D6D789-7A6D-425F-8B69-B75C4BB8C98D}" destId="{16B9B216-16AC-49E3-93B1-93941A08450B}" srcOrd="0" destOrd="0" presId="urn:microsoft.com/office/officeart/2005/8/layout/vList2"/>
    <dgm:cxn modelId="{1FE9C6F8-3EB2-45C4-A2A8-462C62EA5416}" type="presOf" srcId="{46389006-4297-48A9-957E-04BCD684FD18}" destId="{B31D7159-F07C-4897-9279-AB636CB552EC}" srcOrd="0" destOrd="0" presId="urn:microsoft.com/office/officeart/2005/8/layout/vList2"/>
    <dgm:cxn modelId="{135F65FE-728C-44C6-9128-60AF1D9AFA66}" type="presOf" srcId="{4DC74E4C-6BBB-4B39-948B-51CBFC4A4DF8}" destId="{72DC9AD7-2C57-460F-BB2F-527BEE8608DA}" srcOrd="0" destOrd="0" presId="urn:microsoft.com/office/officeart/2005/8/layout/vList2"/>
    <dgm:cxn modelId="{DC8B6A5E-E246-41AF-8E0A-8D290249E9C8}" type="presParOf" srcId="{B31D7159-F07C-4897-9279-AB636CB552EC}" destId="{72DC9AD7-2C57-460F-BB2F-527BEE8608DA}" srcOrd="0" destOrd="0" presId="urn:microsoft.com/office/officeart/2005/8/layout/vList2"/>
    <dgm:cxn modelId="{1ABE08AA-7AC3-41A7-8736-CDCED9485E58}" type="presParOf" srcId="{B31D7159-F07C-4897-9279-AB636CB552EC}" destId="{3C014F31-1957-470B-92C8-219A19739C73}" srcOrd="1" destOrd="0" presId="urn:microsoft.com/office/officeart/2005/8/layout/vList2"/>
    <dgm:cxn modelId="{703FC6E5-7323-4CA3-B597-BF2DEF0E8EEA}" type="presParOf" srcId="{B31D7159-F07C-4897-9279-AB636CB552EC}" destId="{D96A202F-4D6C-4B20-8545-6FC388FC2980}" srcOrd="2" destOrd="0" presId="urn:microsoft.com/office/officeart/2005/8/layout/vList2"/>
    <dgm:cxn modelId="{D40FEAB5-5ABF-49B8-B4BD-D6A612A4D2C9}" type="presParOf" srcId="{B31D7159-F07C-4897-9279-AB636CB552EC}" destId="{16B9B216-16AC-49E3-93B1-93941A08450B}" srcOrd="3" destOrd="0" presId="urn:microsoft.com/office/officeart/2005/8/layout/vList2"/>
    <dgm:cxn modelId="{46ED70C9-8AD5-42F3-B4C4-0C921E4B7F5E}" type="presParOf" srcId="{B31D7159-F07C-4897-9279-AB636CB552EC}" destId="{AF3225E7-AE1B-4C0B-A187-31B6153BA9A1}" srcOrd="4" destOrd="0" presId="urn:microsoft.com/office/officeart/2005/8/layout/vList2"/>
    <dgm:cxn modelId="{F440AD16-7FBD-43FB-95A3-FD5EE10A34AF}" type="presParOf" srcId="{B31D7159-F07C-4897-9279-AB636CB552EC}" destId="{07300BBF-9D26-426D-98A3-CD6C8BA6AD4F}"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E73F088-FF82-48F5-87BA-BEC97B04840F}" type="doc">
      <dgm:prSet loTypeId="urn:microsoft.com/office/officeart/2005/8/layout/list1" loCatId="list" qsTypeId="urn:microsoft.com/office/officeart/2005/8/quickstyle/simple4" qsCatId="simple" csTypeId="urn:microsoft.com/office/officeart/2005/8/colors/accent2_2" csCatId="accent2" phldr="1"/>
      <dgm:spPr/>
      <dgm:t>
        <a:bodyPr/>
        <a:lstStyle/>
        <a:p>
          <a:endParaRPr lang="en-US"/>
        </a:p>
      </dgm:t>
    </dgm:pt>
    <dgm:pt modelId="{C98620AE-FEA8-4FD5-8258-F4910EEFBE6C}">
      <dgm:prSet/>
      <dgm:spPr/>
      <dgm:t>
        <a:bodyPr/>
        <a:lstStyle/>
        <a:p>
          <a:r>
            <a:rPr lang="en-US" b="1"/>
            <a:t>Dataset</a:t>
          </a:r>
          <a:endParaRPr lang="en-US"/>
        </a:p>
      </dgm:t>
    </dgm:pt>
    <dgm:pt modelId="{4A723E26-88BB-4C3D-A719-66AABD722EC7}" type="parTrans" cxnId="{204C3BAD-FDE0-41DE-AB81-3534B90CA696}">
      <dgm:prSet/>
      <dgm:spPr/>
      <dgm:t>
        <a:bodyPr/>
        <a:lstStyle/>
        <a:p>
          <a:endParaRPr lang="en-US"/>
        </a:p>
      </dgm:t>
    </dgm:pt>
    <dgm:pt modelId="{3104273B-C31C-42BD-AE30-A87893D2ACD4}" type="sibTrans" cxnId="{204C3BAD-FDE0-41DE-AB81-3534B90CA696}">
      <dgm:prSet/>
      <dgm:spPr/>
      <dgm:t>
        <a:bodyPr/>
        <a:lstStyle/>
        <a:p>
          <a:endParaRPr lang="en-US"/>
        </a:p>
      </dgm:t>
    </dgm:pt>
    <dgm:pt modelId="{370E251F-7D14-4DFD-9246-DEF2E11A8334}">
      <dgm:prSet/>
      <dgm:spPr/>
      <dgm:t>
        <a:bodyPr/>
        <a:lstStyle/>
        <a:p>
          <a:r>
            <a:rPr lang="en-US" b="1"/>
            <a:t>Source: </a:t>
          </a:r>
          <a:r>
            <a:rPr lang="en-US"/>
            <a:t>DEMO-FTES Test 1 telemetry dataset from the Sanford Underground Research Facility (SURF)</a:t>
          </a:r>
          <a:r>
            <a:rPr lang="en-US" baseline="30000"/>
            <a:t>1</a:t>
          </a:r>
          <a:r>
            <a:rPr lang="en-US"/>
            <a:t>
</a:t>
          </a:r>
          <a:r>
            <a:rPr lang="en-US" b="1"/>
            <a:t>Size: </a:t>
          </a:r>
          <a:r>
            <a:rPr lang="en-US"/>
            <a:t>Hour-resolution multivariate time-series records collected during test operations.
</a:t>
          </a:r>
          <a:r>
            <a:rPr lang="en-US" b="1"/>
            <a:t>Features: </a:t>
          </a:r>
          <a:r>
            <a:rPr lang="en-US"/>
            <a:t>Water flow, pressure, temperature, and electrical conductivity from injection and production wells.</a:t>
          </a:r>
        </a:p>
      </dgm:t>
    </dgm:pt>
    <dgm:pt modelId="{950F1C60-3775-4B0D-B24D-3D01E7BE7B12}" type="parTrans" cxnId="{8B59ABC7-7EBB-4F1B-9B56-8A7381CDB802}">
      <dgm:prSet/>
      <dgm:spPr/>
      <dgm:t>
        <a:bodyPr/>
        <a:lstStyle/>
        <a:p>
          <a:endParaRPr lang="en-US"/>
        </a:p>
      </dgm:t>
    </dgm:pt>
    <dgm:pt modelId="{59AAF5C6-593F-446B-8DFB-F98CCBB3FC9E}" type="sibTrans" cxnId="{8B59ABC7-7EBB-4F1B-9B56-8A7381CDB802}">
      <dgm:prSet/>
      <dgm:spPr/>
      <dgm:t>
        <a:bodyPr/>
        <a:lstStyle/>
        <a:p>
          <a:endParaRPr lang="en-US"/>
        </a:p>
      </dgm:t>
    </dgm:pt>
    <dgm:pt modelId="{412982FE-171F-4DCD-9E99-294C2F452EA3}">
      <dgm:prSet/>
      <dgm:spPr/>
      <dgm:t>
        <a:bodyPr/>
        <a:lstStyle/>
        <a:p>
          <a:r>
            <a:rPr lang="en-US" b="1"/>
            <a:t>Challenges</a:t>
          </a:r>
          <a:endParaRPr lang="en-US"/>
        </a:p>
      </dgm:t>
    </dgm:pt>
    <dgm:pt modelId="{F156A93C-E5D3-4B7A-9576-12E37A39121F}" type="parTrans" cxnId="{1D8C1C6E-1EEE-48DD-844F-136F0850E97A}">
      <dgm:prSet/>
      <dgm:spPr/>
      <dgm:t>
        <a:bodyPr/>
        <a:lstStyle/>
        <a:p>
          <a:endParaRPr lang="en-US"/>
        </a:p>
      </dgm:t>
    </dgm:pt>
    <dgm:pt modelId="{2A5FD824-DC63-4D93-A66C-0A1503312C93}" type="sibTrans" cxnId="{1D8C1C6E-1EEE-48DD-844F-136F0850E97A}">
      <dgm:prSet/>
      <dgm:spPr/>
      <dgm:t>
        <a:bodyPr/>
        <a:lstStyle/>
        <a:p>
          <a:endParaRPr lang="en-US"/>
        </a:p>
      </dgm:t>
    </dgm:pt>
    <dgm:pt modelId="{7E20DDAC-2CA8-4282-8CF1-B9ED7156ADDC}">
      <dgm:prSet/>
      <dgm:spPr/>
      <dgm:t>
        <a:bodyPr/>
        <a:lstStyle/>
        <a:p>
          <a:r>
            <a:rPr lang="en-US"/>
            <a:t>Missing or inconsistent sensor values may require cleaning and interpolation
Bias toward a single site and specific operating conditions may limit broader applicability
Limited edge-case coverage for rare pressure spikes, equipment interruptions, or unusual flow behavior</a:t>
          </a:r>
        </a:p>
      </dgm:t>
    </dgm:pt>
    <dgm:pt modelId="{F2AA71BC-B5DA-4F17-BAB3-134B25611C23}" type="parTrans" cxnId="{DEA23F90-809D-4F81-A06D-C310ED1F9ECD}">
      <dgm:prSet/>
      <dgm:spPr/>
      <dgm:t>
        <a:bodyPr/>
        <a:lstStyle/>
        <a:p>
          <a:endParaRPr lang="en-US"/>
        </a:p>
      </dgm:t>
    </dgm:pt>
    <dgm:pt modelId="{EE40296A-7229-4CD2-A50A-0480FAFBBE7C}" type="sibTrans" cxnId="{DEA23F90-809D-4F81-A06D-C310ED1F9ECD}">
      <dgm:prSet/>
      <dgm:spPr/>
      <dgm:t>
        <a:bodyPr/>
        <a:lstStyle/>
        <a:p>
          <a:endParaRPr lang="en-US"/>
        </a:p>
      </dgm:t>
    </dgm:pt>
    <dgm:pt modelId="{913BEAE2-BBFB-4D0E-9480-F2F6E61775E8}" type="pres">
      <dgm:prSet presAssocID="{9E73F088-FF82-48F5-87BA-BEC97B04840F}" presName="linear" presStyleCnt="0">
        <dgm:presLayoutVars>
          <dgm:dir/>
          <dgm:animLvl val="lvl"/>
          <dgm:resizeHandles val="exact"/>
        </dgm:presLayoutVars>
      </dgm:prSet>
      <dgm:spPr/>
    </dgm:pt>
    <dgm:pt modelId="{F86A033B-AB1F-4E35-875A-1C0AEAB23A46}" type="pres">
      <dgm:prSet presAssocID="{C98620AE-FEA8-4FD5-8258-F4910EEFBE6C}" presName="parentLin" presStyleCnt="0"/>
      <dgm:spPr/>
    </dgm:pt>
    <dgm:pt modelId="{C6BCFBDA-7556-4EAD-B3E8-45A200310C5E}" type="pres">
      <dgm:prSet presAssocID="{C98620AE-FEA8-4FD5-8258-F4910EEFBE6C}" presName="parentLeftMargin" presStyleLbl="node1" presStyleIdx="0" presStyleCnt="2"/>
      <dgm:spPr/>
    </dgm:pt>
    <dgm:pt modelId="{86EF778E-19CA-419C-B3B3-A875992416B4}" type="pres">
      <dgm:prSet presAssocID="{C98620AE-FEA8-4FD5-8258-F4910EEFBE6C}" presName="parentText" presStyleLbl="node1" presStyleIdx="0" presStyleCnt="2">
        <dgm:presLayoutVars>
          <dgm:chMax val="0"/>
          <dgm:bulletEnabled val="1"/>
        </dgm:presLayoutVars>
      </dgm:prSet>
      <dgm:spPr/>
    </dgm:pt>
    <dgm:pt modelId="{F0DF3703-B768-4362-8B8E-F0504AF22357}" type="pres">
      <dgm:prSet presAssocID="{C98620AE-FEA8-4FD5-8258-F4910EEFBE6C}" presName="negativeSpace" presStyleCnt="0"/>
      <dgm:spPr/>
    </dgm:pt>
    <dgm:pt modelId="{CEBE5F0C-8059-4302-9C7B-55A36B25A4EB}" type="pres">
      <dgm:prSet presAssocID="{C98620AE-FEA8-4FD5-8258-F4910EEFBE6C}" presName="childText" presStyleLbl="conFgAcc1" presStyleIdx="0" presStyleCnt="2">
        <dgm:presLayoutVars>
          <dgm:bulletEnabled val="1"/>
        </dgm:presLayoutVars>
      </dgm:prSet>
      <dgm:spPr/>
    </dgm:pt>
    <dgm:pt modelId="{91F71478-CA7D-49A0-A9B3-0993DA64105E}" type="pres">
      <dgm:prSet presAssocID="{3104273B-C31C-42BD-AE30-A87893D2ACD4}" presName="spaceBetweenRectangles" presStyleCnt="0"/>
      <dgm:spPr/>
    </dgm:pt>
    <dgm:pt modelId="{5516E0FA-2B73-4A2C-9464-2A970CE72E51}" type="pres">
      <dgm:prSet presAssocID="{412982FE-171F-4DCD-9E99-294C2F452EA3}" presName="parentLin" presStyleCnt="0"/>
      <dgm:spPr/>
    </dgm:pt>
    <dgm:pt modelId="{70A14D64-259A-4C42-8C88-DA4F9600F93F}" type="pres">
      <dgm:prSet presAssocID="{412982FE-171F-4DCD-9E99-294C2F452EA3}" presName="parentLeftMargin" presStyleLbl="node1" presStyleIdx="0" presStyleCnt="2"/>
      <dgm:spPr/>
    </dgm:pt>
    <dgm:pt modelId="{932A5BCC-9B22-47BB-876F-490503FF87FE}" type="pres">
      <dgm:prSet presAssocID="{412982FE-171F-4DCD-9E99-294C2F452EA3}" presName="parentText" presStyleLbl="node1" presStyleIdx="1" presStyleCnt="2">
        <dgm:presLayoutVars>
          <dgm:chMax val="0"/>
          <dgm:bulletEnabled val="1"/>
        </dgm:presLayoutVars>
      </dgm:prSet>
      <dgm:spPr/>
    </dgm:pt>
    <dgm:pt modelId="{F8EFCD62-4CF8-464F-B507-0A5DDEA1811E}" type="pres">
      <dgm:prSet presAssocID="{412982FE-171F-4DCD-9E99-294C2F452EA3}" presName="negativeSpace" presStyleCnt="0"/>
      <dgm:spPr/>
    </dgm:pt>
    <dgm:pt modelId="{ADE3EEC1-2B04-4978-99AA-B38B828A3E66}" type="pres">
      <dgm:prSet presAssocID="{412982FE-171F-4DCD-9E99-294C2F452EA3}" presName="childText" presStyleLbl="conFgAcc1" presStyleIdx="1" presStyleCnt="2">
        <dgm:presLayoutVars>
          <dgm:bulletEnabled val="1"/>
        </dgm:presLayoutVars>
      </dgm:prSet>
      <dgm:spPr/>
    </dgm:pt>
  </dgm:ptLst>
  <dgm:cxnLst>
    <dgm:cxn modelId="{2B155D36-C733-4A40-A700-3D3CC3BE64E0}" type="presOf" srcId="{C98620AE-FEA8-4FD5-8258-F4910EEFBE6C}" destId="{86EF778E-19CA-419C-B3B3-A875992416B4}" srcOrd="1" destOrd="0" presId="urn:microsoft.com/office/officeart/2005/8/layout/list1"/>
    <dgm:cxn modelId="{4B4A424C-8536-41FF-ACC1-3B7DCED2C40A}" type="presOf" srcId="{C98620AE-FEA8-4FD5-8258-F4910EEFBE6C}" destId="{C6BCFBDA-7556-4EAD-B3E8-45A200310C5E}" srcOrd="0" destOrd="0" presId="urn:microsoft.com/office/officeart/2005/8/layout/list1"/>
    <dgm:cxn modelId="{1D8C1C6E-1EEE-48DD-844F-136F0850E97A}" srcId="{9E73F088-FF82-48F5-87BA-BEC97B04840F}" destId="{412982FE-171F-4DCD-9E99-294C2F452EA3}" srcOrd="1" destOrd="0" parTransId="{F156A93C-E5D3-4B7A-9576-12E37A39121F}" sibTransId="{2A5FD824-DC63-4D93-A66C-0A1503312C93}"/>
    <dgm:cxn modelId="{39775979-A1FD-446C-9E85-C6328E08C566}" type="presOf" srcId="{412982FE-171F-4DCD-9E99-294C2F452EA3}" destId="{70A14D64-259A-4C42-8C88-DA4F9600F93F}" srcOrd="0" destOrd="0" presId="urn:microsoft.com/office/officeart/2005/8/layout/list1"/>
    <dgm:cxn modelId="{DEA23F90-809D-4F81-A06D-C310ED1F9ECD}" srcId="{412982FE-171F-4DCD-9E99-294C2F452EA3}" destId="{7E20DDAC-2CA8-4282-8CF1-B9ED7156ADDC}" srcOrd="0" destOrd="0" parTransId="{F2AA71BC-B5DA-4F17-BAB3-134B25611C23}" sibTransId="{EE40296A-7229-4CD2-A50A-0480FAFBBE7C}"/>
    <dgm:cxn modelId="{204C3BAD-FDE0-41DE-AB81-3534B90CA696}" srcId="{9E73F088-FF82-48F5-87BA-BEC97B04840F}" destId="{C98620AE-FEA8-4FD5-8258-F4910EEFBE6C}" srcOrd="0" destOrd="0" parTransId="{4A723E26-88BB-4C3D-A719-66AABD722EC7}" sibTransId="{3104273B-C31C-42BD-AE30-A87893D2ACD4}"/>
    <dgm:cxn modelId="{8B59ABC7-7EBB-4F1B-9B56-8A7381CDB802}" srcId="{C98620AE-FEA8-4FD5-8258-F4910EEFBE6C}" destId="{370E251F-7D14-4DFD-9246-DEF2E11A8334}" srcOrd="0" destOrd="0" parTransId="{950F1C60-3775-4B0D-B24D-3D01E7BE7B12}" sibTransId="{59AAF5C6-593F-446B-8DFB-F98CCBB3FC9E}"/>
    <dgm:cxn modelId="{9F4C82D1-8D8B-42C4-BAA9-C891F28C5DA4}" type="presOf" srcId="{412982FE-171F-4DCD-9E99-294C2F452EA3}" destId="{932A5BCC-9B22-47BB-876F-490503FF87FE}" srcOrd="1" destOrd="0" presId="urn:microsoft.com/office/officeart/2005/8/layout/list1"/>
    <dgm:cxn modelId="{2CE38BD2-45D8-4895-A10B-E964B3E7DE75}" type="presOf" srcId="{370E251F-7D14-4DFD-9246-DEF2E11A8334}" destId="{CEBE5F0C-8059-4302-9C7B-55A36B25A4EB}" srcOrd="0" destOrd="0" presId="urn:microsoft.com/office/officeart/2005/8/layout/list1"/>
    <dgm:cxn modelId="{F6C5D0D5-29FC-4F37-B4C4-C7F83DC5B6CE}" type="presOf" srcId="{9E73F088-FF82-48F5-87BA-BEC97B04840F}" destId="{913BEAE2-BBFB-4D0E-9480-F2F6E61775E8}" srcOrd="0" destOrd="0" presId="urn:microsoft.com/office/officeart/2005/8/layout/list1"/>
    <dgm:cxn modelId="{67B3E5FB-246C-4C9F-84EB-C47EB87C3CAD}" type="presOf" srcId="{7E20DDAC-2CA8-4282-8CF1-B9ED7156ADDC}" destId="{ADE3EEC1-2B04-4978-99AA-B38B828A3E66}" srcOrd="0" destOrd="0" presId="urn:microsoft.com/office/officeart/2005/8/layout/list1"/>
    <dgm:cxn modelId="{253E475B-0BD6-4C6A-8D79-75728B753579}" type="presParOf" srcId="{913BEAE2-BBFB-4D0E-9480-F2F6E61775E8}" destId="{F86A033B-AB1F-4E35-875A-1C0AEAB23A46}" srcOrd="0" destOrd="0" presId="urn:microsoft.com/office/officeart/2005/8/layout/list1"/>
    <dgm:cxn modelId="{6C3D1DCD-631F-4380-81D2-A0D211679613}" type="presParOf" srcId="{F86A033B-AB1F-4E35-875A-1C0AEAB23A46}" destId="{C6BCFBDA-7556-4EAD-B3E8-45A200310C5E}" srcOrd="0" destOrd="0" presId="urn:microsoft.com/office/officeart/2005/8/layout/list1"/>
    <dgm:cxn modelId="{F74E5232-F656-453B-ADF6-3CCFF34C4B7D}" type="presParOf" srcId="{F86A033B-AB1F-4E35-875A-1C0AEAB23A46}" destId="{86EF778E-19CA-419C-B3B3-A875992416B4}" srcOrd="1" destOrd="0" presId="urn:microsoft.com/office/officeart/2005/8/layout/list1"/>
    <dgm:cxn modelId="{BBC0F68B-6F79-4105-BC4B-54D11569F601}" type="presParOf" srcId="{913BEAE2-BBFB-4D0E-9480-F2F6E61775E8}" destId="{F0DF3703-B768-4362-8B8E-F0504AF22357}" srcOrd="1" destOrd="0" presId="urn:microsoft.com/office/officeart/2005/8/layout/list1"/>
    <dgm:cxn modelId="{EF805CB3-B8D2-435D-AE6E-1ABB9F395E1D}" type="presParOf" srcId="{913BEAE2-BBFB-4D0E-9480-F2F6E61775E8}" destId="{CEBE5F0C-8059-4302-9C7B-55A36B25A4EB}" srcOrd="2" destOrd="0" presId="urn:microsoft.com/office/officeart/2005/8/layout/list1"/>
    <dgm:cxn modelId="{2F773614-775C-4E2D-8419-2E39D05B6C22}" type="presParOf" srcId="{913BEAE2-BBFB-4D0E-9480-F2F6E61775E8}" destId="{91F71478-CA7D-49A0-A9B3-0993DA64105E}" srcOrd="3" destOrd="0" presId="urn:microsoft.com/office/officeart/2005/8/layout/list1"/>
    <dgm:cxn modelId="{3F0C3CFD-D022-4225-A332-F0FBA7A3178A}" type="presParOf" srcId="{913BEAE2-BBFB-4D0E-9480-F2F6E61775E8}" destId="{5516E0FA-2B73-4A2C-9464-2A970CE72E51}" srcOrd="4" destOrd="0" presId="urn:microsoft.com/office/officeart/2005/8/layout/list1"/>
    <dgm:cxn modelId="{E49D5093-A50E-4910-9083-AF6077093AC1}" type="presParOf" srcId="{5516E0FA-2B73-4A2C-9464-2A970CE72E51}" destId="{70A14D64-259A-4C42-8C88-DA4F9600F93F}" srcOrd="0" destOrd="0" presId="urn:microsoft.com/office/officeart/2005/8/layout/list1"/>
    <dgm:cxn modelId="{8AB454F3-B68B-4CB6-ADC9-E77FD591A6FE}" type="presParOf" srcId="{5516E0FA-2B73-4A2C-9464-2A970CE72E51}" destId="{932A5BCC-9B22-47BB-876F-490503FF87FE}" srcOrd="1" destOrd="0" presId="urn:microsoft.com/office/officeart/2005/8/layout/list1"/>
    <dgm:cxn modelId="{166FCF00-EA75-4740-8859-909915FAA998}" type="presParOf" srcId="{913BEAE2-BBFB-4D0E-9480-F2F6E61775E8}" destId="{F8EFCD62-4CF8-464F-B507-0A5DDEA1811E}" srcOrd="5" destOrd="0" presId="urn:microsoft.com/office/officeart/2005/8/layout/list1"/>
    <dgm:cxn modelId="{BCFA08E1-1C44-4D5A-99C8-A9950518D6BD}" type="presParOf" srcId="{913BEAE2-BBFB-4D0E-9480-F2F6E61775E8}" destId="{ADE3EEC1-2B04-4978-99AA-B38B828A3E66}"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6389006-4297-48A9-957E-04BCD684FD18}"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4DC74E4C-6BBB-4B39-948B-51CBFC4A4DF8}">
      <dgm:prSet/>
      <dgm:spPr/>
      <dgm:t>
        <a:bodyPr/>
        <a:lstStyle/>
        <a:p>
          <a:r>
            <a:rPr lang="en-US" b="1">
              <a:latin typeface="Arial"/>
            </a:rPr>
            <a:t>Approach</a:t>
          </a:r>
          <a:endParaRPr lang="en-US"/>
        </a:p>
      </dgm:t>
    </dgm:pt>
    <dgm:pt modelId="{F0D10889-77C2-4E69-9529-9D13974F81EF}" type="parTrans" cxnId="{3298E9BA-774E-4CF1-B8B5-4498BA47D829}">
      <dgm:prSet/>
      <dgm:spPr/>
      <dgm:t>
        <a:bodyPr/>
        <a:lstStyle/>
        <a:p>
          <a:endParaRPr lang="en-US"/>
        </a:p>
      </dgm:t>
    </dgm:pt>
    <dgm:pt modelId="{EB5B282C-2EEE-440B-83C3-ED7048545583}" type="sibTrans" cxnId="{3298E9BA-774E-4CF1-B8B5-4498BA47D829}">
      <dgm:prSet/>
      <dgm:spPr/>
      <dgm:t>
        <a:bodyPr/>
        <a:lstStyle/>
        <a:p>
          <a:endParaRPr lang="en-US"/>
        </a:p>
      </dgm:t>
    </dgm:pt>
    <dgm:pt modelId="{056E6498-D95F-4779-957B-AA72E6122940}">
      <dgm:prSet/>
      <dgm:spPr/>
      <dgm:t>
        <a:bodyPr/>
        <a:lstStyle/>
        <a:p>
          <a:pPr algn="l" rtl="0">
            <a:lnSpc>
              <a:spcPct val="90000"/>
            </a:lnSpc>
          </a:pPr>
          <a:r>
            <a:rPr lang="en-US" b="1">
              <a:latin typeface="Arial"/>
            </a:rPr>
            <a:t>Total Tokens:</a:t>
          </a:r>
          <a:r>
            <a:rPr lang="en-US">
              <a:latin typeface="Arial"/>
            </a:rPr>
            <a:t> ~1,300 </a:t>
          </a:r>
          <a:r>
            <a:rPr lang="en-US"/>
            <a:t>(</a:t>
          </a:r>
          <a:r>
            <a:rPr lang="en-US">
              <a:latin typeface="Arial"/>
            </a:rPr>
            <a:t>Standard context window, Fairly large prompt</a:t>
          </a:r>
          <a:r>
            <a:rPr lang="en-US"/>
            <a:t>)</a:t>
          </a:r>
        </a:p>
      </dgm:t>
    </dgm:pt>
    <dgm:pt modelId="{A02328E8-3AFB-4EFD-94A3-89B9633C1DEF}" type="parTrans" cxnId="{9F119092-B202-43A7-8537-184E13547B8F}">
      <dgm:prSet/>
      <dgm:spPr/>
      <dgm:t>
        <a:bodyPr/>
        <a:lstStyle/>
        <a:p>
          <a:endParaRPr lang="en-US"/>
        </a:p>
      </dgm:t>
    </dgm:pt>
    <dgm:pt modelId="{5B2A285A-B567-4AEE-84D6-19DFB7764C5F}" type="sibTrans" cxnId="{9F119092-B202-43A7-8537-184E13547B8F}">
      <dgm:prSet/>
      <dgm:spPr/>
      <dgm:t>
        <a:bodyPr/>
        <a:lstStyle/>
        <a:p>
          <a:endParaRPr lang="en-US"/>
        </a:p>
      </dgm:t>
    </dgm:pt>
    <dgm:pt modelId="{09A2BB5D-32CD-4EFD-B209-FC4430EE44CC}">
      <dgm:prSet/>
      <dgm:spPr/>
      <dgm:t>
        <a:bodyPr/>
        <a:lstStyle/>
        <a:p>
          <a:pPr algn="l">
            <a:lnSpc>
              <a:spcPct val="90000"/>
            </a:lnSpc>
          </a:pPr>
          <a:r>
            <a:rPr lang="en-US" b="0">
              <a:latin typeface="Arial"/>
            </a:rPr>
            <a:t>Switched to deterministic prompt architecture; Maps raw sensor data </a:t>
          </a:r>
          <a:r>
            <a:rPr lang="en-US" b="0"/>
            <a:t>to </a:t>
          </a:r>
          <a:r>
            <a:rPr lang="en-US" b="0">
              <a:latin typeface="Arial"/>
            </a:rPr>
            <a:t>six defined pressure regimes (</a:t>
          </a:r>
          <a:r>
            <a:rPr lang="en-US">
              <a:latin typeface="Arial"/>
            </a:rPr>
            <a:t>headroom </a:t>
          </a:r>
          <a:r>
            <a:rPr lang="en-US" b="0"/>
            <a:t>and </a:t>
          </a:r>
          <a:r>
            <a:rPr lang="en-US">
              <a:latin typeface="Arial"/>
            </a:rPr>
            <a:t>stability).</a:t>
          </a:r>
        </a:p>
      </dgm:t>
    </dgm:pt>
    <dgm:pt modelId="{04C90079-CEC5-40F8-BAAE-CC61295D818B}" type="parTrans" cxnId="{F50DD1D2-54BA-47BB-A83B-DA663FC72492}">
      <dgm:prSet/>
      <dgm:spPr/>
      <dgm:t>
        <a:bodyPr/>
        <a:lstStyle/>
        <a:p>
          <a:endParaRPr lang="en-US"/>
        </a:p>
      </dgm:t>
    </dgm:pt>
    <dgm:pt modelId="{351CAE7A-9E39-4A9A-9066-D73FBB062476}" type="sibTrans" cxnId="{F50DD1D2-54BA-47BB-A83B-DA663FC72492}">
      <dgm:prSet/>
      <dgm:spPr/>
      <dgm:t>
        <a:bodyPr/>
        <a:lstStyle/>
        <a:p>
          <a:endParaRPr lang="en-US"/>
        </a:p>
      </dgm:t>
    </dgm:pt>
    <dgm:pt modelId="{A74FCC07-002D-4BE7-B8FD-BBBACBA0D7A2}">
      <dgm:prSet/>
      <dgm:spPr/>
      <dgm:t>
        <a:bodyPr/>
        <a:lstStyle/>
        <a:p>
          <a:pPr algn="l">
            <a:lnSpc>
              <a:spcPct val="90000"/>
            </a:lnSpc>
          </a:pPr>
          <a:r>
            <a:rPr lang="en-US" b="1">
              <a:latin typeface="Arial"/>
            </a:rPr>
            <a:t>Complexity:</a:t>
          </a:r>
          <a:r>
            <a:rPr lang="en-US">
              <a:latin typeface="Arial"/>
            </a:rPr>
            <a:t> Medium (Requires </a:t>
          </a:r>
          <a:r>
            <a:rPr lang="en-US"/>
            <a:t>the </a:t>
          </a:r>
          <a:r>
            <a:rPr lang="en-US">
              <a:latin typeface="Arial"/>
            </a:rPr>
            <a:t>model </a:t>
          </a:r>
          <a:r>
            <a:rPr lang="en-US"/>
            <a:t>to </a:t>
          </a:r>
          <a:r>
            <a:rPr lang="en-US">
              <a:latin typeface="Arial"/>
            </a:rPr>
            <a:t>balance contradictory features like rising pressure vs. active flow reduction).</a:t>
          </a:r>
        </a:p>
      </dgm:t>
    </dgm:pt>
    <dgm:pt modelId="{C770CD50-62B6-4CDE-A876-1F725517C5FF}" type="parTrans" cxnId="{41093562-C9C7-4C11-B631-A61A15B26A20}">
      <dgm:prSet/>
      <dgm:spPr/>
      <dgm:t>
        <a:bodyPr/>
        <a:lstStyle/>
        <a:p>
          <a:endParaRPr lang="en-US"/>
        </a:p>
      </dgm:t>
    </dgm:pt>
    <dgm:pt modelId="{A86B3233-F756-46C2-9D07-66A7DB416712}" type="sibTrans" cxnId="{41093562-C9C7-4C11-B631-A61A15B26A20}">
      <dgm:prSet/>
      <dgm:spPr/>
      <dgm:t>
        <a:bodyPr/>
        <a:lstStyle/>
        <a:p>
          <a:endParaRPr lang="en-US"/>
        </a:p>
      </dgm:t>
    </dgm:pt>
    <dgm:pt modelId="{D99AE3F8-7F48-4C75-8C3B-466986BAB085}">
      <dgm:prSet phldr="0"/>
      <dgm:spPr/>
      <dgm:t>
        <a:bodyPr/>
        <a:lstStyle/>
        <a:p>
          <a:pPr algn="l" rtl="0">
            <a:lnSpc>
              <a:spcPct val="90000"/>
            </a:lnSpc>
          </a:pPr>
          <a:r>
            <a:rPr lang="en-US" b="0">
              <a:latin typeface="Arial"/>
            </a:rPr>
            <a:t>Started by predicting raw pressure</a:t>
          </a:r>
        </a:p>
      </dgm:t>
    </dgm:pt>
    <dgm:pt modelId="{20E284C7-7432-4E0B-BA6A-D5F2DF956707}" type="parTrans" cxnId="{BC8B87C2-DCE6-41A9-9965-904A5C44E033}">
      <dgm:prSet/>
      <dgm:spPr/>
    </dgm:pt>
    <dgm:pt modelId="{637E6350-C208-4862-8711-E3E7EBC46ED7}" type="sibTrans" cxnId="{BC8B87C2-DCE6-41A9-9965-904A5C44E033}">
      <dgm:prSet/>
      <dgm:spPr/>
    </dgm:pt>
    <dgm:pt modelId="{ED0796D8-AB73-4381-9935-B28A472AA032}">
      <dgm:prSet phldr="0"/>
      <dgm:spPr/>
      <dgm:t>
        <a:bodyPr/>
        <a:lstStyle/>
        <a:p>
          <a:pPr algn="l">
            <a:lnSpc>
              <a:spcPct val="90000"/>
            </a:lnSpc>
          </a:pPr>
          <a:r>
            <a:rPr lang="en-US">
              <a:latin typeface="Arial"/>
            </a:rPr>
            <a:t>Structured JSON output</a:t>
          </a:r>
        </a:p>
      </dgm:t>
    </dgm:pt>
    <dgm:pt modelId="{00CE3BF5-CA0B-4E96-9A15-582FCA9DF339}" type="parTrans" cxnId="{6A2CA0CB-8CFF-46B3-8B6C-C6619025CAC6}">
      <dgm:prSet/>
      <dgm:spPr/>
    </dgm:pt>
    <dgm:pt modelId="{413D6327-26BC-42FF-AE34-0503DF268976}" type="sibTrans" cxnId="{6A2CA0CB-8CFF-46B3-8B6C-C6619025CAC6}">
      <dgm:prSet/>
      <dgm:spPr/>
    </dgm:pt>
    <dgm:pt modelId="{5A9D3686-878B-445E-9183-128B184A8DAF}">
      <dgm:prSet phldr="0"/>
      <dgm:spPr/>
      <dgm:t>
        <a:bodyPr/>
        <a:lstStyle/>
        <a:p>
          <a:pPr algn="l" rtl="0">
            <a:lnSpc>
              <a:spcPct val="90000"/>
            </a:lnSpc>
          </a:pPr>
          <a:r>
            <a:rPr lang="en-US" b="1">
              <a:latin typeface="Arial"/>
            </a:rPr>
            <a:t>Strategy</a:t>
          </a:r>
          <a:endParaRPr lang="en-US">
            <a:latin typeface="Arial"/>
          </a:endParaRPr>
        </a:p>
      </dgm:t>
    </dgm:pt>
    <dgm:pt modelId="{5615A22F-77EA-4217-BD6E-EE0E931E595C}" type="parTrans" cxnId="{96C013B5-6457-432F-8419-A026319E06FF}">
      <dgm:prSet/>
      <dgm:spPr/>
    </dgm:pt>
    <dgm:pt modelId="{BD528198-62EE-40CE-B11A-B12417D357EC}" type="sibTrans" cxnId="{96C013B5-6457-432F-8419-A026319E06FF}">
      <dgm:prSet/>
      <dgm:spPr/>
    </dgm:pt>
    <dgm:pt modelId="{3BEE4407-9332-4C57-9480-0BD379061C37}">
      <dgm:prSet phldr="0"/>
      <dgm:spPr/>
      <dgm:t>
        <a:bodyPr/>
        <a:lstStyle/>
        <a:p>
          <a:pPr algn="l" rtl="0">
            <a:lnSpc>
              <a:spcPct val="90000"/>
            </a:lnSpc>
          </a:pPr>
          <a:r>
            <a:rPr lang="en-US" b="1">
              <a:latin typeface="Arial"/>
            </a:rPr>
            <a:t>Final Architecture</a:t>
          </a:r>
          <a:endParaRPr lang="en-US">
            <a:latin typeface="Arial"/>
          </a:endParaRPr>
        </a:p>
      </dgm:t>
    </dgm:pt>
    <dgm:pt modelId="{4194FB16-0FEB-4898-91BE-6DA2D0D6CC23}" type="parTrans" cxnId="{1C2CB2A3-76B9-4911-9B3E-CB498741BD32}">
      <dgm:prSet/>
      <dgm:spPr/>
    </dgm:pt>
    <dgm:pt modelId="{ADBF01D7-CB05-461A-9849-3CB7CD65E3F1}" type="sibTrans" cxnId="{1C2CB2A3-76B9-4911-9B3E-CB498741BD32}">
      <dgm:prSet/>
      <dgm:spPr/>
    </dgm:pt>
    <dgm:pt modelId="{A44E6E4C-B5BB-46F9-8671-C6273A0DEF95}">
      <dgm:prSet phldr="0"/>
      <dgm:spPr/>
      <dgm:t>
        <a:bodyPr/>
        <a:lstStyle/>
        <a:p>
          <a:pPr algn="l" rtl="0">
            <a:lnSpc>
              <a:spcPct val="90000"/>
            </a:lnSpc>
          </a:pPr>
          <a:r>
            <a:rPr lang="en-US" b="0" dirty="0">
              <a:latin typeface="Arial"/>
            </a:rPr>
            <a:t>Stratified few-shot examples to anchor the model’s confidence scoring across varying levels of pressure volatility.</a:t>
          </a:r>
        </a:p>
      </dgm:t>
    </dgm:pt>
    <dgm:pt modelId="{93BCC398-1B98-47EA-9076-2F0EB955E756}" type="parTrans" cxnId="{D755D24B-E401-44BF-A28D-B8109BFAF8CA}">
      <dgm:prSet/>
      <dgm:spPr/>
    </dgm:pt>
    <dgm:pt modelId="{2D30CB69-19BB-4BC2-B21A-97CD858614FE}" type="sibTrans" cxnId="{D755D24B-E401-44BF-A28D-B8109BFAF8CA}">
      <dgm:prSet/>
      <dgm:spPr/>
    </dgm:pt>
    <dgm:pt modelId="{3744D598-39AD-408F-918F-1B3A9DF27072}">
      <dgm:prSet phldr="0"/>
      <dgm:spPr/>
      <dgm:t>
        <a:bodyPr/>
        <a:lstStyle/>
        <a:p>
          <a:pPr algn="l" rtl="0">
            <a:lnSpc>
              <a:spcPct val="90000"/>
            </a:lnSpc>
          </a:pPr>
          <a:r>
            <a:rPr lang="en-US" b="1" dirty="0">
              <a:latin typeface="Arial"/>
              <a:ea typeface="Calibri"/>
              <a:cs typeface="Arial"/>
            </a:rPr>
            <a:t>Rule-Based Optimization</a:t>
          </a:r>
          <a:r>
            <a:rPr lang="en-US" dirty="0">
              <a:latin typeface="Arial"/>
              <a:ea typeface="Calibri"/>
              <a:cs typeface="Arial"/>
            </a:rPr>
            <a:t>: Implementing explicit decision logic and confidence-weighting increased classification accuracy by &gt;50% compared to first attempts.</a:t>
          </a:r>
          <a:endParaRPr lang="en-US" dirty="0">
            <a:latin typeface="Arial"/>
            <a:cs typeface="Arial"/>
          </a:endParaRPr>
        </a:p>
      </dgm:t>
    </dgm:pt>
    <dgm:pt modelId="{BC627B7F-D3DF-442E-98E3-B453A9971E99}" type="parTrans" cxnId="{31E3785D-A1ED-469A-AE76-189F313ECDFE}">
      <dgm:prSet/>
      <dgm:spPr/>
    </dgm:pt>
    <dgm:pt modelId="{C096474C-550B-40F0-B982-152ED08A5B0A}" type="sibTrans" cxnId="{31E3785D-A1ED-469A-AE76-189F313ECDFE}">
      <dgm:prSet/>
      <dgm:spPr/>
    </dgm:pt>
    <dgm:pt modelId="{548967FD-91F7-4F45-AA48-5FEE660B790D}">
      <dgm:prSet phldr="0"/>
      <dgm:spPr/>
      <dgm:t>
        <a:bodyPr/>
        <a:lstStyle/>
        <a:p>
          <a:pPr algn="l">
            <a:lnSpc>
              <a:spcPct val="90000"/>
            </a:lnSpc>
          </a:pPr>
          <a:endParaRPr lang="en-US" b="0" dirty="0">
            <a:latin typeface="Arial"/>
          </a:endParaRPr>
        </a:p>
      </dgm:t>
    </dgm:pt>
    <dgm:pt modelId="{8EEDE338-C090-4BDC-86EB-1D3DE7699F29}" type="parTrans" cxnId="{E7A2DC96-6CB6-416A-900D-C7FD3CB418A7}">
      <dgm:prSet/>
      <dgm:spPr/>
    </dgm:pt>
    <dgm:pt modelId="{7526C422-66A8-42A4-B5CA-9AE97DA1ABC3}" type="sibTrans" cxnId="{E7A2DC96-6CB6-416A-900D-C7FD3CB418A7}">
      <dgm:prSet/>
      <dgm:spPr/>
    </dgm:pt>
    <dgm:pt modelId="{741B57BC-6D5A-4CD2-B9F8-95AAB7004AC5}">
      <dgm:prSet phldr="0"/>
      <dgm:spPr/>
      <dgm:t>
        <a:bodyPr/>
        <a:lstStyle/>
        <a:p>
          <a:pPr algn="l">
            <a:lnSpc>
              <a:spcPct val="90000"/>
            </a:lnSpc>
          </a:pPr>
          <a:endParaRPr lang="en-US" b="0" dirty="0">
            <a:latin typeface="Arial"/>
          </a:endParaRPr>
        </a:p>
      </dgm:t>
    </dgm:pt>
    <dgm:pt modelId="{FCF79BF5-CA50-4260-BB45-877D2F06316F}" type="parTrans" cxnId="{A7EC547D-6D25-47FC-BA92-E8375ED0C54E}">
      <dgm:prSet/>
      <dgm:spPr/>
    </dgm:pt>
    <dgm:pt modelId="{2577ACA3-52F4-4979-9615-EEA8C03C22E3}" type="sibTrans" cxnId="{A7EC547D-6D25-47FC-BA92-E8375ED0C54E}">
      <dgm:prSet/>
      <dgm:spPr/>
    </dgm:pt>
    <dgm:pt modelId="{B31D7159-F07C-4897-9279-AB636CB552EC}" type="pres">
      <dgm:prSet presAssocID="{46389006-4297-48A9-957E-04BCD684FD18}" presName="linear" presStyleCnt="0">
        <dgm:presLayoutVars>
          <dgm:animLvl val="lvl"/>
          <dgm:resizeHandles val="exact"/>
        </dgm:presLayoutVars>
      </dgm:prSet>
      <dgm:spPr/>
    </dgm:pt>
    <dgm:pt modelId="{72DC9AD7-2C57-460F-BB2F-527BEE8608DA}" type="pres">
      <dgm:prSet presAssocID="{4DC74E4C-6BBB-4B39-948B-51CBFC4A4DF8}" presName="parentText" presStyleLbl="node1" presStyleIdx="0" presStyleCnt="3">
        <dgm:presLayoutVars>
          <dgm:chMax val="0"/>
          <dgm:bulletEnabled val="1"/>
        </dgm:presLayoutVars>
      </dgm:prSet>
      <dgm:spPr/>
    </dgm:pt>
    <dgm:pt modelId="{3C014F31-1957-470B-92C8-219A19739C73}" type="pres">
      <dgm:prSet presAssocID="{4DC74E4C-6BBB-4B39-948B-51CBFC4A4DF8}" presName="childText" presStyleLbl="revTx" presStyleIdx="0" presStyleCnt="3">
        <dgm:presLayoutVars>
          <dgm:bulletEnabled val="1"/>
        </dgm:presLayoutVars>
      </dgm:prSet>
      <dgm:spPr/>
    </dgm:pt>
    <dgm:pt modelId="{FA671520-BFE9-4716-8765-AA00A00EECC0}" type="pres">
      <dgm:prSet presAssocID="{5A9D3686-878B-445E-9183-128B184A8DAF}" presName="parentText" presStyleLbl="node1" presStyleIdx="1" presStyleCnt="3">
        <dgm:presLayoutVars>
          <dgm:chMax val="0"/>
          <dgm:bulletEnabled val="1"/>
        </dgm:presLayoutVars>
      </dgm:prSet>
      <dgm:spPr/>
    </dgm:pt>
    <dgm:pt modelId="{569D97F2-924C-43CA-9686-0F5B36419820}" type="pres">
      <dgm:prSet presAssocID="{5A9D3686-878B-445E-9183-128B184A8DAF}" presName="childText" presStyleLbl="revTx" presStyleIdx="1" presStyleCnt="3">
        <dgm:presLayoutVars>
          <dgm:bulletEnabled val="1"/>
        </dgm:presLayoutVars>
      </dgm:prSet>
      <dgm:spPr/>
    </dgm:pt>
    <dgm:pt modelId="{BD07EE22-D32F-482B-9E7F-0108DA2A14F2}" type="pres">
      <dgm:prSet presAssocID="{3BEE4407-9332-4C57-9480-0BD379061C37}" presName="parentText" presStyleLbl="node1" presStyleIdx="2" presStyleCnt="3">
        <dgm:presLayoutVars>
          <dgm:chMax val="0"/>
          <dgm:bulletEnabled val="1"/>
        </dgm:presLayoutVars>
      </dgm:prSet>
      <dgm:spPr/>
    </dgm:pt>
    <dgm:pt modelId="{AD667C3C-6062-4B71-A449-8893BD917BF1}" type="pres">
      <dgm:prSet presAssocID="{3BEE4407-9332-4C57-9480-0BD379061C37}" presName="childText" presStyleLbl="revTx" presStyleIdx="2" presStyleCnt="3">
        <dgm:presLayoutVars>
          <dgm:bulletEnabled val="1"/>
        </dgm:presLayoutVars>
      </dgm:prSet>
      <dgm:spPr/>
    </dgm:pt>
  </dgm:ptLst>
  <dgm:cxnLst>
    <dgm:cxn modelId="{67362909-A683-4ED7-AB09-29E71B015793}" type="presOf" srcId="{09A2BB5D-32CD-4EFD-B209-FC4430EE44CC}" destId="{3C014F31-1957-470B-92C8-219A19739C73}" srcOrd="0" destOrd="1" presId="urn:microsoft.com/office/officeart/2005/8/layout/vList2"/>
    <dgm:cxn modelId="{31E3785D-A1ED-469A-AE76-189F313ECDFE}" srcId="{3BEE4407-9332-4C57-9480-0BD379061C37}" destId="{3744D598-39AD-408F-918F-1B3A9DF27072}" srcOrd="2" destOrd="0" parTransId="{BC627B7F-D3DF-442E-98E3-B453A9971E99}" sibTransId="{C096474C-550B-40F0-B982-152ED08A5B0A}"/>
    <dgm:cxn modelId="{7158BC5F-DF95-472F-966A-FA96E8C3D1DE}" type="presOf" srcId="{3744D598-39AD-408F-918F-1B3A9DF27072}" destId="{AD667C3C-6062-4B71-A449-8893BD917BF1}" srcOrd="0" destOrd="2" presId="urn:microsoft.com/office/officeart/2005/8/layout/vList2"/>
    <dgm:cxn modelId="{41093562-C9C7-4C11-B631-A61A15B26A20}" srcId="{3BEE4407-9332-4C57-9480-0BD379061C37}" destId="{A74FCC07-002D-4BE7-B8FD-BBBACBA0D7A2}" srcOrd="1" destOrd="0" parTransId="{C770CD50-62B6-4CDE-A876-1F725517C5FF}" sibTransId="{A86B3233-F756-46C2-9D07-66A7DB416712}"/>
    <dgm:cxn modelId="{D001F34A-A3EF-4C6A-8518-8AEE3EB2A4D0}" type="presOf" srcId="{5A9D3686-878B-445E-9183-128B184A8DAF}" destId="{FA671520-BFE9-4716-8765-AA00A00EECC0}" srcOrd="0" destOrd="0" presId="urn:microsoft.com/office/officeart/2005/8/layout/vList2"/>
    <dgm:cxn modelId="{D755D24B-E401-44BF-A28D-B8109BFAF8CA}" srcId="{5A9D3686-878B-445E-9183-128B184A8DAF}" destId="{A44E6E4C-B5BB-46F9-8671-C6273A0DEF95}" srcOrd="0" destOrd="0" parTransId="{93BCC398-1B98-47EA-9076-2F0EB955E756}" sibTransId="{2D30CB69-19BB-4BC2-B21A-97CD858614FE}"/>
    <dgm:cxn modelId="{E3145D73-33B2-43A4-97D1-8E8E4B4B329B}" type="presOf" srcId="{D99AE3F8-7F48-4C75-8C3B-466986BAB085}" destId="{3C014F31-1957-470B-92C8-219A19739C73}" srcOrd="0" destOrd="0" presId="urn:microsoft.com/office/officeart/2005/8/layout/vList2"/>
    <dgm:cxn modelId="{A7EC547D-6D25-47FC-BA92-E8375ED0C54E}" srcId="{4DC74E4C-6BBB-4B39-948B-51CBFC4A4DF8}" destId="{741B57BC-6D5A-4CD2-B9F8-95AAB7004AC5}" srcOrd="3" destOrd="0" parTransId="{FCF79BF5-CA50-4260-BB45-877D2F06316F}" sibTransId="{2577ACA3-52F4-4979-9615-EEA8C03C22E3}"/>
    <dgm:cxn modelId="{2C29538C-D3E5-4AAD-BAF6-6941CF789F0A}" type="presOf" srcId="{741B57BC-6D5A-4CD2-B9F8-95AAB7004AC5}" destId="{3C014F31-1957-470B-92C8-219A19739C73}" srcOrd="0" destOrd="3" presId="urn:microsoft.com/office/officeart/2005/8/layout/vList2"/>
    <dgm:cxn modelId="{46380D92-7CD4-4EB9-8977-93F91E70E86A}" type="presOf" srcId="{ED0796D8-AB73-4381-9935-B28A472AA032}" destId="{3C014F31-1957-470B-92C8-219A19739C73}" srcOrd="0" destOrd="2" presId="urn:microsoft.com/office/officeart/2005/8/layout/vList2"/>
    <dgm:cxn modelId="{9F119092-B202-43A7-8537-184E13547B8F}" srcId="{3BEE4407-9332-4C57-9480-0BD379061C37}" destId="{056E6498-D95F-4779-957B-AA72E6122940}" srcOrd="0" destOrd="0" parTransId="{A02328E8-3AFB-4EFD-94A3-89B9633C1DEF}" sibTransId="{5B2A285A-B567-4AEE-84D6-19DFB7764C5F}"/>
    <dgm:cxn modelId="{E7A2DC96-6CB6-416A-900D-C7FD3CB418A7}" srcId="{5A9D3686-878B-445E-9183-128B184A8DAF}" destId="{548967FD-91F7-4F45-AA48-5FEE660B790D}" srcOrd="1" destOrd="0" parTransId="{8EEDE338-C090-4BDC-86EB-1D3DE7699F29}" sibTransId="{7526C422-66A8-42A4-B5CA-9AE97DA1ABC3}"/>
    <dgm:cxn modelId="{2289B89D-3F6A-4FD4-80FC-9AEBBE93D4B5}" type="presOf" srcId="{056E6498-D95F-4779-957B-AA72E6122940}" destId="{AD667C3C-6062-4B71-A449-8893BD917BF1}" srcOrd="0" destOrd="0" presId="urn:microsoft.com/office/officeart/2005/8/layout/vList2"/>
    <dgm:cxn modelId="{1C2CB2A3-76B9-4911-9B3E-CB498741BD32}" srcId="{46389006-4297-48A9-957E-04BCD684FD18}" destId="{3BEE4407-9332-4C57-9480-0BD379061C37}" srcOrd="2" destOrd="0" parTransId="{4194FB16-0FEB-4898-91BE-6DA2D0D6CC23}" sibTransId="{ADBF01D7-CB05-461A-9849-3CB7CD65E3F1}"/>
    <dgm:cxn modelId="{7D4EB8AC-0D03-4A3D-805A-2F36BD68A64B}" type="presOf" srcId="{A44E6E4C-B5BB-46F9-8671-C6273A0DEF95}" destId="{569D97F2-924C-43CA-9686-0F5B36419820}" srcOrd="0" destOrd="0" presId="urn:microsoft.com/office/officeart/2005/8/layout/vList2"/>
    <dgm:cxn modelId="{96C013B5-6457-432F-8419-A026319E06FF}" srcId="{46389006-4297-48A9-957E-04BCD684FD18}" destId="{5A9D3686-878B-445E-9183-128B184A8DAF}" srcOrd="1" destOrd="0" parTransId="{5615A22F-77EA-4217-BD6E-EE0E931E595C}" sibTransId="{BD528198-62EE-40CE-B11A-B12417D357EC}"/>
    <dgm:cxn modelId="{3298E9BA-774E-4CF1-B8B5-4498BA47D829}" srcId="{46389006-4297-48A9-957E-04BCD684FD18}" destId="{4DC74E4C-6BBB-4B39-948B-51CBFC4A4DF8}" srcOrd="0" destOrd="0" parTransId="{F0D10889-77C2-4E69-9529-9D13974F81EF}" sibTransId="{EB5B282C-2EEE-440B-83C3-ED7048545583}"/>
    <dgm:cxn modelId="{BC8B87C2-DCE6-41A9-9965-904A5C44E033}" srcId="{4DC74E4C-6BBB-4B39-948B-51CBFC4A4DF8}" destId="{D99AE3F8-7F48-4C75-8C3B-466986BAB085}" srcOrd="0" destOrd="0" parTransId="{20E284C7-7432-4E0B-BA6A-D5F2DF956707}" sibTransId="{637E6350-C208-4862-8711-E3E7EBC46ED7}"/>
    <dgm:cxn modelId="{6A2CA0CB-8CFF-46B3-8B6C-C6619025CAC6}" srcId="{4DC74E4C-6BBB-4B39-948B-51CBFC4A4DF8}" destId="{ED0796D8-AB73-4381-9935-B28A472AA032}" srcOrd="2" destOrd="0" parTransId="{00CE3BF5-CA0B-4E96-9A15-582FCA9DF339}" sibTransId="{413D6327-26BC-42FF-AE34-0503DF268976}"/>
    <dgm:cxn modelId="{E19A9DCD-12F3-4C02-9F66-ADBAF149B90C}" type="presOf" srcId="{A74FCC07-002D-4BE7-B8FD-BBBACBA0D7A2}" destId="{AD667C3C-6062-4B71-A449-8893BD917BF1}" srcOrd="0" destOrd="1" presId="urn:microsoft.com/office/officeart/2005/8/layout/vList2"/>
    <dgm:cxn modelId="{F50DD1D2-54BA-47BB-A83B-DA663FC72492}" srcId="{4DC74E4C-6BBB-4B39-948B-51CBFC4A4DF8}" destId="{09A2BB5D-32CD-4EFD-B209-FC4430EE44CC}" srcOrd="1" destOrd="0" parTransId="{04C90079-CEC5-40F8-BAAE-CC61295D818B}" sibTransId="{351CAE7A-9E39-4A9A-9066-D73FBB062476}"/>
    <dgm:cxn modelId="{D84DE4D5-7323-495E-A48E-17495191F820}" type="presOf" srcId="{3BEE4407-9332-4C57-9480-0BD379061C37}" destId="{BD07EE22-D32F-482B-9E7F-0108DA2A14F2}" srcOrd="0" destOrd="0" presId="urn:microsoft.com/office/officeart/2005/8/layout/vList2"/>
    <dgm:cxn modelId="{407FEDD6-B601-442A-B972-EFE632DB94CD}" type="presOf" srcId="{548967FD-91F7-4F45-AA48-5FEE660B790D}" destId="{569D97F2-924C-43CA-9686-0F5B36419820}" srcOrd="0" destOrd="1" presId="urn:microsoft.com/office/officeart/2005/8/layout/vList2"/>
    <dgm:cxn modelId="{79A907D9-BA76-43D7-BD3B-42BB73D124BC}" type="presOf" srcId="{4DC74E4C-6BBB-4B39-948B-51CBFC4A4DF8}" destId="{72DC9AD7-2C57-460F-BB2F-527BEE8608DA}" srcOrd="0" destOrd="0" presId="urn:microsoft.com/office/officeart/2005/8/layout/vList2"/>
    <dgm:cxn modelId="{1FE9C6F8-3EB2-45C4-A2A8-462C62EA5416}" type="presOf" srcId="{46389006-4297-48A9-957E-04BCD684FD18}" destId="{B31D7159-F07C-4897-9279-AB636CB552EC}" srcOrd="0" destOrd="0" presId="urn:microsoft.com/office/officeart/2005/8/layout/vList2"/>
    <dgm:cxn modelId="{22037C72-0EEC-45C0-AE92-6448CDF4776C}" type="presParOf" srcId="{B31D7159-F07C-4897-9279-AB636CB552EC}" destId="{72DC9AD7-2C57-460F-BB2F-527BEE8608DA}" srcOrd="0" destOrd="0" presId="urn:microsoft.com/office/officeart/2005/8/layout/vList2"/>
    <dgm:cxn modelId="{2929C5FF-8CCA-493F-AD1B-430CEE175DA1}" type="presParOf" srcId="{B31D7159-F07C-4897-9279-AB636CB552EC}" destId="{3C014F31-1957-470B-92C8-219A19739C73}" srcOrd="1" destOrd="0" presId="urn:microsoft.com/office/officeart/2005/8/layout/vList2"/>
    <dgm:cxn modelId="{EC6CBB1C-5EDA-45C1-83BD-8F305A84DA2A}" type="presParOf" srcId="{B31D7159-F07C-4897-9279-AB636CB552EC}" destId="{FA671520-BFE9-4716-8765-AA00A00EECC0}" srcOrd="2" destOrd="0" presId="urn:microsoft.com/office/officeart/2005/8/layout/vList2"/>
    <dgm:cxn modelId="{78D86EF4-5A7D-4D5B-BC97-92F8BF6C137D}" type="presParOf" srcId="{B31D7159-F07C-4897-9279-AB636CB552EC}" destId="{569D97F2-924C-43CA-9686-0F5B36419820}" srcOrd="3" destOrd="0" presId="urn:microsoft.com/office/officeart/2005/8/layout/vList2"/>
    <dgm:cxn modelId="{83D1A677-9574-430A-981F-85D987225813}" type="presParOf" srcId="{B31D7159-F07C-4897-9279-AB636CB552EC}" destId="{BD07EE22-D32F-482B-9E7F-0108DA2A14F2}" srcOrd="4" destOrd="0" presId="urn:microsoft.com/office/officeart/2005/8/layout/vList2"/>
    <dgm:cxn modelId="{C69E0631-562D-4E3B-9844-FB725FFAD696}" type="presParOf" srcId="{B31D7159-F07C-4897-9279-AB636CB552EC}" destId="{AD667C3C-6062-4B71-A449-8893BD917BF1}"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6389006-4297-48A9-957E-04BCD684FD18}" type="doc">
      <dgm:prSet loTypeId="urn:microsoft.com/office/officeart/2005/8/layout/vList2" loCatId="list" qsTypeId="urn:microsoft.com/office/officeart/2005/8/quickstyle/simple1" qsCatId="simple" csTypeId="urn:microsoft.com/office/officeart/2005/8/colors/accent2_2" csCatId="accent2" phldr="1"/>
      <dgm:spPr/>
      <dgm:t>
        <a:bodyPr/>
        <a:lstStyle/>
        <a:p>
          <a:endParaRPr lang="en-US"/>
        </a:p>
      </dgm:t>
    </dgm:pt>
    <dgm:pt modelId="{4DC74E4C-6BBB-4B39-948B-51CBFC4A4DF8}">
      <dgm:prSet/>
      <dgm:spPr/>
      <dgm:t>
        <a:bodyPr/>
        <a:lstStyle/>
        <a:p>
          <a:r>
            <a:rPr lang="en-US"/>
            <a:t>Key Insights</a:t>
          </a:r>
        </a:p>
      </dgm:t>
    </dgm:pt>
    <dgm:pt modelId="{F0D10889-77C2-4E69-9529-9D13974F81EF}" type="parTrans" cxnId="{3298E9BA-774E-4CF1-B8B5-4498BA47D829}">
      <dgm:prSet/>
      <dgm:spPr/>
      <dgm:t>
        <a:bodyPr/>
        <a:lstStyle/>
        <a:p>
          <a:endParaRPr lang="en-US"/>
        </a:p>
      </dgm:t>
    </dgm:pt>
    <dgm:pt modelId="{EB5B282C-2EEE-440B-83C3-ED7048545583}" type="sibTrans" cxnId="{3298E9BA-774E-4CF1-B8B5-4498BA47D829}">
      <dgm:prSet/>
      <dgm:spPr/>
      <dgm:t>
        <a:bodyPr/>
        <a:lstStyle/>
        <a:p>
          <a:endParaRPr lang="en-US"/>
        </a:p>
      </dgm:t>
    </dgm:pt>
    <dgm:pt modelId="{056E6498-D95F-4779-957B-AA72E6122940}">
      <dgm:prSet/>
      <dgm:spPr/>
      <dgm:t>
        <a:bodyPr/>
        <a:lstStyle/>
        <a:p>
          <a:r>
            <a:rPr lang="en-US"/>
            <a:t>Collect more data (if possible) to capture long-term trends and seasonal/cyclical patterns</a:t>
          </a:r>
        </a:p>
      </dgm:t>
    </dgm:pt>
    <dgm:pt modelId="{A02328E8-3AFB-4EFD-94A3-89B9633C1DEF}" type="parTrans" cxnId="{9F119092-B202-43A7-8537-184E13547B8F}">
      <dgm:prSet/>
      <dgm:spPr/>
      <dgm:t>
        <a:bodyPr/>
        <a:lstStyle/>
        <a:p>
          <a:endParaRPr lang="en-US"/>
        </a:p>
      </dgm:t>
    </dgm:pt>
    <dgm:pt modelId="{5B2A285A-B567-4AEE-84D6-19DFB7764C5F}" type="sibTrans" cxnId="{9F119092-B202-43A7-8537-184E13547B8F}">
      <dgm:prSet/>
      <dgm:spPr/>
      <dgm:t>
        <a:bodyPr/>
        <a:lstStyle/>
        <a:p>
          <a:endParaRPr lang="en-US"/>
        </a:p>
      </dgm:t>
    </dgm:pt>
    <dgm:pt modelId="{CE1EE03B-EEE6-4E24-8BDD-8CC1C81E2D5B}">
      <dgm:prSet/>
      <dgm:spPr/>
      <dgm:t>
        <a:bodyPr/>
        <a:lstStyle/>
        <a:p>
          <a:r>
            <a:rPr lang="en-US"/>
            <a:t>Future Work</a:t>
          </a:r>
        </a:p>
      </dgm:t>
    </dgm:pt>
    <dgm:pt modelId="{CA20AF41-8ED2-4F54-BBA1-638D25BD3B47}" type="parTrans" cxnId="{756B48D1-24A6-4461-A762-EB71F4864DB1}">
      <dgm:prSet/>
      <dgm:spPr/>
      <dgm:t>
        <a:bodyPr/>
        <a:lstStyle/>
        <a:p>
          <a:endParaRPr lang="en-US"/>
        </a:p>
      </dgm:t>
    </dgm:pt>
    <dgm:pt modelId="{BB32D584-4D69-4837-91AC-0CF43556D88E}" type="sibTrans" cxnId="{756B48D1-24A6-4461-A762-EB71F4864DB1}">
      <dgm:prSet/>
      <dgm:spPr/>
      <dgm:t>
        <a:bodyPr/>
        <a:lstStyle/>
        <a:p>
          <a:endParaRPr lang="en-US"/>
        </a:p>
      </dgm:t>
    </dgm:pt>
    <dgm:pt modelId="{66D6D789-7A6D-425F-8B69-B75C4BB8C98D}">
      <dgm:prSet/>
      <dgm:spPr/>
      <dgm:t>
        <a:bodyPr/>
        <a:lstStyle/>
        <a:p>
          <a:r>
            <a:rPr lang="en-US"/>
            <a:t>Chronologic data split with disparate training and testing data
Short timespan (December 2024 – February 2025)</a:t>
          </a:r>
        </a:p>
      </dgm:t>
    </dgm:pt>
    <dgm:pt modelId="{9398930A-6703-40D3-8D0A-5A3CDDE756CF}" type="parTrans" cxnId="{CBE9BAED-5ED7-40F8-AE76-8A04FDB75941}">
      <dgm:prSet/>
      <dgm:spPr/>
      <dgm:t>
        <a:bodyPr/>
        <a:lstStyle/>
        <a:p>
          <a:endParaRPr lang="en-US"/>
        </a:p>
      </dgm:t>
    </dgm:pt>
    <dgm:pt modelId="{94BF60AA-85FC-4972-98DB-8DE389447489}" type="sibTrans" cxnId="{CBE9BAED-5ED7-40F8-AE76-8A04FDB75941}">
      <dgm:prSet/>
      <dgm:spPr/>
      <dgm:t>
        <a:bodyPr/>
        <a:lstStyle/>
        <a:p>
          <a:endParaRPr lang="en-US"/>
        </a:p>
      </dgm:t>
    </dgm:pt>
    <dgm:pt modelId="{09A2BB5D-32CD-4EFD-B209-FC4430EE44CC}">
      <dgm:prSet/>
      <dgm:spPr/>
      <dgm:t>
        <a:bodyPr/>
        <a:lstStyle/>
        <a:p>
          <a:r>
            <a:rPr lang="en-US" b="1"/>
            <a:t>Problem framing</a:t>
          </a:r>
          <a:r>
            <a:rPr lang="en-US" b="0"/>
            <a:t> – turning the objective to predict above/below a threshold improved performance and interpretability</a:t>
          </a:r>
          <a:r>
            <a:rPr lang="en-US"/>
            <a:t>
Statistical approach outperformed modern models</a:t>
          </a:r>
        </a:p>
      </dgm:t>
    </dgm:pt>
    <dgm:pt modelId="{04C90079-CEC5-40F8-BAAE-CC61295D818B}" type="parTrans" cxnId="{F50DD1D2-54BA-47BB-A83B-DA663FC72492}">
      <dgm:prSet/>
      <dgm:spPr/>
      <dgm:t>
        <a:bodyPr/>
        <a:lstStyle/>
        <a:p>
          <a:endParaRPr lang="en-US"/>
        </a:p>
      </dgm:t>
    </dgm:pt>
    <dgm:pt modelId="{351CAE7A-9E39-4A9A-9066-D73FBB062476}" type="sibTrans" cxnId="{F50DD1D2-54BA-47BB-A83B-DA663FC72492}">
      <dgm:prSet/>
      <dgm:spPr/>
      <dgm:t>
        <a:bodyPr/>
        <a:lstStyle/>
        <a:p>
          <a:endParaRPr lang="en-US"/>
        </a:p>
      </dgm:t>
    </dgm:pt>
    <dgm:pt modelId="{742E2C71-BF3E-41E7-883B-8342B5AAA4F7}">
      <dgm:prSet/>
      <dgm:spPr/>
      <dgm:t>
        <a:bodyPr/>
        <a:lstStyle/>
        <a:p>
          <a:r>
            <a:rPr lang="en-US"/>
            <a:t>Limitations</a:t>
          </a:r>
        </a:p>
      </dgm:t>
    </dgm:pt>
    <dgm:pt modelId="{DE7DCCCD-14CB-4938-B4C4-5625F46D6B5F}" type="parTrans" cxnId="{9B48E4CE-BC9C-483D-8416-26738D99DDF6}">
      <dgm:prSet/>
      <dgm:spPr/>
      <dgm:t>
        <a:bodyPr/>
        <a:lstStyle/>
        <a:p>
          <a:endParaRPr lang="en-US"/>
        </a:p>
      </dgm:t>
    </dgm:pt>
    <dgm:pt modelId="{5E20C091-157B-4606-8ACE-548A07DF080C}" type="sibTrans" cxnId="{9B48E4CE-BC9C-483D-8416-26738D99DDF6}">
      <dgm:prSet/>
      <dgm:spPr/>
      <dgm:t>
        <a:bodyPr/>
        <a:lstStyle/>
        <a:p>
          <a:endParaRPr lang="en-US"/>
        </a:p>
      </dgm:t>
    </dgm:pt>
    <dgm:pt modelId="{703939C4-CE20-4290-8616-FEA4BFF90634}">
      <dgm:prSet/>
      <dgm:spPr/>
      <dgm:t>
        <a:bodyPr/>
        <a:lstStyle/>
        <a:p>
          <a:r>
            <a:rPr lang="en-US"/>
            <a:t>Expand analyses to different well locations, depths, and experimental phases</a:t>
          </a:r>
        </a:p>
      </dgm:t>
    </dgm:pt>
    <dgm:pt modelId="{ED19F543-E4BA-4350-BD0D-740133658469}" type="parTrans" cxnId="{CEDDB762-D324-44FF-BF87-A01C8985238E}">
      <dgm:prSet/>
      <dgm:spPr/>
      <dgm:t>
        <a:bodyPr/>
        <a:lstStyle/>
        <a:p>
          <a:endParaRPr lang="en-US"/>
        </a:p>
      </dgm:t>
    </dgm:pt>
    <dgm:pt modelId="{E409474E-916F-4289-95CA-9EE7B816B88D}" type="sibTrans" cxnId="{CEDDB762-D324-44FF-BF87-A01C8985238E}">
      <dgm:prSet/>
      <dgm:spPr/>
      <dgm:t>
        <a:bodyPr/>
        <a:lstStyle/>
        <a:p>
          <a:endParaRPr lang="en-US"/>
        </a:p>
      </dgm:t>
    </dgm:pt>
    <dgm:pt modelId="{A74FCC07-002D-4BE7-B8FD-BBBACBA0D7A2}">
      <dgm:prSet/>
      <dgm:spPr/>
      <dgm:t>
        <a:bodyPr/>
        <a:lstStyle/>
        <a:p>
          <a:r>
            <a:rPr lang="en-US"/>
            <a:t>Test viability of using the full, 1-second resolution dataset</a:t>
          </a:r>
        </a:p>
      </dgm:t>
    </dgm:pt>
    <dgm:pt modelId="{C770CD50-62B6-4CDE-A876-1F725517C5FF}" type="parTrans" cxnId="{41093562-C9C7-4C11-B631-A61A15B26A20}">
      <dgm:prSet/>
      <dgm:spPr/>
      <dgm:t>
        <a:bodyPr/>
        <a:lstStyle/>
        <a:p>
          <a:endParaRPr lang="en-US"/>
        </a:p>
      </dgm:t>
    </dgm:pt>
    <dgm:pt modelId="{A86B3233-F756-46C2-9D07-66A7DB416712}" type="sibTrans" cxnId="{41093562-C9C7-4C11-B631-A61A15B26A20}">
      <dgm:prSet/>
      <dgm:spPr/>
      <dgm:t>
        <a:bodyPr/>
        <a:lstStyle/>
        <a:p>
          <a:endParaRPr lang="en-US"/>
        </a:p>
      </dgm:t>
    </dgm:pt>
    <dgm:pt modelId="{B31D7159-F07C-4897-9279-AB636CB552EC}" type="pres">
      <dgm:prSet presAssocID="{46389006-4297-48A9-957E-04BCD684FD18}" presName="linear" presStyleCnt="0">
        <dgm:presLayoutVars>
          <dgm:animLvl val="lvl"/>
          <dgm:resizeHandles val="exact"/>
        </dgm:presLayoutVars>
      </dgm:prSet>
      <dgm:spPr/>
    </dgm:pt>
    <dgm:pt modelId="{72DC9AD7-2C57-460F-BB2F-527BEE8608DA}" type="pres">
      <dgm:prSet presAssocID="{4DC74E4C-6BBB-4B39-948B-51CBFC4A4DF8}" presName="parentText" presStyleLbl="node1" presStyleIdx="0" presStyleCnt="3">
        <dgm:presLayoutVars>
          <dgm:chMax val="0"/>
          <dgm:bulletEnabled val="1"/>
        </dgm:presLayoutVars>
      </dgm:prSet>
      <dgm:spPr/>
    </dgm:pt>
    <dgm:pt modelId="{3C014F31-1957-470B-92C8-219A19739C73}" type="pres">
      <dgm:prSet presAssocID="{4DC74E4C-6BBB-4B39-948B-51CBFC4A4DF8}" presName="childText" presStyleLbl="revTx" presStyleIdx="0" presStyleCnt="3">
        <dgm:presLayoutVars>
          <dgm:bulletEnabled val="1"/>
        </dgm:presLayoutVars>
      </dgm:prSet>
      <dgm:spPr/>
    </dgm:pt>
    <dgm:pt modelId="{D96A202F-4D6C-4B20-8545-6FC388FC2980}" type="pres">
      <dgm:prSet presAssocID="{742E2C71-BF3E-41E7-883B-8342B5AAA4F7}" presName="parentText" presStyleLbl="node1" presStyleIdx="1" presStyleCnt="3">
        <dgm:presLayoutVars>
          <dgm:chMax val="0"/>
          <dgm:bulletEnabled val="1"/>
        </dgm:presLayoutVars>
      </dgm:prSet>
      <dgm:spPr/>
    </dgm:pt>
    <dgm:pt modelId="{16B9B216-16AC-49E3-93B1-93941A08450B}" type="pres">
      <dgm:prSet presAssocID="{742E2C71-BF3E-41E7-883B-8342B5AAA4F7}" presName="childText" presStyleLbl="revTx" presStyleIdx="1" presStyleCnt="3">
        <dgm:presLayoutVars>
          <dgm:bulletEnabled val="1"/>
        </dgm:presLayoutVars>
      </dgm:prSet>
      <dgm:spPr/>
    </dgm:pt>
    <dgm:pt modelId="{AF3225E7-AE1B-4C0B-A187-31B6153BA9A1}" type="pres">
      <dgm:prSet presAssocID="{CE1EE03B-EEE6-4E24-8BDD-8CC1C81E2D5B}" presName="parentText" presStyleLbl="node1" presStyleIdx="2" presStyleCnt="3">
        <dgm:presLayoutVars>
          <dgm:chMax val="0"/>
          <dgm:bulletEnabled val="1"/>
        </dgm:presLayoutVars>
      </dgm:prSet>
      <dgm:spPr/>
    </dgm:pt>
    <dgm:pt modelId="{07300BBF-9D26-426D-98A3-CD6C8BA6AD4F}" type="pres">
      <dgm:prSet presAssocID="{CE1EE03B-EEE6-4E24-8BDD-8CC1C81E2D5B}" presName="childText" presStyleLbl="revTx" presStyleIdx="2" presStyleCnt="3">
        <dgm:presLayoutVars>
          <dgm:bulletEnabled val="1"/>
        </dgm:presLayoutVars>
      </dgm:prSet>
      <dgm:spPr/>
    </dgm:pt>
  </dgm:ptLst>
  <dgm:cxnLst>
    <dgm:cxn modelId="{D0A2C819-BA5E-4314-8F60-BDB07D260C0A}" type="presOf" srcId="{703939C4-CE20-4290-8616-FEA4BFF90634}" destId="{07300BBF-9D26-426D-98A3-CD6C8BA6AD4F}" srcOrd="0" destOrd="2" presId="urn:microsoft.com/office/officeart/2005/8/layout/vList2"/>
    <dgm:cxn modelId="{846B431D-D46E-4FF1-B159-DCD8A0330E6B}" type="presOf" srcId="{66D6D789-7A6D-425F-8B69-B75C4BB8C98D}" destId="{16B9B216-16AC-49E3-93B1-93941A08450B}" srcOrd="0" destOrd="0" presId="urn:microsoft.com/office/officeart/2005/8/layout/vList2"/>
    <dgm:cxn modelId="{8549BF3E-2476-4FCB-9FDF-F9A26BEC8A56}" type="presOf" srcId="{4DC74E4C-6BBB-4B39-948B-51CBFC4A4DF8}" destId="{72DC9AD7-2C57-460F-BB2F-527BEE8608DA}" srcOrd="0" destOrd="0" presId="urn:microsoft.com/office/officeart/2005/8/layout/vList2"/>
    <dgm:cxn modelId="{41093562-C9C7-4C11-B631-A61A15B26A20}" srcId="{CE1EE03B-EEE6-4E24-8BDD-8CC1C81E2D5B}" destId="{A74FCC07-002D-4BE7-B8FD-BBBACBA0D7A2}" srcOrd="1" destOrd="0" parTransId="{C770CD50-62B6-4CDE-A876-1F725517C5FF}" sibTransId="{A86B3233-F756-46C2-9D07-66A7DB416712}"/>
    <dgm:cxn modelId="{CEDDB762-D324-44FF-BF87-A01C8985238E}" srcId="{CE1EE03B-EEE6-4E24-8BDD-8CC1C81E2D5B}" destId="{703939C4-CE20-4290-8616-FEA4BFF90634}" srcOrd="2" destOrd="0" parTransId="{ED19F543-E4BA-4350-BD0D-740133658469}" sibTransId="{E409474E-916F-4289-95CA-9EE7B816B88D}"/>
    <dgm:cxn modelId="{731B057F-60F5-4A50-B658-C4EA87575C25}" type="presOf" srcId="{742E2C71-BF3E-41E7-883B-8342B5AAA4F7}" destId="{D96A202F-4D6C-4B20-8545-6FC388FC2980}" srcOrd="0" destOrd="0" presId="urn:microsoft.com/office/officeart/2005/8/layout/vList2"/>
    <dgm:cxn modelId="{344C678C-B45E-4AB2-B41D-20C31CE20884}" type="presOf" srcId="{056E6498-D95F-4779-957B-AA72E6122940}" destId="{07300BBF-9D26-426D-98A3-CD6C8BA6AD4F}" srcOrd="0" destOrd="0" presId="urn:microsoft.com/office/officeart/2005/8/layout/vList2"/>
    <dgm:cxn modelId="{9F119092-B202-43A7-8537-184E13547B8F}" srcId="{CE1EE03B-EEE6-4E24-8BDD-8CC1C81E2D5B}" destId="{056E6498-D95F-4779-957B-AA72E6122940}" srcOrd="0" destOrd="0" parTransId="{A02328E8-3AFB-4EFD-94A3-89B9633C1DEF}" sibTransId="{5B2A285A-B567-4AEE-84D6-19DFB7764C5F}"/>
    <dgm:cxn modelId="{DE35399A-EF60-48B0-B369-5CAE8BAB2006}" type="presOf" srcId="{A74FCC07-002D-4BE7-B8FD-BBBACBA0D7A2}" destId="{07300BBF-9D26-426D-98A3-CD6C8BA6AD4F}" srcOrd="0" destOrd="1" presId="urn:microsoft.com/office/officeart/2005/8/layout/vList2"/>
    <dgm:cxn modelId="{3298E9BA-774E-4CF1-B8B5-4498BA47D829}" srcId="{46389006-4297-48A9-957E-04BCD684FD18}" destId="{4DC74E4C-6BBB-4B39-948B-51CBFC4A4DF8}" srcOrd="0" destOrd="0" parTransId="{F0D10889-77C2-4E69-9529-9D13974F81EF}" sibTransId="{EB5B282C-2EEE-440B-83C3-ED7048545583}"/>
    <dgm:cxn modelId="{9B48E4CE-BC9C-483D-8416-26738D99DDF6}" srcId="{46389006-4297-48A9-957E-04BCD684FD18}" destId="{742E2C71-BF3E-41E7-883B-8342B5AAA4F7}" srcOrd="1" destOrd="0" parTransId="{DE7DCCCD-14CB-4938-B4C4-5625F46D6B5F}" sibTransId="{5E20C091-157B-4606-8ACE-548A07DF080C}"/>
    <dgm:cxn modelId="{756B48D1-24A6-4461-A762-EB71F4864DB1}" srcId="{46389006-4297-48A9-957E-04BCD684FD18}" destId="{CE1EE03B-EEE6-4E24-8BDD-8CC1C81E2D5B}" srcOrd="2" destOrd="0" parTransId="{CA20AF41-8ED2-4F54-BBA1-638D25BD3B47}" sibTransId="{BB32D584-4D69-4837-91AC-0CF43556D88E}"/>
    <dgm:cxn modelId="{F50DD1D2-54BA-47BB-A83B-DA663FC72492}" srcId="{4DC74E4C-6BBB-4B39-948B-51CBFC4A4DF8}" destId="{09A2BB5D-32CD-4EFD-B209-FC4430EE44CC}" srcOrd="0" destOrd="0" parTransId="{04C90079-CEC5-40F8-BAAE-CC61295D818B}" sibTransId="{351CAE7A-9E39-4A9A-9066-D73FBB062476}"/>
    <dgm:cxn modelId="{ED6F82DF-0052-43B4-B530-00CD8B6E1E38}" type="presOf" srcId="{CE1EE03B-EEE6-4E24-8BDD-8CC1C81E2D5B}" destId="{AF3225E7-AE1B-4C0B-A187-31B6153BA9A1}" srcOrd="0" destOrd="0" presId="urn:microsoft.com/office/officeart/2005/8/layout/vList2"/>
    <dgm:cxn modelId="{CBE9BAED-5ED7-40F8-AE76-8A04FDB75941}" srcId="{742E2C71-BF3E-41E7-883B-8342B5AAA4F7}" destId="{66D6D789-7A6D-425F-8B69-B75C4BB8C98D}" srcOrd="0" destOrd="0" parTransId="{9398930A-6703-40D3-8D0A-5A3CDDE756CF}" sibTransId="{94BF60AA-85FC-4972-98DB-8DE389447489}"/>
    <dgm:cxn modelId="{9D4050F6-AD15-4D3E-9CB9-BC68C671A3E4}" type="presOf" srcId="{09A2BB5D-32CD-4EFD-B209-FC4430EE44CC}" destId="{3C014F31-1957-470B-92C8-219A19739C73}" srcOrd="0" destOrd="0" presId="urn:microsoft.com/office/officeart/2005/8/layout/vList2"/>
    <dgm:cxn modelId="{1FE9C6F8-3EB2-45C4-A2A8-462C62EA5416}" type="presOf" srcId="{46389006-4297-48A9-957E-04BCD684FD18}" destId="{B31D7159-F07C-4897-9279-AB636CB552EC}" srcOrd="0" destOrd="0" presId="urn:microsoft.com/office/officeart/2005/8/layout/vList2"/>
    <dgm:cxn modelId="{D47C6221-BFB0-40FC-A303-3412DE749CD5}" type="presParOf" srcId="{B31D7159-F07C-4897-9279-AB636CB552EC}" destId="{72DC9AD7-2C57-460F-BB2F-527BEE8608DA}" srcOrd="0" destOrd="0" presId="urn:microsoft.com/office/officeart/2005/8/layout/vList2"/>
    <dgm:cxn modelId="{7FDECCFA-4C3C-4053-B7A7-8316113103B3}" type="presParOf" srcId="{B31D7159-F07C-4897-9279-AB636CB552EC}" destId="{3C014F31-1957-470B-92C8-219A19739C73}" srcOrd="1" destOrd="0" presId="urn:microsoft.com/office/officeart/2005/8/layout/vList2"/>
    <dgm:cxn modelId="{82EBFAE5-A860-4E87-863D-7C33BFB40F5F}" type="presParOf" srcId="{B31D7159-F07C-4897-9279-AB636CB552EC}" destId="{D96A202F-4D6C-4B20-8545-6FC388FC2980}" srcOrd="2" destOrd="0" presId="urn:microsoft.com/office/officeart/2005/8/layout/vList2"/>
    <dgm:cxn modelId="{A783F4BC-E36C-477A-8EF6-F7977FD885AA}" type="presParOf" srcId="{B31D7159-F07C-4897-9279-AB636CB552EC}" destId="{16B9B216-16AC-49E3-93B1-93941A08450B}" srcOrd="3" destOrd="0" presId="urn:microsoft.com/office/officeart/2005/8/layout/vList2"/>
    <dgm:cxn modelId="{4FF8C3B9-3C91-4184-A476-F8204FC108CE}" type="presParOf" srcId="{B31D7159-F07C-4897-9279-AB636CB552EC}" destId="{AF3225E7-AE1B-4C0B-A187-31B6153BA9A1}" srcOrd="4" destOrd="0" presId="urn:microsoft.com/office/officeart/2005/8/layout/vList2"/>
    <dgm:cxn modelId="{EF4AE3FC-A205-4993-AB40-16021ABB50E2}" type="presParOf" srcId="{B31D7159-F07C-4897-9279-AB636CB552EC}" destId="{07300BBF-9D26-426D-98A3-CD6C8BA6AD4F}"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DC9AD7-2C57-460F-BB2F-527BEE8608DA}">
      <dsp:nvSpPr>
        <dsp:cNvPr id="0" name=""/>
        <dsp:cNvSpPr/>
      </dsp:nvSpPr>
      <dsp:spPr>
        <a:xfrm>
          <a:off x="0" y="84962"/>
          <a:ext cx="9524597" cy="585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Problem</a:t>
          </a:r>
        </a:p>
      </dsp:txBody>
      <dsp:txXfrm>
        <a:off x="28557" y="113519"/>
        <a:ext cx="9467483" cy="527886"/>
      </dsp:txXfrm>
    </dsp:sp>
    <dsp:sp modelId="{3C014F31-1957-470B-92C8-219A19739C73}">
      <dsp:nvSpPr>
        <dsp:cNvPr id="0" name=""/>
        <dsp:cNvSpPr/>
      </dsp:nvSpPr>
      <dsp:spPr>
        <a:xfrm>
          <a:off x="0" y="669962"/>
          <a:ext cx="9524597" cy="1449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2406"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b="1" kern="1200"/>
            <a:t>Fracture Thermal Energy Storage (FTES) </a:t>
          </a:r>
          <a:r>
            <a:rPr lang="en-US" sz="2000" kern="1200"/>
            <a:t>stores heat underground by injecting warm water into subsurface rock and recovering it through nearby production wells.
Effective operation requires forecasting rising injection pressures and changes in produced water temperature and flow, which impact heat recovery</a:t>
          </a:r>
        </a:p>
      </dsp:txBody>
      <dsp:txXfrm>
        <a:off x="0" y="669962"/>
        <a:ext cx="9524597" cy="1449000"/>
      </dsp:txXfrm>
    </dsp:sp>
    <dsp:sp modelId="{D96A202F-4D6C-4B20-8545-6FC388FC2980}">
      <dsp:nvSpPr>
        <dsp:cNvPr id="0" name=""/>
        <dsp:cNvSpPr/>
      </dsp:nvSpPr>
      <dsp:spPr>
        <a:xfrm>
          <a:off x="0" y="2118962"/>
          <a:ext cx="9524597" cy="585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Goal</a:t>
          </a:r>
        </a:p>
      </dsp:txBody>
      <dsp:txXfrm>
        <a:off x="28557" y="2147519"/>
        <a:ext cx="9467483" cy="527886"/>
      </dsp:txXfrm>
    </dsp:sp>
    <dsp:sp modelId="{16B9B216-16AC-49E3-93B1-93941A08450B}">
      <dsp:nvSpPr>
        <dsp:cNvPr id="0" name=""/>
        <dsp:cNvSpPr/>
      </dsp:nvSpPr>
      <dsp:spPr>
        <a:xfrm>
          <a:off x="0" y="2703962"/>
          <a:ext cx="9524597" cy="1449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2406"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t>Develop a causal, short-horizon forecasting model that predicts </a:t>
          </a:r>
          <a:r>
            <a:rPr lang="en-US" sz="2000" b="1" kern="1200"/>
            <a:t>TC-well injection interval pressure</a:t>
          </a:r>
          <a:r>
            <a:rPr lang="en-US" sz="2000" kern="1200"/>
            <a:t>, as well as </a:t>
          </a:r>
          <a:r>
            <a:rPr lang="en-US" sz="2000" b="1" kern="1200"/>
            <a:t>TN/TL-well production temperature and flow</a:t>
          </a:r>
          <a:r>
            <a:rPr lang="en-US" sz="2000" kern="1200"/>
            <a:t> during hot-water injection and ambient-water recirculation operations
Provide early warning of pump-limit pressure escalation and shifts in recoverable thermal output</a:t>
          </a:r>
        </a:p>
      </dsp:txBody>
      <dsp:txXfrm>
        <a:off x="0" y="2703962"/>
        <a:ext cx="9524597" cy="1449000"/>
      </dsp:txXfrm>
    </dsp:sp>
    <dsp:sp modelId="{AF3225E7-AE1B-4C0B-A187-31B6153BA9A1}">
      <dsp:nvSpPr>
        <dsp:cNvPr id="0" name=""/>
        <dsp:cNvSpPr/>
      </dsp:nvSpPr>
      <dsp:spPr>
        <a:xfrm>
          <a:off x="0" y="4152962"/>
          <a:ext cx="9524597" cy="585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Success Criteria</a:t>
          </a:r>
        </a:p>
      </dsp:txBody>
      <dsp:txXfrm>
        <a:off x="28557" y="4181519"/>
        <a:ext cx="9467483" cy="527886"/>
      </dsp:txXfrm>
    </dsp:sp>
    <dsp:sp modelId="{07300BBF-9D26-426D-98A3-CD6C8BA6AD4F}">
      <dsp:nvSpPr>
        <dsp:cNvPr id="0" name=""/>
        <dsp:cNvSpPr/>
      </dsp:nvSpPr>
      <dsp:spPr>
        <a:xfrm>
          <a:off x="0" y="4737962"/>
          <a:ext cx="9524597" cy="1190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2406"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t>Detect pump-limit pressure escalation or major thermal-output changes with one hour of advance
Maintain reliable and consistent model performance across multiple operating modes</a:t>
          </a:r>
        </a:p>
      </dsp:txBody>
      <dsp:txXfrm>
        <a:off x="0" y="4737962"/>
        <a:ext cx="9524597" cy="11902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BE5F0C-8059-4302-9C7B-55A36B25A4EB}">
      <dsp:nvSpPr>
        <dsp:cNvPr id="0" name=""/>
        <dsp:cNvSpPr/>
      </dsp:nvSpPr>
      <dsp:spPr>
        <a:xfrm>
          <a:off x="0" y="417599"/>
          <a:ext cx="7772400" cy="33264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3225" tIns="499872" rIns="603225" bIns="170688" numCol="1" spcCol="1270" anchor="t" anchorCtr="0">
          <a:noAutofit/>
        </a:bodyPr>
        <a:lstStyle/>
        <a:p>
          <a:pPr marL="228600" lvl="1" indent="-228600" algn="l" defTabSz="1066800">
            <a:lnSpc>
              <a:spcPct val="90000"/>
            </a:lnSpc>
            <a:spcBef>
              <a:spcPct val="0"/>
            </a:spcBef>
            <a:spcAft>
              <a:spcPct val="15000"/>
            </a:spcAft>
            <a:buChar char="•"/>
          </a:pPr>
          <a:r>
            <a:rPr lang="en-US" sz="2400" b="1" kern="1200"/>
            <a:t>Source: </a:t>
          </a:r>
          <a:r>
            <a:rPr lang="en-US" sz="2400" kern="1200"/>
            <a:t>DEMO-FTES Test 1 telemetry dataset from the Sanford Underground Research Facility (SURF)</a:t>
          </a:r>
          <a:r>
            <a:rPr lang="en-US" sz="2400" kern="1200" baseline="30000"/>
            <a:t>1</a:t>
          </a:r>
          <a:r>
            <a:rPr lang="en-US" sz="2400" kern="1200"/>
            <a:t>
</a:t>
          </a:r>
          <a:r>
            <a:rPr lang="en-US" sz="2400" b="1" kern="1200"/>
            <a:t>Size: </a:t>
          </a:r>
          <a:r>
            <a:rPr lang="en-US" sz="2400" kern="1200"/>
            <a:t>Hour-resolution multivariate time-series records collected during test operations.
</a:t>
          </a:r>
          <a:r>
            <a:rPr lang="en-US" sz="2400" b="1" kern="1200"/>
            <a:t>Features: </a:t>
          </a:r>
          <a:r>
            <a:rPr lang="en-US" sz="2400" kern="1200"/>
            <a:t>Water flow, pressure, temperature, and electrical conductivity from injection and production wells.</a:t>
          </a:r>
        </a:p>
      </dsp:txBody>
      <dsp:txXfrm>
        <a:off x="0" y="417599"/>
        <a:ext cx="7772400" cy="3326400"/>
      </dsp:txXfrm>
    </dsp:sp>
    <dsp:sp modelId="{86EF778E-19CA-419C-B3B3-A875992416B4}">
      <dsp:nvSpPr>
        <dsp:cNvPr id="0" name=""/>
        <dsp:cNvSpPr/>
      </dsp:nvSpPr>
      <dsp:spPr>
        <a:xfrm>
          <a:off x="388620" y="63359"/>
          <a:ext cx="5440680" cy="70848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5645" tIns="0" rIns="205645" bIns="0" numCol="1" spcCol="1270" anchor="ctr" anchorCtr="0">
          <a:noAutofit/>
        </a:bodyPr>
        <a:lstStyle/>
        <a:p>
          <a:pPr marL="0" lvl="0" indent="0" algn="l" defTabSz="1066800">
            <a:lnSpc>
              <a:spcPct val="90000"/>
            </a:lnSpc>
            <a:spcBef>
              <a:spcPct val="0"/>
            </a:spcBef>
            <a:spcAft>
              <a:spcPct val="35000"/>
            </a:spcAft>
            <a:buNone/>
          </a:pPr>
          <a:r>
            <a:rPr lang="en-US" sz="2400" b="1" kern="1200"/>
            <a:t>Dataset</a:t>
          </a:r>
          <a:endParaRPr lang="en-US" sz="2400" kern="1200"/>
        </a:p>
      </dsp:txBody>
      <dsp:txXfrm>
        <a:off x="423205" y="97944"/>
        <a:ext cx="5371510" cy="639310"/>
      </dsp:txXfrm>
    </dsp:sp>
    <dsp:sp modelId="{ADE3EEC1-2B04-4978-99AA-B38B828A3E66}">
      <dsp:nvSpPr>
        <dsp:cNvPr id="0" name=""/>
        <dsp:cNvSpPr/>
      </dsp:nvSpPr>
      <dsp:spPr>
        <a:xfrm>
          <a:off x="0" y="4227840"/>
          <a:ext cx="7772400" cy="30240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3225" tIns="499872" rIns="603225"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a:t>Missing or inconsistent sensor values may require cleaning and interpolation
Bias toward a single site and specific operating conditions may limit broader applicability
Limited edge-case coverage for rare pressure spikes, equipment interruptions, or unusual flow behavior</a:t>
          </a:r>
        </a:p>
      </dsp:txBody>
      <dsp:txXfrm>
        <a:off x="0" y="4227840"/>
        <a:ext cx="7772400" cy="3024000"/>
      </dsp:txXfrm>
    </dsp:sp>
    <dsp:sp modelId="{932A5BCC-9B22-47BB-876F-490503FF87FE}">
      <dsp:nvSpPr>
        <dsp:cNvPr id="0" name=""/>
        <dsp:cNvSpPr/>
      </dsp:nvSpPr>
      <dsp:spPr>
        <a:xfrm>
          <a:off x="388620" y="3873600"/>
          <a:ext cx="5440680" cy="70848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5645" tIns="0" rIns="205645" bIns="0" numCol="1" spcCol="1270" anchor="ctr" anchorCtr="0">
          <a:noAutofit/>
        </a:bodyPr>
        <a:lstStyle/>
        <a:p>
          <a:pPr marL="0" lvl="0" indent="0" algn="l" defTabSz="1066800">
            <a:lnSpc>
              <a:spcPct val="90000"/>
            </a:lnSpc>
            <a:spcBef>
              <a:spcPct val="0"/>
            </a:spcBef>
            <a:spcAft>
              <a:spcPct val="35000"/>
            </a:spcAft>
            <a:buNone/>
          </a:pPr>
          <a:r>
            <a:rPr lang="en-US" sz="2400" b="1" kern="1200"/>
            <a:t>Challenges</a:t>
          </a:r>
          <a:endParaRPr lang="en-US" sz="2400" kern="1200"/>
        </a:p>
      </dsp:txBody>
      <dsp:txXfrm>
        <a:off x="423205" y="3908185"/>
        <a:ext cx="5371510" cy="6393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DC9AD7-2C57-460F-BB2F-527BEE8608DA}">
      <dsp:nvSpPr>
        <dsp:cNvPr id="0" name=""/>
        <dsp:cNvSpPr/>
      </dsp:nvSpPr>
      <dsp:spPr>
        <a:xfrm>
          <a:off x="0" y="102646"/>
          <a:ext cx="10156124" cy="6084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a:latin typeface="Arial"/>
            </a:rPr>
            <a:t>Approach</a:t>
          </a:r>
          <a:endParaRPr lang="en-US" sz="2600" kern="1200"/>
        </a:p>
      </dsp:txBody>
      <dsp:txXfrm>
        <a:off x="29700" y="132346"/>
        <a:ext cx="10096724" cy="549000"/>
      </dsp:txXfrm>
    </dsp:sp>
    <dsp:sp modelId="{3C014F31-1957-470B-92C8-219A19739C73}">
      <dsp:nvSpPr>
        <dsp:cNvPr id="0" name=""/>
        <dsp:cNvSpPr/>
      </dsp:nvSpPr>
      <dsp:spPr>
        <a:xfrm>
          <a:off x="0" y="711046"/>
          <a:ext cx="10156124" cy="15607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2457" tIns="33020" rIns="184912" bIns="33020" numCol="1" spcCol="1270" anchor="t" anchorCtr="0">
          <a:noAutofit/>
        </a:bodyPr>
        <a:lstStyle/>
        <a:p>
          <a:pPr marL="228600" lvl="1" indent="-228600" algn="l" defTabSz="889000" rtl="0">
            <a:lnSpc>
              <a:spcPct val="90000"/>
            </a:lnSpc>
            <a:spcBef>
              <a:spcPct val="0"/>
            </a:spcBef>
            <a:spcAft>
              <a:spcPct val="20000"/>
            </a:spcAft>
            <a:buChar char="•"/>
          </a:pPr>
          <a:r>
            <a:rPr lang="en-US" sz="2000" b="0" kern="1200">
              <a:latin typeface="Arial"/>
            </a:rPr>
            <a:t>Started by predicting raw pressure</a:t>
          </a:r>
        </a:p>
        <a:p>
          <a:pPr marL="228600" lvl="1" indent="-228600" algn="l" defTabSz="889000">
            <a:lnSpc>
              <a:spcPct val="90000"/>
            </a:lnSpc>
            <a:spcBef>
              <a:spcPct val="0"/>
            </a:spcBef>
            <a:spcAft>
              <a:spcPct val="20000"/>
            </a:spcAft>
            <a:buChar char="•"/>
          </a:pPr>
          <a:r>
            <a:rPr lang="en-US" sz="2000" b="0" kern="1200">
              <a:latin typeface="Arial"/>
            </a:rPr>
            <a:t>Switched to deterministic prompt architecture; Maps raw sensor data </a:t>
          </a:r>
          <a:r>
            <a:rPr lang="en-US" sz="2000" b="0" kern="1200"/>
            <a:t>to </a:t>
          </a:r>
          <a:r>
            <a:rPr lang="en-US" sz="2000" b="0" kern="1200">
              <a:latin typeface="Arial"/>
            </a:rPr>
            <a:t>six defined pressure regimes (</a:t>
          </a:r>
          <a:r>
            <a:rPr lang="en-US" sz="2000" kern="1200">
              <a:latin typeface="Arial"/>
            </a:rPr>
            <a:t>headroom </a:t>
          </a:r>
          <a:r>
            <a:rPr lang="en-US" sz="2000" b="0" kern="1200"/>
            <a:t>and </a:t>
          </a:r>
          <a:r>
            <a:rPr lang="en-US" sz="2000" kern="1200">
              <a:latin typeface="Arial"/>
            </a:rPr>
            <a:t>stability).</a:t>
          </a:r>
        </a:p>
        <a:p>
          <a:pPr marL="228600" lvl="1" indent="-228600" algn="l" defTabSz="889000">
            <a:lnSpc>
              <a:spcPct val="90000"/>
            </a:lnSpc>
            <a:spcBef>
              <a:spcPct val="0"/>
            </a:spcBef>
            <a:spcAft>
              <a:spcPct val="20000"/>
            </a:spcAft>
            <a:buChar char="•"/>
          </a:pPr>
          <a:r>
            <a:rPr lang="en-US" sz="2000" kern="1200">
              <a:latin typeface="Arial"/>
            </a:rPr>
            <a:t>Structured JSON output</a:t>
          </a:r>
        </a:p>
        <a:p>
          <a:pPr marL="228600" lvl="1" indent="-228600" algn="l" defTabSz="889000">
            <a:lnSpc>
              <a:spcPct val="90000"/>
            </a:lnSpc>
            <a:spcBef>
              <a:spcPct val="0"/>
            </a:spcBef>
            <a:spcAft>
              <a:spcPct val="20000"/>
            </a:spcAft>
            <a:buChar char="•"/>
          </a:pPr>
          <a:endParaRPr lang="en-US" sz="2000" b="0" kern="1200" dirty="0">
            <a:latin typeface="Arial"/>
          </a:endParaRPr>
        </a:p>
      </dsp:txBody>
      <dsp:txXfrm>
        <a:off x="0" y="711046"/>
        <a:ext cx="10156124" cy="1560780"/>
      </dsp:txXfrm>
    </dsp:sp>
    <dsp:sp modelId="{FA671520-BFE9-4716-8765-AA00A00EECC0}">
      <dsp:nvSpPr>
        <dsp:cNvPr id="0" name=""/>
        <dsp:cNvSpPr/>
      </dsp:nvSpPr>
      <dsp:spPr>
        <a:xfrm>
          <a:off x="0" y="2271827"/>
          <a:ext cx="10156124" cy="6084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en-US" sz="2600" b="1" kern="1200">
              <a:latin typeface="Arial"/>
            </a:rPr>
            <a:t>Strategy</a:t>
          </a:r>
          <a:endParaRPr lang="en-US" sz="2600" kern="1200">
            <a:latin typeface="Arial"/>
          </a:endParaRPr>
        </a:p>
      </dsp:txBody>
      <dsp:txXfrm>
        <a:off x="29700" y="2301527"/>
        <a:ext cx="10096724" cy="549000"/>
      </dsp:txXfrm>
    </dsp:sp>
    <dsp:sp modelId="{569D97F2-924C-43CA-9686-0F5B36419820}">
      <dsp:nvSpPr>
        <dsp:cNvPr id="0" name=""/>
        <dsp:cNvSpPr/>
      </dsp:nvSpPr>
      <dsp:spPr>
        <a:xfrm>
          <a:off x="0" y="2880227"/>
          <a:ext cx="10156124" cy="914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2457" tIns="33020" rIns="184912" bIns="33020" numCol="1" spcCol="1270" anchor="t" anchorCtr="0">
          <a:noAutofit/>
        </a:bodyPr>
        <a:lstStyle/>
        <a:p>
          <a:pPr marL="228600" lvl="1" indent="-228600" algn="l" defTabSz="889000" rtl="0">
            <a:lnSpc>
              <a:spcPct val="90000"/>
            </a:lnSpc>
            <a:spcBef>
              <a:spcPct val="0"/>
            </a:spcBef>
            <a:spcAft>
              <a:spcPct val="20000"/>
            </a:spcAft>
            <a:buChar char="•"/>
          </a:pPr>
          <a:r>
            <a:rPr lang="en-US" sz="2000" b="0" kern="1200" dirty="0">
              <a:latin typeface="Arial"/>
            </a:rPr>
            <a:t>Stratified few-shot examples to anchor the model’s confidence scoring across varying levels of pressure volatility.</a:t>
          </a:r>
        </a:p>
        <a:p>
          <a:pPr marL="228600" lvl="1" indent="-228600" algn="l" defTabSz="889000">
            <a:lnSpc>
              <a:spcPct val="90000"/>
            </a:lnSpc>
            <a:spcBef>
              <a:spcPct val="0"/>
            </a:spcBef>
            <a:spcAft>
              <a:spcPct val="20000"/>
            </a:spcAft>
            <a:buChar char="•"/>
          </a:pPr>
          <a:endParaRPr lang="en-US" sz="2000" b="0" kern="1200" dirty="0">
            <a:latin typeface="Arial"/>
          </a:endParaRPr>
        </a:p>
      </dsp:txBody>
      <dsp:txXfrm>
        <a:off x="0" y="2880227"/>
        <a:ext cx="10156124" cy="914940"/>
      </dsp:txXfrm>
    </dsp:sp>
    <dsp:sp modelId="{BD07EE22-D32F-482B-9E7F-0108DA2A14F2}">
      <dsp:nvSpPr>
        <dsp:cNvPr id="0" name=""/>
        <dsp:cNvSpPr/>
      </dsp:nvSpPr>
      <dsp:spPr>
        <a:xfrm>
          <a:off x="0" y="3795167"/>
          <a:ext cx="10156124" cy="6084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en-US" sz="2600" b="1" kern="1200">
              <a:latin typeface="Arial"/>
            </a:rPr>
            <a:t>Final Architecture</a:t>
          </a:r>
          <a:endParaRPr lang="en-US" sz="2600" kern="1200">
            <a:latin typeface="Arial"/>
          </a:endParaRPr>
        </a:p>
      </dsp:txBody>
      <dsp:txXfrm>
        <a:off x="29700" y="3824867"/>
        <a:ext cx="10096724" cy="549000"/>
      </dsp:txXfrm>
    </dsp:sp>
    <dsp:sp modelId="{AD667C3C-6062-4B71-A449-8893BD917BF1}">
      <dsp:nvSpPr>
        <dsp:cNvPr id="0" name=""/>
        <dsp:cNvSpPr/>
      </dsp:nvSpPr>
      <dsp:spPr>
        <a:xfrm>
          <a:off x="0" y="4403567"/>
          <a:ext cx="10156124" cy="1506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2457" tIns="33020" rIns="184912" bIns="33020" numCol="1" spcCol="1270" anchor="t" anchorCtr="0">
          <a:noAutofit/>
        </a:bodyPr>
        <a:lstStyle/>
        <a:p>
          <a:pPr marL="228600" lvl="1" indent="-228600" algn="l" defTabSz="889000" rtl="0">
            <a:lnSpc>
              <a:spcPct val="90000"/>
            </a:lnSpc>
            <a:spcBef>
              <a:spcPct val="0"/>
            </a:spcBef>
            <a:spcAft>
              <a:spcPct val="20000"/>
            </a:spcAft>
            <a:buChar char="•"/>
          </a:pPr>
          <a:r>
            <a:rPr lang="en-US" sz="2000" b="1" kern="1200">
              <a:latin typeface="Arial"/>
            </a:rPr>
            <a:t>Total Tokens:</a:t>
          </a:r>
          <a:r>
            <a:rPr lang="en-US" sz="2000" kern="1200">
              <a:latin typeface="Arial"/>
            </a:rPr>
            <a:t> ~1,300 </a:t>
          </a:r>
          <a:r>
            <a:rPr lang="en-US" sz="2000" kern="1200"/>
            <a:t>(</a:t>
          </a:r>
          <a:r>
            <a:rPr lang="en-US" sz="2000" kern="1200">
              <a:latin typeface="Arial"/>
            </a:rPr>
            <a:t>Standard context window, Fairly large prompt</a:t>
          </a:r>
          <a:r>
            <a:rPr lang="en-US" sz="2000" kern="1200"/>
            <a:t>)</a:t>
          </a:r>
        </a:p>
        <a:p>
          <a:pPr marL="228600" lvl="1" indent="-228600" algn="l" defTabSz="889000">
            <a:lnSpc>
              <a:spcPct val="90000"/>
            </a:lnSpc>
            <a:spcBef>
              <a:spcPct val="0"/>
            </a:spcBef>
            <a:spcAft>
              <a:spcPct val="20000"/>
            </a:spcAft>
            <a:buChar char="•"/>
          </a:pPr>
          <a:r>
            <a:rPr lang="en-US" sz="2000" b="1" kern="1200">
              <a:latin typeface="Arial"/>
            </a:rPr>
            <a:t>Complexity:</a:t>
          </a:r>
          <a:r>
            <a:rPr lang="en-US" sz="2000" kern="1200">
              <a:latin typeface="Arial"/>
            </a:rPr>
            <a:t> Medium (Requires </a:t>
          </a:r>
          <a:r>
            <a:rPr lang="en-US" sz="2000" kern="1200"/>
            <a:t>the </a:t>
          </a:r>
          <a:r>
            <a:rPr lang="en-US" sz="2000" kern="1200">
              <a:latin typeface="Arial"/>
            </a:rPr>
            <a:t>model </a:t>
          </a:r>
          <a:r>
            <a:rPr lang="en-US" sz="2000" kern="1200"/>
            <a:t>to </a:t>
          </a:r>
          <a:r>
            <a:rPr lang="en-US" sz="2000" kern="1200">
              <a:latin typeface="Arial"/>
            </a:rPr>
            <a:t>balance contradictory features like rising pressure vs. active flow reduction).</a:t>
          </a:r>
        </a:p>
        <a:p>
          <a:pPr marL="228600" lvl="1" indent="-228600" algn="l" defTabSz="889000" rtl="0">
            <a:lnSpc>
              <a:spcPct val="90000"/>
            </a:lnSpc>
            <a:spcBef>
              <a:spcPct val="0"/>
            </a:spcBef>
            <a:spcAft>
              <a:spcPct val="20000"/>
            </a:spcAft>
            <a:buChar char="•"/>
          </a:pPr>
          <a:r>
            <a:rPr lang="en-US" sz="2000" b="1" kern="1200" dirty="0">
              <a:latin typeface="Arial"/>
              <a:ea typeface="Calibri"/>
              <a:cs typeface="Arial"/>
            </a:rPr>
            <a:t>Rule-Based Optimization</a:t>
          </a:r>
          <a:r>
            <a:rPr lang="en-US" sz="2000" kern="1200" dirty="0">
              <a:latin typeface="Arial"/>
              <a:ea typeface="Calibri"/>
              <a:cs typeface="Arial"/>
            </a:rPr>
            <a:t>: Implementing explicit decision logic and confidence-weighting increased classification accuracy by &gt;50% compared to first attempts.</a:t>
          </a:r>
          <a:endParaRPr lang="en-US" sz="2000" kern="1200" dirty="0">
            <a:latin typeface="Arial"/>
            <a:cs typeface="Arial"/>
          </a:endParaRPr>
        </a:p>
      </dsp:txBody>
      <dsp:txXfrm>
        <a:off x="0" y="4403567"/>
        <a:ext cx="10156124" cy="15069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DC9AD7-2C57-460F-BB2F-527BEE8608DA}">
      <dsp:nvSpPr>
        <dsp:cNvPr id="0" name=""/>
        <dsp:cNvSpPr/>
      </dsp:nvSpPr>
      <dsp:spPr>
        <a:xfrm>
          <a:off x="0" y="20994"/>
          <a:ext cx="12669078" cy="7722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Key Insights</a:t>
          </a:r>
        </a:p>
      </dsp:txBody>
      <dsp:txXfrm>
        <a:off x="37696" y="58690"/>
        <a:ext cx="12593686" cy="696808"/>
      </dsp:txXfrm>
    </dsp:sp>
    <dsp:sp modelId="{3C014F31-1957-470B-92C8-219A19739C73}">
      <dsp:nvSpPr>
        <dsp:cNvPr id="0" name=""/>
        <dsp:cNvSpPr/>
      </dsp:nvSpPr>
      <dsp:spPr>
        <a:xfrm>
          <a:off x="0" y="793194"/>
          <a:ext cx="12669078" cy="11954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2243" tIns="41910" rIns="234696" bIns="41910" numCol="1" spcCol="1270" anchor="t" anchorCtr="0">
          <a:noAutofit/>
        </a:bodyPr>
        <a:lstStyle/>
        <a:p>
          <a:pPr marL="228600" lvl="1" indent="-228600" algn="l" defTabSz="1155700">
            <a:lnSpc>
              <a:spcPct val="90000"/>
            </a:lnSpc>
            <a:spcBef>
              <a:spcPct val="0"/>
            </a:spcBef>
            <a:spcAft>
              <a:spcPct val="20000"/>
            </a:spcAft>
            <a:buChar char="•"/>
          </a:pPr>
          <a:r>
            <a:rPr lang="en-US" sz="2600" b="1" kern="1200"/>
            <a:t>Problem framing</a:t>
          </a:r>
          <a:r>
            <a:rPr lang="en-US" sz="2600" b="0" kern="1200"/>
            <a:t> – turning the objective to predict above/below a threshold improved performance and interpretability</a:t>
          </a:r>
          <a:r>
            <a:rPr lang="en-US" sz="2600" kern="1200"/>
            <a:t>
Statistical approach outperformed modern models</a:t>
          </a:r>
        </a:p>
      </dsp:txBody>
      <dsp:txXfrm>
        <a:off x="0" y="793194"/>
        <a:ext cx="12669078" cy="1195424"/>
      </dsp:txXfrm>
    </dsp:sp>
    <dsp:sp modelId="{D96A202F-4D6C-4B20-8545-6FC388FC2980}">
      <dsp:nvSpPr>
        <dsp:cNvPr id="0" name=""/>
        <dsp:cNvSpPr/>
      </dsp:nvSpPr>
      <dsp:spPr>
        <a:xfrm>
          <a:off x="0" y="1988619"/>
          <a:ext cx="12669078" cy="7722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Limitations</a:t>
          </a:r>
        </a:p>
      </dsp:txBody>
      <dsp:txXfrm>
        <a:off x="37696" y="2026315"/>
        <a:ext cx="12593686" cy="696808"/>
      </dsp:txXfrm>
    </dsp:sp>
    <dsp:sp modelId="{16B9B216-16AC-49E3-93B1-93941A08450B}">
      <dsp:nvSpPr>
        <dsp:cNvPr id="0" name=""/>
        <dsp:cNvSpPr/>
      </dsp:nvSpPr>
      <dsp:spPr>
        <a:xfrm>
          <a:off x="0" y="2760819"/>
          <a:ext cx="12669078" cy="853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2243" tIns="41910" rIns="234696" bIns="41910" numCol="1" spcCol="1270" anchor="t" anchorCtr="0">
          <a:noAutofit/>
        </a:bodyPr>
        <a:lstStyle/>
        <a:p>
          <a:pPr marL="228600" lvl="1" indent="-228600" algn="l" defTabSz="1155700">
            <a:lnSpc>
              <a:spcPct val="90000"/>
            </a:lnSpc>
            <a:spcBef>
              <a:spcPct val="0"/>
            </a:spcBef>
            <a:spcAft>
              <a:spcPct val="20000"/>
            </a:spcAft>
            <a:buChar char="•"/>
          </a:pPr>
          <a:r>
            <a:rPr lang="en-US" sz="2600" kern="1200"/>
            <a:t>Chronologic data split with disparate training and testing data
Short timespan (December 2024 – February 2025)</a:t>
          </a:r>
        </a:p>
      </dsp:txBody>
      <dsp:txXfrm>
        <a:off x="0" y="2760819"/>
        <a:ext cx="12669078" cy="853875"/>
      </dsp:txXfrm>
    </dsp:sp>
    <dsp:sp modelId="{AF3225E7-AE1B-4C0B-A187-31B6153BA9A1}">
      <dsp:nvSpPr>
        <dsp:cNvPr id="0" name=""/>
        <dsp:cNvSpPr/>
      </dsp:nvSpPr>
      <dsp:spPr>
        <a:xfrm>
          <a:off x="0" y="3614694"/>
          <a:ext cx="12669078" cy="7722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Future Work</a:t>
          </a:r>
        </a:p>
      </dsp:txBody>
      <dsp:txXfrm>
        <a:off x="37696" y="3652390"/>
        <a:ext cx="12593686" cy="696808"/>
      </dsp:txXfrm>
    </dsp:sp>
    <dsp:sp modelId="{07300BBF-9D26-426D-98A3-CD6C8BA6AD4F}">
      <dsp:nvSpPr>
        <dsp:cNvPr id="0" name=""/>
        <dsp:cNvSpPr/>
      </dsp:nvSpPr>
      <dsp:spPr>
        <a:xfrm>
          <a:off x="0" y="4386894"/>
          <a:ext cx="12669078" cy="16052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2243" tIns="41910" rIns="234696" bIns="41910" numCol="1" spcCol="1270" anchor="t" anchorCtr="0">
          <a:noAutofit/>
        </a:bodyPr>
        <a:lstStyle/>
        <a:p>
          <a:pPr marL="228600" lvl="1" indent="-228600" algn="l" defTabSz="1155700">
            <a:lnSpc>
              <a:spcPct val="90000"/>
            </a:lnSpc>
            <a:spcBef>
              <a:spcPct val="0"/>
            </a:spcBef>
            <a:spcAft>
              <a:spcPct val="20000"/>
            </a:spcAft>
            <a:buChar char="•"/>
          </a:pPr>
          <a:r>
            <a:rPr lang="en-US" sz="2600" kern="1200"/>
            <a:t>Collect more data (if possible) to capture long-term trends and seasonal/cyclical patterns</a:t>
          </a:r>
        </a:p>
        <a:p>
          <a:pPr marL="228600" lvl="1" indent="-228600" algn="l" defTabSz="1155700">
            <a:lnSpc>
              <a:spcPct val="90000"/>
            </a:lnSpc>
            <a:spcBef>
              <a:spcPct val="0"/>
            </a:spcBef>
            <a:spcAft>
              <a:spcPct val="20000"/>
            </a:spcAft>
            <a:buChar char="•"/>
          </a:pPr>
          <a:r>
            <a:rPr lang="en-US" sz="2600" kern="1200"/>
            <a:t>Test viability of using the full, 1-second resolution dataset</a:t>
          </a:r>
        </a:p>
        <a:p>
          <a:pPr marL="228600" lvl="1" indent="-228600" algn="l" defTabSz="1155700">
            <a:lnSpc>
              <a:spcPct val="90000"/>
            </a:lnSpc>
            <a:spcBef>
              <a:spcPct val="0"/>
            </a:spcBef>
            <a:spcAft>
              <a:spcPct val="20000"/>
            </a:spcAft>
            <a:buChar char="•"/>
          </a:pPr>
          <a:r>
            <a:rPr lang="en-US" sz="2600" kern="1200"/>
            <a:t>Expand analyses to different well locations, depths, and experimental phases</a:t>
          </a:r>
        </a:p>
      </dsp:txBody>
      <dsp:txXfrm>
        <a:off x="0" y="4386894"/>
        <a:ext cx="12669078" cy="160528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A69A9C-1087-184F-8370-423E175D9D7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9090E3D-F5E5-0D40-B323-A25B85CF9E8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6E50B8-2EF8-564F-AE86-D84E6C503530}" type="datetimeFigureOut">
              <a:rPr lang="en-US" smtClean="0"/>
              <a:t>4/23/2026</a:t>
            </a:fld>
            <a:endParaRPr lang="en-US"/>
          </a:p>
        </p:txBody>
      </p:sp>
      <p:sp>
        <p:nvSpPr>
          <p:cNvPr id="4" name="Footer Placeholder 3">
            <a:extLst>
              <a:ext uri="{FF2B5EF4-FFF2-40B4-BE49-F238E27FC236}">
                <a16:creationId xmlns:a16="http://schemas.microsoft.com/office/drawing/2014/main" id="{64E3AA97-2F38-5340-B685-1E0EA3E358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2B732F3-25A6-284F-A24C-5FD21AE6BE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4078BA3-E235-9946-9A4D-07E907F688D0}" type="slidenum">
              <a:rPr lang="en-US" smtClean="0"/>
              <a:t>‹#›</a:t>
            </a:fld>
            <a:endParaRPr lang="en-US"/>
          </a:p>
        </p:txBody>
      </p:sp>
    </p:spTree>
    <p:extLst>
      <p:ext uri="{BB962C8B-B14F-4D97-AF65-F5344CB8AC3E}">
        <p14:creationId xmlns:p14="http://schemas.microsoft.com/office/powerpoint/2010/main" val="41940003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AC8D20-1945-7145-91A2-3D134BDA25E2}"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0104DB-87CA-D64F-AB86-DB2520DDF5D7}" type="slidenum">
              <a:rPr lang="en-US" smtClean="0"/>
              <a:t>‹#›</a:t>
            </a:fld>
            <a:endParaRPr lang="en-US"/>
          </a:p>
        </p:txBody>
      </p:sp>
    </p:spTree>
    <p:extLst>
      <p:ext uri="{BB962C8B-B14F-4D97-AF65-F5344CB8AC3E}">
        <p14:creationId xmlns:p14="http://schemas.microsoft.com/office/powerpoint/2010/main" val="3614055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0104DB-87CA-D64F-AB86-DB2520DDF5D7}" type="slidenum">
              <a:rPr lang="en-US" smtClean="0"/>
              <a:t>1</a:t>
            </a:fld>
            <a:endParaRPr lang="en-US"/>
          </a:p>
        </p:txBody>
      </p:sp>
    </p:spTree>
    <p:extLst>
      <p:ext uri="{BB962C8B-B14F-4D97-AF65-F5344CB8AC3E}">
        <p14:creationId xmlns:p14="http://schemas.microsoft.com/office/powerpoint/2010/main" val="3941861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Notes: The problem we addressed is [problem], which leads to [impact].</a:t>
            </a:r>
            <a:br>
              <a:rPr lang="en-US"/>
            </a:br>
            <a:r>
              <a:rPr lang="en-US"/>
              <a:t>Our goal was to build a model that can [task].</a:t>
            </a:r>
            <a:br>
              <a:rPr lang="en-US"/>
            </a:br>
            <a:r>
              <a:rPr lang="en-US"/>
              <a:t>We defined success using [metric], while also ensuring results were consistent and comparable across ML and LLM approaches.</a:t>
            </a:r>
          </a:p>
        </p:txBody>
      </p:sp>
      <p:sp>
        <p:nvSpPr>
          <p:cNvPr id="4" name="Slide Number Placeholder 3"/>
          <p:cNvSpPr>
            <a:spLocks noGrp="1"/>
          </p:cNvSpPr>
          <p:nvPr>
            <p:ph type="sldNum" sz="quarter" idx="5"/>
          </p:nvPr>
        </p:nvSpPr>
        <p:spPr/>
        <p:txBody>
          <a:bodyPr/>
          <a:lstStyle/>
          <a:p>
            <a:fld id="{710104DB-87CA-D64F-AB86-DB2520DDF5D7}" type="slidenum">
              <a:rPr lang="en-US" smtClean="0"/>
              <a:t>2</a:t>
            </a:fld>
            <a:endParaRPr lang="en-US"/>
          </a:p>
        </p:txBody>
      </p:sp>
    </p:spTree>
    <p:extLst>
      <p:ext uri="{BB962C8B-B14F-4D97-AF65-F5344CB8AC3E}">
        <p14:creationId xmlns:p14="http://schemas.microsoft.com/office/powerpoint/2010/main" val="282752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Notes: We used [dataset], which includes [key features].</a:t>
            </a:r>
            <a:br>
              <a:rPr lang="en-US"/>
            </a:br>
            <a:r>
              <a:rPr lang="en-US"/>
              <a:t>However, we encountered challenges such as missing values and potential bias in [area].</a:t>
            </a:r>
            <a:br>
              <a:rPr lang="en-US"/>
            </a:br>
            <a:r>
              <a:rPr lang="en-US"/>
              <a:t>These issues directly influenced how we prepared the data and selected our models.</a:t>
            </a:r>
          </a:p>
        </p:txBody>
      </p:sp>
      <p:sp>
        <p:nvSpPr>
          <p:cNvPr id="4" name="Slide Number Placeholder 3"/>
          <p:cNvSpPr>
            <a:spLocks noGrp="1"/>
          </p:cNvSpPr>
          <p:nvPr>
            <p:ph type="sldNum" sz="quarter" idx="5"/>
          </p:nvPr>
        </p:nvSpPr>
        <p:spPr/>
        <p:txBody>
          <a:bodyPr/>
          <a:lstStyle/>
          <a:p>
            <a:fld id="{710104DB-87CA-D64F-AB86-DB2520DDF5D7}" type="slidenum">
              <a:rPr lang="en-US" smtClean="0"/>
              <a:t>3</a:t>
            </a:fld>
            <a:endParaRPr lang="en-US"/>
          </a:p>
        </p:txBody>
      </p:sp>
    </p:spTree>
    <p:extLst>
      <p:ext uri="{BB962C8B-B14F-4D97-AF65-F5344CB8AC3E}">
        <p14:creationId xmlns:p14="http://schemas.microsoft.com/office/powerpoint/2010/main" val="832219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9351D-F769-8992-51FE-1C93CD976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2B48B4-F194-DB9B-0CF6-F878BBF70C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69E5FD-646F-C7E4-DB85-FF184CACDE09}"/>
              </a:ext>
            </a:extLst>
          </p:cNvPr>
          <p:cNvSpPr>
            <a:spLocks noGrp="1"/>
          </p:cNvSpPr>
          <p:nvPr>
            <p:ph type="body" idx="1"/>
          </p:nvPr>
        </p:nvSpPr>
        <p:spPr/>
        <p:txBody>
          <a:bodyPr/>
          <a:lstStyle/>
          <a:p>
            <a:r>
              <a:rPr lang="en-US">
                <a:ea typeface="Calibri"/>
                <a:cs typeface="Calibri"/>
              </a:rPr>
              <a:t>Hot water injection phase (only a portion of the field data, but when sensors show variability).</a:t>
            </a:r>
          </a:p>
          <a:p>
            <a:r>
              <a:rPr lang="en-US">
                <a:ea typeface="Calibri"/>
                <a:cs typeface="Calibri"/>
              </a:rPr>
              <a:t>Color shading indicates Train, Test, Validation split</a:t>
            </a:r>
          </a:p>
          <a:p>
            <a:r>
              <a:rPr lang="en-US">
                <a:ea typeface="Calibri"/>
                <a:cs typeface="Calibri"/>
              </a:rPr>
              <a:t>Note different operational regime for each phase (trouble splitting data). Testing/Validation outside training magnitude.</a:t>
            </a:r>
          </a:p>
          <a:p>
            <a:r>
              <a:rPr lang="en-US">
                <a:ea typeface="Calibri"/>
                <a:cs typeface="Calibri"/>
              </a:rPr>
              <a:t>Little injection variation (few step reductions)</a:t>
            </a:r>
          </a:p>
          <a:p>
            <a:r>
              <a:rPr lang="en-US">
                <a:ea typeface="Calibri"/>
                <a:cs typeface="Calibri"/>
              </a:rPr>
              <a:t>Single operational test (near constant rising pressure) so we couldn't train on one injection period and test on another. We split a single continuous field test.</a:t>
            </a:r>
          </a:p>
          <a:p>
            <a:r>
              <a:rPr lang="en-US">
                <a:ea typeface="Calibri"/>
                <a:cs typeface="Calibri"/>
              </a:rPr>
              <a:t>~5,000 psi is the threshold where they reduce flow</a:t>
            </a:r>
          </a:p>
        </p:txBody>
      </p:sp>
      <p:sp>
        <p:nvSpPr>
          <p:cNvPr id="4" name="Slide Number Placeholder 3">
            <a:extLst>
              <a:ext uri="{FF2B5EF4-FFF2-40B4-BE49-F238E27FC236}">
                <a16:creationId xmlns:a16="http://schemas.microsoft.com/office/drawing/2014/main" id="{F08BB724-B94F-D840-3348-FF7E4A33D9C9}"/>
              </a:ext>
            </a:extLst>
          </p:cNvPr>
          <p:cNvSpPr>
            <a:spLocks noGrp="1"/>
          </p:cNvSpPr>
          <p:nvPr>
            <p:ph type="sldNum" sz="quarter" idx="5"/>
          </p:nvPr>
        </p:nvSpPr>
        <p:spPr/>
        <p:txBody>
          <a:bodyPr/>
          <a:lstStyle/>
          <a:p>
            <a:fld id="{710104DB-87CA-D64F-AB86-DB2520DDF5D7}" type="slidenum">
              <a:rPr lang="en-US" smtClean="0"/>
              <a:t>4</a:t>
            </a:fld>
            <a:endParaRPr lang="en-US"/>
          </a:p>
        </p:txBody>
      </p:sp>
    </p:spTree>
    <p:extLst>
      <p:ext uri="{BB962C8B-B14F-4D97-AF65-F5344CB8AC3E}">
        <p14:creationId xmlns:p14="http://schemas.microsoft.com/office/powerpoint/2010/main" val="1088120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Left -&gt; right increases in model complexity</a:t>
            </a:r>
          </a:p>
          <a:p>
            <a:r>
              <a:rPr lang="en-US"/>
              <a:t>Kalman filter serves as </a:t>
            </a:r>
            <a:r>
              <a:rPr lang="en-US" sz="1200" b="0" i="0" kern="1200">
                <a:solidFill>
                  <a:schemeClr val="tx1"/>
                </a:solidFill>
                <a:effectLst/>
                <a:latin typeface="+mn-lt"/>
                <a:ea typeface="+mn-ea"/>
                <a:cs typeface="+mn-cs"/>
              </a:rPr>
              <a:t>principled classical reference point to evaluate whether machine learning models offer genuine predictive improvements for this short-horizon forecasting task.</a:t>
            </a:r>
            <a:endParaRPr lang="en-US"/>
          </a:p>
        </p:txBody>
      </p:sp>
      <p:sp>
        <p:nvSpPr>
          <p:cNvPr id="4" name="Slide Number Placeholder 3"/>
          <p:cNvSpPr>
            <a:spLocks noGrp="1"/>
          </p:cNvSpPr>
          <p:nvPr>
            <p:ph type="sldNum" sz="quarter" idx="5"/>
          </p:nvPr>
        </p:nvSpPr>
        <p:spPr/>
        <p:txBody>
          <a:bodyPr/>
          <a:lstStyle/>
          <a:p>
            <a:fld id="{710104DB-87CA-D64F-AB86-DB2520DDF5D7}" type="slidenum">
              <a:rPr lang="en-US" smtClean="0"/>
              <a:t>5</a:t>
            </a:fld>
            <a:endParaRPr lang="en-US"/>
          </a:p>
        </p:txBody>
      </p:sp>
    </p:spTree>
    <p:extLst>
      <p:ext uri="{BB962C8B-B14F-4D97-AF65-F5344CB8AC3E}">
        <p14:creationId xmlns:p14="http://schemas.microsoft.com/office/powerpoint/2010/main" val="25803404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1AF99-54CD-FDFC-0D1A-A876EE3C1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F8A457-2A11-F121-EEE6-93D0CF1BE8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F0AD27-2642-D1B3-6E50-3DD92CBDC035}"/>
              </a:ext>
            </a:extLst>
          </p:cNvPr>
          <p:cNvSpPr>
            <a:spLocks noGrp="1"/>
          </p:cNvSpPr>
          <p:nvPr>
            <p:ph type="body" idx="1"/>
          </p:nvPr>
        </p:nvSpPr>
        <p:spPr/>
        <p:txBody>
          <a:bodyPr/>
          <a:lstStyle/>
          <a:p>
            <a:r>
              <a:rPr lang="en-US">
                <a:ea typeface="Calibri"/>
                <a:cs typeface="Calibri"/>
              </a:rPr>
              <a:t>We did some prediction of pressure values. Largely switched to pressure threshold prediction (above or below 5,000 PSI)</a:t>
            </a:r>
            <a:endParaRPr lang="en-US"/>
          </a:p>
          <a:p>
            <a:r>
              <a:rPr lang="en-US"/>
              <a:t>Simple input features for Kalman filter</a:t>
            </a:r>
          </a:p>
          <a:p>
            <a:r>
              <a:rPr lang="en-US">
                <a:ea typeface="Calibri"/>
                <a:cs typeface="Calibri"/>
              </a:rPr>
              <a:t>Additional engineered features (lag, rate of change, distance to pressure threshold) for XGB and LSTM</a:t>
            </a:r>
          </a:p>
          <a:p>
            <a:r>
              <a:rPr lang="en-US">
                <a:ea typeface="Calibri"/>
                <a:cs typeface="Calibri"/>
              </a:rPr>
              <a:t>Calculated regime labels for LLM (more success than relying on LLM arithmetic)</a:t>
            </a:r>
          </a:p>
          <a:p>
            <a:r>
              <a:rPr lang="en-US">
                <a:ea typeface="Calibri"/>
                <a:cs typeface="Calibri"/>
              </a:rPr>
              <a:t>These includes bins for distance to threshold (close vs far) and crossing likelihood based on rate of change and distance. Affects confidence.</a:t>
            </a:r>
          </a:p>
          <a:p>
            <a:r>
              <a:rPr lang="en-US">
                <a:ea typeface="Calibri"/>
                <a:cs typeface="Calibri"/>
              </a:rPr>
              <a:t>Example: </a:t>
            </a:r>
            <a:r>
              <a:rPr lang="en-US" err="1"/>
              <a:t>rising_soon</a:t>
            </a:r>
            <a:r>
              <a:rPr lang="en-US"/>
              <a:t> : Below alert, but threshold reachable within 24h at current rate : Above likely at +12h and +24h</a:t>
            </a:r>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1E33D622-D833-BC2A-3E4C-BCD067A3058E}"/>
              </a:ext>
            </a:extLst>
          </p:cNvPr>
          <p:cNvSpPr>
            <a:spLocks noGrp="1"/>
          </p:cNvSpPr>
          <p:nvPr>
            <p:ph type="sldNum" sz="quarter" idx="5"/>
          </p:nvPr>
        </p:nvSpPr>
        <p:spPr/>
        <p:txBody>
          <a:bodyPr/>
          <a:lstStyle/>
          <a:p>
            <a:fld id="{710104DB-87CA-D64F-AB86-DB2520DDF5D7}" type="slidenum">
              <a:rPr lang="en-US" smtClean="0"/>
              <a:t>6</a:t>
            </a:fld>
            <a:endParaRPr lang="en-US"/>
          </a:p>
        </p:txBody>
      </p:sp>
    </p:spTree>
    <p:extLst>
      <p:ext uri="{BB962C8B-B14F-4D97-AF65-F5344CB8AC3E}">
        <p14:creationId xmlns:p14="http://schemas.microsoft.com/office/powerpoint/2010/main" val="4116379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Only test set is shown, but model was trained on much lower injection pressure values.</a:t>
            </a:r>
          </a:p>
          <a:p>
            <a:r>
              <a:rPr lang="en-US"/>
              <a:t>Approach 1 overshoots changes, approach 2 matches baseline (learning to predict no change to minimize error)</a:t>
            </a:r>
          </a:p>
          <a:p>
            <a:r>
              <a:rPr lang="en-US"/>
              <a:t>Both </a:t>
            </a:r>
            <a:r>
              <a:rPr lang="en-US" err="1"/>
              <a:t>XGBoost</a:t>
            </a:r>
            <a:r>
              <a:rPr lang="en-US"/>
              <a:t> approaches not ideal</a:t>
            </a:r>
          </a:p>
        </p:txBody>
      </p:sp>
      <p:sp>
        <p:nvSpPr>
          <p:cNvPr id="4" name="Slide Number Placeholder 3"/>
          <p:cNvSpPr>
            <a:spLocks noGrp="1"/>
          </p:cNvSpPr>
          <p:nvPr>
            <p:ph type="sldNum" sz="quarter" idx="5"/>
          </p:nvPr>
        </p:nvSpPr>
        <p:spPr/>
        <p:txBody>
          <a:bodyPr/>
          <a:lstStyle/>
          <a:p>
            <a:fld id="{710104DB-87CA-D64F-AB86-DB2520DDF5D7}" type="slidenum">
              <a:rPr lang="en-US" smtClean="0"/>
              <a:t>7</a:t>
            </a:fld>
            <a:endParaRPr lang="en-US"/>
          </a:p>
        </p:txBody>
      </p:sp>
    </p:spTree>
    <p:extLst>
      <p:ext uri="{BB962C8B-B14F-4D97-AF65-F5344CB8AC3E}">
        <p14:creationId xmlns:p14="http://schemas.microsoft.com/office/powerpoint/2010/main" val="26956808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C399E-1DBD-2F19-584B-EC358CD7A9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299AD2-AAD8-DF4B-6D5F-E0BC888F14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8C848-79A0-E84F-62E5-3A679D274B47}"/>
              </a:ext>
            </a:extLst>
          </p:cNvPr>
          <p:cNvSpPr>
            <a:spLocks noGrp="1"/>
          </p:cNvSpPr>
          <p:nvPr>
            <p:ph type="body" idx="1"/>
          </p:nvPr>
        </p:nvSpPr>
        <p:spPr/>
        <p:txBody>
          <a:bodyPr/>
          <a:lstStyle/>
          <a:p>
            <a:r>
              <a:rPr lang="en-US"/>
              <a:t>Kalman Filter. + 6hr forecast shown. Note accurate timing, but inaccurate magnitude. </a:t>
            </a:r>
          </a:p>
          <a:p>
            <a:r>
              <a:rPr lang="en-US">
                <a:ea typeface="Calibri"/>
                <a:cs typeface="Calibri"/>
              </a:rPr>
              <a:t>Model "overreacts" to changes in flow</a:t>
            </a:r>
          </a:p>
          <a:p>
            <a:r>
              <a:rPr lang="en-US">
                <a:ea typeface="Calibri"/>
                <a:cs typeface="Calibri"/>
              </a:rPr>
              <a:t>Switch to threshold detection as target – high accuracy.</a:t>
            </a:r>
          </a:p>
          <a:p>
            <a:r>
              <a:rPr lang="en-US">
                <a:ea typeface="Calibri"/>
                <a:cs typeface="Calibri"/>
              </a:rPr>
              <a:t>No false negatives within 12 hour forecast.</a:t>
            </a:r>
          </a:p>
          <a:p>
            <a:endParaRPr lang="en-US">
              <a:ea typeface="Calibri"/>
              <a:cs typeface="Calibri"/>
            </a:endParaRPr>
          </a:p>
          <a:p>
            <a:r>
              <a:rPr lang="en-US">
                <a:ea typeface="Calibri"/>
                <a:cs typeface="Calibri"/>
              </a:rPr>
              <a:t>Confusion matrix note:</a:t>
            </a:r>
          </a:p>
          <a:p>
            <a:r>
              <a:rPr lang="en-US">
                <a:ea typeface="Calibri"/>
                <a:cs typeface="Calibri"/>
              </a:rPr>
              <a:t>Y axis = actual value</a:t>
            </a:r>
          </a:p>
          <a:p>
            <a:r>
              <a:rPr lang="en-US">
                <a:ea typeface="Calibri"/>
                <a:cs typeface="Calibri"/>
              </a:rPr>
              <a:t>X axis = predicted</a:t>
            </a:r>
          </a:p>
          <a:p>
            <a:r>
              <a:rPr lang="en-US">
                <a:ea typeface="Calibri"/>
                <a:cs typeface="Calibri"/>
              </a:rPr>
              <a:t>Top left and bottom right = correct</a:t>
            </a:r>
          </a:p>
          <a:p>
            <a:r>
              <a:rPr lang="en-US">
                <a:ea typeface="Calibri"/>
                <a:cs typeface="Calibri"/>
              </a:rPr>
              <a:t>Bottom left = false negative (predicts below when truly above)</a:t>
            </a:r>
          </a:p>
          <a:p>
            <a:r>
              <a:rPr lang="en-US">
                <a:ea typeface="Calibri"/>
                <a:cs typeface="Calibri"/>
              </a:rPr>
              <a:t>Top right = false positive (predicts above when truly below)</a:t>
            </a:r>
          </a:p>
        </p:txBody>
      </p:sp>
      <p:sp>
        <p:nvSpPr>
          <p:cNvPr id="4" name="Slide Number Placeholder 3">
            <a:extLst>
              <a:ext uri="{FF2B5EF4-FFF2-40B4-BE49-F238E27FC236}">
                <a16:creationId xmlns:a16="http://schemas.microsoft.com/office/drawing/2014/main" id="{023F714B-0241-F93A-859E-C69C390E9981}"/>
              </a:ext>
            </a:extLst>
          </p:cNvPr>
          <p:cNvSpPr>
            <a:spLocks noGrp="1"/>
          </p:cNvSpPr>
          <p:nvPr>
            <p:ph type="sldNum" sz="quarter" idx="5"/>
          </p:nvPr>
        </p:nvSpPr>
        <p:spPr/>
        <p:txBody>
          <a:bodyPr/>
          <a:lstStyle/>
          <a:p>
            <a:fld id="{710104DB-87CA-D64F-AB86-DB2520DDF5D7}" type="slidenum">
              <a:rPr lang="en-US" smtClean="0"/>
              <a:t>8</a:t>
            </a:fld>
            <a:endParaRPr lang="en-US"/>
          </a:p>
        </p:txBody>
      </p:sp>
    </p:spTree>
    <p:extLst>
      <p:ext uri="{BB962C8B-B14F-4D97-AF65-F5344CB8AC3E}">
        <p14:creationId xmlns:p14="http://schemas.microsoft.com/office/powerpoint/2010/main" val="11077759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5B48C-E71A-CFDE-D866-C86E211523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AF4C97-BAAB-0B9C-9EEC-CB61EF95A0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507ACC-CB04-31B5-9BFA-72EB72B9806F}"/>
              </a:ext>
            </a:extLst>
          </p:cNvPr>
          <p:cNvSpPr>
            <a:spLocks noGrp="1"/>
          </p:cNvSpPr>
          <p:nvPr>
            <p:ph type="body" idx="1"/>
          </p:nvPr>
        </p:nvSpPr>
        <p:spPr/>
        <p:txBody>
          <a:bodyPr/>
          <a:lstStyle/>
          <a:p>
            <a:r>
              <a:rPr lang="en-US"/>
              <a:t>LSTM  + 6hr forecast shown. Similar results to XGBoost</a:t>
            </a:r>
          </a:p>
          <a:p>
            <a:r>
              <a:rPr lang="en-US">
                <a:ea typeface="Calibri"/>
                <a:cs typeface="Calibri"/>
              </a:rPr>
              <a:t>Better pressure accuracy, worse threshold classification.</a:t>
            </a:r>
          </a:p>
          <a:p>
            <a:r>
              <a:rPr lang="en-US">
                <a:ea typeface="Calibri"/>
                <a:cs typeface="Calibri"/>
              </a:rPr>
              <a:t>Some struggle with timing (peaks/dips delayed)</a:t>
            </a:r>
          </a:p>
          <a:p>
            <a:r>
              <a:rPr lang="en-US">
                <a:ea typeface="Calibri"/>
                <a:cs typeface="Calibri"/>
              </a:rPr>
              <a:t>Very mixed results in classification confusion matrix. (near perfect 3 hr, always predicted above at 1 hr and 12 hr, almost always wrong at 12hr)</a:t>
            </a:r>
          </a:p>
          <a:p>
            <a:endParaRPr lang="en-US">
              <a:ea typeface="Calibri"/>
              <a:cs typeface="Calibri"/>
            </a:endParaRPr>
          </a:p>
          <a:p>
            <a:r>
              <a:rPr lang="en-US">
                <a:ea typeface="Calibri"/>
                <a:cs typeface="Calibri"/>
              </a:rPr>
              <a:t>Confusion matrix note:</a:t>
            </a:r>
          </a:p>
          <a:p>
            <a:r>
              <a:rPr lang="en-US">
                <a:ea typeface="Calibri"/>
                <a:cs typeface="Calibri"/>
              </a:rPr>
              <a:t>Y axis = actual value</a:t>
            </a:r>
          </a:p>
          <a:p>
            <a:r>
              <a:rPr lang="en-US">
                <a:ea typeface="Calibri"/>
                <a:cs typeface="Calibri"/>
              </a:rPr>
              <a:t>X axis = predicted</a:t>
            </a:r>
          </a:p>
          <a:p>
            <a:r>
              <a:rPr lang="en-US">
                <a:ea typeface="Calibri"/>
                <a:cs typeface="Calibri"/>
              </a:rPr>
              <a:t>Top left and bottom right = correct</a:t>
            </a:r>
          </a:p>
          <a:p>
            <a:r>
              <a:rPr lang="en-US">
                <a:ea typeface="Calibri"/>
                <a:cs typeface="Calibri"/>
              </a:rPr>
              <a:t>Bottom left = false negative (predicts below when truly above)</a:t>
            </a:r>
          </a:p>
          <a:p>
            <a:r>
              <a:rPr lang="en-US">
                <a:ea typeface="Calibri"/>
                <a:cs typeface="Calibri"/>
              </a:rPr>
              <a:t>Top right = false positive (predicts above when truly below)</a:t>
            </a:r>
          </a:p>
        </p:txBody>
      </p:sp>
      <p:sp>
        <p:nvSpPr>
          <p:cNvPr id="4" name="Slide Number Placeholder 3">
            <a:extLst>
              <a:ext uri="{FF2B5EF4-FFF2-40B4-BE49-F238E27FC236}">
                <a16:creationId xmlns:a16="http://schemas.microsoft.com/office/drawing/2014/main" id="{A82DA034-E0A8-110E-333F-7F50298FF977}"/>
              </a:ext>
            </a:extLst>
          </p:cNvPr>
          <p:cNvSpPr>
            <a:spLocks noGrp="1"/>
          </p:cNvSpPr>
          <p:nvPr>
            <p:ph type="sldNum" sz="quarter" idx="5"/>
          </p:nvPr>
        </p:nvSpPr>
        <p:spPr/>
        <p:txBody>
          <a:bodyPr/>
          <a:lstStyle/>
          <a:p>
            <a:fld id="{710104DB-87CA-D64F-AB86-DB2520DDF5D7}" type="slidenum">
              <a:rPr lang="en-US" smtClean="0"/>
              <a:t>9</a:t>
            </a:fld>
            <a:endParaRPr lang="en-US"/>
          </a:p>
        </p:txBody>
      </p:sp>
    </p:spTree>
    <p:extLst>
      <p:ext uri="{BB962C8B-B14F-4D97-AF65-F5344CB8AC3E}">
        <p14:creationId xmlns:p14="http://schemas.microsoft.com/office/powerpoint/2010/main" val="33681447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Notes: We then used an LLM to perform the same </a:t>
            </a:r>
            <a:r>
              <a:rPr lang="en-US" err="1"/>
              <a:t>task.We</a:t>
            </a:r>
            <a:r>
              <a:rPr lang="en-US"/>
              <a:t> designed prompts with structured outputs and used few-shot examples to improve </a:t>
            </a:r>
            <a:r>
              <a:rPr lang="en-US" err="1"/>
              <a:t>consistency.The</a:t>
            </a:r>
            <a:r>
              <a:rPr lang="en-US"/>
              <a:t> LLM achieved [metric] of [value].It handled flexible inputs well, but we observed issues like inconsistent formatting and hallucinations.</a:t>
            </a:r>
          </a:p>
        </p:txBody>
      </p:sp>
      <p:sp>
        <p:nvSpPr>
          <p:cNvPr id="4" name="Slide Number Placeholder 3"/>
          <p:cNvSpPr>
            <a:spLocks noGrp="1"/>
          </p:cNvSpPr>
          <p:nvPr>
            <p:ph type="sldNum" sz="quarter" idx="5"/>
          </p:nvPr>
        </p:nvSpPr>
        <p:spPr/>
        <p:txBody>
          <a:bodyPr/>
          <a:lstStyle/>
          <a:p>
            <a:fld id="{710104DB-87CA-D64F-AB86-DB2520DDF5D7}" type="slidenum">
              <a:rPr lang="en-US" smtClean="0"/>
              <a:t>10</a:t>
            </a:fld>
            <a:endParaRPr lang="en-US"/>
          </a:p>
        </p:txBody>
      </p:sp>
    </p:spTree>
    <p:extLst>
      <p:ext uri="{BB962C8B-B14F-4D97-AF65-F5344CB8AC3E}">
        <p14:creationId xmlns:p14="http://schemas.microsoft.com/office/powerpoint/2010/main" val="19583169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D0A72-D66B-8984-1DD2-12B6332927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F940FF-12A0-C145-8F5D-7344FE18C0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6187C7-BD78-1DA1-D650-BAD385B8C4A4}"/>
              </a:ext>
            </a:extLst>
          </p:cNvPr>
          <p:cNvSpPr>
            <a:spLocks noGrp="1"/>
          </p:cNvSpPr>
          <p:nvPr>
            <p:ph type="body" idx="1"/>
          </p:nvPr>
        </p:nvSpPr>
        <p:spPr/>
        <p:txBody>
          <a:bodyPr/>
          <a:lstStyle/>
          <a:p>
            <a:r>
              <a:rPr lang="en-US"/>
              <a:t>No false negatives. Up to 50% false positives. Model often predicts 'above' but never misses threshold crossing.</a:t>
            </a:r>
          </a:p>
          <a:p>
            <a:r>
              <a:rPr lang="en-US">
                <a:ea typeface="Calibri"/>
                <a:cs typeface="Calibri"/>
              </a:rPr>
              <a:t>Better predictions at longer (12, 24 </a:t>
            </a:r>
            <a:r>
              <a:rPr lang="en-US" err="1">
                <a:ea typeface="Calibri"/>
                <a:cs typeface="Calibri"/>
              </a:rPr>
              <a:t>hr</a:t>
            </a:r>
            <a:r>
              <a:rPr lang="en-US">
                <a:ea typeface="Calibri"/>
                <a:cs typeface="Calibri"/>
              </a:rPr>
              <a:t>) forecast horizons.</a:t>
            </a:r>
          </a:p>
          <a:p>
            <a:r>
              <a:rPr lang="en-US">
                <a:ea typeface="Calibri"/>
                <a:cs typeface="Calibri"/>
              </a:rPr>
              <a:t>Most incorrect predictions have lower confidence than correct predictions, so fine tuning this metric as part of the prediction would increase accuracy.</a:t>
            </a:r>
          </a:p>
        </p:txBody>
      </p:sp>
      <p:sp>
        <p:nvSpPr>
          <p:cNvPr id="4" name="Slide Number Placeholder 3">
            <a:extLst>
              <a:ext uri="{FF2B5EF4-FFF2-40B4-BE49-F238E27FC236}">
                <a16:creationId xmlns:a16="http://schemas.microsoft.com/office/drawing/2014/main" id="{E6CD47ED-057D-D3EC-442E-93BA45849FFB}"/>
              </a:ext>
            </a:extLst>
          </p:cNvPr>
          <p:cNvSpPr>
            <a:spLocks noGrp="1"/>
          </p:cNvSpPr>
          <p:nvPr>
            <p:ph type="sldNum" sz="quarter" idx="5"/>
          </p:nvPr>
        </p:nvSpPr>
        <p:spPr/>
        <p:txBody>
          <a:bodyPr/>
          <a:lstStyle/>
          <a:p>
            <a:fld id="{710104DB-87CA-D64F-AB86-DB2520DDF5D7}" type="slidenum">
              <a:rPr lang="en-US" smtClean="0"/>
              <a:t>11</a:t>
            </a:fld>
            <a:endParaRPr lang="en-US"/>
          </a:p>
        </p:txBody>
      </p:sp>
    </p:spTree>
    <p:extLst>
      <p:ext uri="{BB962C8B-B14F-4D97-AF65-F5344CB8AC3E}">
        <p14:creationId xmlns:p14="http://schemas.microsoft.com/office/powerpoint/2010/main" val="17200117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33BC3-CC7E-7FE4-6E1B-FC2EE88C54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BEAEF-A798-D3FD-350B-B7D545C34C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F33605-F685-1CE5-F09E-023FD0622F80}"/>
              </a:ext>
            </a:extLst>
          </p:cNvPr>
          <p:cNvSpPr>
            <a:spLocks noGrp="1"/>
          </p:cNvSpPr>
          <p:nvPr>
            <p:ph type="body" idx="1"/>
          </p:nvPr>
        </p:nvSpPr>
        <p:spPr/>
        <p:txBody>
          <a:bodyPr/>
          <a:lstStyle/>
          <a:p>
            <a:r>
              <a:rPr lang="en-US"/>
              <a:t>Notes: F1 = 2 × (Precision × Recall) / (Precision + Recall)</a:t>
            </a:r>
          </a:p>
          <a:p>
            <a:r>
              <a:rPr lang="en-US">
                <a:ea typeface="Calibri"/>
                <a:cs typeface="Calibri"/>
              </a:rPr>
              <a:t>Kalman filter simplest model and most accurate at predicting threshold, largely interpretable. Success could be artificial because of regime during validation. MAE artificially low because validate didn't have much variability. MAE was very large in test set.</a:t>
            </a:r>
          </a:p>
          <a:p>
            <a:r>
              <a:rPr lang="en-US">
                <a:ea typeface="Calibri"/>
                <a:cs typeface="Calibri"/>
              </a:rPr>
              <a:t>XGBoost and LSTM severely hurt by different operational regimes (poor transferability between train/test/validate) but still </a:t>
            </a:r>
            <a:r>
              <a:rPr lang="en-US" b="1">
                <a:ea typeface="Calibri"/>
                <a:cs typeface="Calibri"/>
              </a:rPr>
              <a:t>most accurate pressure values in test set</a:t>
            </a:r>
            <a:r>
              <a:rPr lang="en-US">
                <a:ea typeface="Calibri"/>
                <a:cs typeface="Calibri"/>
              </a:rPr>
              <a:t>. </a:t>
            </a:r>
          </a:p>
          <a:p>
            <a:r>
              <a:rPr lang="en-US">
                <a:ea typeface="Calibri"/>
                <a:cs typeface="Calibri"/>
              </a:rPr>
              <a:t>LLM required most inputs/engineered classification to improve accuracy.  Best recall but conservative (many false positives). Obvious areas for model improvement with new versions.</a:t>
            </a:r>
          </a:p>
          <a:p>
            <a:endParaRPr lang="en-US">
              <a:ea typeface="Calibri"/>
              <a:cs typeface="Calibri"/>
            </a:endParaRPr>
          </a:p>
          <a:p>
            <a:r>
              <a:rPr lang="en-US">
                <a:ea typeface="Calibri"/>
                <a:cs typeface="Calibri"/>
              </a:rPr>
              <a:t>Even though XGBoost and LSTM generally performed worse, they looked promising for extending to other predictions (flow, temperature of production wells) with more training regimes.</a:t>
            </a:r>
          </a:p>
          <a:p>
            <a:endParaRPr lang="en-US">
              <a:ea typeface="Calibri"/>
              <a:cs typeface="Calibri"/>
            </a:endParaRPr>
          </a:p>
          <a:p>
            <a:r>
              <a:rPr lang="en-US">
                <a:ea typeface="Calibri"/>
                <a:cs typeface="Calibri"/>
              </a:rPr>
              <a:t>** Some of these are highly subjective. I didn't time anything.</a:t>
            </a:r>
          </a:p>
        </p:txBody>
      </p:sp>
      <p:sp>
        <p:nvSpPr>
          <p:cNvPr id="4" name="Slide Number Placeholder 3">
            <a:extLst>
              <a:ext uri="{FF2B5EF4-FFF2-40B4-BE49-F238E27FC236}">
                <a16:creationId xmlns:a16="http://schemas.microsoft.com/office/drawing/2014/main" id="{DD43695F-A7DA-2D17-3D49-94C7EAC26030}"/>
              </a:ext>
            </a:extLst>
          </p:cNvPr>
          <p:cNvSpPr>
            <a:spLocks noGrp="1"/>
          </p:cNvSpPr>
          <p:nvPr>
            <p:ph type="sldNum" sz="quarter" idx="5"/>
          </p:nvPr>
        </p:nvSpPr>
        <p:spPr/>
        <p:txBody>
          <a:bodyPr/>
          <a:lstStyle/>
          <a:p>
            <a:fld id="{710104DB-87CA-D64F-AB86-DB2520DDF5D7}" type="slidenum">
              <a:rPr lang="en-US" smtClean="0"/>
              <a:t>12</a:t>
            </a:fld>
            <a:endParaRPr lang="en-US"/>
          </a:p>
        </p:txBody>
      </p:sp>
    </p:spTree>
    <p:extLst>
      <p:ext uri="{BB962C8B-B14F-4D97-AF65-F5344CB8AC3E}">
        <p14:creationId xmlns:p14="http://schemas.microsoft.com/office/powerpoint/2010/main" val="42329048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5D257-8EFD-EA23-8D72-22ADFEACB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194252-1E58-0661-848C-CFD575EE60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C2DDBE-6947-A449-47A7-49801A189FEB}"/>
              </a:ext>
            </a:extLst>
          </p:cNvPr>
          <p:cNvSpPr>
            <a:spLocks noGrp="1"/>
          </p:cNvSpPr>
          <p:nvPr>
            <p:ph type="body" idx="1"/>
          </p:nvPr>
        </p:nvSpPr>
        <p:spPr/>
        <p:txBody>
          <a:bodyPr/>
          <a:lstStyle/>
          <a:p>
            <a:r>
              <a:rPr lang="en-US"/>
              <a:t>Notes: The problem we addressed is [problem], which leads to [impact].</a:t>
            </a:r>
            <a:br>
              <a:rPr lang="en-US"/>
            </a:br>
            <a:r>
              <a:rPr lang="en-US"/>
              <a:t>Our goal was to build a model that can [task].</a:t>
            </a:r>
            <a:br>
              <a:rPr lang="en-US"/>
            </a:br>
            <a:r>
              <a:rPr lang="en-US"/>
              <a:t>We defined success using [metric], while also ensuring results were consistent and comparable across ML and LLM approaches.</a:t>
            </a:r>
          </a:p>
        </p:txBody>
      </p:sp>
      <p:sp>
        <p:nvSpPr>
          <p:cNvPr id="4" name="Slide Number Placeholder 3">
            <a:extLst>
              <a:ext uri="{FF2B5EF4-FFF2-40B4-BE49-F238E27FC236}">
                <a16:creationId xmlns:a16="http://schemas.microsoft.com/office/drawing/2014/main" id="{0FF2C72B-13FF-91CC-210D-BBEB94376115}"/>
              </a:ext>
            </a:extLst>
          </p:cNvPr>
          <p:cNvSpPr>
            <a:spLocks noGrp="1"/>
          </p:cNvSpPr>
          <p:nvPr>
            <p:ph type="sldNum" sz="quarter" idx="5"/>
          </p:nvPr>
        </p:nvSpPr>
        <p:spPr/>
        <p:txBody>
          <a:bodyPr/>
          <a:lstStyle/>
          <a:p>
            <a:fld id="{710104DB-87CA-D64F-AB86-DB2520DDF5D7}" type="slidenum">
              <a:rPr lang="en-US" smtClean="0"/>
              <a:t>13</a:t>
            </a:fld>
            <a:endParaRPr lang="en-US"/>
          </a:p>
        </p:txBody>
      </p:sp>
    </p:spTree>
    <p:extLst>
      <p:ext uri="{BB962C8B-B14F-4D97-AF65-F5344CB8AC3E}">
        <p14:creationId xmlns:p14="http://schemas.microsoft.com/office/powerpoint/2010/main" val="17978365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32888-11B7-28AF-B172-2AA5AC3A0B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7046C3-D90D-3E21-9B20-1D282DD13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51D16B-3E2E-C5F1-4361-41183CD55531}"/>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920A7ADB-4B85-DE8F-D0EC-D5A8AE45BE30}"/>
              </a:ext>
            </a:extLst>
          </p:cNvPr>
          <p:cNvSpPr>
            <a:spLocks noGrp="1"/>
          </p:cNvSpPr>
          <p:nvPr>
            <p:ph type="sldNum" sz="quarter" idx="5"/>
          </p:nvPr>
        </p:nvSpPr>
        <p:spPr/>
        <p:txBody>
          <a:bodyPr/>
          <a:lstStyle/>
          <a:p>
            <a:fld id="{710104DB-87CA-D64F-AB86-DB2520DDF5D7}" type="slidenum">
              <a:rPr lang="en-US" smtClean="0"/>
              <a:t>16</a:t>
            </a:fld>
            <a:endParaRPr lang="en-US"/>
          </a:p>
        </p:txBody>
      </p:sp>
    </p:spTree>
    <p:extLst>
      <p:ext uri="{BB962C8B-B14F-4D97-AF65-F5344CB8AC3E}">
        <p14:creationId xmlns:p14="http://schemas.microsoft.com/office/powerpoint/2010/main" val="25321687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1D3C9-F997-EF03-20C3-55C3766DA2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638BCB-C63E-D006-A5C7-AD32F6BC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DFDD1F-EA6D-414B-6F85-D94D23FA66C7}"/>
              </a:ext>
            </a:extLst>
          </p:cNvPr>
          <p:cNvSpPr>
            <a:spLocks noGrp="1"/>
          </p:cNvSpPr>
          <p:nvPr>
            <p:ph type="body" idx="1"/>
          </p:nvPr>
        </p:nvSpPr>
        <p:spPr/>
        <p:txBody>
          <a:bodyPr/>
          <a:lstStyle/>
          <a:p>
            <a:r>
              <a:rPr lang="en-US">
                <a:ea typeface="Calibri"/>
                <a:cs typeface="Calibri"/>
              </a:rPr>
              <a:t>Note different magnitude of residuals per phase </a:t>
            </a:r>
          </a:p>
        </p:txBody>
      </p:sp>
      <p:sp>
        <p:nvSpPr>
          <p:cNvPr id="4" name="Slide Number Placeholder 3">
            <a:extLst>
              <a:ext uri="{FF2B5EF4-FFF2-40B4-BE49-F238E27FC236}">
                <a16:creationId xmlns:a16="http://schemas.microsoft.com/office/drawing/2014/main" id="{0C4CCA01-2E47-F6C6-9181-0A34C5D12645}"/>
              </a:ext>
            </a:extLst>
          </p:cNvPr>
          <p:cNvSpPr>
            <a:spLocks noGrp="1"/>
          </p:cNvSpPr>
          <p:nvPr>
            <p:ph type="sldNum" sz="quarter" idx="5"/>
          </p:nvPr>
        </p:nvSpPr>
        <p:spPr/>
        <p:txBody>
          <a:bodyPr/>
          <a:lstStyle/>
          <a:p>
            <a:fld id="{710104DB-87CA-D64F-AB86-DB2520DDF5D7}" type="slidenum">
              <a:rPr lang="en-US" smtClean="0"/>
              <a:t>17</a:t>
            </a:fld>
            <a:endParaRPr lang="en-US"/>
          </a:p>
        </p:txBody>
      </p:sp>
    </p:spTree>
    <p:extLst>
      <p:ext uri="{BB962C8B-B14F-4D97-AF65-F5344CB8AC3E}">
        <p14:creationId xmlns:p14="http://schemas.microsoft.com/office/powerpoint/2010/main" val="22013519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2F8C2-27AC-AB5B-6F77-5937AC6E29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A39C01-4DD6-C341-A9D0-E0C68B3778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95B28C-7BDF-FF7F-2711-13D907999B01}"/>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D8D14A79-17C8-0AEF-E065-C722052D4C9D}"/>
              </a:ext>
            </a:extLst>
          </p:cNvPr>
          <p:cNvSpPr>
            <a:spLocks noGrp="1"/>
          </p:cNvSpPr>
          <p:nvPr>
            <p:ph type="sldNum" sz="quarter" idx="5"/>
          </p:nvPr>
        </p:nvSpPr>
        <p:spPr/>
        <p:txBody>
          <a:bodyPr/>
          <a:lstStyle/>
          <a:p>
            <a:fld id="{710104DB-87CA-D64F-AB86-DB2520DDF5D7}" type="slidenum">
              <a:rPr lang="en-US" smtClean="0"/>
              <a:t>18</a:t>
            </a:fld>
            <a:endParaRPr lang="en-US"/>
          </a:p>
        </p:txBody>
      </p:sp>
    </p:spTree>
    <p:extLst>
      <p:ext uri="{BB962C8B-B14F-4D97-AF65-F5344CB8AC3E}">
        <p14:creationId xmlns:p14="http://schemas.microsoft.com/office/powerpoint/2010/main" val="8287767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F86C3-7AF8-5714-BE5D-8B1E344E11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3C326-B0CA-CBEF-E9BF-2FBED1151F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CB5E7A-7C7A-3F50-94DB-D2F31DDB337F}"/>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743B695A-0304-0F73-3633-764E68BC939A}"/>
              </a:ext>
            </a:extLst>
          </p:cNvPr>
          <p:cNvSpPr>
            <a:spLocks noGrp="1"/>
          </p:cNvSpPr>
          <p:nvPr>
            <p:ph type="sldNum" sz="quarter" idx="5"/>
          </p:nvPr>
        </p:nvSpPr>
        <p:spPr/>
        <p:txBody>
          <a:bodyPr/>
          <a:lstStyle/>
          <a:p>
            <a:fld id="{710104DB-87CA-D64F-AB86-DB2520DDF5D7}" type="slidenum">
              <a:rPr lang="en-US" smtClean="0"/>
              <a:t>19</a:t>
            </a:fld>
            <a:endParaRPr lang="en-US"/>
          </a:p>
        </p:txBody>
      </p:sp>
    </p:spTree>
    <p:extLst>
      <p:ext uri="{BB962C8B-B14F-4D97-AF65-F5344CB8AC3E}">
        <p14:creationId xmlns:p14="http://schemas.microsoft.com/office/powerpoint/2010/main" val="12379457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0322F-EB22-78E2-7FBC-4A4C1CD64F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9CA0A0-4388-B6DE-78A8-D0A6D40855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2B1E22-3551-9B00-1E48-B69B940873BF}"/>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77794F8E-8F13-6004-86D5-F4EC42AA5F9B}"/>
              </a:ext>
            </a:extLst>
          </p:cNvPr>
          <p:cNvSpPr>
            <a:spLocks noGrp="1"/>
          </p:cNvSpPr>
          <p:nvPr>
            <p:ph type="sldNum" sz="quarter" idx="5"/>
          </p:nvPr>
        </p:nvSpPr>
        <p:spPr/>
        <p:txBody>
          <a:bodyPr/>
          <a:lstStyle/>
          <a:p>
            <a:fld id="{710104DB-87CA-D64F-AB86-DB2520DDF5D7}" type="slidenum">
              <a:rPr lang="en-US" smtClean="0"/>
              <a:t>20</a:t>
            </a:fld>
            <a:endParaRPr lang="en-US"/>
          </a:p>
        </p:txBody>
      </p:sp>
    </p:spTree>
    <p:extLst>
      <p:ext uri="{BB962C8B-B14F-4D97-AF65-F5344CB8AC3E}">
        <p14:creationId xmlns:p14="http://schemas.microsoft.com/office/powerpoint/2010/main" val="29185196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E5F90-3D73-86AB-1052-FE34863FCA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3234FB-255E-B9BD-EAE1-8A6A4FF82C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113E22-4240-D892-04D2-C971A130B6B4}"/>
              </a:ext>
            </a:extLst>
          </p:cNvPr>
          <p:cNvSpPr>
            <a:spLocks noGrp="1"/>
          </p:cNvSpPr>
          <p:nvPr>
            <p:ph type="body" idx="1"/>
          </p:nvPr>
        </p:nvSpPr>
        <p:spPr/>
        <p:txBody>
          <a:bodyPr/>
          <a:lstStyle/>
          <a:p>
            <a:r>
              <a:rPr lang="en-US"/>
              <a:t>Note: could also break this up by phase, but want each person discussing unique aspects they learned about or from in this project (e.g., how to prompt an LLM, what hyperparameters do for a model, etc.)</a:t>
            </a:r>
          </a:p>
        </p:txBody>
      </p:sp>
      <p:sp>
        <p:nvSpPr>
          <p:cNvPr id="4" name="Slide Number Placeholder 3">
            <a:extLst>
              <a:ext uri="{FF2B5EF4-FFF2-40B4-BE49-F238E27FC236}">
                <a16:creationId xmlns:a16="http://schemas.microsoft.com/office/drawing/2014/main" id="{820AD430-70E0-2CEC-B6D1-C1493C40C8B6}"/>
              </a:ext>
            </a:extLst>
          </p:cNvPr>
          <p:cNvSpPr>
            <a:spLocks noGrp="1"/>
          </p:cNvSpPr>
          <p:nvPr>
            <p:ph type="sldNum" sz="quarter" idx="5"/>
          </p:nvPr>
        </p:nvSpPr>
        <p:spPr/>
        <p:txBody>
          <a:bodyPr/>
          <a:lstStyle/>
          <a:p>
            <a:fld id="{710104DB-87CA-D64F-AB86-DB2520DDF5D7}" type="slidenum">
              <a:rPr lang="en-US" smtClean="0"/>
              <a:t>21</a:t>
            </a:fld>
            <a:endParaRPr lang="en-US"/>
          </a:p>
        </p:txBody>
      </p:sp>
    </p:spTree>
    <p:extLst>
      <p:ext uri="{BB962C8B-B14F-4D97-AF65-F5344CB8AC3E}">
        <p14:creationId xmlns:p14="http://schemas.microsoft.com/office/powerpoint/2010/main" val="5190618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_Plain_Blac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36B83B-A5E4-524E-96A9-DFC12D58F12A}"/>
              </a:ext>
            </a:extLst>
          </p:cNvPr>
          <p:cNvSpPr/>
          <p:nvPr userDrawn="1"/>
        </p:nvSpPr>
        <p:spPr>
          <a:xfrm>
            <a:off x="914400" y="0"/>
            <a:ext cx="54864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21DF1AC-1D08-B945-A034-B740A35902F9}"/>
              </a:ext>
            </a:extLst>
          </p:cNvPr>
          <p:cNvSpPr txBox="1"/>
          <p:nvPr userDrawn="1"/>
        </p:nvSpPr>
        <p:spPr>
          <a:xfrm>
            <a:off x="1371600" y="7543800"/>
            <a:ext cx="3657600" cy="228600"/>
          </a:xfrm>
          <a:prstGeom prst="rect">
            <a:avLst/>
          </a:prstGeom>
          <a:noFill/>
        </p:spPr>
        <p:txBody>
          <a:bodyPr wrap="square" lIns="0" tIns="0" rIns="0" bIns="0" rtlCol="0" anchor="t" anchorCtr="0">
            <a:noAutofit/>
          </a:bodyPr>
          <a:lstStyle/>
          <a:p>
            <a:pPr>
              <a:spcAft>
                <a:spcPts val="600"/>
              </a:spcAft>
            </a:pPr>
            <a:r>
              <a:rPr lang="en-US" sz="800">
                <a:solidFill>
                  <a:srgbClr val="616265">
                    <a:alpha val="75000"/>
                  </a:srgbClr>
                </a:solidFill>
                <a:latin typeface="Arial" panose="020B0604020202020204" pitchFamily="34" charset="0"/>
                <a:cs typeface="Arial" panose="020B0604020202020204" pitchFamily="34" charset="0"/>
              </a:rPr>
              <a:t>PNNL is operated by Battelle for the U.S. Department of Energy</a:t>
            </a:r>
          </a:p>
        </p:txBody>
      </p:sp>
      <p:sp>
        <p:nvSpPr>
          <p:cNvPr id="2" name="Title 1"/>
          <p:cNvSpPr>
            <a:spLocks noGrp="1"/>
          </p:cNvSpPr>
          <p:nvPr>
            <p:ph type="ctrTitle"/>
          </p:nvPr>
        </p:nvSpPr>
        <p:spPr>
          <a:xfrm>
            <a:off x="1371600" y="2743200"/>
            <a:ext cx="4572000" cy="1828800"/>
          </a:xfrm>
          <a:prstGeom prst="rect">
            <a:avLst/>
          </a:prstGeom>
        </p:spPr>
        <p:txBody>
          <a:bodyPr lIns="0" tIns="0" rIns="0" bIns="0" anchor="b">
            <a:noAutofit/>
          </a:bodyPr>
          <a:lstStyle>
            <a:lvl1pPr algn="r">
              <a:defRPr sz="4800" b="1">
                <a:solidFill>
                  <a:schemeClr val="tx2"/>
                </a:solidFill>
                <a:latin typeface="Arial" panose="020B0604020202020204" pitchFamily="34" charset="0"/>
                <a:cs typeface="Arial" panose="020B0604020202020204" pitchFamily="34" charset="0"/>
              </a:defRPr>
            </a:lvl1pPr>
          </a:lstStyle>
          <a:p>
            <a:r>
              <a:rPr lang="en-US"/>
              <a:t>Click to edit Master title style</a:t>
            </a:r>
          </a:p>
        </p:txBody>
      </p:sp>
      <p:sp>
        <p:nvSpPr>
          <p:cNvPr id="20" name="Text Placeholder 19">
            <a:extLst>
              <a:ext uri="{FF2B5EF4-FFF2-40B4-BE49-F238E27FC236}">
                <a16:creationId xmlns:a16="http://schemas.microsoft.com/office/drawing/2014/main" id="{3061D5F4-8719-384B-945C-9A27060F99A0}"/>
              </a:ext>
            </a:extLst>
          </p:cNvPr>
          <p:cNvSpPr>
            <a:spLocks noGrp="1"/>
          </p:cNvSpPr>
          <p:nvPr>
            <p:ph type="body" sz="quarter" idx="10" hasCustomPrompt="1"/>
          </p:nvPr>
        </p:nvSpPr>
        <p:spPr>
          <a:xfrm>
            <a:off x="1370529" y="5669280"/>
            <a:ext cx="4572000" cy="274320"/>
          </a:xfrm>
          <a:prstGeom prst="rect">
            <a:avLst/>
          </a:prstGeom>
        </p:spPr>
        <p:txBody>
          <a:bodyPr wrap="none" lIns="0" tIns="0" rIns="0" bIns="0">
            <a:noAutofit/>
          </a:bodyPr>
          <a:lstStyle>
            <a:lvl1pPr marL="0" indent="0" algn="r">
              <a:buNone/>
              <a:defRPr sz="1800" b="1">
                <a:solidFill>
                  <a:srgbClr val="000000"/>
                </a:solidFill>
                <a:latin typeface="Arial" panose="020B0604020202020204" pitchFamily="34" charset="0"/>
                <a:cs typeface="Arial" panose="020B0604020202020204" pitchFamily="34" charset="0"/>
              </a:defRPr>
            </a:lvl1pPr>
            <a:lvl2pPr marL="548640" indent="0">
              <a:buNone/>
              <a:defRPr/>
            </a:lvl2pPr>
            <a:lvl3pPr marL="1097280" indent="0">
              <a:buNone/>
              <a:defRPr/>
            </a:lvl3pPr>
            <a:lvl4pPr marL="1645920" indent="0">
              <a:buNone/>
              <a:defRPr/>
            </a:lvl4pPr>
            <a:lvl5pPr marL="2194560" indent="0">
              <a:buNone/>
              <a:defRPr/>
            </a:lvl5pPr>
          </a:lstStyle>
          <a:p>
            <a:pPr lvl="0"/>
            <a:r>
              <a:rPr lang="en-US"/>
              <a:t>Click to add presenter’s name</a:t>
            </a:r>
          </a:p>
        </p:txBody>
      </p:sp>
      <p:sp>
        <p:nvSpPr>
          <p:cNvPr id="21" name="Text Placeholder 19">
            <a:extLst>
              <a:ext uri="{FF2B5EF4-FFF2-40B4-BE49-F238E27FC236}">
                <a16:creationId xmlns:a16="http://schemas.microsoft.com/office/drawing/2014/main" id="{3E2D432E-6648-6643-9C6E-38B1EFF5EE31}"/>
              </a:ext>
            </a:extLst>
          </p:cNvPr>
          <p:cNvSpPr>
            <a:spLocks noGrp="1"/>
          </p:cNvSpPr>
          <p:nvPr>
            <p:ph type="body" sz="quarter" idx="11" hasCustomPrompt="1"/>
          </p:nvPr>
        </p:nvSpPr>
        <p:spPr>
          <a:xfrm>
            <a:off x="1371600" y="5983356"/>
            <a:ext cx="4572000" cy="274320"/>
          </a:xfrm>
          <a:prstGeom prst="rect">
            <a:avLst/>
          </a:prstGeom>
        </p:spPr>
        <p:txBody>
          <a:bodyPr wrap="none" lIns="0" tIns="0" rIns="0" bIns="0">
            <a:noAutofit/>
          </a:bodyPr>
          <a:lstStyle>
            <a:lvl1pPr marL="0" indent="0" algn="r">
              <a:buNone/>
              <a:defRPr sz="1600">
                <a:solidFill>
                  <a:srgbClr val="616265"/>
                </a:solidFill>
                <a:latin typeface="Arial" panose="020B0604020202020204" pitchFamily="34" charset="0"/>
                <a:cs typeface="Arial" panose="020B0604020202020204" pitchFamily="34" charset="0"/>
              </a:defRPr>
            </a:lvl1pPr>
            <a:lvl2pPr marL="548640" indent="0">
              <a:buNone/>
              <a:defRPr/>
            </a:lvl2pPr>
            <a:lvl3pPr marL="1097280" indent="0">
              <a:buNone/>
              <a:defRPr/>
            </a:lvl3pPr>
            <a:lvl4pPr marL="1645920" indent="0">
              <a:buNone/>
              <a:defRPr/>
            </a:lvl4pPr>
            <a:lvl5pPr marL="2194560" indent="0">
              <a:buNone/>
              <a:defRPr/>
            </a:lvl5pPr>
          </a:lstStyle>
          <a:p>
            <a:pPr lvl="0"/>
            <a:r>
              <a:rPr lang="en-US"/>
              <a:t>Click to add presenter’s title</a:t>
            </a:r>
          </a:p>
        </p:txBody>
      </p:sp>
      <p:sp>
        <p:nvSpPr>
          <p:cNvPr id="6" name="TextBox 5">
            <a:extLst>
              <a:ext uri="{FF2B5EF4-FFF2-40B4-BE49-F238E27FC236}">
                <a16:creationId xmlns:a16="http://schemas.microsoft.com/office/drawing/2014/main" id="{8915389B-4BB4-1644-9B7E-35A85D0C1E3B}"/>
              </a:ext>
            </a:extLst>
          </p:cNvPr>
          <p:cNvSpPr txBox="1"/>
          <p:nvPr userDrawn="1"/>
        </p:nvSpPr>
        <p:spPr>
          <a:xfrm>
            <a:off x="3710609" y="-1245704"/>
            <a:ext cx="184731" cy="424732"/>
          </a:xfrm>
          <a:prstGeom prst="rect">
            <a:avLst/>
          </a:prstGeom>
          <a:noFill/>
        </p:spPr>
        <p:txBody>
          <a:bodyPr wrap="none" rtlCol="0">
            <a:spAutoFit/>
          </a:bodyPr>
          <a:lstStyle/>
          <a:p>
            <a:endParaRPr lang="en-US"/>
          </a:p>
        </p:txBody>
      </p:sp>
      <p:pic>
        <p:nvPicPr>
          <p:cNvPr id="12" name="Picture 11">
            <a:extLst>
              <a:ext uri="{FF2B5EF4-FFF2-40B4-BE49-F238E27FC236}">
                <a16:creationId xmlns:a16="http://schemas.microsoft.com/office/drawing/2014/main" id="{45A7D3E1-BCC3-C843-81A0-EA4EDFB44528}"/>
              </a:ext>
            </a:extLst>
          </p:cNvPr>
          <p:cNvPicPr>
            <a:picLocks noChangeAspect="1"/>
          </p:cNvPicPr>
          <p:nvPr userDrawn="1"/>
        </p:nvPicPr>
        <p:blipFill>
          <a:blip r:embed="rId2"/>
          <a:stretch>
            <a:fillRect/>
          </a:stretch>
        </p:blipFill>
        <p:spPr>
          <a:xfrm>
            <a:off x="1371600" y="237744"/>
            <a:ext cx="1280160" cy="1249224"/>
          </a:xfrm>
          <a:prstGeom prst="rect">
            <a:avLst/>
          </a:prstGeom>
        </p:spPr>
      </p:pic>
      <p:pic>
        <p:nvPicPr>
          <p:cNvPr id="13" name="Picture 12">
            <a:extLst>
              <a:ext uri="{FF2B5EF4-FFF2-40B4-BE49-F238E27FC236}">
                <a16:creationId xmlns:a16="http://schemas.microsoft.com/office/drawing/2014/main" id="{56617363-F73D-B74F-9647-C9D747AC7023}"/>
              </a:ext>
            </a:extLst>
          </p:cNvPr>
          <p:cNvPicPr>
            <a:picLocks noChangeAspect="1"/>
          </p:cNvPicPr>
          <p:nvPr userDrawn="1"/>
        </p:nvPicPr>
        <p:blipFill>
          <a:blip r:embed="rId3"/>
          <a:srcRect/>
          <a:stretch/>
        </p:blipFill>
        <p:spPr>
          <a:xfrm>
            <a:off x="1420790" y="7188454"/>
            <a:ext cx="1005840" cy="288666"/>
          </a:xfrm>
          <a:prstGeom prst="rect">
            <a:avLst/>
          </a:prstGeom>
        </p:spPr>
      </p:pic>
      <p:pic>
        <p:nvPicPr>
          <p:cNvPr id="14" name="Picture 13">
            <a:extLst>
              <a:ext uri="{FF2B5EF4-FFF2-40B4-BE49-F238E27FC236}">
                <a16:creationId xmlns:a16="http://schemas.microsoft.com/office/drawing/2014/main" id="{D290C8FB-601C-A04C-84F7-213A857D3E6A}"/>
              </a:ext>
            </a:extLst>
          </p:cNvPr>
          <p:cNvPicPr>
            <a:picLocks noChangeAspect="1"/>
          </p:cNvPicPr>
          <p:nvPr userDrawn="1"/>
        </p:nvPicPr>
        <p:blipFill>
          <a:blip r:embed="rId4"/>
          <a:stretch>
            <a:fillRect/>
          </a:stretch>
        </p:blipFill>
        <p:spPr>
          <a:xfrm>
            <a:off x="2478275" y="7255063"/>
            <a:ext cx="929809" cy="155448"/>
          </a:xfrm>
          <a:prstGeom prst="rect">
            <a:avLst/>
          </a:prstGeom>
        </p:spPr>
      </p:pic>
      <p:sp>
        <p:nvSpPr>
          <p:cNvPr id="15" name="Date Placeholder 1">
            <a:extLst>
              <a:ext uri="{FF2B5EF4-FFF2-40B4-BE49-F238E27FC236}">
                <a16:creationId xmlns:a16="http://schemas.microsoft.com/office/drawing/2014/main" id="{9D9DB338-5D5C-4ACA-9ECF-C3E34C44127A}"/>
              </a:ext>
            </a:extLst>
          </p:cNvPr>
          <p:cNvSpPr>
            <a:spLocks noGrp="1"/>
          </p:cNvSpPr>
          <p:nvPr>
            <p:ph type="dt" sz="half" idx="2"/>
          </p:nvPr>
        </p:nvSpPr>
        <p:spPr>
          <a:xfrm>
            <a:off x="2651641" y="4915645"/>
            <a:ext cx="3290888" cy="438150"/>
          </a:xfrm>
          <a:prstGeom prst="rect">
            <a:avLst/>
          </a:prstGeom>
        </p:spPr>
        <p:txBody>
          <a:bodyPr vert="horz" lIns="91440" tIns="45720" rIns="91440" bIns="45720" rtlCol="0" anchor="ctr"/>
          <a:lstStyle>
            <a:lvl1pPr algn="r">
              <a:defRPr sz="1800">
                <a:solidFill>
                  <a:schemeClr val="tx1">
                    <a:tint val="75000"/>
                  </a:schemeClr>
                </a:solidFill>
              </a:defRPr>
            </a:lvl1pPr>
          </a:lstStyle>
          <a:p>
            <a:fld id="{ABD4F8E3-4ED9-44B4-99E6-8A3D2CF8D415}" type="datetime4">
              <a:rPr lang="en-US" smtClean="0"/>
              <a:t>April 23, 2026</a:t>
            </a:fld>
            <a:endParaRPr lang="en-US"/>
          </a:p>
        </p:txBody>
      </p:sp>
      <p:sp>
        <p:nvSpPr>
          <p:cNvPr id="16" name="Footer Placeholder 2">
            <a:extLst>
              <a:ext uri="{FF2B5EF4-FFF2-40B4-BE49-F238E27FC236}">
                <a16:creationId xmlns:a16="http://schemas.microsoft.com/office/drawing/2014/main" id="{F55B65E8-4040-44D0-A4FE-A050FD948A79}"/>
              </a:ext>
            </a:extLst>
          </p:cNvPr>
          <p:cNvSpPr>
            <a:spLocks noGrp="1"/>
          </p:cNvSpPr>
          <p:nvPr>
            <p:ph type="ftr" sz="quarter" idx="3"/>
          </p:nvPr>
        </p:nvSpPr>
        <p:spPr>
          <a:xfrm>
            <a:off x="1189037" y="7730118"/>
            <a:ext cx="4937125"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1501305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2">
            <a:extLst>
              <a:ext uri="{FF2B5EF4-FFF2-40B4-BE49-F238E27FC236}">
                <a16:creationId xmlns:a16="http://schemas.microsoft.com/office/drawing/2014/main" id="{66026595-8D7E-D24C-9263-B65316A326B9}"/>
              </a:ext>
            </a:extLst>
          </p:cNvPr>
          <p:cNvSpPr>
            <a:spLocks noGrp="1"/>
          </p:cNvSpPr>
          <p:nvPr>
            <p:ph type="pic" sz="quarter" idx="10"/>
          </p:nvPr>
        </p:nvSpPr>
        <p:spPr>
          <a:xfrm>
            <a:off x="6400800" y="457200"/>
            <a:ext cx="7772400" cy="73152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3" name="Slide Number Placeholder 3">
            <a:extLst>
              <a:ext uri="{FF2B5EF4-FFF2-40B4-BE49-F238E27FC236}">
                <a16:creationId xmlns:a16="http://schemas.microsoft.com/office/drawing/2014/main" id="{3338E046-DF9E-FC49-A812-491AB8058B4E}"/>
              </a:ext>
            </a:extLst>
          </p:cNvPr>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8" name="Text Placeholder 5">
            <a:extLst>
              <a:ext uri="{FF2B5EF4-FFF2-40B4-BE49-F238E27FC236}">
                <a16:creationId xmlns:a16="http://schemas.microsoft.com/office/drawing/2014/main" id="{1D0CE8D1-2F12-5A44-A6B5-2CD466F52A60}"/>
              </a:ext>
            </a:extLst>
          </p:cNvPr>
          <p:cNvSpPr>
            <a:spLocks noGrp="1"/>
          </p:cNvSpPr>
          <p:nvPr>
            <p:ph type="body" sz="quarter" idx="14" hasCustomPrompt="1"/>
          </p:nvPr>
        </p:nvSpPr>
        <p:spPr>
          <a:xfrm>
            <a:off x="6400800" y="6858000"/>
            <a:ext cx="77724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9" name="Title 1">
            <a:extLst>
              <a:ext uri="{FF2B5EF4-FFF2-40B4-BE49-F238E27FC236}">
                <a16:creationId xmlns:a16="http://schemas.microsoft.com/office/drawing/2014/main" id="{B99B87A2-8960-403D-AE0D-D54946272206}"/>
              </a:ext>
            </a:extLst>
          </p:cNvPr>
          <p:cNvSpPr>
            <a:spLocks noGrp="1"/>
          </p:cNvSpPr>
          <p:nvPr>
            <p:ph type="title" hasCustomPrompt="1"/>
          </p:nvPr>
        </p:nvSpPr>
        <p:spPr>
          <a:xfrm>
            <a:off x="1371599" y="2295525"/>
            <a:ext cx="4572001" cy="1590675"/>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
        <p:nvSpPr>
          <p:cNvPr id="11" name="Content Placeholder 13">
            <a:extLst>
              <a:ext uri="{FF2B5EF4-FFF2-40B4-BE49-F238E27FC236}">
                <a16:creationId xmlns:a16="http://schemas.microsoft.com/office/drawing/2014/main" id="{29354FF4-9871-4E1B-A45A-ABAA2BE2B69B}"/>
              </a:ext>
            </a:extLst>
          </p:cNvPr>
          <p:cNvSpPr>
            <a:spLocks noGrp="1"/>
          </p:cNvSpPr>
          <p:nvPr>
            <p:ph sz="quarter" idx="21"/>
          </p:nvPr>
        </p:nvSpPr>
        <p:spPr>
          <a:xfrm>
            <a:off x="1394459" y="4373033"/>
            <a:ext cx="4572000" cy="3429000"/>
          </a:xfrm>
          <a:prstGeom prst="rect">
            <a:avLst/>
          </a:prstGeom>
        </p:spPr>
        <p:txBody>
          <a:bodyPr/>
          <a:lstStyle>
            <a:lvl1pPr>
              <a:defRPr sz="2800"/>
            </a:lvl1pPr>
            <a:lvl2pPr marL="822960" indent="-274320">
              <a:buFont typeface="Wingdings" panose="05000000000000000000" pitchFamily="2" charset="2"/>
              <a:buChar char="§"/>
              <a:defRPr sz="2400"/>
            </a:lvl2pPr>
            <a:lvl3pPr marL="1371600" indent="-274320">
              <a:buFont typeface="Wingdings" panose="05000000000000000000" pitchFamily="2" charset="2"/>
              <a:buChar char="ü"/>
              <a:defRPr sz="2000"/>
            </a:lvl3pPr>
            <a:lvl4pPr>
              <a:defRPr sz="1800"/>
            </a:lvl4pPr>
            <a:lvl5pPr marL="2468880" indent="-274320">
              <a:buFont typeface="Wingdings" panose="05000000000000000000"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
            <a:extLst>
              <a:ext uri="{FF2B5EF4-FFF2-40B4-BE49-F238E27FC236}">
                <a16:creationId xmlns:a16="http://schemas.microsoft.com/office/drawing/2014/main" id="{47EFCEB6-2E27-4C42-A1E5-AC8A8BA83783}"/>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4/23/2026</a:t>
            </a:fld>
            <a:endParaRPr lang="en-US"/>
          </a:p>
        </p:txBody>
      </p:sp>
      <p:sp>
        <p:nvSpPr>
          <p:cNvPr id="15" name="Footer Placeholder 2">
            <a:extLst>
              <a:ext uri="{FF2B5EF4-FFF2-40B4-BE49-F238E27FC236}">
                <a16:creationId xmlns:a16="http://schemas.microsoft.com/office/drawing/2014/main" id="{A86FAFB9-0DC0-4AB0-9E8B-6EC7C8ABAAF1}"/>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1957828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arge Text Box">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3">
            <a:extLst>
              <a:ext uri="{FF2B5EF4-FFF2-40B4-BE49-F238E27FC236}">
                <a16:creationId xmlns:a16="http://schemas.microsoft.com/office/drawing/2014/main" id="{3338E046-DF9E-FC49-A812-491AB8058B4E}"/>
              </a:ext>
            </a:extLst>
          </p:cNvPr>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12" name="Content Placeholder 4">
            <a:extLst>
              <a:ext uri="{FF2B5EF4-FFF2-40B4-BE49-F238E27FC236}">
                <a16:creationId xmlns:a16="http://schemas.microsoft.com/office/drawing/2014/main" id="{F0C408BC-A7DE-4A08-AD26-56414D2DD808}"/>
              </a:ext>
            </a:extLst>
          </p:cNvPr>
          <p:cNvSpPr>
            <a:spLocks noGrp="1"/>
          </p:cNvSpPr>
          <p:nvPr>
            <p:ph sz="quarter" idx="20"/>
          </p:nvPr>
        </p:nvSpPr>
        <p:spPr>
          <a:xfrm>
            <a:off x="6430642" y="457199"/>
            <a:ext cx="7772400" cy="7315200"/>
          </a:xfrm>
          <a:prstGeom prst="rect">
            <a:avLst/>
          </a:prstGeom>
        </p:spPr>
        <p:txBody>
          <a:bodyPr/>
          <a:lstStyle>
            <a:lvl1pPr>
              <a:defRPr sz="2800">
                <a:latin typeface="Arial" panose="020B0604020202020204" pitchFamily="34" charset="0"/>
                <a:cs typeface="Arial" panose="020B0604020202020204" pitchFamily="34" charset="0"/>
              </a:defRPr>
            </a:lvl1pPr>
            <a:lvl2pPr marL="822960" indent="-274320">
              <a:buFont typeface="Wingdings" panose="05000000000000000000" pitchFamily="2" charset="2"/>
              <a:buChar char="§"/>
              <a:defRPr sz="2400">
                <a:latin typeface="Arial" panose="020B0604020202020204" pitchFamily="34" charset="0"/>
                <a:cs typeface="Arial" panose="020B0604020202020204" pitchFamily="34" charset="0"/>
              </a:defRPr>
            </a:lvl2pPr>
            <a:lvl3pPr marL="1371600" indent="-274320">
              <a:buFont typeface="Wingdings" panose="05000000000000000000" pitchFamily="2" charset="2"/>
              <a:buChar char="ü"/>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marL="2468880" indent="-274320">
              <a:buFont typeface="Wingdings" panose="05000000000000000000" pitchFamily="2" charset="2"/>
              <a:buChar char="§"/>
              <a:defRPr sz="16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A3C58F0F-5237-4527-BB8E-6EEF623543BB}"/>
              </a:ext>
            </a:extLst>
          </p:cNvPr>
          <p:cNvSpPr>
            <a:spLocks noGrp="1"/>
          </p:cNvSpPr>
          <p:nvPr>
            <p:ph sz="quarter" idx="21"/>
          </p:nvPr>
        </p:nvSpPr>
        <p:spPr>
          <a:xfrm>
            <a:off x="1394459" y="4373033"/>
            <a:ext cx="4572000" cy="3429000"/>
          </a:xfrm>
          <a:prstGeom prst="rect">
            <a:avLst/>
          </a:prstGeom>
        </p:spPr>
        <p:txBody>
          <a:bodyPr/>
          <a:lstStyle>
            <a:lvl1pPr>
              <a:defRPr sz="2800"/>
            </a:lvl1pPr>
            <a:lvl2pPr marL="822960" indent="-274320">
              <a:buFont typeface="Wingdings" panose="05000000000000000000" pitchFamily="2" charset="2"/>
              <a:buChar char="§"/>
              <a:defRPr sz="2400"/>
            </a:lvl2pPr>
            <a:lvl3pPr marL="1371600" indent="-274320">
              <a:buFont typeface="Wingdings" panose="05000000000000000000" pitchFamily="2" charset="2"/>
              <a:buChar char="ü"/>
              <a:defRPr sz="2000"/>
            </a:lvl3pPr>
            <a:lvl4pPr>
              <a:defRPr sz="1800"/>
            </a:lvl4pPr>
            <a:lvl5pPr marL="2468880" indent="-274320">
              <a:buFont typeface="Wingdings" panose="05000000000000000000"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Date Placeholder 1">
            <a:extLst>
              <a:ext uri="{FF2B5EF4-FFF2-40B4-BE49-F238E27FC236}">
                <a16:creationId xmlns:a16="http://schemas.microsoft.com/office/drawing/2014/main" id="{33D0FD2D-15F4-4320-9C04-2023CAB47E08}"/>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4/23/2026</a:t>
            </a:fld>
            <a:endParaRPr lang="en-US"/>
          </a:p>
        </p:txBody>
      </p:sp>
      <p:sp>
        <p:nvSpPr>
          <p:cNvPr id="19" name="Footer Placeholder 2">
            <a:extLst>
              <a:ext uri="{FF2B5EF4-FFF2-40B4-BE49-F238E27FC236}">
                <a16:creationId xmlns:a16="http://schemas.microsoft.com/office/drawing/2014/main" id="{08FBEF60-4239-4E67-A385-B22B813AD40B}"/>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20" name="Title 1">
            <a:extLst>
              <a:ext uri="{FF2B5EF4-FFF2-40B4-BE49-F238E27FC236}">
                <a16:creationId xmlns:a16="http://schemas.microsoft.com/office/drawing/2014/main" id="{77614967-FAA9-4DA9-B7DE-539AA8923534}"/>
              </a:ext>
            </a:extLst>
          </p:cNvPr>
          <p:cNvSpPr>
            <a:spLocks noGrp="1"/>
          </p:cNvSpPr>
          <p:nvPr>
            <p:ph type="title" hasCustomPrompt="1"/>
          </p:nvPr>
        </p:nvSpPr>
        <p:spPr>
          <a:xfrm>
            <a:off x="1371599" y="2295525"/>
            <a:ext cx="4572001" cy="1590675"/>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Tree>
    <p:extLst>
      <p:ext uri="{BB962C8B-B14F-4D97-AF65-F5344CB8AC3E}">
        <p14:creationId xmlns:p14="http://schemas.microsoft.com/office/powerpoint/2010/main" val="990347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D96EEDE-6486-774B-B0E3-751BBA42CE35}"/>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6" name="Title 1">
            <a:extLst>
              <a:ext uri="{FF2B5EF4-FFF2-40B4-BE49-F238E27FC236}">
                <a16:creationId xmlns:a16="http://schemas.microsoft.com/office/drawing/2014/main" id="{7C1406DC-BAEC-4717-8F68-46C92F16638A}"/>
              </a:ext>
            </a:extLst>
          </p:cNvPr>
          <p:cNvSpPr>
            <a:spLocks noGrp="1"/>
          </p:cNvSpPr>
          <p:nvPr>
            <p:ph type="title" hasCustomPrompt="1"/>
          </p:nvPr>
        </p:nvSpPr>
        <p:spPr>
          <a:xfrm>
            <a:off x="3200400" y="270933"/>
            <a:ext cx="10972800" cy="1310979"/>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
        <p:nvSpPr>
          <p:cNvPr id="10" name="Content Placeholder 4">
            <a:extLst>
              <a:ext uri="{FF2B5EF4-FFF2-40B4-BE49-F238E27FC236}">
                <a16:creationId xmlns:a16="http://schemas.microsoft.com/office/drawing/2014/main" id="{028E3363-7137-4431-9927-3AE087A5B2BE}"/>
              </a:ext>
            </a:extLst>
          </p:cNvPr>
          <p:cNvSpPr>
            <a:spLocks noGrp="1"/>
          </p:cNvSpPr>
          <p:nvPr>
            <p:ph sz="quarter" idx="20"/>
          </p:nvPr>
        </p:nvSpPr>
        <p:spPr>
          <a:xfrm>
            <a:off x="1371600" y="2057399"/>
            <a:ext cx="12801600" cy="5486401"/>
          </a:xfrm>
          <a:prstGeom prst="rect">
            <a:avLst/>
          </a:prstGeom>
        </p:spPr>
        <p:txBody>
          <a:bodyPr/>
          <a:lstStyle>
            <a:lvl1pPr>
              <a:defRPr sz="2800">
                <a:latin typeface="Arial" panose="020B0604020202020204" pitchFamily="34" charset="0"/>
                <a:cs typeface="Arial" panose="020B0604020202020204" pitchFamily="34" charset="0"/>
              </a:defRPr>
            </a:lvl1pPr>
            <a:lvl2pPr marL="822960" indent="-274320">
              <a:buFont typeface="Wingdings" panose="05000000000000000000" pitchFamily="2" charset="2"/>
              <a:buChar char="§"/>
              <a:defRPr sz="2400">
                <a:latin typeface="Arial" panose="020B0604020202020204" pitchFamily="34" charset="0"/>
                <a:cs typeface="Arial" panose="020B0604020202020204" pitchFamily="34" charset="0"/>
              </a:defRPr>
            </a:lvl2pPr>
            <a:lvl3pPr marL="1371600" indent="-274320">
              <a:buFont typeface="Wingdings" panose="05000000000000000000" pitchFamily="2" charset="2"/>
              <a:buChar char="ü"/>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marL="2468880" indent="-274320">
              <a:buFont typeface="Wingdings" panose="05000000000000000000" pitchFamily="2" charset="2"/>
              <a:buChar char="§"/>
              <a:defRPr sz="16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
            <a:extLst>
              <a:ext uri="{FF2B5EF4-FFF2-40B4-BE49-F238E27FC236}">
                <a16:creationId xmlns:a16="http://schemas.microsoft.com/office/drawing/2014/main" id="{E76F451D-D169-4CA9-91EE-97F19A35C6DE}"/>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4/23/2026</a:t>
            </a:fld>
            <a:endParaRPr lang="en-US"/>
          </a:p>
        </p:txBody>
      </p:sp>
      <p:sp>
        <p:nvSpPr>
          <p:cNvPr id="15" name="Footer Placeholder 2">
            <a:extLst>
              <a:ext uri="{FF2B5EF4-FFF2-40B4-BE49-F238E27FC236}">
                <a16:creationId xmlns:a16="http://schemas.microsoft.com/office/drawing/2014/main" id="{8A19F790-0343-4862-A140-1B409986B7FB}"/>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2806792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Picture Gri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3DEE2FC3-856F-2F4B-A52D-94189159AC19}"/>
              </a:ext>
            </a:extLst>
          </p:cNvPr>
          <p:cNvSpPr>
            <a:spLocks noGrp="1"/>
          </p:cNvSpPr>
          <p:nvPr>
            <p:ph type="pic" sz="quarter" idx="10"/>
          </p:nvPr>
        </p:nvSpPr>
        <p:spPr>
          <a:xfrm>
            <a:off x="6400800" y="457200"/>
            <a:ext cx="3657600" cy="34290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7" name="Picture Placeholder 2">
            <a:extLst>
              <a:ext uri="{FF2B5EF4-FFF2-40B4-BE49-F238E27FC236}">
                <a16:creationId xmlns:a16="http://schemas.microsoft.com/office/drawing/2014/main" id="{FD00854A-4EC7-2D48-A025-5B0B48548BC7}"/>
              </a:ext>
            </a:extLst>
          </p:cNvPr>
          <p:cNvSpPr>
            <a:spLocks noGrp="1"/>
          </p:cNvSpPr>
          <p:nvPr>
            <p:ph type="pic" sz="quarter" idx="11"/>
          </p:nvPr>
        </p:nvSpPr>
        <p:spPr>
          <a:xfrm>
            <a:off x="10515600" y="457200"/>
            <a:ext cx="3657600" cy="34290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8" name="Picture Placeholder 2">
            <a:extLst>
              <a:ext uri="{FF2B5EF4-FFF2-40B4-BE49-F238E27FC236}">
                <a16:creationId xmlns:a16="http://schemas.microsoft.com/office/drawing/2014/main" id="{67A8C708-D197-CF47-8089-89928BE1E302}"/>
              </a:ext>
            </a:extLst>
          </p:cNvPr>
          <p:cNvSpPr>
            <a:spLocks noGrp="1"/>
          </p:cNvSpPr>
          <p:nvPr>
            <p:ph type="pic" sz="quarter" idx="12"/>
          </p:nvPr>
        </p:nvSpPr>
        <p:spPr>
          <a:xfrm>
            <a:off x="6400800" y="4343400"/>
            <a:ext cx="3657600" cy="34290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2" name="Picture Placeholder 2">
            <a:extLst>
              <a:ext uri="{FF2B5EF4-FFF2-40B4-BE49-F238E27FC236}">
                <a16:creationId xmlns:a16="http://schemas.microsoft.com/office/drawing/2014/main" id="{3C4D2EBC-B863-FD49-A9DF-1381563078DA}"/>
              </a:ext>
            </a:extLst>
          </p:cNvPr>
          <p:cNvSpPr>
            <a:spLocks noGrp="1"/>
          </p:cNvSpPr>
          <p:nvPr>
            <p:ph type="pic" sz="quarter" idx="13"/>
          </p:nvPr>
        </p:nvSpPr>
        <p:spPr>
          <a:xfrm>
            <a:off x="10515600" y="4343400"/>
            <a:ext cx="3657600" cy="34290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6" name="Text Placeholder 5">
            <a:extLst>
              <a:ext uri="{FF2B5EF4-FFF2-40B4-BE49-F238E27FC236}">
                <a16:creationId xmlns:a16="http://schemas.microsoft.com/office/drawing/2014/main" id="{CE93B472-4A32-7C41-A565-485FDC3EB832}"/>
              </a:ext>
            </a:extLst>
          </p:cNvPr>
          <p:cNvSpPr>
            <a:spLocks noGrp="1"/>
          </p:cNvSpPr>
          <p:nvPr>
            <p:ph type="body" sz="quarter" idx="14" hasCustomPrompt="1"/>
          </p:nvPr>
        </p:nvSpPr>
        <p:spPr>
          <a:xfrm>
            <a:off x="6400800" y="2971800"/>
            <a:ext cx="36576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3" name="Text Placeholder 5">
            <a:extLst>
              <a:ext uri="{FF2B5EF4-FFF2-40B4-BE49-F238E27FC236}">
                <a16:creationId xmlns:a16="http://schemas.microsoft.com/office/drawing/2014/main" id="{19F7807A-D120-BD49-9CBD-9174F26D7982}"/>
              </a:ext>
            </a:extLst>
          </p:cNvPr>
          <p:cNvSpPr>
            <a:spLocks noGrp="1"/>
          </p:cNvSpPr>
          <p:nvPr>
            <p:ph type="body" sz="quarter" idx="15" hasCustomPrompt="1"/>
          </p:nvPr>
        </p:nvSpPr>
        <p:spPr>
          <a:xfrm>
            <a:off x="6400800" y="6858000"/>
            <a:ext cx="36576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4" name="Text Placeholder 5">
            <a:extLst>
              <a:ext uri="{FF2B5EF4-FFF2-40B4-BE49-F238E27FC236}">
                <a16:creationId xmlns:a16="http://schemas.microsoft.com/office/drawing/2014/main" id="{08ED17FC-CAF8-9A40-9A88-897DEF9CFEA0}"/>
              </a:ext>
            </a:extLst>
          </p:cNvPr>
          <p:cNvSpPr>
            <a:spLocks noGrp="1"/>
          </p:cNvSpPr>
          <p:nvPr>
            <p:ph type="body" sz="quarter" idx="16" hasCustomPrompt="1"/>
          </p:nvPr>
        </p:nvSpPr>
        <p:spPr>
          <a:xfrm>
            <a:off x="10515600" y="2971800"/>
            <a:ext cx="36576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5" name="Text Placeholder 5">
            <a:extLst>
              <a:ext uri="{FF2B5EF4-FFF2-40B4-BE49-F238E27FC236}">
                <a16:creationId xmlns:a16="http://schemas.microsoft.com/office/drawing/2014/main" id="{4A16FA60-8BA9-8B4A-86AA-F8336C26C78B}"/>
              </a:ext>
            </a:extLst>
          </p:cNvPr>
          <p:cNvSpPr>
            <a:spLocks noGrp="1"/>
          </p:cNvSpPr>
          <p:nvPr>
            <p:ph type="body" sz="quarter" idx="17" hasCustomPrompt="1"/>
          </p:nvPr>
        </p:nvSpPr>
        <p:spPr>
          <a:xfrm>
            <a:off x="10515600" y="6858000"/>
            <a:ext cx="36576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6" name="Slide Number Placeholder 3">
            <a:extLst>
              <a:ext uri="{FF2B5EF4-FFF2-40B4-BE49-F238E27FC236}">
                <a16:creationId xmlns:a16="http://schemas.microsoft.com/office/drawing/2014/main" id="{7DC2EC3E-C641-FD49-9F15-878B1AFFFD98}"/>
              </a:ext>
            </a:extLst>
          </p:cNvPr>
          <p:cNvSpPr>
            <a:spLocks noGrp="1"/>
          </p:cNvSpPr>
          <p:nvPr>
            <p:ph type="sldNum" sz="quarter" idx="18"/>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19" name="Title 1">
            <a:extLst>
              <a:ext uri="{FF2B5EF4-FFF2-40B4-BE49-F238E27FC236}">
                <a16:creationId xmlns:a16="http://schemas.microsoft.com/office/drawing/2014/main" id="{3648737A-DE0E-48DB-87F0-65418715CF88}"/>
              </a:ext>
            </a:extLst>
          </p:cNvPr>
          <p:cNvSpPr>
            <a:spLocks noGrp="1"/>
          </p:cNvSpPr>
          <p:nvPr>
            <p:ph type="title" hasCustomPrompt="1"/>
          </p:nvPr>
        </p:nvSpPr>
        <p:spPr>
          <a:xfrm>
            <a:off x="1371599" y="2295525"/>
            <a:ext cx="4572001" cy="1590675"/>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
        <p:nvSpPr>
          <p:cNvPr id="21" name="Content Placeholder 13">
            <a:extLst>
              <a:ext uri="{FF2B5EF4-FFF2-40B4-BE49-F238E27FC236}">
                <a16:creationId xmlns:a16="http://schemas.microsoft.com/office/drawing/2014/main" id="{97DA340F-6103-4F2C-B3B8-8D8A524DC19C}"/>
              </a:ext>
            </a:extLst>
          </p:cNvPr>
          <p:cNvSpPr>
            <a:spLocks noGrp="1"/>
          </p:cNvSpPr>
          <p:nvPr>
            <p:ph sz="quarter" idx="21"/>
          </p:nvPr>
        </p:nvSpPr>
        <p:spPr>
          <a:xfrm>
            <a:off x="1394459" y="4373033"/>
            <a:ext cx="4572000" cy="3429000"/>
          </a:xfrm>
          <a:prstGeom prst="rect">
            <a:avLst/>
          </a:prstGeom>
        </p:spPr>
        <p:txBody>
          <a:bodyPr/>
          <a:lstStyle>
            <a:lvl1pPr>
              <a:defRPr sz="2800"/>
            </a:lvl1pPr>
            <a:lvl2pPr marL="822960" indent="-274320">
              <a:buFont typeface="Wingdings" panose="05000000000000000000" pitchFamily="2" charset="2"/>
              <a:buChar char="§"/>
              <a:defRPr sz="2400"/>
            </a:lvl2pPr>
            <a:lvl3pPr marL="1371600" indent="-274320">
              <a:buFont typeface="Wingdings" panose="05000000000000000000" pitchFamily="2" charset="2"/>
              <a:buChar char="ü"/>
              <a:defRPr sz="2000"/>
            </a:lvl3pPr>
            <a:lvl4pPr>
              <a:defRPr sz="1800"/>
            </a:lvl4pPr>
            <a:lvl5pPr marL="2468880" indent="-274320">
              <a:buFont typeface="Wingdings" panose="05000000000000000000"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Date Placeholder 1">
            <a:extLst>
              <a:ext uri="{FF2B5EF4-FFF2-40B4-BE49-F238E27FC236}">
                <a16:creationId xmlns:a16="http://schemas.microsoft.com/office/drawing/2014/main" id="{EE384947-F0AD-4E73-95AD-CAD4DEE44608}"/>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4/23/2026</a:t>
            </a:fld>
            <a:endParaRPr lang="en-US"/>
          </a:p>
        </p:txBody>
      </p:sp>
      <p:sp>
        <p:nvSpPr>
          <p:cNvPr id="26" name="Footer Placeholder 2">
            <a:extLst>
              <a:ext uri="{FF2B5EF4-FFF2-40B4-BE49-F238E27FC236}">
                <a16:creationId xmlns:a16="http://schemas.microsoft.com/office/drawing/2014/main" id="{8259C4D6-850D-4393-9434-3F69451FBF8E}"/>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410932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Picture Grid with Subhea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3DEE2FC3-856F-2F4B-A52D-94189159AC19}"/>
              </a:ext>
            </a:extLst>
          </p:cNvPr>
          <p:cNvSpPr>
            <a:spLocks noGrp="1"/>
          </p:cNvSpPr>
          <p:nvPr>
            <p:ph type="pic" sz="quarter" idx="10"/>
          </p:nvPr>
        </p:nvSpPr>
        <p:spPr>
          <a:xfrm>
            <a:off x="1371600" y="539496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1" name="Picture Placeholder 2">
            <a:extLst>
              <a:ext uri="{FF2B5EF4-FFF2-40B4-BE49-F238E27FC236}">
                <a16:creationId xmlns:a16="http://schemas.microsoft.com/office/drawing/2014/main" id="{FE341CF1-EFF3-A64D-A9D4-B96C8CD8F301}"/>
              </a:ext>
            </a:extLst>
          </p:cNvPr>
          <p:cNvSpPr>
            <a:spLocks noGrp="1"/>
          </p:cNvSpPr>
          <p:nvPr>
            <p:ph type="pic" sz="quarter" idx="11"/>
          </p:nvPr>
        </p:nvSpPr>
        <p:spPr>
          <a:xfrm>
            <a:off x="1371600" y="274320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3" name="Picture Placeholder 2">
            <a:extLst>
              <a:ext uri="{FF2B5EF4-FFF2-40B4-BE49-F238E27FC236}">
                <a16:creationId xmlns:a16="http://schemas.microsoft.com/office/drawing/2014/main" id="{D0629C78-28FC-874B-96C1-DFAAFF975DEC}"/>
              </a:ext>
            </a:extLst>
          </p:cNvPr>
          <p:cNvSpPr>
            <a:spLocks noGrp="1"/>
          </p:cNvSpPr>
          <p:nvPr>
            <p:ph type="pic" sz="quarter" idx="12"/>
          </p:nvPr>
        </p:nvSpPr>
        <p:spPr>
          <a:xfrm>
            <a:off x="5737860" y="539496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4" name="Picture Placeholder 2">
            <a:extLst>
              <a:ext uri="{FF2B5EF4-FFF2-40B4-BE49-F238E27FC236}">
                <a16:creationId xmlns:a16="http://schemas.microsoft.com/office/drawing/2014/main" id="{5089EEED-3863-BD48-BCCB-4D264015DA60}"/>
              </a:ext>
            </a:extLst>
          </p:cNvPr>
          <p:cNvSpPr>
            <a:spLocks noGrp="1"/>
          </p:cNvSpPr>
          <p:nvPr>
            <p:ph type="pic" sz="quarter" idx="13"/>
          </p:nvPr>
        </p:nvSpPr>
        <p:spPr>
          <a:xfrm>
            <a:off x="5737860" y="274320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5" name="Picture Placeholder 2">
            <a:extLst>
              <a:ext uri="{FF2B5EF4-FFF2-40B4-BE49-F238E27FC236}">
                <a16:creationId xmlns:a16="http://schemas.microsoft.com/office/drawing/2014/main" id="{EEF5B44F-191D-F44D-8AB3-0B9E4AF4B4E2}"/>
              </a:ext>
            </a:extLst>
          </p:cNvPr>
          <p:cNvSpPr>
            <a:spLocks noGrp="1"/>
          </p:cNvSpPr>
          <p:nvPr>
            <p:ph type="pic" sz="quarter" idx="14"/>
          </p:nvPr>
        </p:nvSpPr>
        <p:spPr>
          <a:xfrm>
            <a:off x="10104120" y="539496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6" name="Picture Placeholder 2">
            <a:extLst>
              <a:ext uri="{FF2B5EF4-FFF2-40B4-BE49-F238E27FC236}">
                <a16:creationId xmlns:a16="http://schemas.microsoft.com/office/drawing/2014/main" id="{A26442AE-D905-374C-9CB4-1A1F44C08C61}"/>
              </a:ext>
            </a:extLst>
          </p:cNvPr>
          <p:cNvSpPr>
            <a:spLocks noGrp="1"/>
          </p:cNvSpPr>
          <p:nvPr>
            <p:ph type="pic" sz="quarter" idx="15"/>
          </p:nvPr>
        </p:nvSpPr>
        <p:spPr>
          <a:xfrm>
            <a:off x="10104120" y="274320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7" name="Text Placeholder 5">
            <a:extLst>
              <a:ext uri="{FF2B5EF4-FFF2-40B4-BE49-F238E27FC236}">
                <a16:creationId xmlns:a16="http://schemas.microsoft.com/office/drawing/2014/main" id="{CEBE105C-2ECB-0B46-923F-378B0A5AEBCB}"/>
              </a:ext>
            </a:extLst>
          </p:cNvPr>
          <p:cNvSpPr>
            <a:spLocks noGrp="1"/>
          </p:cNvSpPr>
          <p:nvPr>
            <p:ph type="body" sz="quarter" idx="16" hasCustomPrompt="1"/>
          </p:nvPr>
        </p:nvSpPr>
        <p:spPr>
          <a:xfrm>
            <a:off x="1371600" y="429768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9" name="Text Placeholder 5">
            <a:extLst>
              <a:ext uri="{FF2B5EF4-FFF2-40B4-BE49-F238E27FC236}">
                <a16:creationId xmlns:a16="http://schemas.microsoft.com/office/drawing/2014/main" id="{8B0900D4-1543-834B-AE27-9A72FD91B398}"/>
              </a:ext>
            </a:extLst>
          </p:cNvPr>
          <p:cNvSpPr>
            <a:spLocks noGrp="1"/>
          </p:cNvSpPr>
          <p:nvPr>
            <p:ph type="body" sz="quarter" idx="17" hasCustomPrompt="1"/>
          </p:nvPr>
        </p:nvSpPr>
        <p:spPr>
          <a:xfrm>
            <a:off x="137160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0" name="Text Placeholder 5">
            <a:extLst>
              <a:ext uri="{FF2B5EF4-FFF2-40B4-BE49-F238E27FC236}">
                <a16:creationId xmlns:a16="http://schemas.microsoft.com/office/drawing/2014/main" id="{F64FB6B4-B0C6-5949-9F2B-7BCB7B207394}"/>
              </a:ext>
            </a:extLst>
          </p:cNvPr>
          <p:cNvSpPr>
            <a:spLocks noGrp="1"/>
          </p:cNvSpPr>
          <p:nvPr>
            <p:ph type="body" sz="quarter" idx="18" hasCustomPrompt="1"/>
          </p:nvPr>
        </p:nvSpPr>
        <p:spPr>
          <a:xfrm>
            <a:off x="5737860" y="429768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1" name="Text Placeholder 5">
            <a:extLst>
              <a:ext uri="{FF2B5EF4-FFF2-40B4-BE49-F238E27FC236}">
                <a16:creationId xmlns:a16="http://schemas.microsoft.com/office/drawing/2014/main" id="{8FDD81E0-346D-A544-A838-A6991588AE4C}"/>
              </a:ext>
            </a:extLst>
          </p:cNvPr>
          <p:cNvSpPr>
            <a:spLocks noGrp="1"/>
          </p:cNvSpPr>
          <p:nvPr>
            <p:ph type="body" sz="quarter" idx="19" hasCustomPrompt="1"/>
          </p:nvPr>
        </p:nvSpPr>
        <p:spPr>
          <a:xfrm>
            <a:off x="573786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2" name="Text Placeholder 5">
            <a:extLst>
              <a:ext uri="{FF2B5EF4-FFF2-40B4-BE49-F238E27FC236}">
                <a16:creationId xmlns:a16="http://schemas.microsoft.com/office/drawing/2014/main" id="{CDB91CB5-0E93-FA44-9508-60493542C74C}"/>
              </a:ext>
            </a:extLst>
          </p:cNvPr>
          <p:cNvSpPr>
            <a:spLocks noGrp="1"/>
          </p:cNvSpPr>
          <p:nvPr>
            <p:ph type="body" sz="quarter" idx="20" hasCustomPrompt="1"/>
          </p:nvPr>
        </p:nvSpPr>
        <p:spPr>
          <a:xfrm>
            <a:off x="10104120" y="429768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3" name="Text Placeholder 5">
            <a:extLst>
              <a:ext uri="{FF2B5EF4-FFF2-40B4-BE49-F238E27FC236}">
                <a16:creationId xmlns:a16="http://schemas.microsoft.com/office/drawing/2014/main" id="{92F736B8-F799-F047-BE4E-297E64A7549C}"/>
              </a:ext>
            </a:extLst>
          </p:cNvPr>
          <p:cNvSpPr>
            <a:spLocks noGrp="1"/>
          </p:cNvSpPr>
          <p:nvPr>
            <p:ph type="body" sz="quarter" idx="21" hasCustomPrompt="1"/>
          </p:nvPr>
        </p:nvSpPr>
        <p:spPr>
          <a:xfrm>
            <a:off x="1010412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4" name="Slide Number Placeholder 3">
            <a:extLst>
              <a:ext uri="{FF2B5EF4-FFF2-40B4-BE49-F238E27FC236}">
                <a16:creationId xmlns:a16="http://schemas.microsoft.com/office/drawing/2014/main" id="{183198DF-9C78-DD40-9CE1-2BC11B888821}"/>
              </a:ext>
            </a:extLst>
          </p:cNvPr>
          <p:cNvSpPr>
            <a:spLocks noGrp="1"/>
          </p:cNvSpPr>
          <p:nvPr>
            <p:ph type="sldNum" sz="quarter" idx="2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26" name="Title 1">
            <a:extLst>
              <a:ext uri="{FF2B5EF4-FFF2-40B4-BE49-F238E27FC236}">
                <a16:creationId xmlns:a16="http://schemas.microsoft.com/office/drawing/2014/main" id="{BE0A6ECC-C9D0-4240-B978-69D09F2C9936}"/>
              </a:ext>
            </a:extLst>
          </p:cNvPr>
          <p:cNvSpPr>
            <a:spLocks noGrp="1"/>
          </p:cNvSpPr>
          <p:nvPr>
            <p:ph type="title" hasCustomPrompt="1"/>
          </p:nvPr>
        </p:nvSpPr>
        <p:spPr>
          <a:xfrm>
            <a:off x="3200400" y="270933"/>
            <a:ext cx="10972800" cy="1310979"/>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
        <p:nvSpPr>
          <p:cNvPr id="30" name="Date Placeholder 1">
            <a:extLst>
              <a:ext uri="{FF2B5EF4-FFF2-40B4-BE49-F238E27FC236}">
                <a16:creationId xmlns:a16="http://schemas.microsoft.com/office/drawing/2014/main" id="{E4CF0CE7-333F-4604-B518-6F7EE2AA82D5}"/>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4/23/2026</a:t>
            </a:fld>
            <a:endParaRPr lang="en-US"/>
          </a:p>
        </p:txBody>
      </p:sp>
      <p:sp>
        <p:nvSpPr>
          <p:cNvPr id="31" name="Footer Placeholder 2">
            <a:extLst>
              <a:ext uri="{FF2B5EF4-FFF2-40B4-BE49-F238E27FC236}">
                <a16:creationId xmlns:a16="http://schemas.microsoft.com/office/drawing/2014/main" id="{21303C4E-FB0C-4A46-BF34-C99D885AA3B1}"/>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32" name="Content Placeholder 4">
            <a:extLst>
              <a:ext uri="{FF2B5EF4-FFF2-40B4-BE49-F238E27FC236}">
                <a16:creationId xmlns:a16="http://schemas.microsoft.com/office/drawing/2014/main" id="{C14080C3-5390-4F4E-9C88-2C080B5CE5D9}"/>
              </a:ext>
            </a:extLst>
          </p:cNvPr>
          <p:cNvSpPr>
            <a:spLocks noGrp="1"/>
          </p:cNvSpPr>
          <p:nvPr>
            <p:ph sz="quarter" idx="24"/>
          </p:nvPr>
        </p:nvSpPr>
        <p:spPr>
          <a:xfrm>
            <a:off x="1371600" y="2194560"/>
            <a:ext cx="12801600" cy="525886"/>
          </a:xfrm>
          <a:prstGeom prst="rect">
            <a:avLst/>
          </a:prstGeom>
        </p:spPr>
        <p:txBody>
          <a:bodyPr/>
          <a:lstStyle>
            <a:lvl1pPr>
              <a:defRPr sz="2800">
                <a:latin typeface="Arial" panose="020B0604020202020204" pitchFamily="34" charset="0"/>
                <a:cs typeface="Arial" panose="020B0604020202020204" pitchFamily="34" charset="0"/>
              </a:defRPr>
            </a:lvl1pPr>
            <a:lvl2pPr marL="822960" indent="-274320">
              <a:buFont typeface="Wingdings" panose="05000000000000000000" pitchFamily="2" charset="2"/>
              <a:buChar char="§"/>
              <a:defRPr sz="2400">
                <a:latin typeface="Arial" panose="020B0604020202020204" pitchFamily="34" charset="0"/>
                <a:cs typeface="Arial" panose="020B0604020202020204" pitchFamily="34" charset="0"/>
              </a:defRPr>
            </a:lvl2pPr>
            <a:lvl3pPr marL="1371600" indent="-274320">
              <a:buFont typeface="Wingdings" panose="05000000000000000000" pitchFamily="2" charset="2"/>
              <a:buChar char="ü"/>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marL="2468880" indent="-274320">
              <a:buFont typeface="Wingdings" panose="05000000000000000000" pitchFamily="2" charset="2"/>
              <a:buChar char="§"/>
              <a:defRPr sz="1600">
                <a:latin typeface="Arial" panose="020B0604020202020204" pitchFamily="34" charset="0"/>
                <a:cs typeface="Arial" panose="020B0604020202020204" pitchFamily="34" charset="0"/>
              </a:defRPr>
            </a:lvl5pPr>
          </a:lstStyle>
          <a:p>
            <a:pPr lvl="0"/>
            <a:r>
              <a:rPr lang="en-US"/>
              <a:t>Click to edit Master text styles</a:t>
            </a:r>
          </a:p>
        </p:txBody>
      </p:sp>
    </p:spTree>
    <p:extLst>
      <p:ext uri="{BB962C8B-B14F-4D97-AF65-F5344CB8AC3E}">
        <p14:creationId xmlns:p14="http://schemas.microsoft.com/office/powerpoint/2010/main" val="2950081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Picture Gri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3DEE2FC3-856F-2F4B-A52D-94189159AC19}"/>
              </a:ext>
            </a:extLst>
          </p:cNvPr>
          <p:cNvSpPr>
            <a:spLocks noGrp="1"/>
          </p:cNvSpPr>
          <p:nvPr>
            <p:ph type="pic" sz="quarter" idx="10"/>
          </p:nvPr>
        </p:nvSpPr>
        <p:spPr>
          <a:xfrm>
            <a:off x="1371600" y="5060515"/>
            <a:ext cx="4069080" cy="2711885"/>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1" name="Picture Placeholder 2">
            <a:extLst>
              <a:ext uri="{FF2B5EF4-FFF2-40B4-BE49-F238E27FC236}">
                <a16:creationId xmlns:a16="http://schemas.microsoft.com/office/drawing/2014/main" id="{FE341CF1-EFF3-A64D-A9D4-B96C8CD8F301}"/>
              </a:ext>
            </a:extLst>
          </p:cNvPr>
          <p:cNvSpPr>
            <a:spLocks noGrp="1"/>
          </p:cNvSpPr>
          <p:nvPr>
            <p:ph type="pic" sz="quarter" idx="11"/>
          </p:nvPr>
        </p:nvSpPr>
        <p:spPr>
          <a:xfrm>
            <a:off x="1371600" y="2066544"/>
            <a:ext cx="4069080" cy="2715768"/>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3" name="Picture Placeholder 2">
            <a:extLst>
              <a:ext uri="{FF2B5EF4-FFF2-40B4-BE49-F238E27FC236}">
                <a16:creationId xmlns:a16="http://schemas.microsoft.com/office/drawing/2014/main" id="{D0629C78-28FC-874B-96C1-DFAAFF975DEC}"/>
              </a:ext>
            </a:extLst>
          </p:cNvPr>
          <p:cNvSpPr>
            <a:spLocks noGrp="1"/>
          </p:cNvSpPr>
          <p:nvPr>
            <p:ph type="pic" sz="quarter" idx="12"/>
          </p:nvPr>
        </p:nvSpPr>
        <p:spPr>
          <a:xfrm>
            <a:off x="5737860" y="5060515"/>
            <a:ext cx="4069080" cy="2711885"/>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4" name="Picture Placeholder 2">
            <a:extLst>
              <a:ext uri="{FF2B5EF4-FFF2-40B4-BE49-F238E27FC236}">
                <a16:creationId xmlns:a16="http://schemas.microsoft.com/office/drawing/2014/main" id="{5089EEED-3863-BD48-BCCB-4D264015DA60}"/>
              </a:ext>
            </a:extLst>
          </p:cNvPr>
          <p:cNvSpPr>
            <a:spLocks noGrp="1"/>
          </p:cNvSpPr>
          <p:nvPr>
            <p:ph type="pic" sz="quarter" idx="13"/>
          </p:nvPr>
        </p:nvSpPr>
        <p:spPr>
          <a:xfrm>
            <a:off x="5737860" y="2066544"/>
            <a:ext cx="4069080" cy="2715768"/>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5" name="Picture Placeholder 2">
            <a:extLst>
              <a:ext uri="{FF2B5EF4-FFF2-40B4-BE49-F238E27FC236}">
                <a16:creationId xmlns:a16="http://schemas.microsoft.com/office/drawing/2014/main" id="{EEF5B44F-191D-F44D-8AB3-0B9E4AF4B4E2}"/>
              </a:ext>
            </a:extLst>
          </p:cNvPr>
          <p:cNvSpPr>
            <a:spLocks noGrp="1"/>
          </p:cNvSpPr>
          <p:nvPr>
            <p:ph type="pic" sz="quarter" idx="14"/>
          </p:nvPr>
        </p:nvSpPr>
        <p:spPr>
          <a:xfrm>
            <a:off x="10104120" y="5060515"/>
            <a:ext cx="4069080" cy="2711885"/>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6" name="Picture Placeholder 2">
            <a:extLst>
              <a:ext uri="{FF2B5EF4-FFF2-40B4-BE49-F238E27FC236}">
                <a16:creationId xmlns:a16="http://schemas.microsoft.com/office/drawing/2014/main" id="{A26442AE-D905-374C-9CB4-1A1F44C08C61}"/>
              </a:ext>
            </a:extLst>
          </p:cNvPr>
          <p:cNvSpPr>
            <a:spLocks noGrp="1"/>
          </p:cNvSpPr>
          <p:nvPr>
            <p:ph type="pic" sz="quarter" idx="15"/>
          </p:nvPr>
        </p:nvSpPr>
        <p:spPr>
          <a:xfrm>
            <a:off x="10104120" y="2066544"/>
            <a:ext cx="4069080" cy="2715768"/>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7" name="Text Placeholder 5">
            <a:extLst>
              <a:ext uri="{FF2B5EF4-FFF2-40B4-BE49-F238E27FC236}">
                <a16:creationId xmlns:a16="http://schemas.microsoft.com/office/drawing/2014/main" id="{CEBE105C-2ECB-0B46-923F-378B0A5AEBCB}"/>
              </a:ext>
            </a:extLst>
          </p:cNvPr>
          <p:cNvSpPr>
            <a:spLocks noGrp="1"/>
          </p:cNvSpPr>
          <p:nvPr>
            <p:ph type="body" sz="quarter" idx="16" hasCustomPrompt="1"/>
          </p:nvPr>
        </p:nvSpPr>
        <p:spPr>
          <a:xfrm>
            <a:off x="1371600" y="3959352"/>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9" name="Text Placeholder 5">
            <a:extLst>
              <a:ext uri="{FF2B5EF4-FFF2-40B4-BE49-F238E27FC236}">
                <a16:creationId xmlns:a16="http://schemas.microsoft.com/office/drawing/2014/main" id="{8B0900D4-1543-834B-AE27-9A72FD91B398}"/>
              </a:ext>
            </a:extLst>
          </p:cNvPr>
          <p:cNvSpPr>
            <a:spLocks noGrp="1"/>
          </p:cNvSpPr>
          <p:nvPr>
            <p:ph type="body" sz="quarter" idx="17" hasCustomPrompt="1"/>
          </p:nvPr>
        </p:nvSpPr>
        <p:spPr>
          <a:xfrm>
            <a:off x="137160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0" name="Text Placeholder 5">
            <a:extLst>
              <a:ext uri="{FF2B5EF4-FFF2-40B4-BE49-F238E27FC236}">
                <a16:creationId xmlns:a16="http://schemas.microsoft.com/office/drawing/2014/main" id="{F64FB6B4-B0C6-5949-9F2B-7BCB7B207394}"/>
              </a:ext>
            </a:extLst>
          </p:cNvPr>
          <p:cNvSpPr>
            <a:spLocks noGrp="1"/>
          </p:cNvSpPr>
          <p:nvPr>
            <p:ph type="body" sz="quarter" idx="18" hasCustomPrompt="1"/>
          </p:nvPr>
        </p:nvSpPr>
        <p:spPr>
          <a:xfrm>
            <a:off x="5737860" y="3959352"/>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1" name="Text Placeholder 5">
            <a:extLst>
              <a:ext uri="{FF2B5EF4-FFF2-40B4-BE49-F238E27FC236}">
                <a16:creationId xmlns:a16="http://schemas.microsoft.com/office/drawing/2014/main" id="{8FDD81E0-346D-A544-A838-A6991588AE4C}"/>
              </a:ext>
            </a:extLst>
          </p:cNvPr>
          <p:cNvSpPr>
            <a:spLocks noGrp="1"/>
          </p:cNvSpPr>
          <p:nvPr>
            <p:ph type="body" sz="quarter" idx="19" hasCustomPrompt="1"/>
          </p:nvPr>
        </p:nvSpPr>
        <p:spPr>
          <a:xfrm>
            <a:off x="573786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2" name="Text Placeholder 5">
            <a:extLst>
              <a:ext uri="{FF2B5EF4-FFF2-40B4-BE49-F238E27FC236}">
                <a16:creationId xmlns:a16="http://schemas.microsoft.com/office/drawing/2014/main" id="{CDB91CB5-0E93-FA44-9508-60493542C74C}"/>
              </a:ext>
            </a:extLst>
          </p:cNvPr>
          <p:cNvSpPr>
            <a:spLocks noGrp="1"/>
          </p:cNvSpPr>
          <p:nvPr>
            <p:ph type="body" sz="quarter" idx="20" hasCustomPrompt="1"/>
          </p:nvPr>
        </p:nvSpPr>
        <p:spPr>
          <a:xfrm>
            <a:off x="10104120" y="3959352"/>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3" name="Text Placeholder 5">
            <a:extLst>
              <a:ext uri="{FF2B5EF4-FFF2-40B4-BE49-F238E27FC236}">
                <a16:creationId xmlns:a16="http://schemas.microsoft.com/office/drawing/2014/main" id="{92F736B8-F799-F047-BE4E-297E64A7549C}"/>
              </a:ext>
            </a:extLst>
          </p:cNvPr>
          <p:cNvSpPr>
            <a:spLocks noGrp="1"/>
          </p:cNvSpPr>
          <p:nvPr>
            <p:ph type="body" sz="quarter" idx="21" hasCustomPrompt="1"/>
          </p:nvPr>
        </p:nvSpPr>
        <p:spPr>
          <a:xfrm>
            <a:off x="1010412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4" name="Slide Number Placeholder 3">
            <a:extLst>
              <a:ext uri="{FF2B5EF4-FFF2-40B4-BE49-F238E27FC236}">
                <a16:creationId xmlns:a16="http://schemas.microsoft.com/office/drawing/2014/main" id="{183198DF-9C78-DD40-9CE1-2BC11B888821}"/>
              </a:ext>
            </a:extLst>
          </p:cNvPr>
          <p:cNvSpPr>
            <a:spLocks noGrp="1"/>
          </p:cNvSpPr>
          <p:nvPr>
            <p:ph type="sldNum" sz="quarter" idx="2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28" name="Date Placeholder 1">
            <a:extLst>
              <a:ext uri="{FF2B5EF4-FFF2-40B4-BE49-F238E27FC236}">
                <a16:creationId xmlns:a16="http://schemas.microsoft.com/office/drawing/2014/main" id="{68F188F7-153E-49D5-8DFC-19025204703A}"/>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4/23/2026</a:t>
            </a:fld>
            <a:endParaRPr lang="en-US"/>
          </a:p>
        </p:txBody>
      </p:sp>
      <p:sp>
        <p:nvSpPr>
          <p:cNvPr id="29" name="Footer Placeholder 2">
            <a:extLst>
              <a:ext uri="{FF2B5EF4-FFF2-40B4-BE49-F238E27FC236}">
                <a16:creationId xmlns:a16="http://schemas.microsoft.com/office/drawing/2014/main" id="{578EF931-9BED-4D2C-8850-F588C3E36023}"/>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30" name="Title 1">
            <a:extLst>
              <a:ext uri="{FF2B5EF4-FFF2-40B4-BE49-F238E27FC236}">
                <a16:creationId xmlns:a16="http://schemas.microsoft.com/office/drawing/2014/main" id="{7B7AD090-7EA2-424E-A15B-B80A20326A1D}"/>
              </a:ext>
            </a:extLst>
          </p:cNvPr>
          <p:cNvSpPr>
            <a:spLocks noGrp="1"/>
          </p:cNvSpPr>
          <p:nvPr>
            <p:ph type="title" hasCustomPrompt="1"/>
          </p:nvPr>
        </p:nvSpPr>
        <p:spPr>
          <a:xfrm>
            <a:off x="3200400" y="270933"/>
            <a:ext cx="10972800" cy="1310979"/>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Tree>
    <p:extLst>
      <p:ext uri="{BB962C8B-B14F-4D97-AF65-F5344CB8AC3E}">
        <p14:creationId xmlns:p14="http://schemas.microsoft.com/office/powerpoint/2010/main" val="482923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D96EEDE-6486-774B-B0E3-751BBA42CE35}"/>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6" name="Date Placeholder 1">
            <a:extLst>
              <a:ext uri="{FF2B5EF4-FFF2-40B4-BE49-F238E27FC236}">
                <a16:creationId xmlns:a16="http://schemas.microsoft.com/office/drawing/2014/main" id="{8F28E1ED-1888-403E-AAF0-8053EF9DF5EA}"/>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4/23/2026</a:t>
            </a:fld>
            <a:endParaRPr lang="en-US"/>
          </a:p>
        </p:txBody>
      </p:sp>
      <p:sp>
        <p:nvSpPr>
          <p:cNvPr id="7" name="Footer Placeholder 2">
            <a:extLst>
              <a:ext uri="{FF2B5EF4-FFF2-40B4-BE49-F238E27FC236}">
                <a16:creationId xmlns:a16="http://schemas.microsoft.com/office/drawing/2014/main" id="{227E8059-8EC0-42A2-8A9E-251427CDC055}"/>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2269145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Thank You / Conclusion">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chemeClr val="bg1"/>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6" name="TextBox 5">
            <a:extLst>
              <a:ext uri="{FF2B5EF4-FFF2-40B4-BE49-F238E27FC236}">
                <a16:creationId xmlns:a16="http://schemas.microsoft.com/office/drawing/2014/main" id="{D366D1A4-6DD7-B54C-AB7B-63074374BB93}"/>
              </a:ext>
            </a:extLst>
          </p:cNvPr>
          <p:cNvSpPr txBox="1"/>
          <p:nvPr userDrawn="1"/>
        </p:nvSpPr>
        <p:spPr>
          <a:xfrm>
            <a:off x="1371600" y="2057400"/>
            <a:ext cx="4572000" cy="5486400"/>
          </a:xfrm>
          <a:prstGeom prst="rect">
            <a:avLst/>
          </a:prstGeom>
          <a:noFill/>
        </p:spPr>
        <p:txBody>
          <a:bodyPr wrap="square" lIns="0" tIns="0" rIns="0" bIns="0" rtlCol="0" anchor="ctr" anchorCtr="0">
            <a:noAutofit/>
          </a:bodyPr>
          <a:lstStyle/>
          <a:p>
            <a:pPr>
              <a:lnSpc>
                <a:spcPct val="90000"/>
              </a:lnSpc>
            </a:pPr>
            <a:r>
              <a:rPr lang="en-US" sz="4800" b="1">
                <a:solidFill>
                  <a:schemeClr val="tx2"/>
                </a:solidFill>
                <a:latin typeface="Arial" panose="020B0604020202020204" pitchFamily="34" charset="0"/>
                <a:cs typeface="Arial" panose="020B0604020202020204" pitchFamily="34" charset="0"/>
              </a:rPr>
              <a:t>Thank you</a:t>
            </a:r>
          </a:p>
        </p:txBody>
      </p:sp>
      <p:sp>
        <p:nvSpPr>
          <p:cNvPr id="9" name="Footer Placeholder 2">
            <a:extLst>
              <a:ext uri="{FF2B5EF4-FFF2-40B4-BE49-F238E27FC236}">
                <a16:creationId xmlns:a16="http://schemas.microsoft.com/office/drawing/2014/main" id="{B62A8373-42F9-431F-865E-129CCA0046BE}"/>
              </a:ext>
            </a:extLst>
          </p:cNvPr>
          <p:cNvSpPr>
            <a:spLocks noGrp="1"/>
          </p:cNvSpPr>
          <p:nvPr>
            <p:ph type="ftr" sz="quarter" idx="3"/>
          </p:nvPr>
        </p:nvSpPr>
        <p:spPr>
          <a:xfrm>
            <a:off x="929247" y="7772400"/>
            <a:ext cx="5471554"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3241765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729221F-20F2-144C-A638-0A6C756C26C9}"/>
              </a:ext>
            </a:extLst>
          </p:cNvPr>
          <p:cNvSpPr/>
          <p:nvPr userDrawn="1"/>
        </p:nvSpPr>
        <p:spPr>
          <a:xfrm>
            <a:off x="914400" y="0"/>
            <a:ext cx="54864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588D28A-E737-5049-8A98-3AC3A6EA2CDB}"/>
              </a:ext>
            </a:extLst>
          </p:cNvPr>
          <p:cNvPicPr>
            <a:picLocks noChangeAspect="1"/>
          </p:cNvPicPr>
          <p:nvPr userDrawn="1"/>
        </p:nvPicPr>
        <p:blipFill>
          <a:blip r:embed="rId12"/>
          <a:stretch>
            <a:fillRect/>
          </a:stretch>
        </p:blipFill>
        <p:spPr>
          <a:xfrm>
            <a:off x="1371600" y="237744"/>
            <a:ext cx="1280160" cy="1249224"/>
          </a:xfrm>
          <a:prstGeom prst="rect">
            <a:avLst/>
          </a:prstGeom>
        </p:spPr>
      </p:pic>
      <p:sp>
        <p:nvSpPr>
          <p:cNvPr id="3" name="Footer Placeholder 2">
            <a:extLst>
              <a:ext uri="{FF2B5EF4-FFF2-40B4-BE49-F238E27FC236}">
                <a16:creationId xmlns:a16="http://schemas.microsoft.com/office/drawing/2014/main" id="{5EEAA279-64AD-4C24-987C-D056E5350C46}"/>
              </a:ext>
            </a:extLst>
          </p:cNvPr>
          <p:cNvSpPr>
            <a:spLocks noGrp="1"/>
          </p:cNvSpPr>
          <p:nvPr>
            <p:ph type="ftr" sz="quarter" idx="3"/>
          </p:nvPr>
        </p:nvSpPr>
        <p:spPr>
          <a:xfrm>
            <a:off x="1189037" y="7627938"/>
            <a:ext cx="4937125"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647107024"/>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hyperlink" Target="https://gdr.openei.org/submissions/1730" TargetMode="External"/><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D0D9-1CAC-4FBD-8120-CBD5A07EB995}"/>
              </a:ext>
            </a:extLst>
          </p:cNvPr>
          <p:cNvSpPr>
            <a:spLocks noGrp="1"/>
          </p:cNvSpPr>
          <p:nvPr>
            <p:ph type="ctrTitle"/>
          </p:nvPr>
        </p:nvSpPr>
        <p:spPr>
          <a:xfrm>
            <a:off x="1103362" y="1645920"/>
            <a:ext cx="5106333" cy="1828800"/>
          </a:xfrm>
        </p:spPr>
        <p:txBody>
          <a:bodyPr/>
          <a:lstStyle/>
          <a:p>
            <a:pPr algn="l"/>
            <a:r>
              <a:rPr lang="en-US" sz="3200">
                <a:solidFill>
                  <a:schemeClr val="accent6"/>
                </a:solidFill>
              </a:rPr>
              <a:t>Signal‑to‑Storage</a:t>
            </a:r>
            <a:r>
              <a:rPr lang="en-US" sz="3200" b="0">
                <a:solidFill>
                  <a:schemeClr val="accent6"/>
                </a:solidFill>
              </a:rPr>
              <a:t>: </a:t>
            </a:r>
            <a:br>
              <a:rPr lang="en-US" sz="3200" b="0">
                <a:solidFill>
                  <a:schemeClr val="accent6"/>
                </a:solidFill>
              </a:rPr>
            </a:br>
            <a:r>
              <a:rPr lang="en-US" sz="3200" b="0">
                <a:solidFill>
                  <a:schemeClr val="accent6"/>
                </a:solidFill>
              </a:rPr>
              <a:t>Early Warning Forecasts for FTES Charging Operations</a:t>
            </a:r>
            <a:endParaRPr lang="en-US" sz="3200">
              <a:solidFill>
                <a:schemeClr val="accent6"/>
              </a:solidFill>
            </a:endParaRPr>
          </a:p>
        </p:txBody>
      </p:sp>
      <p:sp>
        <p:nvSpPr>
          <p:cNvPr id="4" name="Text Placeholder 3">
            <a:extLst>
              <a:ext uri="{FF2B5EF4-FFF2-40B4-BE49-F238E27FC236}">
                <a16:creationId xmlns:a16="http://schemas.microsoft.com/office/drawing/2014/main" id="{3C886310-1A8B-41C6-8ABF-4E949224625A}"/>
              </a:ext>
            </a:extLst>
          </p:cNvPr>
          <p:cNvSpPr>
            <a:spLocks noGrp="1"/>
          </p:cNvSpPr>
          <p:nvPr>
            <p:ph type="body" sz="quarter" idx="10"/>
          </p:nvPr>
        </p:nvSpPr>
        <p:spPr>
          <a:xfrm>
            <a:off x="1371600" y="4850709"/>
            <a:ext cx="4572000" cy="274320"/>
          </a:xfrm>
        </p:spPr>
        <p:txBody>
          <a:bodyPr wrap="none" lIns="0" tIns="0" rIns="0" bIns="0" anchor="t">
            <a:noAutofit/>
          </a:bodyPr>
          <a:lstStyle/>
          <a:p>
            <a:r>
              <a:rPr lang="en-US" sz="2000">
                <a:latin typeface="Arial"/>
                <a:cs typeface="Arial"/>
              </a:rPr>
              <a:t>Sub-Terra Tensor Tinkerers</a:t>
            </a:r>
          </a:p>
        </p:txBody>
      </p:sp>
      <p:sp>
        <p:nvSpPr>
          <p:cNvPr id="5" name="Text Placeholder 4">
            <a:extLst>
              <a:ext uri="{FF2B5EF4-FFF2-40B4-BE49-F238E27FC236}">
                <a16:creationId xmlns:a16="http://schemas.microsoft.com/office/drawing/2014/main" id="{2599C3C0-764A-4145-9480-D79B28BB6551}"/>
              </a:ext>
            </a:extLst>
          </p:cNvPr>
          <p:cNvSpPr>
            <a:spLocks noGrp="1"/>
          </p:cNvSpPr>
          <p:nvPr>
            <p:ph type="body" sz="quarter" idx="11"/>
          </p:nvPr>
        </p:nvSpPr>
        <p:spPr>
          <a:xfrm>
            <a:off x="1371600" y="5125028"/>
            <a:ext cx="4572000" cy="1458651"/>
          </a:xfrm>
        </p:spPr>
        <p:txBody>
          <a:bodyPr/>
          <a:lstStyle/>
          <a:p>
            <a:pPr>
              <a:lnSpc>
                <a:spcPct val="100000"/>
              </a:lnSpc>
              <a:spcBef>
                <a:spcPts val="0"/>
              </a:spcBef>
            </a:pPr>
            <a:r>
              <a:rPr lang="en-US" sz="1800"/>
              <a:t>Theresa Pham</a:t>
            </a:r>
          </a:p>
          <a:p>
            <a:pPr>
              <a:lnSpc>
                <a:spcPct val="100000"/>
              </a:lnSpc>
              <a:spcBef>
                <a:spcPts val="0"/>
              </a:spcBef>
            </a:pPr>
            <a:r>
              <a:rPr lang="en-US" sz="1800"/>
              <a:t>Xi Tan</a:t>
            </a:r>
          </a:p>
          <a:p>
            <a:pPr>
              <a:lnSpc>
                <a:spcPct val="100000"/>
              </a:lnSpc>
              <a:spcBef>
                <a:spcPts val="0"/>
              </a:spcBef>
            </a:pPr>
            <a:r>
              <a:rPr lang="en-US" sz="1800"/>
              <a:t>Mike Parker</a:t>
            </a:r>
          </a:p>
          <a:p>
            <a:pPr>
              <a:lnSpc>
                <a:spcPct val="100000"/>
              </a:lnSpc>
              <a:spcBef>
                <a:spcPts val="0"/>
              </a:spcBef>
            </a:pPr>
            <a:r>
              <a:rPr lang="en-US" sz="1800"/>
              <a:t>Scott Unger </a:t>
            </a:r>
          </a:p>
          <a:p>
            <a:pPr>
              <a:lnSpc>
                <a:spcPct val="100000"/>
              </a:lnSpc>
              <a:spcBef>
                <a:spcPts val="0"/>
              </a:spcBef>
            </a:pPr>
            <a:r>
              <a:rPr lang="en-US" sz="1800"/>
              <a:t>Julian Chesnutt</a:t>
            </a:r>
          </a:p>
          <a:p>
            <a:pPr>
              <a:lnSpc>
                <a:spcPct val="100000"/>
              </a:lnSpc>
              <a:spcBef>
                <a:spcPts val="0"/>
              </a:spcBef>
            </a:pPr>
            <a:r>
              <a:rPr lang="en-US" sz="1800"/>
              <a:t>Ashton Kirol</a:t>
            </a:r>
          </a:p>
        </p:txBody>
      </p:sp>
      <p:sp>
        <p:nvSpPr>
          <p:cNvPr id="6" name="Date Placeholder 5">
            <a:extLst>
              <a:ext uri="{FF2B5EF4-FFF2-40B4-BE49-F238E27FC236}">
                <a16:creationId xmlns:a16="http://schemas.microsoft.com/office/drawing/2014/main" id="{B8696A4F-5314-46CD-B205-CC2D44570D66}"/>
              </a:ext>
            </a:extLst>
          </p:cNvPr>
          <p:cNvSpPr>
            <a:spLocks noGrp="1"/>
          </p:cNvSpPr>
          <p:nvPr>
            <p:ph type="dt" sz="half" idx="2"/>
          </p:nvPr>
        </p:nvSpPr>
        <p:spPr>
          <a:xfrm>
            <a:off x="2652712" y="4248729"/>
            <a:ext cx="3290888" cy="438150"/>
          </a:xfrm>
        </p:spPr>
        <p:txBody>
          <a:bodyPr/>
          <a:lstStyle/>
          <a:p>
            <a:r>
              <a:rPr lang="en-US"/>
              <a:t>April 27, 2026</a:t>
            </a:r>
          </a:p>
        </p:txBody>
      </p:sp>
    </p:spTree>
    <p:extLst>
      <p:ext uri="{BB962C8B-B14F-4D97-AF65-F5344CB8AC3E}">
        <p14:creationId xmlns:p14="http://schemas.microsoft.com/office/powerpoint/2010/main" val="1152154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30BD2FD-1A79-4E55-9458-9294D45BDD02}"/>
              </a:ext>
            </a:extLst>
          </p:cNvPr>
          <p:cNvSpPr>
            <a:spLocks noGrp="1"/>
          </p:cNvSpPr>
          <p:nvPr>
            <p:ph type="sldNum" sz="quarter" idx="12"/>
          </p:nvPr>
        </p:nvSpPr>
        <p:spPr>
          <a:xfrm>
            <a:off x="13994296" y="7772400"/>
            <a:ext cx="453223" cy="457200"/>
          </a:xfrm>
        </p:spPr>
        <p:txBody>
          <a:bodyPr anchor="ctr">
            <a:normAutofit/>
          </a:bodyPr>
          <a:lstStyle/>
          <a:p>
            <a:pPr>
              <a:spcAft>
                <a:spcPts val="600"/>
              </a:spcAft>
            </a:pPr>
            <a:fld id="{FE7A4BB3-E848-5A44-82DF-322201952CD8}" type="slidenum">
              <a:rPr lang="en-US" smtClean="0"/>
              <a:pPr>
                <a:spcAft>
                  <a:spcPts val="600"/>
                </a:spcAft>
              </a:pPr>
              <a:t>2</a:t>
            </a:fld>
            <a:endParaRPr lang="en-US"/>
          </a:p>
        </p:txBody>
      </p:sp>
      <p:graphicFrame>
        <p:nvGraphicFramePr>
          <p:cNvPr id="8" name="Content Placeholder 5">
            <a:extLst>
              <a:ext uri="{FF2B5EF4-FFF2-40B4-BE49-F238E27FC236}">
                <a16:creationId xmlns:a16="http://schemas.microsoft.com/office/drawing/2014/main" id="{912E2371-C8AA-AC9E-6BDA-33A2FFA7878B}"/>
              </a:ext>
            </a:extLst>
          </p:cNvPr>
          <p:cNvGraphicFramePr>
            <a:graphicFrameLocks noGrp="1"/>
          </p:cNvGraphicFramePr>
          <p:nvPr>
            <p:ph sz="quarter" idx="20"/>
            <p:extLst>
              <p:ext uri="{D42A27DB-BD31-4B8C-83A1-F6EECF244321}">
                <p14:modId xmlns:p14="http://schemas.microsoft.com/office/powerpoint/2010/main" val="1102737873"/>
              </p:ext>
            </p:extLst>
          </p:nvPr>
        </p:nvGraphicFramePr>
        <p:xfrm>
          <a:off x="1075999" y="1752648"/>
          <a:ext cx="9524597" cy="60131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2">
            <a:extLst>
              <a:ext uri="{FF2B5EF4-FFF2-40B4-BE49-F238E27FC236}">
                <a16:creationId xmlns:a16="http://schemas.microsoft.com/office/drawing/2014/main" id="{198EA972-49BE-33F9-32B8-E37655775881}"/>
              </a:ext>
            </a:extLst>
          </p:cNvPr>
          <p:cNvSpPr>
            <a:spLocks noGrp="1"/>
          </p:cNvSpPr>
          <p:nvPr>
            <p:ph type="title"/>
          </p:nvPr>
        </p:nvSpPr>
        <p:spPr>
          <a:xfrm>
            <a:off x="3014341" y="295275"/>
            <a:ext cx="10012546" cy="1247775"/>
          </a:xfrm>
        </p:spPr>
        <p:txBody>
          <a:bodyPr lIns="0" tIns="45720" rIns="91440" bIns="45720" anchor="b">
            <a:normAutofit/>
          </a:bodyPr>
          <a:lstStyle/>
          <a:p>
            <a:r>
              <a:rPr lang="en-US">
                <a:latin typeface="Arial"/>
                <a:cs typeface="Arial"/>
              </a:rPr>
              <a:t>Project Overview and Metrics for Success</a:t>
            </a:r>
            <a:endParaRPr lang="en-US"/>
          </a:p>
        </p:txBody>
      </p:sp>
      <p:pic>
        <p:nvPicPr>
          <p:cNvPr id="34" name="drawing" descr="Graphical user interface, website&#10;&#10;AI-generated content may be incorrect.">
            <a:extLst>
              <a:ext uri="{FF2B5EF4-FFF2-40B4-BE49-F238E27FC236}">
                <a16:creationId xmlns:a16="http://schemas.microsoft.com/office/drawing/2014/main" id="{2F1E3E1E-5C8A-9EEC-14A5-650B283996DC}"/>
              </a:ext>
            </a:extLst>
          </p:cNvPr>
          <p:cNvPicPr>
            <a:picLocks noChangeAspect="1"/>
          </p:cNvPicPr>
          <p:nvPr/>
        </p:nvPicPr>
        <p:blipFill>
          <a:blip r:embed="rId8">
            <a:extLst>
              <a:ext uri="{28A0092B-C50C-407E-A947-70E740481C1C}">
                <a14:useLocalDpi xmlns:a14="http://schemas.microsoft.com/office/drawing/2010/main"/>
              </a:ext>
            </a:extLst>
          </a:blip>
          <a:srcRect t="6161" b="6161"/>
          <a:stretch>
            <a:fillRect/>
          </a:stretch>
        </p:blipFill>
        <p:spPr>
          <a:xfrm>
            <a:off x="10769647" y="1828279"/>
            <a:ext cx="3775201" cy="3553905"/>
          </a:xfrm>
          <a:prstGeom prst="rect">
            <a:avLst/>
          </a:prstGeom>
        </p:spPr>
      </p:pic>
      <p:sp>
        <p:nvSpPr>
          <p:cNvPr id="36" name="TextBox 35">
            <a:extLst>
              <a:ext uri="{FF2B5EF4-FFF2-40B4-BE49-F238E27FC236}">
                <a16:creationId xmlns:a16="http://schemas.microsoft.com/office/drawing/2014/main" id="{F2F77209-9225-5014-1A8E-C33D4138D1C3}"/>
              </a:ext>
            </a:extLst>
          </p:cNvPr>
          <p:cNvSpPr txBox="1"/>
          <p:nvPr/>
        </p:nvSpPr>
        <p:spPr>
          <a:xfrm>
            <a:off x="12033012" y="5480486"/>
            <a:ext cx="2597045" cy="1071062"/>
          </a:xfrm>
          <a:prstGeom prst="rect">
            <a:avLst/>
          </a:prstGeom>
          <a:noFill/>
        </p:spPr>
        <p:txBody>
          <a:bodyPr wrap="square" rtlCol="0">
            <a:spAutoFit/>
          </a:bodyPr>
          <a:lstStyle/>
          <a:p>
            <a:pPr algn="ctr"/>
            <a:r>
              <a:rPr lang="en-US" sz="1400">
                <a:solidFill>
                  <a:srgbClr val="000000"/>
                </a:solidFill>
                <a:latin typeface="+mj-lt"/>
                <a:cs typeface="Calibri" panose="020F0502020204030204" pitchFamily="34" charset="0"/>
              </a:rPr>
              <a:t>Lab-scale fracture thermal energy storage experiment (Burghardt et al., 2026)</a:t>
            </a:r>
          </a:p>
          <a:p>
            <a:endParaRPr lang="en-US">
              <a:latin typeface="+mj-lt"/>
            </a:endParaRPr>
          </a:p>
        </p:txBody>
      </p:sp>
    </p:spTree>
    <p:extLst>
      <p:ext uri="{BB962C8B-B14F-4D97-AF65-F5344CB8AC3E}">
        <p14:creationId xmlns:p14="http://schemas.microsoft.com/office/powerpoint/2010/main" val="1833106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4">
            <a:extLst>
              <a:ext uri="{FF2B5EF4-FFF2-40B4-BE49-F238E27FC236}">
                <a16:creationId xmlns:a16="http://schemas.microsoft.com/office/drawing/2014/main" id="{FFE62905-43A5-C3FF-4577-559679DD8011}"/>
              </a:ext>
            </a:extLst>
          </p:cNvPr>
          <p:cNvSpPr txBox="1">
            <a:spLocks/>
          </p:cNvSpPr>
          <p:nvPr/>
        </p:nvSpPr>
        <p:spPr>
          <a:xfrm>
            <a:off x="1371599" y="1826294"/>
            <a:ext cx="4572001" cy="1590675"/>
          </a:xfrm>
          <a:prstGeom prst="rect">
            <a:avLst/>
          </a:prstGeom>
        </p:spPr>
        <p:txBody>
          <a:bodyPr lIns="0" anchor="b"/>
          <a:lstStyle>
            <a:lvl1pPr algn="l" defTabSz="1097280" rtl="0" eaLnBrk="1" latinLnBrk="0" hangingPunct="1">
              <a:lnSpc>
                <a:spcPct val="90000"/>
              </a:lnSpc>
              <a:spcBef>
                <a:spcPct val="0"/>
              </a:spcBef>
              <a:buNone/>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Data Overview &amp; Challenges</a:t>
            </a:r>
          </a:p>
        </p:txBody>
      </p:sp>
      <p:sp>
        <p:nvSpPr>
          <p:cNvPr id="2" name="Slide Number Placeholder 1">
            <a:extLst>
              <a:ext uri="{FF2B5EF4-FFF2-40B4-BE49-F238E27FC236}">
                <a16:creationId xmlns:a16="http://schemas.microsoft.com/office/drawing/2014/main" id="{E4DBE0F3-60C4-4D75-B1FC-C0F4D46BCBD6}"/>
              </a:ext>
            </a:extLst>
          </p:cNvPr>
          <p:cNvSpPr>
            <a:spLocks noGrp="1"/>
          </p:cNvSpPr>
          <p:nvPr>
            <p:ph type="sldNum" sz="quarter" idx="12"/>
          </p:nvPr>
        </p:nvSpPr>
        <p:spPr>
          <a:xfrm>
            <a:off x="13994296" y="7772400"/>
            <a:ext cx="453223" cy="457200"/>
          </a:xfrm>
        </p:spPr>
        <p:txBody>
          <a:bodyPr anchor="ctr">
            <a:normAutofit/>
          </a:bodyPr>
          <a:lstStyle/>
          <a:p>
            <a:pPr>
              <a:spcAft>
                <a:spcPts val="600"/>
              </a:spcAft>
            </a:pPr>
            <a:fld id="{FE7A4BB3-E848-5A44-82DF-322201952CD8}" type="slidenum">
              <a:rPr lang="en-US" smtClean="0"/>
              <a:pPr>
                <a:spcAft>
                  <a:spcPts val="600"/>
                </a:spcAft>
              </a:pPr>
              <a:t>3</a:t>
            </a:fld>
            <a:endParaRPr lang="en-US"/>
          </a:p>
        </p:txBody>
      </p:sp>
      <p:graphicFrame>
        <p:nvGraphicFramePr>
          <p:cNvPr id="8" name="Content Placeholder 2">
            <a:extLst>
              <a:ext uri="{FF2B5EF4-FFF2-40B4-BE49-F238E27FC236}">
                <a16:creationId xmlns:a16="http://schemas.microsoft.com/office/drawing/2014/main" id="{B9A30787-ADC0-F60E-31ED-51B43288EB07}"/>
              </a:ext>
            </a:extLst>
          </p:cNvPr>
          <p:cNvGraphicFramePr>
            <a:graphicFrameLocks noGrp="1"/>
          </p:cNvGraphicFramePr>
          <p:nvPr>
            <p:ph sz="quarter" idx="20"/>
            <p:extLst>
              <p:ext uri="{D42A27DB-BD31-4B8C-83A1-F6EECF244321}">
                <p14:modId xmlns:p14="http://schemas.microsoft.com/office/powerpoint/2010/main" val="2649678359"/>
              </p:ext>
            </p:extLst>
          </p:nvPr>
        </p:nvGraphicFramePr>
        <p:xfrm>
          <a:off x="6430642" y="457199"/>
          <a:ext cx="7772400" cy="731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EA438387-531A-770C-8891-9BF27B17C994}"/>
              </a:ext>
            </a:extLst>
          </p:cNvPr>
          <p:cNvSpPr txBox="1"/>
          <p:nvPr/>
        </p:nvSpPr>
        <p:spPr>
          <a:xfrm>
            <a:off x="1598452" y="5710808"/>
            <a:ext cx="3876263" cy="1384995"/>
          </a:xfrm>
          <a:prstGeom prst="rect">
            <a:avLst/>
          </a:prstGeom>
          <a:noFill/>
        </p:spPr>
        <p:txBody>
          <a:bodyPr wrap="square">
            <a:spAutoFit/>
          </a:bodyPr>
          <a:lstStyle/>
          <a:p>
            <a:r>
              <a:rPr lang="en-US" sz="1400" baseline="30000"/>
              <a:t>1</a:t>
            </a:r>
            <a:r>
              <a:rPr lang="en-US" sz="1400"/>
              <a:t>Burghardt, J., Hibbard, L., &amp; Sirota, D. (2025). DEMO-FTES Test 1: Water Flow, Pressure, Temperature, and Electrical Conductivity Data. [Data set]. Geothermal Data Repository. Pacific Northwest National Laboratory. </a:t>
            </a:r>
            <a:r>
              <a:rPr lang="en-US" sz="1400">
                <a:hlinkClick r:id="rId8"/>
              </a:rPr>
              <a:t>https://gdr.openei.org/submissions/1730</a:t>
            </a:r>
            <a:r>
              <a:rPr lang="en-US" sz="1400"/>
              <a:t>  </a:t>
            </a:r>
          </a:p>
        </p:txBody>
      </p:sp>
      <p:pic>
        <p:nvPicPr>
          <p:cNvPr id="7" name="Picture 6">
            <a:extLst>
              <a:ext uri="{FF2B5EF4-FFF2-40B4-BE49-F238E27FC236}">
                <a16:creationId xmlns:a16="http://schemas.microsoft.com/office/drawing/2014/main" id="{B0ACB160-8674-2ABC-D8D4-9EC23615A8B7}"/>
              </a:ext>
            </a:extLst>
          </p:cNvPr>
          <p:cNvPicPr>
            <a:picLocks noChangeAspect="1"/>
          </p:cNvPicPr>
          <p:nvPr/>
        </p:nvPicPr>
        <p:blipFill>
          <a:blip r:embed="rId9"/>
          <a:stretch>
            <a:fillRect/>
          </a:stretch>
        </p:blipFill>
        <p:spPr>
          <a:xfrm>
            <a:off x="1598452" y="3904060"/>
            <a:ext cx="3876264" cy="1566328"/>
          </a:xfrm>
          <a:prstGeom prst="rect">
            <a:avLst/>
          </a:prstGeom>
        </p:spPr>
      </p:pic>
    </p:spTree>
    <p:extLst>
      <p:ext uri="{BB962C8B-B14F-4D97-AF65-F5344CB8AC3E}">
        <p14:creationId xmlns:p14="http://schemas.microsoft.com/office/powerpoint/2010/main" val="830733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03AE8-9FA9-3C5B-03A7-E716590C0E2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7AE4478-356E-BC33-755B-47F5A5693429}"/>
              </a:ext>
            </a:extLst>
          </p:cNvPr>
          <p:cNvSpPr>
            <a:spLocks noGrp="1"/>
          </p:cNvSpPr>
          <p:nvPr>
            <p:ph type="sldNum" sz="quarter" idx="12"/>
          </p:nvPr>
        </p:nvSpPr>
        <p:spPr>
          <a:xfrm>
            <a:off x="13994296" y="7772400"/>
            <a:ext cx="453223" cy="457200"/>
          </a:xfrm>
        </p:spPr>
        <p:txBody>
          <a:bodyPr anchor="ctr">
            <a:normAutofit/>
          </a:bodyPr>
          <a:lstStyle/>
          <a:p>
            <a:pPr>
              <a:spcAft>
                <a:spcPts val="600"/>
              </a:spcAft>
            </a:pPr>
            <a:fld id="{FE7A4BB3-E848-5A44-82DF-322201952CD8}" type="slidenum">
              <a:rPr lang="en-US" smtClean="0"/>
              <a:pPr>
                <a:spcAft>
                  <a:spcPts val="600"/>
                </a:spcAft>
              </a:pPr>
              <a:t>4</a:t>
            </a:fld>
            <a:endParaRPr lang="en-US"/>
          </a:p>
        </p:txBody>
      </p:sp>
      <p:pic>
        <p:nvPicPr>
          <p:cNvPr id="25" name="Picture 24">
            <a:extLst>
              <a:ext uri="{FF2B5EF4-FFF2-40B4-BE49-F238E27FC236}">
                <a16:creationId xmlns:a16="http://schemas.microsoft.com/office/drawing/2014/main" id="{C0A7498A-5DCD-0843-9B20-F7F01E80CFFA}"/>
              </a:ext>
            </a:extLst>
          </p:cNvPr>
          <p:cNvPicPr>
            <a:picLocks noChangeAspect="1"/>
          </p:cNvPicPr>
          <p:nvPr/>
        </p:nvPicPr>
        <p:blipFill>
          <a:blip r:embed="rId3"/>
          <a:srcRect l="1877" t="69" r="12" b="27303"/>
          <a:stretch>
            <a:fillRect/>
          </a:stretch>
        </p:blipFill>
        <p:spPr>
          <a:xfrm>
            <a:off x="3301391" y="670560"/>
            <a:ext cx="11332848" cy="7100652"/>
          </a:xfrm>
          <a:prstGeom prst="rect">
            <a:avLst/>
          </a:prstGeom>
        </p:spPr>
      </p:pic>
      <p:pic>
        <p:nvPicPr>
          <p:cNvPr id="26" name="Picture 25">
            <a:extLst>
              <a:ext uri="{FF2B5EF4-FFF2-40B4-BE49-F238E27FC236}">
                <a16:creationId xmlns:a16="http://schemas.microsoft.com/office/drawing/2014/main" id="{1490F67B-E4B0-2C93-DF6A-A0E894DD9CA5}"/>
              </a:ext>
            </a:extLst>
          </p:cNvPr>
          <p:cNvPicPr>
            <a:picLocks noChangeAspect="1"/>
          </p:cNvPicPr>
          <p:nvPr/>
        </p:nvPicPr>
        <p:blipFill>
          <a:blip r:embed="rId3"/>
          <a:srcRect l="6313" t="95955" r="1282" b="-650"/>
          <a:stretch>
            <a:fillRect/>
          </a:stretch>
        </p:blipFill>
        <p:spPr>
          <a:xfrm>
            <a:off x="3658988" y="7768167"/>
            <a:ext cx="10987728" cy="459134"/>
          </a:xfrm>
          <a:prstGeom prst="rect">
            <a:avLst/>
          </a:prstGeom>
        </p:spPr>
      </p:pic>
      <p:sp>
        <p:nvSpPr>
          <p:cNvPr id="27" name="TextBox 26">
            <a:extLst>
              <a:ext uri="{FF2B5EF4-FFF2-40B4-BE49-F238E27FC236}">
                <a16:creationId xmlns:a16="http://schemas.microsoft.com/office/drawing/2014/main" id="{E2445C08-3513-6C32-6F04-3B4C69D46DE3}"/>
              </a:ext>
            </a:extLst>
          </p:cNvPr>
          <p:cNvSpPr txBox="1"/>
          <p:nvPr/>
        </p:nvSpPr>
        <p:spPr>
          <a:xfrm>
            <a:off x="1122197" y="1797803"/>
            <a:ext cx="2077073"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150">
                <a:solidFill>
                  <a:srgbClr val="000000"/>
                </a:solidFill>
                <a:cs typeface="Arial"/>
              </a:rPr>
              <a:t>Injection Well Pressure (psi)</a:t>
            </a:r>
          </a:p>
          <a:p>
            <a:r>
              <a:rPr lang="en-US" sz="1900" b="1">
                <a:solidFill>
                  <a:schemeClr val="accent1"/>
                </a:solidFill>
                <a:cs typeface="Arial"/>
              </a:rPr>
              <a:t>[Target Feature]</a:t>
            </a:r>
          </a:p>
        </p:txBody>
      </p:sp>
      <p:sp>
        <p:nvSpPr>
          <p:cNvPr id="28" name="TextBox 27">
            <a:extLst>
              <a:ext uri="{FF2B5EF4-FFF2-40B4-BE49-F238E27FC236}">
                <a16:creationId xmlns:a16="http://schemas.microsoft.com/office/drawing/2014/main" id="{8D711C6A-C9A6-73B4-EC20-68FC42D39841}"/>
              </a:ext>
            </a:extLst>
          </p:cNvPr>
          <p:cNvSpPr txBox="1"/>
          <p:nvPr/>
        </p:nvSpPr>
        <p:spPr>
          <a:xfrm>
            <a:off x="1255361" y="3843578"/>
            <a:ext cx="1937287" cy="7540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150">
                <a:solidFill>
                  <a:srgbClr val="000000"/>
                </a:solidFill>
                <a:cs typeface="Arial"/>
              </a:rPr>
              <a:t>Injection Flow (L/min)</a:t>
            </a:r>
            <a:endParaRPr lang="en-US">
              <a:solidFill>
                <a:srgbClr val="000000"/>
              </a:solidFill>
            </a:endParaRPr>
          </a:p>
        </p:txBody>
      </p:sp>
      <p:sp>
        <p:nvSpPr>
          <p:cNvPr id="29" name="TextBox 28">
            <a:extLst>
              <a:ext uri="{FF2B5EF4-FFF2-40B4-BE49-F238E27FC236}">
                <a16:creationId xmlns:a16="http://schemas.microsoft.com/office/drawing/2014/main" id="{6BF07162-37D4-5447-E389-F3BF32F13B29}"/>
              </a:ext>
            </a:extLst>
          </p:cNvPr>
          <p:cNvSpPr txBox="1"/>
          <p:nvPr/>
        </p:nvSpPr>
        <p:spPr>
          <a:xfrm>
            <a:off x="1115877" y="6083083"/>
            <a:ext cx="2208506" cy="6694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150">
                <a:solidFill>
                  <a:srgbClr val="000000"/>
                </a:solidFill>
                <a:cs typeface="Arial"/>
              </a:rPr>
              <a:t>Net Flow (L/min)</a:t>
            </a:r>
          </a:p>
          <a:p>
            <a:r>
              <a:rPr lang="en-US" sz="1600">
                <a:solidFill>
                  <a:srgbClr val="000000"/>
                </a:solidFill>
                <a:cs typeface="Arial"/>
              </a:rPr>
              <a:t>[Injection –Production]</a:t>
            </a:r>
          </a:p>
        </p:txBody>
      </p:sp>
      <p:sp>
        <p:nvSpPr>
          <p:cNvPr id="30" name="TextBox 29">
            <a:extLst>
              <a:ext uri="{FF2B5EF4-FFF2-40B4-BE49-F238E27FC236}">
                <a16:creationId xmlns:a16="http://schemas.microsoft.com/office/drawing/2014/main" id="{7E64A096-7D8E-804E-B96F-B76E02C130A6}"/>
              </a:ext>
            </a:extLst>
          </p:cNvPr>
          <p:cNvSpPr txBox="1"/>
          <p:nvPr/>
        </p:nvSpPr>
        <p:spPr>
          <a:xfrm>
            <a:off x="4974956" y="2665708"/>
            <a:ext cx="2355742" cy="2169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2" name="TextBox 31">
            <a:extLst>
              <a:ext uri="{FF2B5EF4-FFF2-40B4-BE49-F238E27FC236}">
                <a16:creationId xmlns:a16="http://schemas.microsoft.com/office/drawing/2014/main" id="{A3CBB7F2-494C-8003-6A56-E001222B72B6}"/>
              </a:ext>
            </a:extLst>
          </p:cNvPr>
          <p:cNvSpPr txBox="1"/>
          <p:nvPr/>
        </p:nvSpPr>
        <p:spPr>
          <a:xfrm>
            <a:off x="5292671" y="2495227"/>
            <a:ext cx="1720311" cy="423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150">
                <a:cs typeface="Arial"/>
              </a:rPr>
              <a:t>Training</a:t>
            </a:r>
            <a:endParaRPr lang="en-US"/>
          </a:p>
        </p:txBody>
      </p:sp>
      <p:sp>
        <p:nvSpPr>
          <p:cNvPr id="33" name="TextBox 32">
            <a:extLst>
              <a:ext uri="{FF2B5EF4-FFF2-40B4-BE49-F238E27FC236}">
                <a16:creationId xmlns:a16="http://schemas.microsoft.com/office/drawing/2014/main" id="{7A4969B8-E9ED-6DE5-D6FD-97255C7B2460}"/>
              </a:ext>
            </a:extLst>
          </p:cNvPr>
          <p:cNvSpPr txBox="1"/>
          <p:nvPr/>
        </p:nvSpPr>
        <p:spPr>
          <a:xfrm>
            <a:off x="9616698" y="2557220"/>
            <a:ext cx="1720311" cy="423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150">
                <a:cs typeface="Arial"/>
              </a:rPr>
              <a:t>Testing</a:t>
            </a:r>
            <a:endParaRPr lang="en-US">
              <a:cs typeface="Arial"/>
            </a:endParaRPr>
          </a:p>
        </p:txBody>
      </p:sp>
      <p:sp>
        <p:nvSpPr>
          <p:cNvPr id="34" name="TextBox 33">
            <a:extLst>
              <a:ext uri="{FF2B5EF4-FFF2-40B4-BE49-F238E27FC236}">
                <a16:creationId xmlns:a16="http://schemas.microsoft.com/office/drawing/2014/main" id="{F6C4CB01-13A8-DFD6-4E83-BFF7729F849B}"/>
              </a:ext>
            </a:extLst>
          </p:cNvPr>
          <p:cNvSpPr txBox="1"/>
          <p:nvPr/>
        </p:nvSpPr>
        <p:spPr>
          <a:xfrm>
            <a:off x="11925946" y="2549471"/>
            <a:ext cx="1720311" cy="423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150">
                <a:cs typeface="Arial"/>
              </a:rPr>
              <a:t>Validation</a:t>
            </a:r>
            <a:endParaRPr lang="en-US"/>
          </a:p>
        </p:txBody>
      </p:sp>
      <p:sp>
        <p:nvSpPr>
          <p:cNvPr id="3" name="TextBox 2">
            <a:extLst>
              <a:ext uri="{FF2B5EF4-FFF2-40B4-BE49-F238E27FC236}">
                <a16:creationId xmlns:a16="http://schemas.microsoft.com/office/drawing/2014/main" id="{CC79C0AF-1A86-D3FE-CEFB-DA6590FB2CA5}"/>
              </a:ext>
            </a:extLst>
          </p:cNvPr>
          <p:cNvSpPr txBox="1"/>
          <p:nvPr/>
        </p:nvSpPr>
        <p:spPr>
          <a:xfrm>
            <a:off x="3657602" y="113441"/>
            <a:ext cx="10244028" cy="7940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baseline="0">
                <a:solidFill>
                  <a:srgbClr val="D77600"/>
                </a:solidFill>
                <a:latin typeface="Arial"/>
              </a:rPr>
              <a:t>Data Overview &amp; Challenges</a:t>
            </a:r>
            <a:r>
              <a:rPr sz="2400">
                <a:latin typeface="Arial"/>
                <a:ea typeface="Arial"/>
                <a:cs typeface="Arial"/>
              </a:rPr>
              <a:t>​</a:t>
            </a:r>
            <a:r>
              <a:rPr lang="en-US" sz="2400">
                <a:latin typeface="Arial"/>
                <a:ea typeface="Arial"/>
                <a:cs typeface="Arial"/>
              </a:rPr>
              <a:t>                           Hot Water Injection Phase</a:t>
            </a:r>
            <a:endParaRPr lang="en-US" sz="2400">
              <a:cs typeface="Arial"/>
            </a:endParaRPr>
          </a:p>
          <a:p>
            <a:pPr algn="ctr"/>
            <a:endParaRPr lang="en-US"/>
          </a:p>
        </p:txBody>
      </p:sp>
    </p:spTree>
    <p:extLst>
      <p:ext uri="{BB962C8B-B14F-4D97-AF65-F5344CB8AC3E}">
        <p14:creationId xmlns:p14="http://schemas.microsoft.com/office/powerpoint/2010/main" val="2198535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E6C83B-191B-2D75-12B2-5BBC039F461E}"/>
              </a:ext>
            </a:extLst>
          </p:cNvPr>
          <p:cNvSpPr>
            <a:spLocks noGrp="1"/>
          </p:cNvSpPr>
          <p:nvPr>
            <p:ph type="sldNum" sz="quarter" idx="12"/>
          </p:nvPr>
        </p:nvSpPr>
        <p:spPr/>
        <p:txBody>
          <a:bodyPr/>
          <a:lstStyle/>
          <a:p>
            <a:fld id="{FE7A4BB3-E848-5A44-82DF-322201952CD8}" type="slidenum">
              <a:rPr lang="en-US" smtClean="0"/>
              <a:pPr/>
              <a:t>5</a:t>
            </a:fld>
            <a:endParaRPr lang="en-US"/>
          </a:p>
        </p:txBody>
      </p:sp>
      <p:sp>
        <p:nvSpPr>
          <p:cNvPr id="3" name="Title 2">
            <a:extLst>
              <a:ext uri="{FF2B5EF4-FFF2-40B4-BE49-F238E27FC236}">
                <a16:creationId xmlns:a16="http://schemas.microsoft.com/office/drawing/2014/main" id="{E10AEAA7-CEEA-A336-B099-505285C2E63E}"/>
              </a:ext>
            </a:extLst>
          </p:cNvPr>
          <p:cNvSpPr>
            <a:spLocks noGrp="1"/>
          </p:cNvSpPr>
          <p:nvPr>
            <p:ph type="title"/>
          </p:nvPr>
        </p:nvSpPr>
        <p:spPr/>
        <p:txBody>
          <a:bodyPr/>
          <a:lstStyle/>
          <a:p>
            <a:r>
              <a:rPr lang="en-US"/>
              <a:t>Model Selection</a:t>
            </a:r>
          </a:p>
        </p:txBody>
      </p:sp>
      <p:graphicFrame>
        <p:nvGraphicFramePr>
          <p:cNvPr id="5" name="Content Placeholder 4">
            <a:extLst>
              <a:ext uri="{FF2B5EF4-FFF2-40B4-BE49-F238E27FC236}">
                <a16:creationId xmlns:a16="http://schemas.microsoft.com/office/drawing/2014/main" id="{6BB7F3B4-6116-7CF4-FC55-98AC64D6B6ED}"/>
              </a:ext>
            </a:extLst>
          </p:cNvPr>
          <p:cNvGraphicFramePr>
            <a:graphicFrameLocks noGrp="1"/>
          </p:cNvGraphicFramePr>
          <p:nvPr>
            <p:ph sz="quarter" idx="20"/>
            <p:extLst>
              <p:ext uri="{D42A27DB-BD31-4B8C-83A1-F6EECF244321}">
                <p14:modId xmlns:p14="http://schemas.microsoft.com/office/powerpoint/2010/main" val="1429627781"/>
              </p:ext>
            </p:extLst>
          </p:nvPr>
        </p:nvGraphicFramePr>
        <p:xfrm>
          <a:off x="2237362" y="1581912"/>
          <a:ext cx="11225717" cy="6483096"/>
        </p:xfrm>
        <a:graphic>
          <a:graphicData uri="http://schemas.openxmlformats.org/drawingml/2006/table">
            <a:tbl>
              <a:tblPr firstRow="1" firstCol="1" bandRow="1">
                <a:tableStyleId>{5C22544A-7EE6-4342-B048-85BDC9FD1C3A}</a:tableStyleId>
              </a:tblPr>
              <a:tblGrid>
                <a:gridCol w="1864004">
                  <a:extLst>
                    <a:ext uri="{9D8B030D-6E8A-4147-A177-3AD203B41FA5}">
                      <a16:colId xmlns:a16="http://schemas.microsoft.com/office/drawing/2014/main" val="2700881980"/>
                    </a:ext>
                  </a:extLst>
                </a:gridCol>
                <a:gridCol w="3120571">
                  <a:extLst>
                    <a:ext uri="{9D8B030D-6E8A-4147-A177-3AD203B41FA5}">
                      <a16:colId xmlns:a16="http://schemas.microsoft.com/office/drawing/2014/main" val="1674498204"/>
                    </a:ext>
                  </a:extLst>
                </a:gridCol>
                <a:gridCol w="3120571">
                  <a:extLst>
                    <a:ext uri="{9D8B030D-6E8A-4147-A177-3AD203B41FA5}">
                      <a16:colId xmlns:a16="http://schemas.microsoft.com/office/drawing/2014/main" val="2214126373"/>
                    </a:ext>
                  </a:extLst>
                </a:gridCol>
                <a:gridCol w="3120571">
                  <a:extLst>
                    <a:ext uri="{9D8B030D-6E8A-4147-A177-3AD203B41FA5}">
                      <a16:colId xmlns:a16="http://schemas.microsoft.com/office/drawing/2014/main" val="3793401751"/>
                    </a:ext>
                  </a:extLst>
                </a:gridCol>
              </a:tblGrid>
              <a:tr h="815359">
                <a:tc>
                  <a:txBody>
                    <a:bodyPr/>
                    <a:lstStyle/>
                    <a:p>
                      <a:endParaRPr lang="en-US"/>
                    </a:p>
                  </a:txBody>
                  <a:tcPr>
                    <a:noFill/>
                  </a:tcPr>
                </a:tc>
                <a:tc>
                  <a:txBody>
                    <a:bodyPr/>
                    <a:lstStyle/>
                    <a:p>
                      <a:r>
                        <a:rPr lang="en-US"/>
                        <a:t>Kalman Filter</a:t>
                      </a:r>
                    </a:p>
                  </a:txBody>
                  <a:tcPr/>
                </a:tc>
                <a:tc>
                  <a:txBody>
                    <a:bodyPr/>
                    <a:lstStyle/>
                    <a:p>
                      <a:r>
                        <a:rPr lang="en-US" sz="2150" b="1" kern="1200" err="1">
                          <a:solidFill>
                            <a:schemeClr val="lt1"/>
                          </a:solidFill>
                          <a:latin typeface="+mn-lt"/>
                          <a:ea typeface="+mn-ea"/>
                          <a:cs typeface="+mn-cs"/>
                        </a:rPr>
                        <a:t>XGBoost</a:t>
                      </a:r>
                      <a:r>
                        <a:rPr lang="en-US" sz="2150" b="1" kern="1200">
                          <a:solidFill>
                            <a:schemeClr val="lt1"/>
                          </a:solidFill>
                          <a:latin typeface="+mn-lt"/>
                          <a:ea typeface="+mn-ea"/>
                          <a:cs typeface="+mn-cs"/>
                        </a:rPr>
                        <a:t> (</a:t>
                      </a:r>
                      <a:r>
                        <a:rPr lang="en-US" sz="2150" b="1" kern="1200" err="1">
                          <a:solidFill>
                            <a:schemeClr val="lt1"/>
                          </a:solidFill>
                          <a:latin typeface="+mn-lt"/>
                          <a:ea typeface="+mn-ea"/>
                          <a:cs typeface="+mn-cs"/>
                        </a:rPr>
                        <a:t>eXtreme</a:t>
                      </a:r>
                      <a:r>
                        <a:rPr lang="en-US" sz="2150" b="1" kern="1200" dirty="0">
                          <a:solidFill>
                            <a:schemeClr val="lt1"/>
                          </a:solidFill>
                          <a:latin typeface="+mn-lt"/>
                          <a:ea typeface="+mn-ea"/>
                          <a:cs typeface="+mn-cs"/>
                        </a:rPr>
                        <a:t> </a:t>
                      </a:r>
                      <a:r>
                        <a:rPr lang="en-US" sz="2150" b="1" kern="1200">
                          <a:solidFill>
                            <a:schemeClr val="lt1"/>
                          </a:solidFill>
                          <a:latin typeface="+mn-lt"/>
                          <a:ea typeface="+mn-ea"/>
                          <a:cs typeface="+mn-cs"/>
                        </a:rPr>
                        <a:t>Gradient Boosting)</a:t>
                      </a:r>
                    </a:p>
                  </a:txBody>
                  <a:tcPr/>
                </a:tc>
                <a:tc>
                  <a:txBody>
                    <a:bodyPr/>
                    <a:lstStyle/>
                    <a:p>
                      <a:r>
                        <a:rPr lang="en-US"/>
                        <a:t>LSTM (Long Short-Term Memory)</a:t>
                      </a:r>
                    </a:p>
                  </a:txBody>
                  <a:tcPr/>
                </a:tc>
                <a:extLst>
                  <a:ext uri="{0D108BD9-81ED-4DB2-BD59-A6C34878D82A}">
                    <a16:rowId xmlns:a16="http://schemas.microsoft.com/office/drawing/2014/main" val="354666107"/>
                  </a:ext>
                </a:extLst>
              </a:tr>
              <a:tr h="1531283">
                <a:tc>
                  <a:txBody>
                    <a:bodyPr/>
                    <a:lstStyle/>
                    <a:p>
                      <a:r>
                        <a:rPr lang="en-US"/>
                        <a:t>Description</a:t>
                      </a:r>
                    </a:p>
                  </a:txBody>
                  <a:tcPr/>
                </a:tc>
                <a:tc>
                  <a:txBody>
                    <a:bodyPr/>
                    <a:lstStyle/>
                    <a:p>
                      <a:r>
                        <a:rPr lang="en-US" sz="2000"/>
                        <a:t>Recursive state-space algorithm rooted in Bayesian statistics.</a:t>
                      </a:r>
                      <a:endParaRPr lang="en-US" sz="2000" dirty="0"/>
                    </a:p>
                  </a:txBody>
                  <a:tcPr/>
                </a:tc>
                <a:tc>
                  <a:txBody>
                    <a:bodyPr/>
                    <a:lstStyle/>
                    <a:p>
                      <a:r>
                        <a:rPr lang="en-US" sz="2000"/>
                        <a:t>Supervised ML using ensembles of decision trees, framing the problem as regression.</a:t>
                      </a:r>
                      <a:endParaRPr lang="en-US" sz="2000" dirty="0"/>
                    </a:p>
                  </a:txBody>
                  <a:tcPr/>
                </a:tc>
                <a:tc>
                  <a:txBody>
                    <a:bodyPr/>
                    <a:lstStyle/>
                    <a:p>
                      <a:r>
                        <a:rPr lang="en-US" sz="2000"/>
                        <a:t>Recurrent Neural Network designed for sequential data.</a:t>
                      </a:r>
                      <a:endParaRPr lang="en-US" sz="2000" dirty="0"/>
                    </a:p>
                  </a:txBody>
                  <a:tcPr/>
                </a:tc>
                <a:extLst>
                  <a:ext uri="{0D108BD9-81ED-4DB2-BD59-A6C34878D82A}">
                    <a16:rowId xmlns:a16="http://schemas.microsoft.com/office/drawing/2014/main" val="3939659832"/>
                  </a:ext>
                </a:extLst>
              </a:tr>
              <a:tr h="2247208">
                <a:tc>
                  <a:txBody>
                    <a:bodyPr/>
                    <a:lstStyle/>
                    <a:p>
                      <a:r>
                        <a:rPr lang="en-US"/>
                        <a:t>Strengths</a:t>
                      </a:r>
                    </a:p>
                  </a:txBody>
                  <a:tcPr/>
                </a:tc>
                <a:tc>
                  <a:txBody>
                    <a:bodyPr/>
                    <a:lstStyle/>
                    <a:p>
                      <a:pPr marL="342900" indent="-342900">
                        <a:buFont typeface="Arial" panose="020B0604020202020204" pitchFamily="34" charset="0"/>
                        <a:buChar char="•"/>
                      </a:pPr>
                      <a:r>
                        <a:rPr lang="en-US" sz="2000"/>
                        <a:t>Computationally lightweight</a:t>
                      </a:r>
                      <a:endParaRPr lang="en-US" sz="2000" dirty="0"/>
                    </a:p>
                    <a:p>
                      <a:pPr marL="342900" indent="-342900">
                        <a:buFont typeface="Arial" panose="020B0604020202020204" pitchFamily="34" charset="0"/>
                        <a:buChar char="•"/>
                      </a:pPr>
                      <a:r>
                        <a:rPr lang="en-US" sz="2000"/>
                        <a:t>Interpretability</a:t>
                      </a:r>
                      <a:endParaRPr lang="en-US" sz="2000" dirty="0"/>
                    </a:p>
                    <a:p>
                      <a:pPr marL="342900" indent="-342900">
                        <a:buFont typeface="Arial" panose="020B0604020202020204" pitchFamily="34" charset="0"/>
                        <a:buChar char="•"/>
                      </a:pPr>
                      <a:r>
                        <a:rPr lang="en-US" sz="2000"/>
                        <a:t>Dynamic model – real-time forecasting</a:t>
                      </a:r>
                      <a:endParaRPr lang="en-US" sz="2000" dirty="0"/>
                    </a:p>
                  </a:txBody>
                  <a:tcPr/>
                </a:tc>
                <a:tc>
                  <a:txBody>
                    <a:bodyPr/>
                    <a:lstStyle/>
                    <a:p>
                      <a:pPr marL="342900" indent="-342900">
                        <a:buFont typeface="Arial" panose="020B0604020202020204" pitchFamily="34" charset="0"/>
                        <a:buChar char="•"/>
                      </a:pPr>
                      <a:r>
                        <a:rPr lang="en-US" sz="2000"/>
                        <a:t>Efficiency</a:t>
                      </a:r>
                      <a:endParaRPr lang="en-US" sz="2000" dirty="0"/>
                    </a:p>
                    <a:p>
                      <a:pPr marL="342900" indent="-342900">
                        <a:buFont typeface="Arial" panose="020B0604020202020204" pitchFamily="34" charset="0"/>
                        <a:buChar char="•"/>
                      </a:pPr>
                      <a:r>
                        <a:rPr lang="en-US" sz="2000"/>
                        <a:t>Captures nonlinearities</a:t>
                      </a:r>
                      <a:endParaRPr lang="en-US" sz="2000" dirty="0"/>
                    </a:p>
                    <a:p>
                      <a:pPr marL="342900" indent="-342900">
                        <a:buFont typeface="Arial" panose="020B0604020202020204" pitchFamily="34" charset="0"/>
                        <a:buChar char="•"/>
                      </a:pPr>
                      <a:r>
                        <a:rPr lang="en-US" sz="2000"/>
                        <a:t>Ideal for high-dimensional, tabular data</a:t>
                      </a:r>
                      <a:endParaRPr lang="en-US" sz="2000" dirty="0"/>
                    </a:p>
                  </a:txBody>
                  <a:tcPr/>
                </a:tc>
                <a:tc>
                  <a:txBody>
                    <a:bodyPr/>
                    <a:lstStyle/>
                    <a:p>
                      <a:pPr marL="342900" indent="-342900">
                        <a:buFont typeface="Arial" panose="020B0604020202020204" pitchFamily="34" charset="0"/>
                        <a:buChar char="•"/>
                      </a:pPr>
                      <a:r>
                        <a:rPr lang="en-US" sz="2000"/>
                        <a:t>Specialized for long-range dependencies</a:t>
                      </a:r>
                      <a:endParaRPr lang="en-US" sz="2000" dirty="0"/>
                    </a:p>
                    <a:p>
                      <a:pPr marL="342900" indent="-342900">
                        <a:buFont typeface="Arial" panose="020B0604020202020204" pitchFamily="34" charset="0"/>
                        <a:buChar char="•"/>
                      </a:pPr>
                      <a:r>
                        <a:rPr lang="en-US" sz="2000"/>
                        <a:t>Captures nonlinear temporal effects</a:t>
                      </a:r>
                      <a:endParaRPr lang="en-US" sz="2000" dirty="0"/>
                    </a:p>
                    <a:p>
                      <a:pPr marL="342900" indent="-342900">
                        <a:buFont typeface="Arial" panose="020B0604020202020204" pitchFamily="34" charset="0"/>
                        <a:buChar char="•"/>
                      </a:pPr>
                      <a:r>
                        <a:rPr lang="en-US" sz="2000"/>
                        <a:t>Learns features</a:t>
                      </a:r>
                      <a:endParaRPr lang="en-US" sz="2000" dirty="0"/>
                    </a:p>
                    <a:p>
                      <a:pPr marL="342900" indent="-342900">
                        <a:buFont typeface="Arial" panose="020B0604020202020204" pitchFamily="34" charset="0"/>
                        <a:buChar char="•"/>
                      </a:pPr>
                      <a:endParaRPr lang="en-US" sz="2000" dirty="0"/>
                    </a:p>
                  </a:txBody>
                  <a:tcPr/>
                </a:tc>
                <a:extLst>
                  <a:ext uri="{0D108BD9-81ED-4DB2-BD59-A6C34878D82A}">
                    <a16:rowId xmlns:a16="http://schemas.microsoft.com/office/drawing/2014/main" val="4199421637"/>
                  </a:ext>
                </a:extLst>
              </a:tr>
              <a:tr h="1889246">
                <a:tc>
                  <a:txBody>
                    <a:bodyPr/>
                    <a:lstStyle/>
                    <a:p>
                      <a:r>
                        <a:rPr lang="en-US"/>
                        <a:t>Limitations</a:t>
                      </a:r>
                    </a:p>
                  </a:txBody>
                  <a:tcPr/>
                </a:tc>
                <a:tc>
                  <a:txBody>
                    <a:bodyPr/>
                    <a:lstStyle/>
                    <a:p>
                      <a:pPr marL="342900" indent="-342900">
                        <a:buFont typeface="Arial" panose="020B0604020202020204" pitchFamily="34" charset="0"/>
                        <a:buChar char="•"/>
                      </a:pPr>
                      <a:r>
                        <a:rPr lang="en-US" sz="2000"/>
                        <a:t>Possible underfitting of complex nonlinear patterns</a:t>
                      </a:r>
                      <a:endParaRPr lang="en-US" sz="2000" dirty="0"/>
                    </a:p>
                  </a:txBody>
                  <a:tcPr/>
                </a:tc>
                <a:tc>
                  <a:txBody>
                    <a:bodyPr/>
                    <a:lstStyle/>
                    <a:p>
                      <a:pPr marL="342900" indent="-342900">
                        <a:buFont typeface="Arial" panose="020B0604020202020204" pitchFamily="34" charset="0"/>
                        <a:buChar char="•"/>
                      </a:pPr>
                      <a:r>
                        <a:rPr lang="en-US" sz="2000"/>
                        <a:t>Struggles with temporal dependencies – feature engineering required</a:t>
                      </a:r>
                      <a:endParaRPr lang="en-US" sz="2000" dirty="0"/>
                    </a:p>
                  </a:txBody>
                  <a:tcPr/>
                </a:tc>
                <a:tc>
                  <a:txBody>
                    <a:bodyPr/>
                    <a:lstStyle/>
                    <a:p>
                      <a:pPr marL="342900" indent="-342900">
                        <a:buFont typeface="Arial" panose="020B0604020202020204" pitchFamily="34" charset="0"/>
                        <a:buChar char="•"/>
                      </a:pPr>
                      <a:r>
                        <a:rPr lang="en-US" sz="2000"/>
                        <a:t>Overfitting risk</a:t>
                      </a:r>
                      <a:endParaRPr lang="en-US" sz="2000" dirty="0"/>
                    </a:p>
                    <a:p>
                      <a:pPr marL="342900" indent="-342900">
                        <a:buFont typeface="Arial" panose="020B0604020202020204" pitchFamily="34" charset="0"/>
                        <a:buChar char="•"/>
                      </a:pPr>
                      <a:r>
                        <a:rPr lang="en-US" sz="2000"/>
                        <a:t>Higher compute</a:t>
                      </a:r>
                      <a:endParaRPr lang="en-US" sz="2000" dirty="0"/>
                    </a:p>
                    <a:p>
                      <a:pPr marL="342900" indent="-342900">
                        <a:buFont typeface="Arial" panose="020B0604020202020204" pitchFamily="34" charset="0"/>
                        <a:buChar char="•"/>
                      </a:pPr>
                      <a:r>
                        <a:rPr lang="en-US" sz="2000"/>
                        <a:t>Lower interpretability </a:t>
                      </a:r>
                      <a:endParaRPr lang="en-US" sz="2000" dirty="0"/>
                    </a:p>
                  </a:txBody>
                  <a:tcPr/>
                </a:tc>
                <a:extLst>
                  <a:ext uri="{0D108BD9-81ED-4DB2-BD59-A6C34878D82A}">
                    <a16:rowId xmlns:a16="http://schemas.microsoft.com/office/drawing/2014/main" val="4134135421"/>
                  </a:ext>
                </a:extLst>
              </a:tr>
            </a:tbl>
          </a:graphicData>
        </a:graphic>
      </p:graphicFrame>
    </p:spTree>
    <p:extLst>
      <p:ext uri="{BB962C8B-B14F-4D97-AF65-F5344CB8AC3E}">
        <p14:creationId xmlns:p14="http://schemas.microsoft.com/office/powerpoint/2010/main" val="2816481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36689-DBFF-BABA-D50C-3E298296E08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63402F-D7E6-B795-67F8-9A99059C38B0}"/>
              </a:ext>
            </a:extLst>
          </p:cNvPr>
          <p:cNvSpPr>
            <a:spLocks noGrp="1"/>
          </p:cNvSpPr>
          <p:nvPr>
            <p:ph type="sldNum" sz="quarter" idx="12"/>
          </p:nvPr>
        </p:nvSpPr>
        <p:spPr>
          <a:xfrm>
            <a:off x="13994296" y="7772400"/>
            <a:ext cx="453223" cy="457200"/>
          </a:xfrm>
        </p:spPr>
        <p:txBody>
          <a:bodyPr anchor="ctr">
            <a:normAutofit/>
          </a:bodyPr>
          <a:lstStyle/>
          <a:p>
            <a:pPr>
              <a:spcAft>
                <a:spcPts val="600"/>
              </a:spcAft>
            </a:pPr>
            <a:fld id="{FE7A4BB3-E848-5A44-82DF-322201952CD8}" type="slidenum">
              <a:rPr lang="en-US" smtClean="0"/>
              <a:pPr>
                <a:spcAft>
                  <a:spcPts val="600"/>
                </a:spcAft>
              </a:pPr>
              <a:t>6</a:t>
            </a:fld>
            <a:endParaRPr lang="en-US"/>
          </a:p>
        </p:txBody>
      </p:sp>
      <p:graphicFrame>
        <p:nvGraphicFramePr>
          <p:cNvPr id="49" name="Table 48">
            <a:extLst>
              <a:ext uri="{FF2B5EF4-FFF2-40B4-BE49-F238E27FC236}">
                <a16:creationId xmlns:a16="http://schemas.microsoft.com/office/drawing/2014/main" id="{CB6FC309-7FDE-F6D3-5BF6-DF8B541A1739}"/>
              </a:ext>
            </a:extLst>
          </p:cNvPr>
          <p:cNvGraphicFramePr>
            <a:graphicFrameLocks noGrp="1"/>
          </p:cNvGraphicFramePr>
          <p:nvPr>
            <p:extLst>
              <p:ext uri="{D42A27DB-BD31-4B8C-83A1-F6EECF244321}">
                <p14:modId xmlns:p14="http://schemas.microsoft.com/office/powerpoint/2010/main" val="3394005110"/>
              </p:ext>
            </p:extLst>
          </p:nvPr>
        </p:nvGraphicFramePr>
        <p:xfrm>
          <a:off x="2887578" y="1161906"/>
          <a:ext cx="11555368" cy="6838043"/>
        </p:xfrm>
        <a:graphic>
          <a:graphicData uri="http://schemas.openxmlformats.org/drawingml/2006/table">
            <a:tbl>
              <a:tblPr firstRow="1" bandRow="1">
                <a:tableStyleId>{91EBBBCC-DAD2-459C-BE2E-F6DE35CF9A28}</a:tableStyleId>
              </a:tblPr>
              <a:tblGrid>
                <a:gridCol w="2894721">
                  <a:extLst>
                    <a:ext uri="{9D8B030D-6E8A-4147-A177-3AD203B41FA5}">
                      <a16:colId xmlns:a16="http://schemas.microsoft.com/office/drawing/2014/main" val="3031211512"/>
                    </a:ext>
                  </a:extLst>
                </a:gridCol>
                <a:gridCol w="3179892">
                  <a:extLst>
                    <a:ext uri="{9D8B030D-6E8A-4147-A177-3AD203B41FA5}">
                      <a16:colId xmlns:a16="http://schemas.microsoft.com/office/drawing/2014/main" val="1011682382"/>
                    </a:ext>
                  </a:extLst>
                </a:gridCol>
                <a:gridCol w="2983831">
                  <a:extLst>
                    <a:ext uri="{9D8B030D-6E8A-4147-A177-3AD203B41FA5}">
                      <a16:colId xmlns:a16="http://schemas.microsoft.com/office/drawing/2014/main" val="4113954668"/>
                    </a:ext>
                  </a:extLst>
                </a:gridCol>
                <a:gridCol w="2496924">
                  <a:extLst>
                    <a:ext uri="{9D8B030D-6E8A-4147-A177-3AD203B41FA5}">
                      <a16:colId xmlns:a16="http://schemas.microsoft.com/office/drawing/2014/main" val="3047748245"/>
                    </a:ext>
                  </a:extLst>
                </a:gridCol>
              </a:tblGrid>
              <a:tr h="363867">
                <a:tc>
                  <a:txBody>
                    <a:bodyPr/>
                    <a:lstStyle/>
                    <a:p>
                      <a:r>
                        <a:rPr lang="en-US" sz="2000"/>
                        <a:t>Kalman Filter</a:t>
                      </a:r>
                    </a:p>
                  </a:txBody>
                  <a:tcPr/>
                </a:tc>
                <a:tc>
                  <a:txBody>
                    <a:bodyPr/>
                    <a:lstStyle/>
                    <a:p>
                      <a:r>
                        <a:rPr lang="en-US" sz="2000"/>
                        <a:t>XGBoost and LSTM</a:t>
                      </a:r>
                    </a:p>
                  </a:txBody>
                  <a:tcPr/>
                </a:tc>
                <a:tc>
                  <a:txBody>
                    <a:bodyPr/>
                    <a:lstStyle/>
                    <a:p>
                      <a:r>
                        <a:rPr lang="en-US" sz="2000"/>
                        <a:t>LLM (Gemma 3)</a:t>
                      </a:r>
                    </a:p>
                  </a:txBody>
                  <a:tcPr/>
                </a:tc>
                <a:tc>
                  <a:txBody>
                    <a:bodyPr/>
                    <a:lstStyle/>
                    <a:p>
                      <a:pPr lvl="0">
                        <a:buNone/>
                      </a:pPr>
                      <a:r>
                        <a:rPr lang="en-US" sz="2000"/>
                        <a:t>Note</a:t>
                      </a:r>
                    </a:p>
                  </a:txBody>
                  <a:tcPr/>
                </a:tc>
                <a:extLst>
                  <a:ext uri="{0D108BD9-81ED-4DB2-BD59-A6C34878D82A}">
                    <a16:rowId xmlns:a16="http://schemas.microsoft.com/office/drawing/2014/main" val="1127730432"/>
                  </a:ext>
                </a:extLst>
              </a:tr>
              <a:tr h="363867">
                <a:tc>
                  <a:txBody>
                    <a:bodyPr/>
                    <a:lstStyle/>
                    <a:p>
                      <a:r>
                        <a:rPr lang="en-US" sz="1400">
                          <a:solidFill>
                            <a:srgbClr val="000000"/>
                          </a:solidFill>
                        </a:rPr>
                        <a:t>Injection Pressure</a:t>
                      </a:r>
                    </a:p>
                  </a:txBody>
                  <a:tcPr/>
                </a:tc>
                <a:tc>
                  <a:txBody>
                    <a:bodyPr/>
                    <a:lstStyle/>
                    <a:p>
                      <a:pPr lvl="0">
                        <a:buNone/>
                      </a:pPr>
                      <a:r>
                        <a:rPr lang="en-US" sz="1400" u="none" strike="noStrike" noProof="0">
                          <a:solidFill>
                            <a:srgbClr val="000000"/>
                          </a:solidFill>
                        </a:rPr>
                        <a:t>Injection Pressure</a:t>
                      </a:r>
                      <a:endParaRPr lang="en-US" sz="1400">
                        <a:solidFill>
                          <a:srgbClr val="000000"/>
                        </a:solidFill>
                      </a:endParaRPr>
                    </a:p>
                  </a:txBody>
                  <a:tcPr/>
                </a:tc>
                <a:tc>
                  <a:txBody>
                    <a:bodyPr/>
                    <a:lstStyle/>
                    <a:p>
                      <a:pPr lvl="0">
                        <a:buNone/>
                      </a:pPr>
                      <a:r>
                        <a:rPr lang="en-US" sz="1400" u="none" strike="noStrike" noProof="0">
                          <a:solidFill>
                            <a:srgbClr val="000000"/>
                          </a:solidFill>
                        </a:rPr>
                        <a:t>Injection Pressure</a:t>
                      </a:r>
                      <a:endParaRPr lang="en-US" sz="1400">
                        <a:solidFill>
                          <a:srgbClr val="000000"/>
                        </a:solidFill>
                      </a:endParaRPr>
                    </a:p>
                  </a:txBody>
                  <a:tcPr/>
                </a:tc>
                <a:tc>
                  <a:txBody>
                    <a:bodyPr/>
                    <a:lstStyle/>
                    <a:p>
                      <a:pPr lvl="0">
                        <a:buNone/>
                      </a:pPr>
                      <a:r>
                        <a:rPr lang="en-US" sz="1400">
                          <a:solidFill>
                            <a:srgbClr val="000000"/>
                          </a:solidFill>
                        </a:rPr>
                        <a:t>Target</a:t>
                      </a:r>
                    </a:p>
                  </a:txBody>
                  <a:tcPr/>
                </a:tc>
                <a:extLst>
                  <a:ext uri="{0D108BD9-81ED-4DB2-BD59-A6C34878D82A}">
                    <a16:rowId xmlns:a16="http://schemas.microsoft.com/office/drawing/2014/main" val="2643985285"/>
                  </a:ext>
                </a:extLst>
              </a:tr>
              <a:tr h="363867">
                <a:tc>
                  <a:txBody>
                    <a:bodyPr/>
                    <a:lstStyle/>
                    <a:p>
                      <a:pPr lvl="0">
                        <a:buNone/>
                      </a:pPr>
                      <a:r>
                        <a:rPr lang="en-US" sz="1600" b="1" u="none" strike="noStrike" noProof="0">
                          <a:solidFill>
                            <a:srgbClr val="000000"/>
                          </a:solidFill>
                        </a:rPr>
                        <a:t>↑ /↓</a:t>
                      </a:r>
                      <a:r>
                        <a:rPr lang="en-US" sz="1600" b="0" u="none" strike="noStrike" noProof="0">
                          <a:solidFill>
                            <a:srgbClr val="000000"/>
                          </a:solidFill>
                        </a:rPr>
                        <a:t> 5,000 PSI Threshold</a:t>
                      </a:r>
                      <a:endParaRPr lang="en-US" sz="1600" b="0">
                        <a:solidFill>
                          <a:srgbClr val="000000"/>
                        </a:solidFill>
                      </a:endParaRPr>
                    </a:p>
                  </a:txBody>
                  <a:tcPr/>
                </a:tc>
                <a:tc>
                  <a:txBody>
                    <a:bodyPr/>
                    <a:lstStyle/>
                    <a:p>
                      <a:pPr lvl="0">
                        <a:buNone/>
                      </a:pPr>
                      <a:r>
                        <a:rPr lang="en-US" sz="1600" b="1" u="none" strike="noStrike" noProof="0">
                          <a:solidFill>
                            <a:srgbClr val="000000"/>
                          </a:solidFill>
                        </a:rPr>
                        <a:t>↑ /↓ </a:t>
                      </a:r>
                      <a:r>
                        <a:rPr lang="en-US" sz="1600" b="0" u="none" strike="noStrike" noProof="0">
                          <a:solidFill>
                            <a:srgbClr val="000000"/>
                          </a:solidFill>
                        </a:rPr>
                        <a:t>5,000 PSI Threshold</a:t>
                      </a:r>
                      <a:endParaRPr lang="en-US" sz="1600" b="0">
                        <a:solidFill>
                          <a:srgbClr val="000000"/>
                        </a:solidFill>
                      </a:endParaRPr>
                    </a:p>
                  </a:txBody>
                  <a:tcPr/>
                </a:tc>
                <a:tc>
                  <a:txBody>
                    <a:bodyPr/>
                    <a:lstStyle/>
                    <a:p>
                      <a:pPr lvl="0">
                        <a:buNone/>
                      </a:pPr>
                      <a:r>
                        <a:rPr lang="en-US" sz="1600" b="1" u="none" strike="noStrike" noProof="0">
                          <a:solidFill>
                            <a:srgbClr val="000000"/>
                          </a:solidFill>
                        </a:rPr>
                        <a:t>↑ /↓ </a:t>
                      </a:r>
                      <a:r>
                        <a:rPr lang="en-US" sz="1600" b="0" u="none" strike="noStrike" noProof="0">
                          <a:solidFill>
                            <a:srgbClr val="000000"/>
                          </a:solidFill>
                        </a:rPr>
                        <a:t>5,000 PSI Threshold</a:t>
                      </a:r>
                      <a:endParaRPr lang="en-US" sz="1600" b="0">
                        <a:solidFill>
                          <a:srgbClr val="000000"/>
                        </a:solidFill>
                      </a:endParaRPr>
                    </a:p>
                  </a:txBody>
                  <a:tcPr/>
                </a:tc>
                <a:tc>
                  <a:txBody>
                    <a:bodyPr/>
                    <a:lstStyle/>
                    <a:p>
                      <a:pPr lvl="0">
                        <a:buNone/>
                      </a:pPr>
                      <a:r>
                        <a:rPr lang="en-US" sz="1600" b="0">
                          <a:solidFill>
                            <a:srgbClr val="000000"/>
                          </a:solidFill>
                        </a:rPr>
                        <a:t>Classification Target</a:t>
                      </a:r>
                    </a:p>
                  </a:txBody>
                  <a:tcPr/>
                </a:tc>
                <a:extLst>
                  <a:ext uri="{0D108BD9-81ED-4DB2-BD59-A6C34878D82A}">
                    <a16:rowId xmlns:a16="http://schemas.microsoft.com/office/drawing/2014/main" val="472414876"/>
                  </a:ext>
                </a:extLst>
              </a:tr>
              <a:tr h="363867">
                <a:tc>
                  <a:txBody>
                    <a:bodyPr/>
                    <a:lstStyle/>
                    <a:p>
                      <a:r>
                        <a:rPr lang="en-US" sz="1400">
                          <a:solidFill>
                            <a:srgbClr val="000000"/>
                          </a:solidFill>
                        </a:rPr>
                        <a:t>Injection Flow</a:t>
                      </a:r>
                    </a:p>
                  </a:txBody>
                  <a:tcPr/>
                </a:tc>
                <a:tc>
                  <a:txBody>
                    <a:bodyPr/>
                    <a:lstStyle/>
                    <a:p>
                      <a:pPr lvl="0">
                        <a:buNone/>
                      </a:pPr>
                      <a:r>
                        <a:rPr lang="en-US" sz="1400" u="none" strike="noStrike" noProof="0">
                          <a:solidFill>
                            <a:srgbClr val="000000"/>
                          </a:solidFill>
                        </a:rPr>
                        <a:t>Injection Flow</a:t>
                      </a:r>
                      <a:endParaRPr lang="en-US" sz="1400">
                        <a:solidFill>
                          <a:srgbClr val="000000"/>
                        </a:solidFill>
                      </a:endParaRPr>
                    </a:p>
                  </a:txBody>
                  <a:tcPr/>
                </a:tc>
                <a:tc>
                  <a:txBody>
                    <a:bodyPr/>
                    <a:lstStyle/>
                    <a:p>
                      <a:pPr lvl="0">
                        <a:buNone/>
                      </a:pPr>
                      <a:r>
                        <a:rPr lang="en-US" sz="1400" u="none" strike="noStrike" noProof="0">
                          <a:solidFill>
                            <a:srgbClr val="000000"/>
                          </a:solidFill>
                        </a:rPr>
                        <a:t>Injection Flow</a:t>
                      </a:r>
                      <a:endParaRPr lang="en-US" sz="1400">
                        <a:solidFill>
                          <a:srgbClr val="000000"/>
                        </a:solidFill>
                      </a:endParaRPr>
                    </a:p>
                  </a:txBody>
                  <a:tcPr/>
                </a:tc>
                <a:tc>
                  <a:txBody>
                    <a:bodyPr/>
                    <a:lstStyle/>
                    <a:p>
                      <a:pPr lvl="0">
                        <a:buNone/>
                      </a:pPr>
                      <a:r>
                        <a:rPr lang="en-US" sz="1400">
                          <a:solidFill>
                            <a:srgbClr val="000000"/>
                          </a:solidFill>
                        </a:rPr>
                        <a:t>Operational Input</a:t>
                      </a:r>
                    </a:p>
                  </a:txBody>
                  <a:tcPr/>
                </a:tc>
                <a:extLst>
                  <a:ext uri="{0D108BD9-81ED-4DB2-BD59-A6C34878D82A}">
                    <a16:rowId xmlns:a16="http://schemas.microsoft.com/office/drawing/2014/main" val="1914750067"/>
                  </a:ext>
                </a:extLst>
              </a:tr>
              <a:tr h="363867">
                <a:tc>
                  <a:txBody>
                    <a:bodyPr/>
                    <a:lstStyle/>
                    <a:p>
                      <a:pPr lvl="0">
                        <a:buNone/>
                      </a:pPr>
                      <a:r>
                        <a:rPr lang="en-US" sz="1400" u="none" strike="noStrike" noProof="0">
                          <a:solidFill>
                            <a:srgbClr val="000000"/>
                          </a:solidFill>
                        </a:rPr>
                        <a:t>Net Flow</a:t>
                      </a:r>
                    </a:p>
                  </a:txBody>
                  <a:tcPr/>
                </a:tc>
                <a:tc>
                  <a:txBody>
                    <a:bodyPr/>
                    <a:lstStyle/>
                    <a:p>
                      <a:pPr lvl="0">
                        <a:buNone/>
                      </a:pPr>
                      <a:r>
                        <a:rPr lang="en-US" sz="1400" u="none" strike="noStrike" noProof="0">
                          <a:solidFill>
                            <a:srgbClr val="000000"/>
                          </a:solidFill>
                        </a:rPr>
                        <a:t>Net Flow</a:t>
                      </a:r>
                      <a:endParaRPr lang="en-US" sz="1400">
                        <a:solidFill>
                          <a:srgbClr val="000000"/>
                        </a:solidFill>
                      </a:endParaRPr>
                    </a:p>
                  </a:txBody>
                  <a:tcPr/>
                </a:tc>
                <a:tc>
                  <a:txBody>
                    <a:bodyPr/>
                    <a:lstStyle/>
                    <a:p>
                      <a:pPr lvl="0">
                        <a:buNone/>
                      </a:pPr>
                      <a:r>
                        <a:rPr lang="en-US" sz="1400" u="none" strike="noStrike" noProof="0">
                          <a:solidFill>
                            <a:srgbClr val="000000"/>
                          </a:solidFill>
                        </a:rPr>
                        <a:t>Net Flow</a:t>
                      </a:r>
                      <a:endParaRPr lang="en-US" sz="1400">
                        <a:solidFill>
                          <a:srgbClr val="000000"/>
                        </a:solidFill>
                      </a:endParaRPr>
                    </a:p>
                  </a:txBody>
                  <a:tcPr/>
                </a:tc>
                <a:tc>
                  <a:txBody>
                    <a:bodyPr/>
                    <a:lstStyle/>
                    <a:p>
                      <a:pPr lvl="0">
                        <a:buNone/>
                      </a:pPr>
                      <a:r>
                        <a:rPr lang="en-US" sz="1400">
                          <a:solidFill>
                            <a:srgbClr val="000000"/>
                          </a:solidFill>
                        </a:rPr>
                        <a:t>Engineered</a:t>
                      </a:r>
                    </a:p>
                  </a:txBody>
                  <a:tcPr/>
                </a:tc>
                <a:extLst>
                  <a:ext uri="{0D108BD9-81ED-4DB2-BD59-A6C34878D82A}">
                    <a16:rowId xmlns:a16="http://schemas.microsoft.com/office/drawing/2014/main" val="1379493654"/>
                  </a:ext>
                </a:extLst>
              </a:tr>
              <a:tr h="363867">
                <a:tc>
                  <a:txBody>
                    <a:bodyPr/>
                    <a:lstStyle/>
                    <a:p>
                      <a:r>
                        <a:rPr lang="en-US" sz="1400">
                          <a:solidFill>
                            <a:srgbClr val="000000"/>
                          </a:solidFill>
                        </a:rPr>
                        <a:t>Cumulative Flow</a:t>
                      </a:r>
                    </a:p>
                  </a:txBody>
                  <a:tcPr/>
                </a:tc>
                <a:tc>
                  <a:txBody>
                    <a:bodyPr/>
                    <a:lstStyle/>
                    <a:p>
                      <a:pPr lvl="0">
                        <a:buNone/>
                      </a:pPr>
                      <a:r>
                        <a:rPr lang="en-US" sz="1400" u="none" strike="noStrike" noProof="0">
                          <a:solidFill>
                            <a:srgbClr val="000000"/>
                          </a:solidFill>
                        </a:rPr>
                        <a:t>Cumulative Flow</a:t>
                      </a:r>
                      <a:endParaRPr lang="en-US" sz="1400">
                        <a:solidFill>
                          <a:srgbClr val="000000"/>
                        </a:solidFill>
                      </a:endParaRPr>
                    </a:p>
                  </a:txBody>
                  <a:tcPr/>
                </a:tc>
                <a:tc>
                  <a:txBody>
                    <a:bodyPr/>
                    <a:lstStyle/>
                    <a:p>
                      <a:pPr lvl="0">
                        <a:buNone/>
                      </a:pPr>
                      <a:r>
                        <a:rPr lang="en-US" sz="1400" u="none" strike="noStrike" noProof="0">
                          <a:solidFill>
                            <a:srgbClr val="000000"/>
                          </a:solidFill>
                        </a:rPr>
                        <a:t>Cumulative Flow</a:t>
                      </a:r>
                      <a:endParaRPr lang="en-US" sz="1400">
                        <a:solidFill>
                          <a:srgbClr val="000000"/>
                        </a:solidFill>
                      </a:endParaRPr>
                    </a:p>
                  </a:txBody>
                  <a:tcPr/>
                </a:tc>
                <a:tc>
                  <a:txBody>
                    <a:bodyPr/>
                    <a:lstStyle/>
                    <a:p>
                      <a:pPr lvl="0">
                        <a:buNone/>
                      </a:pPr>
                      <a:r>
                        <a:rPr lang="en-US" sz="1400">
                          <a:solidFill>
                            <a:srgbClr val="000000"/>
                          </a:solidFill>
                        </a:rPr>
                        <a:t>Engineered</a:t>
                      </a:r>
                    </a:p>
                  </a:txBody>
                  <a:tcPr/>
                </a:tc>
                <a:extLst>
                  <a:ext uri="{0D108BD9-81ED-4DB2-BD59-A6C34878D82A}">
                    <a16:rowId xmlns:a16="http://schemas.microsoft.com/office/drawing/2014/main" val="3142037963"/>
                  </a:ext>
                </a:extLst>
              </a:tr>
              <a:tr h="525587">
                <a:tc>
                  <a:txBody>
                    <a:bodyPr/>
                    <a:lstStyle/>
                    <a:p>
                      <a:endParaRPr lang="en-US" sz="1400">
                        <a:solidFill>
                          <a:srgbClr val="000000"/>
                        </a:solidFill>
                      </a:endParaRPr>
                    </a:p>
                  </a:txBody>
                  <a:tcPr/>
                </a:tc>
                <a:tc>
                  <a:txBody>
                    <a:bodyPr/>
                    <a:lstStyle/>
                    <a:p>
                      <a:pPr lvl="0">
                        <a:buNone/>
                      </a:pPr>
                      <a:r>
                        <a:rPr lang="en-US" sz="1400" u="none" strike="noStrike" noProof="0">
                          <a:solidFill>
                            <a:srgbClr val="000000"/>
                          </a:solidFill>
                        </a:rPr>
                        <a:t>Pressure acceleration (d²P/dt²)</a:t>
                      </a:r>
                      <a:endParaRPr lang="en-US" sz="1400">
                        <a:solidFill>
                          <a:srgbClr val="000000"/>
                        </a:solidFill>
                      </a:endParaRPr>
                    </a:p>
                  </a:txBody>
                  <a:tcPr/>
                </a:tc>
                <a:tc>
                  <a:txBody>
                    <a:bodyPr/>
                    <a:lstStyle/>
                    <a:p>
                      <a:pPr lvl="0" algn="l">
                        <a:lnSpc>
                          <a:spcPct val="100000"/>
                        </a:lnSpc>
                        <a:spcBef>
                          <a:spcPts val="0"/>
                        </a:spcBef>
                        <a:spcAft>
                          <a:spcPts val="0"/>
                        </a:spcAft>
                        <a:buNone/>
                      </a:pPr>
                      <a:r>
                        <a:rPr lang="en-US" sz="1400" u="none" strike="noStrike" noProof="0">
                          <a:solidFill>
                            <a:srgbClr val="000000"/>
                          </a:solidFill>
                        </a:rPr>
                        <a:t>Pressure acceleration (d²P/dt²)</a:t>
                      </a:r>
                    </a:p>
                    <a:p>
                      <a:pPr lvl="0">
                        <a:buNone/>
                      </a:pPr>
                      <a:endParaRPr lang="en-US" sz="1400">
                        <a:solidFill>
                          <a:srgbClr val="000000"/>
                        </a:solidFill>
                      </a:endParaRPr>
                    </a:p>
                  </a:txBody>
                  <a:tcPr/>
                </a:tc>
                <a:tc>
                  <a:txBody>
                    <a:bodyPr/>
                    <a:lstStyle/>
                    <a:p>
                      <a:pPr lvl="0">
                        <a:buNone/>
                      </a:pPr>
                      <a:r>
                        <a:rPr lang="en-US" sz="1400">
                          <a:solidFill>
                            <a:srgbClr val="000000"/>
                          </a:solidFill>
                        </a:rPr>
                        <a:t>Engineered</a:t>
                      </a:r>
                    </a:p>
                  </a:txBody>
                  <a:tcPr/>
                </a:tc>
                <a:extLst>
                  <a:ext uri="{0D108BD9-81ED-4DB2-BD59-A6C34878D82A}">
                    <a16:rowId xmlns:a16="http://schemas.microsoft.com/office/drawing/2014/main" val="3976678178"/>
                  </a:ext>
                </a:extLst>
              </a:tr>
              <a:tr h="525587">
                <a:tc>
                  <a:txBody>
                    <a:bodyPr/>
                    <a:lstStyle/>
                    <a:p>
                      <a:endParaRPr lang="en-US" sz="1400">
                        <a:solidFill>
                          <a:srgbClr val="000000"/>
                        </a:solidFill>
                      </a:endParaRPr>
                    </a:p>
                  </a:txBody>
                  <a:tcPr/>
                </a:tc>
                <a:tc>
                  <a:txBody>
                    <a:bodyPr/>
                    <a:lstStyle/>
                    <a:p>
                      <a:pPr lvl="0">
                        <a:buNone/>
                      </a:pPr>
                      <a:r>
                        <a:rPr lang="en-US" sz="1400" u="none" strike="noStrike" noProof="0">
                          <a:solidFill>
                            <a:srgbClr val="000000"/>
                          </a:solidFill>
                        </a:rPr>
                        <a:t>Pressure rolling mean and std</a:t>
                      </a:r>
                      <a:endParaRPr lang="en-US" sz="1400">
                        <a:solidFill>
                          <a:srgbClr val="000000"/>
                        </a:solidFill>
                      </a:endParaRPr>
                    </a:p>
                  </a:txBody>
                  <a:tcPr/>
                </a:tc>
                <a:tc>
                  <a:txBody>
                    <a:bodyPr/>
                    <a:lstStyle/>
                    <a:p>
                      <a:pPr lvl="0" algn="l">
                        <a:lnSpc>
                          <a:spcPct val="100000"/>
                        </a:lnSpc>
                        <a:spcBef>
                          <a:spcPts val="0"/>
                        </a:spcBef>
                        <a:spcAft>
                          <a:spcPts val="0"/>
                        </a:spcAft>
                        <a:buNone/>
                      </a:pPr>
                      <a:r>
                        <a:rPr lang="en-US" sz="1400" u="none" strike="noStrike" noProof="0">
                          <a:solidFill>
                            <a:srgbClr val="000000"/>
                          </a:solidFill>
                        </a:rPr>
                        <a:t>Pressure rolling mean and std</a:t>
                      </a:r>
                    </a:p>
                    <a:p>
                      <a:pPr lvl="0">
                        <a:buNone/>
                      </a:pPr>
                      <a:endParaRPr lang="en-US" sz="1400">
                        <a:solidFill>
                          <a:srgbClr val="000000"/>
                        </a:solidFill>
                      </a:endParaRPr>
                    </a:p>
                  </a:txBody>
                  <a:tcPr/>
                </a:tc>
                <a:tc>
                  <a:txBody>
                    <a:bodyPr/>
                    <a:lstStyle/>
                    <a:p>
                      <a:pPr lvl="0">
                        <a:buNone/>
                      </a:pPr>
                      <a:r>
                        <a:rPr lang="en-US" sz="1400">
                          <a:solidFill>
                            <a:srgbClr val="000000"/>
                          </a:solidFill>
                        </a:rPr>
                        <a:t>Engineered</a:t>
                      </a:r>
                    </a:p>
                  </a:txBody>
                  <a:tcPr/>
                </a:tc>
                <a:extLst>
                  <a:ext uri="{0D108BD9-81ED-4DB2-BD59-A6C34878D82A}">
                    <a16:rowId xmlns:a16="http://schemas.microsoft.com/office/drawing/2014/main" val="2207004243"/>
                  </a:ext>
                </a:extLst>
              </a:tr>
              <a:tr h="525587">
                <a:tc>
                  <a:txBody>
                    <a:bodyPr/>
                    <a:lstStyle/>
                    <a:p>
                      <a:pPr lvl="0">
                        <a:buNone/>
                      </a:pPr>
                      <a:endParaRPr lang="en-US" sz="1400">
                        <a:solidFill>
                          <a:srgbClr val="000000"/>
                        </a:solidFill>
                      </a:endParaRPr>
                    </a:p>
                  </a:txBody>
                  <a:tcPr/>
                </a:tc>
                <a:tc>
                  <a:txBody>
                    <a:bodyPr/>
                    <a:lstStyle/>
                    <a:p>
                      <a:pPr lvl="0">
                        <a:buNone/>
                      </a:pPr>
                      <a:r>
                        <a:rPr lang="en-US" sz="1400" u="none" strike="noStrike" noProof="0">
                          <a:solidFill>
                            <a:srgbClr val="000000"/>
                          </a:solidFill>
                        </a:rPr>
                        <a:t>Net Flow rate of change</a:t>
                      </a:r>
                      <a:endParaRPr lang="en-US" sz="1400">
                        <a:solidFill>
                          <a:srgbClr val="000000"/>
                        </a:solidFill>
                      </a:endParaRPr>
                    </a:p>
                  </a:txBody>
                  <a:tcPr/>
                </a:tc>
                <a:tc>
                  <a:txBody>
                    <a:bodyPr/>
                    <a:lstStyle/>
                    <a:p>
                      <a:pPr lvl="0" algn="l">
                        <a:lnSpc>
                          <a:spcPct val="100000"/>
                        </a:lnSpc>
                        <a:spcBef>
                          <a:spcPts val="0"/>
                        </a:spcBef>
                        <a:spcAft>
                          <a:spcPts val="0"/>
                        </a:spcAft>
                        <a:buNone/>
                      </a:pPr>
                      <a:r>
                        <a:rPr lang="en-US" sz="1400" u="none" strike="noStrike" noProof="0">
                          <a:solidFill>
                            <a:srgbClr val="000000"/>
                          </a:solidFill>
                        </a:rPr>
                        <a:t>Net Flow rate of change</a:t>
                      </a:r>
                    </a:p>
                    <a:p>
                      <a:pPr lvl="0">
                        <a:buNone/>
                      </a:pPr>
                      <a:endParaRPr lang="en-US" sz="1400">
                        <a:solidFill>
                          <a:srgbClr val="000000"/>
                        </a:solidFill>
                      </a:endParaRPr>
                    </a:p>
                  </a:txBody>
                  <a:tcPr/>
                </a:tc>
                <a:tc>
                  <a:txBody>
                    <a:bodyPr/>
                    <a:lstStyle/>
                    <a:p>
                      <a:pPr lvl="0">
                        <a:buNone/>
                      </a:pPr>
                      <a:r>
                        <a:rPr lang="en-US" sz="1400">
                          <a:solidFill>
                            <a:srgbClr val="000000"/>
                          </a:solidFill>
                        </a:rPr>
                        <a:t>Engineered</a:t>
                      </a:r>
                    </a:p>
                  </a:txBody>
                  <a:tcPr/>
                </a:tc>
                <a:extLst>
                  <a:ext uri="{0D108BD9-81ED-4DB2-BD59-A6C34878D82A}">
                    <a16:rowId xmlns:a16="http://schemas.microsoft.com/office/drawing/2014/main" val="916282914"/>
                  </a:ext>
                </a:extLst>
              </a:tr>
              <a:tr h="741212">
                <a:tc>
                  <a:txBody>
                    <a:bodyPr/>
                    <a:lstStyle/>
                    <a:p>
                      <a:pPr lvl="0">
                        <a:buNone/>
                      </a:pPr>
                      <a:endParaRPr lang="en-US" sz="1400">
                        <a:solidFill>
                          <a:srgbClr val="000000"/>
                        </a:solidFill>
                      </a:endParaRPr>
                    </a:p>
                  </a:txBody>
                  <a:tcPr/>
                </a:tc>
                <a:tc>
                  <a:txBody>
                    <a:bodyPr/>
                    <a:lstStyle/>
                    <a:p>
                      <a:pPr lvl="0">
                        <a:buNone/>
                      </a:pPr>
                      <a:r>
                        <a:rPr lang="en-US" sz="1400" u="none" strike="noStrike" noProof="0">
                          <a:solidFill>
                            <a:srgbClr val="000000"/>
                          </a:solidFill>
                        </a:rPr>
                        <a:t>Distance to threshold (headroom)</a:t>
                      </a:r>
                      <a:endParaRPr lang="en-US" sz="1400">
                        <a:solidFill>
                          <a:srgbClr val="000000"/>
                        </a:solidFill>
                      </a:endParaRPr>
                    </a:p>
                  </a:txBody>
                  <a:tcPr/>
                </a:tc>
                <a:tc>
                  <a:txBody>
                    <a:bodyPr/>
                    <a:lstStyle/>
                    <a:p>
                      <a:pPr lvl="0" algn="l">
                        <a:lnSpc>
                          <a:spcPct val="100000"/>
                        </a:lnSpc>
                        <a:spcBef>
                          <a:spcPts val="0"/>
                        </a:spcBef>
                        <a:spcAft>
                          <a:spcPts val="0"/>
                        </a:spcAft>
                        <a:buNone/>
                      </a:pPr>
                      <a:r>
                        <a:rPr lang="en-US" sz="1400" u="none" strike="noStrike" noProof="0">
                          <a:solidFill>
                            <a:srgbClr val="000000"/>
                          </a:solidFill>
                        </a:rPr>
                        <a:t>Distance to threshold </a:t>
                      </a:r>
                      <a:endParaRPr lang="en-US" sz="1400"/>
                    </a:p>
                    <a:p>
                      <a:pPr lvl="0" algn="l">
                        <a:lnSpc>
                          <a:spcPct val="100000"/>
                        </a:lnSpc>
                        <a:spcBef>
                          <a:spcPts val="0"/>
                        </a:spcBef>
                        <a:spcAft>
                          <a:spcPts val="0"/>
                        </a:spcAft>
                        <a:buNone/>
                      </a:pPr>
                      <a:r>
                        <a:rPr lang="en-US" sz="1400" u="none" strike="noStrike" noProof="0">
                          <a:solidFill>
                            <a:srgbClr val="000000"/>
                          </a:solidFill>
                        </a:rPr>
                        <a:t>(headroom)</a:t>
                      </a:r>
                    </a:p>
                    <a:p>
                      <a:pPr lvl="0">
                        <a:buNone/>
                      </a:pPr>
                      <a:endParaRPr lang="en-US" sz="1400">
                        <a:solidFill>
                          <a:srgbClr val="000000"/>
                        </a:solidFill>
                      </a:endParaRPr>
                    </a:p>
                  </a:txBody>
                  <a:tcPr/>
                </a:tc>
                <a:tc>
                  <a:txBody>
                    <a:bodyPr/>
                    <a:lstStyle/>
                    <a:p>
                      <a:pPr lvl="0">
                        <a:buNone/>
                      </a:pPr>
                      <a:r>
                        <a:rPr lang="en-US" sz="1400">
                          <a:solidFill>
                            <a:srgbClr val="000000"/>
                          </a:solidFill>
                        </a:rPr>
                        <a:t>Engineered</a:t>
                      </a:r>
                    </a:p>
                  </a:txBody>
                  <a:tcPr/>
                </a:tc>
                <a:extLst>
                  <a:ext uri="{0D108BD9-81ED-4DB2-BD59-A6C34878D82A}">
                    <a16:rowId xmlns:a16="http://schemas.microsoft.com/office/drawing/2014/main" val="2533967732"/>
                  </a:ext>
                </a:extLst>
              </a:tr>
              <a:tr h="525587">
                <a:tc>
                  <a:txBody>
                    <a:bodyPr/>
                    <a:lstStyle/>
                    <a:p>
                      <a:pPr lvl="0">
                        <a:buNone/>
                      </a:pPr>
                      <a:endParaRPr lang="en-US" sz="1400">
                        <a:solidFill>
                          <a:srgbClr val="000000"/>
                        </a:solidFill>
                      </a:endParaRPr>
                    </a:p>
                  </a:txBody>
                  <a:tcPr/>
                </a:tc>
                <a:tc>
                  <a:txBody>
                    <a:bodyPr/>
                    <a:lstStyle/>
                    <a:p>
                      <a:pPr lvl="0">
                        <a:buNone/>
                      </a:pPr>
                      <a:r>
                        <a:rPr lang="en-US" sz="1400" u="none" strike="noStrike" noProof="0">
                          <a:solidFill>
                            <a:srgbClr val="000000"/>
                          </a:solidFill>
                        </a:rPr>
                        <a:t>Fraction of threshold reached</a:t>
                      </a:r>
                      <a:endParaRPr lang="en-US" sz="1400">
                        <a:solidFill>
                          <a:srgbClr val="000000"/>
                        </a:solidFill>
                      </a:endParaRPr>
                    </a:p>
                  </a:txBody>
                  <a:tcPr/>
                </a:tc>
                <a:tc>
                  <a:txBody>
                    <a:bodyPr/>
                    <a:lstStyle/>
                    <a:p>
                      <a:pPr lvl="0" algn="l">
                        <a:lnSpc>
                          <a:spcPct val="100000"/>
                        </a:lnSpc>
                        <a:spcBef>
                          <a:spcPts val="0"/>
                        </a:spcBef>
                        <a:spcAft>
                          <a:spcPts val="0"/>
                        </a:spcAft>
                        <a:buNone/>
                      </a:pPr>
                      <a:r>
                        <a:rPr lang="en-US" sz="1400" u="none" strike="noStrike" noProof="0">
                          <a:solidFill>
                            <a:srgbClr val="000000"/>
                          </a:solidFill>
                        </a:rPr>
                        <a:t>Fraction of threshold reached</a:t>
                      </a:r>
                    </a:p>
                    <a:p>
                      <a:pPr lvl="0">
                        <a:buNone/>
                      </a:pPr>
                      <a:endParaRPr lang="en-US" sz="1400">
                        <a:solidFill>
                          <a:srgbClr val="000000"/>
                        </a:solidFill>
                      </a:endParaRPr>
                    </a:p>
                  </a:txBody>
                  <a:tcPr/>
                </a:tc>
                <a:tc>
                  <a:txBody>
                    <a:bodyPr/>
                    <a:lstStyle/>
                    <a:p>
                      <a:pPr lvl="0">
                        <a:buNone/>
                      </a:pPr>
                      <a:r>
                        <a:rPr lang="en-US" sz="1400">
                          <a:solidFill>
                            <a:srgbClr val="000000"/>
                          </a:solidFill>
                        </a:rPr>
                        <a:t>Engineered</a:t>
                      </a:r>
                    </a:p>
                  </a:txBody>
                  <a:tcPr/>
                </a:tc>
                <a:extLst>
                  <a:ext uri="{0D108BD9-81ED-4DB2-BD59-A6C34878D82A}">
                    <a16:rowId xmlns:a16="http://schemas.microsoft.com/office/drawing/2014/main" val="3831342447"/>
                  </a:ext>
                </a:extLst>
              </a:tr>
              <a:tr h="363867">
                <a:tc>
                  <a:txBody>
                    <a:bodyPr/>
                    <a:lstStyle/>
                    <a:p>
                      <a:pPr lvl="0">
                        <a:buNone/>
                      </a:pPr>
                      <a:endParaRPr lang="en-US" sz="1400">
                        <a:solidFill>
                          <a:srgbClr val="000000"/>
                        </a:solidFill>
                      </a:endParaRPr>
                    </a:p>
                  </a:txBody>
                  <a:tcPr/>
                </a:tc>
                <a:tc>
                  <a:txBody>
                    <a:bodyPr/>
                    <a:lstStyle/>
                    <a:p>
                      <a:pPr lvl="0">
                        <a:buNone/>
                      </a:pPr>
                      <a:endParaRPr lang="en-US" sz="1400" u="none" strike="noStrike" noProof="0">
                        <a:solidFill>
                          <a:srgbClr val="000000"/>
                        </a:solidFill>
                      </a:endParaRPr>
                    </a:p>
                  </a:txBody>
                  <a:tcPr/>
                </a:tc>
                <a:tc>
                  <a:txBody>
                    <a:bodyPr/>
                    <a:lstStyle/>
                    <a:p>
                      <a:pPr lvl="0">
                        <a:buNone/>
                      </a:pPr>
                      <a:r>
                        <a:rPr lang="en-US" sz="1400" u="none" strike="noStrike" noProof="0">
                          <a:solidFill>
                            <a:srgbClr val="000000"/>
                          </a:solidFill>
                        </a:rPr>
                        <a:t>Regime Label</a:t>
                      </a:r>
                      <a:endParaRPr lang="en-US" sz="1400">
                        <a:solidFill>
                          <a:srgbClr val="000000"/>
                        </a:solidFill>
                      </a:endParaRPr>
                    </a:p>
                  </a:txBody>
                  <a:tcPr/>
                </a:tc>
                <a:tc>
                  <a:txBody>
                    <a:bodyPr/>
                    <a:lstStyle/>
                    <a:p>
                      <a:pPr lvl="0">
                        <a:buNone/>
                      </a:pPr>
                      <a:r>
                        <a:rPr lang="en-US" sz="1400">
                          <a:solidFill>
                            <a:srgbClr val="000000"/>
                          </a:solidFill>
                        </a:rPr>
                        <a:t>Engineered</a:t>
                      </a:r>
                    </a:p>
                  </a:txBody>
                  <a:tcPr/>
                </a:tc>
                <a:extLst>
                  <a:ext uri="{0D108BD9-81ED-4DB2-BD59-A6C34878D82A}">
                    <a16:rowId xmlns:a16="http://schemas.microsoft.com/office/drawing/2014/main" val="882866919"/>
                  </a:ext>
                </a:extLst>
              </a:tr>
              <a:tr h="525587">
                <a:tc>
                  <a:txBody>
                    <a:bodyPr/>
                    <a:lstStyle/>
                    <a:p>
                      <a:pPr lvl="0">
                        <a:buNone/>
                      </a:pPr>
                      <a:endParaRPr lang="en-US" sz="1400">
                        <a:solidFill>
                          <a:srgbClr val="000000"/>
                        </a:solidFill>
                      </a:endParaRPr>
                    </a:p>
                  </a:txBody>
                  <a:tcPr/>
                </a:tc>
                <a:tc>
                  <a:txBody>
                    <a:bodyPr/>
                    <a:lstStyle/>
                    <a:p>
                      <a:pPr lvl="0">
                        <a:buNone/>
                      </a:pPr>
                      <a:endParaRPr lang="en-US" sz="1400" u="none" strike="noStrike" noProof="0">
                        <a:solidFill>
                          <a:srgbClr val="000000"/>
                        </a:solidFill>
                      </a:endParaRPr>
                    </a:p>
                  </a:txBody>
                  <a:tcPr/>
                </a:tc>
                <a:tc>
                  <a:txBody>
                    <a:bodyPr/>
                    <a:lstStyle/>
                    <a:p>
                      <a:pPr lvl="0">
                        <a:buNone/>
                      </a:pPr>
                      <a:r>
                        <a:rPr lang="en-US" sz="1400" u="none" strike="noStrike" noProof="0">
                          <a:solidFill>
                            <a:srgbClr val="000000"/>
                          </a:solidFill>
                        </a:rPr>
                        <a:t>Calculated Crossing Likelihood Label</a:t>
                      </a:r>
                    </a:p>
                  </a:txBody>
                  <a:tcPr/>
                </a:tc>
                <a:tc>
                  <a:txBody>
                    <a:bodyPr/>
                    <a:lstStyle/>
                    <a:p>
                      <a:pPr lvl="0">
                        <a:buNone/>
                      </a:pPr>
                      <a:r>
                        <a:rPr lang="en-US" sz="1400">
                          <a:solidFill>
                            <a:srgbClr val="000000"/>
                          </a:solidFill>
                        </a:rPr>
                        <a:t>Engineered</a:t>
                      </a:r>
                    </a:p>
                  </a:txBody>
                  <a:tcPr/>
                </a:tc>
                <a:extLst>
                  <a:ext uri="{0D108BD9-81ED-4DB2-BD59-A6C34878D82A}">
                    <a16:rowId xmlns:a16="http://schemas.microsoft.com/office/drawing/2014/main" val="1612711945"/>
                  </a:ext>
                </a:extLst>
              </a:tr>
              <a:tr h="525587">
                <a:tc>
                  <a:txBody>
                    <a:bodyPr/>
                    <a:lstStyle/>
                    <a:p>
                      <a:pPr lvl="0">
                        <a:buNone/>
                      </a:pPr>
                      <a:r>
                        <a:rPr lang="en-US" sz="1400" b="0" i="0" u="none" strike="noStrike" noProof="0">
                          <a:solidFill>
                            <a:srgbClr val="000000"/>
                          </a:solidFill>
                          <a:latin typeface="Arial"/>
                          <a:cs typeface="Arial"/>
                        </a:rPr>
                        <a:t>Wellbore friction pressure component</a:t>
                      </a:r>
                      <a:endParaRPr lang="en-US"/>
                    </a:p>
                  </a:txBody>
                  <a:tcPr/>
                </a:tc>
                <a:tc>
                  <a:txBody>
                    <a:bodyPr/>
                    <a:lstStyle/>
                    <a:p>
                      <a:pPr lvl="0">
                        <a:buNone/>
                      </a:pPr>
                      <a:endParaRPr lang="en-US" sz="1400" u="none" strike="noStrike" noProof="0">
                        <a:solidFill>
                          <a:srgbClr val="000000"/>
                        </a:solidFill>
                      </a:endParaRPr>
                    </a:p>
                  </a:txBody>
                  <a:tcPr/>
                </a:tc>
                <a:tc>
                  <a:txBody>
                    <a:bodyPr/>
                    <a:lstStyle/>
                    <a:p>
                      <a:pPr lvl="0">
                        <a:buNone/>
                      </a:pPr>
                      <a:endParaRPr lang="en-US" sz="1400" u="none" strike="noStrike" noProof="0">
                        <a:solidFill>
                          <a:srgbClr val="000000"/>
                        </a:solidFill>
                      </a:endParaRPr>
                    </a:p>
                  </a:txBody>
                  <a:tcPr/>
                </a:tc>
                <a:tc>
                  <a:txBody>
                    <a:bodyPr/>
                    <a:lstStyle/>
                    <a:p>
                      <a:pPr lvl="0">
                        <a:buNone/>
                      </a:pPr>
                      <a:r>
                        <a:rPr lang="en-US" sz="1400">
                          <a:solidFill>
                            <a:srgbClr val="000000"/>
                          </a:solidFill>
                        </a:rPr>
                        <a:t>KF Hidden State (estimated)</a:t>
                      </a:r>
                    </a:p>
                  </a:txBody>
                  <a:tcPr/>
                </a:tc>
                <a:extLst>
                  <a:ext uri="{0D108BD9-81ED-4DB2-BD59-A6C34878D82A}">
                    <a16:rowId xmlns:a16="http://schemas.microsoft.com/office/drawing/2014/main" val="2016262496"/>
                  </a:ext>
                </a:extLst>
              </a:tr>
              <a:tr h="363867">
                <a:tc>
                  <a:txBody>
                    <a:bodyPr/>
                    <a:lstStyle/>
                    <a:p>
                      <a:pPr lvl="0">
                        <a:buNone/>
                      </a:pPr>
                      <a:r>
                        <a:rPr lang="en-US" sz="1400" b="0" i="0" u="none" strike="noStrike" noProof="0">
                          <a:solidFill>
                            <a:srgbClr val="000000"/>
                          </a:solidFill>
                          <a:latin typeface="Arial"/>
                          <a:cs typeface="Arial"/>
                        </a:rPr>
                        <a:t>Rate of reservoir pressure change</a:t>
                      </a:r>
                      <a:endParaRPr lang="en-US"/>
                    </a:p>
                  </a:txBody>
                  <a:tcPr/>
                </a:tc>
                <a:tc>
                  <a:txBody>
                    <a:bodyPr/>
                    <a:lstStyle/>
                    <a:p>
                      <a:pPr lvl="0">
                        <a:buNone/>
                      </a:pPr>
                      <a:endParaRPr lang="en-US" sz="1400" u="none" strike="noStrike" noProof="0">
                        <a:solidFill>
                          <a:srgbClr val="000000"/>
                        </a:solidFill>
                      </a:endParaRPr>
                    </a:p>
                  </a:txBody>
                  <a:tcPr/>
                </a:tc>
                <a:tc>
                  <a:txBody>
                    <a:bodyPr/>
                    <a:lstStyle/>
                    <a:p>
                      <a:pPr lvl="0">
                        <a:buNone/>
                      </a:pPr>
                      <a:endParaRPr lang="en-US" sz="1400" u="none" strike="noStrike" noProof="0">
                        <a:solidFill>
                          <a:srgbClr val="000000"/>
                        </a:solidFill>
                      </a:endParaRPr>
                    </a:p>
                  </a:txBody>
                  <a:tcPr/>
                </a:tc>
                <a:tc>
                  <a:txBody>
                    <a:bodyPr/>
                    <a:lstStyle/>
                    <a:p>
                      <a:pPr lvl="0">
                        <a:buNone/>
                      </a:pPr>
                      <a:r>
                        <a:rPr lang="en-US" sz="1400">
                          <a:solidFill>
                            <a:srgbClr val="000000"/>
                          </a:solidFill>
                        </a:rPr>
                        <a:t>KF Hidden State (estimated)</a:t>
                      </a:r>
                    </a:p>
                  </a:txBody>
                  <a:tcPr/>
                </a:tc>
                <a:extLst>
                  <a:ext uri="{0D108BD9-81ED-4DB2-BD59-A6C34878D82A}">
                    <a16:rowId xmlns:a16="http://schemas.microsoft.com/office/drawing/2014/main" val="517843403"/>
                  </a:ext>
                </a:extLst>
              </a:tr>
            </a:tbl>
          </a:graphicData>
        </a:graphic>
      </p:graphicFrame>
      <p:sp>
        <p:nvSpPr>
          <p:cNvPr id="4" name="Title 2">
            <a:extLst>
              <a:ext uri="{FF2B5EF4-FFF2-40B4-BE49-F238E27FC236}">
                <a16:creationId xmlns:a16="http://schemas.microsoft.com/office/drawing/2014/main" id="{315D59BE-B6A6-8A67-D92C-898CF8BFD1B6}"/>
              </a:ext>
            </a:extLst>
          </p:cNvPr>
          <p:cNvSpPr>
            <a:spLocks noGrp="1"/>
          </p:cNvSpPr>
          <p:nvPr>
            <p:ph type="title"/>
          </p:nvPr>
        </p:nvSpPr>
        <p:spPr>
          <a:xfrm>
            <a:off x="3072005" y="141912"/>
            <a:ext cx="10622166" cy="820654"/>
          </a:xfrm>
        </p:spPr>
        <p:txBody>
          <a:bodyPr lIns="0" tIns="45720" rIns="91440" bIns="45720" anchor="b">
            <a:normAutofit/>
          </a:bodyPr>
          <a:lstStyle/>
          <a:p>
            <a:r>
              <a:rPr lang="en-US">
                <a:latin typeface="Arial"/>
                <a:cs typeface="Arial"/>
              </a:rPr>
              <a:t>Approach Overview – Feature Selection</a:t>
            </a:r>
            <a:endParaRPr lang="en-US"/>
          </a:p>
        </p:txBody>
      </p:sp>
    </p:spTree>
    <p:extLst>
      <p:ext uri="{BB962C8B-B14F-4D97-AF65-F5344CB8AC3E}">
        <p14:creationId xmlns:p14="http://schemas.microsoft.com/office/powerpoint/2010/main" val="636666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064585-1D2A-586A-3A1F-3FA981C036FC}"/>
              </a:ext>
            </a:extLst>
          </p:cNvPr>
          <p:cNvSpPr>
            <a:spLocks noGrp="1"/>
          </p:cNvSpPr>
          <p:nvPr>
            <p:ph type="sldNum" sz="quarter" idx="12"/>
          </p:nvPr>
        </p:nvSpPr>
        <p:spPr/>
        <p:txBody>
          <a:bodyPr/>
          <a:lstStyle/>
          <a:p>
            <a:fld id="{FE7A4BB3-E848-5A44-82DF-322201952CD8}" type="slidenum">
              <a:rPr lang="en-US" smtClean="0"/>
              <a:pPr/>
              <a:t>7</a:t>
            </a:fld>
            <a:endParaRPr lang="en-US"/>
          </a:p>
        </p:txBody>
      </p:sp>
      <p:sp>
        <p:nvSpPr>
          <p:cNvPr id="3" name="Title 2">
            <a:extLst>
              <a:ext uri="{FF2B5EF4-FFF2-40B4-BE49-F238E27FC236}">
                <a16:creationId xmlns:a16="http://schemas.microsoft.com/office/drawing/2014/main" id="{6D757BC4-AE53-5479-56F3-29436CA7486B}"/>
              </a:ext>
            </a:extLst>
          </p:cNvPr>
          <p:cNvSpPr>
            <a:spLocks noGrp="1"/>
          </p:cNvSpPr>
          <p:nvPr>
            <p:ph type="title"/>
          </p:nvPr>
        </p:nvSpPr>
        <p:spPr/>
        <p:txBody>
          <a:bodyPr/>
          <a:lstStyle/>
          <a:p>
            <a:r>
              <a:rPr lang="en-US"/>
              <a:t>Initial ML Results &amp; Insights – </a:t>
            </a:r>
            <a:r>
              <a:rPr lang="en-US" err="1"/>
              <a:t>XGBoost</a:t>
            </a:r>
            <a:r>
              <a:rPr lang="en-US"/>
              <a:t> Test Set</a:t>
            </a:r>
          </a:p>
        </p:txBody>
      </p:sp>
      <p:pic>
        <p:nvPicPr>
          <p:cNvPr id="8" name="Content Placeholder 7">
            <a:extLst>
              <a:ext uri="{FF2B5EF4-FFF2-40B4-BE49-F238E27FC236}">
                <a16:creationId xmlns:a16="http://schemas.microsoft.com/office/drawing/2014/main" id="{EF95FC62-411E-6289-543F-95F515B57351}"/>
              </a:ext>
            </a:extLst>
          </p:cNvPr>
          <p:cNvPicPr>
            <a:picLocks noGrp="1" noChangeAspect="1"/>
          </p:cNvPicPr>
          <p:nvPr>
            <p:ph sz="quarter" idx="20"/>
          </p:nvPr>
        </p:nvPicPr>
        <p:blipFill>
          <a:blip r:embed="rId3"/>
          <a:stretch>
            <a:fillRect/>
          </a:stretch>
        </p:blipFill>
        <p:spPr>
          <a:xfrm>
            <a:off x="5084761" y="1581912"/>
            <a:ext cx="9362761" cy="3120920"/>
          </a:xfrm>
          <a:prstGeom prst="rect">
            <a:avLst/>
          </a:prstGeom>
        </p:spPr>
      </p:pic>
      <p:pic>
        <p:nvPicPr>
          <p:cNvPr id="10" name="Picture 9">
            <a:extLst>
              <a:ext uri="{FF2B5EF4-FFF2-40B4-BE49-F238E27FC236}">
                <a16:creationId xmlns:a16="http://schemas.microsoft.com/office/drawing/2014/main" id="{8BA692E9-2492-5279-57CD-87334614FC0F}"/>
              </a:ext>
            </a:extLst>
          </p:cNvPr>
          <p:cNvPicPr>
            <a:picLocks noChangeAspect="1"/>
          </p:cNvPicPr>
          <p:nvPr/>
        </p:nvPicPr>
        <p:blipFill>
          <a:blip r:embed="rId4"/>
          <a:stretch>
            <a:fillRect/>
          </a:stretch>
        </p:blipFill>
        <p:spPr>
          <a:xfrm>
            <a:off x="5084760" y="4791196"/>
            <a:ext cx="9362759" cy="3120920"/>
          </a:xfrm>
          <a:prstGeom prst="rect">
            <a:avLst/>
          </a:prstGeom>
        </p:spPr>
      </p:pic>
      <p:sp>
        <p:nvSpPr>
          <p:cNvPr id="13" name="TextBox 12">
            <a:extLst>
              <a:ext uri="{FF2B5EF4-FFF2-40B4-BE49-F238E27FC236}">
                <a16:creationId xmlns:a16="http://schemas.microsoft.com/office/drawing/2014/main" id="{162E051D-EFAF-A5FD-A20F-C9ED4830D227}"/>
              </a:ext>
            </a:extLst>
          </p:cNvPr>
          <p:cNvSpPr txBox="1"/>
          <p:nvPr/>
        </p:nvSpPr>
        <p:spPr>
          <a:xfrm>
            <a:off x="1232452" y="1919153"/>
            <a:ext cx="3617844" cy="1421928"/>
          </a:xfrm>
          <a:prstGeom prst="rect">
            <a:avLst/>
          </a:prstGeom>
          <a:noFill/>
        </p:spPr>
        <p:txBody>
          <a:bodyPr wrap="square" rtlCol="0">
            <a:spAutoFit/>
          </a:bodyPr>
          <a:lstStyle/>
          <a:p>
            <a:r>
              <a:rPr lang="en-US" b="1"/>
              <a:t>Approach 1: </a:t>
            </a:r>
          </a:p>
          <a:p>
            <a:r>
              <a:rPr lang="en-US"/>
              <a:t>Predict raw injection pressure values as the target</a:t>
            </a:r>
          </a:p>
        </p:txBody>
      </p:sp>
      <p:sp>
        <p:nvSpPr>
          <p:cNvPr id="14" name="TextBox 13">
            <a:extLst>
              <a:ext uri="{FF2B5EF4-FFF2-40B4-BE49-F238E27FC236}">
                <a16:creationId xmlns:a16="http://schemas.microsoft.com/office/drawing/2014/main" id="{6A96CFCC-C61A-0C29-8085-AA1803101D0C}"/>
              </a:ext>
            </a:extLst>
          </p:cNvPr>
          <p:cNvSpPr txBox="1"/>
          <p:nvPr/>
        </p:nvSpPr>
        <p:spPr>
          <a:xfrm>
            <a:off x="1232452" y="5100251"/>
            <a:ext cx="3617844" cy="1421928"/>
          </a:xfrm>
          <a:prstGeom prst="rect">
            <a:avLst/>
          </a:prstGeom>
          <a:noFill/>
        </p:spPr>
        <p:txBody>
          <a:bodyPr wrap="square" rtlCol="0">
            <a:spAutoFit/>
          </a:bodyPr>
          <a:lstStyle/>
          <a:p>
            <a:r>
              <a:rPr lang="en-US" b="1"/>
              <a:t>Approach 2: </a:t>
            </a:r>
          </a:p>
          <a:p>
            <a:r>
              <a:rPr lang="en-US"/>
              <a:t>Predict </a:t>
            </a:r>
            <a:r>
              <a:rPr lang="en-US" i="1"/>
              <a:t>change</a:t>
            </a:r>
            <a:r>
              <a:rPr lang="en-US"/>
              <a:t> in injection pressure at each 1h timestep</a:t>
            </a:r>
          </a:p>
        </p:txBody>
      </p:sp>
    </p:spTree>
    <p:extLst>
      <p:ext uri="{BB962C8B-B14F-4D97-AF65-F5344CB8AC3E}">
        <p14:creationId xmlns:p14="http://schemas.microsoft.com/office/powerpoint/2010/main" val="1532508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243A0-2BFC-46CA-315C-04DFCF345E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CC1D13-1BF9-4ADA-0C7D-A863F5C3AF14}"/>
              </a:ext>
            </a:extLst>
          </p:cNvPr>
          <p:cNvSpPr>
            <a:spLocks noGrp="1"/>
          </p:cNvSpPr>
          <p:nvPr>
            <p:ph type="sldNum" sz="quarter" idx="12"/>
          </p:nvPr>
        </p:nvSpPr>
        <p:spPr>
          <a:xfrm>
            <a:off x="13994296" y="7772400"/>
            <a:ext cx="453223" cy="457200"/>
          </a:xfrm>
        </p:spPr>
        <p:txBody>
          <a:bodyPr anchor="ctr">
            <a:normAutofit/>
          </a:bodyPr>
          <a:lstStyle/>
          <a:p>
            <a:pPr>
              <a:spcAft>
                <a:spcPts val="600"/>
              </a:spcAft>
            </a:pPr>
            <a:fld id="{FE7A4BB3-E848-5A44-82DF-322201952CD8}" type="slidenum">
              <a:rPr lang="en-US" smtClean="0"/>
              <a:pPr>
                <a:spcAft>
                  <a:spcPts val="600"/>
                </a:spcAft>
              </a:pPr>
              <a:t>8</a:t>
            </a:fld>
            <a:endParaRPr lang="en-US"/>
          </a:p>
        </p:txBody>
      </p:sp>
      <p:sp>
        <p:nvSpPr>
          <p:cNvPr id="3" name="Title 2">
            <a:extLst>
              <a:ext uri="{FF2B5EF4-FFF2-40B4-BE49-F238E27FC236}">
                <a16:creationId xmlns:a16="http://schemas.microsoft.com/office/drawing/2014/main" id="{FFF82380-50EF-50AC-FD33-9F542774F896}"/>
              </a:ext>
            </a:extLst>
          </p:cNvPr>
          <p:cNvSpPr>
            <a:spLocks noGrp="1"/>
          </p:cNvSpPr>
          <p:nvPr>
            <p:ph type="title"/>
          </p:nvPr>
        </p:nvSpPr>
        <p:spPr>
          <a:xfrm>
            <a:off x="3014341" y="295275"/>
            <a:ext cx="8695836" cy="1247775"/>
          </a:xfrm>
        </p:spPr>
        <p:txBody>
          <a:bodyPr lIns="0" tIns="45720" rIns="91440" bIns="45720" anchor="b">
            <a:normAutofit/>
          </a:bodyPr>
          <a:lstStyle/>
          <a:p>
            <a:r>
              <a:rPr lang="en-US">
                <a:latin typeface="Arial"/>
                <a:cs typeface="Arial"/>
              </a:rPr>
              <a:t>ML Results &amp; Insights - Kalman Filter </a:t>
            </a:r>
            <a:endParaRPr lang="en-US"/>
          </a:p>
        </p:txBody>
      </p:sp>
      <p:pic>
        <p:nvPicPr>
          <p:cNvPr id="29" name="Picture 28">
            <a:extLst>
              <a:ext uri="{FF2B5EF4-FFF2-40B4-BE49-F238E27FC236}">
                <a16:creationId xmlns:a16="http://schemas.microsoft.com/office/drawing/2014/main" id="{C98E8362-3D7D-DB5E-74AC-6AEAF984001A}"/>
              </a:ext>
            </a:extLst>
          </p:cNvPr>
          <p:cNvPicPr>
            <a:picLocks noChangeAspect="1"/>
          </p:cNvPicPr>
          <p:nvPr/>
        </p:nvPicPr>
        <p:blipFill>
          <a:blip r:embed="rId3"/>
          <a:srcRect t="49769" r="412" b="33766"/>
          <a:stretch>
            <a:fillRect/>
          </a:stretch>
        </p:blipFill>
        <p:spPr>
          <a:xfrm>
            <a:off x="1177309" y="1594158"/>
            <a:ext cx="13266111" cy="2923261"/>
          </a:xfrm>
          <a:prstGeom prst="rect">
            <a:avLst/>
          </a:prstGeom>
        </p:spPr>
      </p:pic>
      <p:pic>
        <p:nvPicPr>
          <p:cNvPr id="30" name="Picture 29">
            <a:extLst>
              <a:ext uri="{FF2B5EF4-FFF2-40B4-BE49-F238E27FC236}">
                <a16:creationId xmlns:a16="http://schemas.microsoft.com/office/drawing/2014/main" id="{C1DA65E8-AC32-94E4-CC96-1D717F1F5A7E}"/>
              </a:ext>
            </a:extLst>
          </p:cNvPr>
          <p:cNvPicPr>
            <a:picLocks noChangeAspect="1"/>
          </p:cNvPicPr>
          <p:nvPr/>
        </p:nvPicPr>
        <p:blipFill>
          <a:blip r:embed="rId4"/>
          <a:srcRect t="68505" r="-35" b="-21"/>
          <a:stretch>
            <a:fillRect/>
          </a:stretch>
        </p:blipFill>
        <p:spPr>
          <a:xfrm>
            <a:off x="963448" y="5190767"/>
            <a:ext cx="13368145" cy="2593673"/>
          </a:xfrm>
          <a:prstGeom prst="rect">
            <a:avLst/>
          </a:prstGeom>
        </p:spPr>
      </p:pic>
      <p:sp>
        <p:nvSpPr>
          <p:cNvPr id="32" name="TextBox 31">
            <a:extLst>
              <a:ext uri="{FF2B5EF4-FFF2-40B4-BE49-F238E27FC236}">
                <a16:creationId xmlns:a16="http://schemas.microsoft.com/office/drawing/2014/main" id="{A6B09709-73C9-FA3F-434A-8EB9C4760763}"/>
              </a:ext>
            </a:extLst>
          </p:cNvPr>
          <p:cNvSpPr txBox="1"/>
          <p:nvPr/>
        </p:nvSpPr>
        <p:spPr>
          <a:xfrm>
            <a:off x="2261936" y="4881382"/>
            <a:ext cx="749395" cy="423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150">
                <a:cs typeface="Arial"/>
              </a:rPr>
              <a:t>+1hr</a:t>
            </a:r>
            <a:endParaRPr lang="en-US"/>
          </a:p>
        </p:txBody>
      </p:sp>
      <p:sp>
        <p:nvSpPr>
          <p:cNvPr id="33" name="TextBox 32">
            <a:extLst>
              <a:ext uri="{FF2B5EF4-FFF2-40B4-BE49-F238E27FC236}">
                <a16:creationId xmlns:a16="http://schemas.microsoft.com/office/drawing/2014/main" id="{D3317964-C8E0-4582-3CE9-60A4FD8AE38A}"/>
              </a:ext>
            </a:extLst>
          </p:cNvPr>
          <p:cNvSpPr txBox="1"/>
          <p:nvPr/>
        </p:nvSpPr>
        <p:spPr>
          <a:xfrm>
            <a:off x="4922633" y="4881381"/>
            <a:ext cx="749395" cy="423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150">
                <a:cs typeface="Arial"/>
              </a:rPr>
              <a:t>+3hr</a:t>
            </a:r>
            <a:endParaRPr lang="en-US"/>
          </a:p>
        </p:txBody>
      </p:sp>
      <p:sp>
        <p:nvSpPr>
          <p:cNvPr id="34" name="TextBox 33">
            <a:extLst>
              <a:ext uri="{FF2B5EF4-FFF2-40B4-BE49-F238E27FC236}">
                <a16:creationId xmlns:a16="http://schemas.microsoft.com/office/drawing/2014/main" id="{F84429C0-A62C-9291-98B0-281D64B1C134}"/>
              </a:ext>
            </a:extLst>
          </p:cNvPr>
          <p:cNvSpPr txBox="1"/>
          <p:nvPr/>
        </p:nvSpPr>
        <p:spPr>
          <a:xfrm>
            <a:off x="7542079" y="4881381"/>
            <a:ext cx="749395" cy="423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150">
                <a:cs typeface="Arial"/>
              </a:rPr>
              <a:t>+6hr</a:t>
            </a:r>
            <a:endParaRPr lang="en-US"/>
          </a:p>
        </p:txBody>
      </p:sp>
      <p:sp>
        <p:nvSpPr>
          <p:cNvPr id="35" name="TextBox 34">
            <a:extLst>
              <a:ext uri="{FF2B5EF4-FFF2-40B4-BE49-F238E27FC236}">
                <a16:creationId xmlns:a16="http://schemas.microsoft.com/office/drawing/2014/main" id="{3E1C6C27-8777-AA47-8F7C-F64783EE8844}"/>
              </a:ext>
            </a:extLst>
          </p:cNvPr>
          <p:cNvSpPr txBox="1"/>
          <p:nvPr/>
        </p:nvSpPr>
        <p:spPr>
          <a:xfrm>
            <a:off x="10120275" y="4881381"/>
            <a:ext cx="996901" cy="423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150">
                <a:cs typeface="Arial"/>
              </a:rPr>
              <a:t>+12hr</a:t>
            </a:r>
            <a:endParaRPr lang="en-US"/>
          </a:p>
        </p:txBody>
      </p:sp>
      <p:sp>
        <p:nvSpPr>
          <p:cNvPr id="36" name="TextBox 35">
            <a:extLst>
              <a:ext uri="{FF2B5EF4-FFF2-40B4-BE49-F238E27FC236}">
                <a16:creationId xmlns:a16="http://schemas.microsoft.com/office/drawing/2014/main" id="{B45CF9D1-E91B-3951-07D0-6270BB719AD9}"/>
              </a:ext>
            </a:extLst>
          </p:cNvPr>
          <p:cNvSpPr txBox="1"/>
          <p:nvPr/>
        </p:nvSpPr>
        <p:spPr>
          <a:xfrm>
            <a:off x="12739722" y="4881381"/>
            <a:ext cx="941900" cy="423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150">
                <a:cs typeface="Arial"/>
              </a:rPr>
              <a:t>+24hr</a:t>
            </a:r>
            <a:endParaRPr lang="en-US"/>
          </a:p>
        </p:txBody>
      </p:sp>
      <p:sp>
        <p:nvSpPr>
          <p:cNvPr id="37" name="Rectangle 36">
            <a:extLst>
              <a:ext uri="{FF2B5EF4-FFF2-40B4-BE49-F238E27FC236}">
                <a16:creationId xmlns:a16="http://schemas.microsoft.com/office/drawing/2014/main" id="{2AB5141C-D8A4-08D1-FA94-AA3F266D4482}"/>
              </a:ext>
            </a:extLst>
          </p:cNvPr>
          <p:cNvSpPr/>
          <p:nvPr/>
        </p:nvSpPr>
        <p:spPr>
          <a:xfrm>
            <a:off x="6476428" y="4771380"/>
            <a:ext cx="2619445" cy="3011332"/>
          </a:xfrm>
          <a:prstGeom prst="rect">
            <a:avLst/>
          </a:pr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Connector: Curved 37">
            <a:extLst>
              <a:ext uri="{FF2B5EF4-FFF2-40B4-BE49-F238E27FC236}">
                <a16:creationId xmlns:a16="http://schemas.microsoft.com/office/drawing/2014/main" id="{900B2592-9CCA-9B9C-498B-2EAF75905ED8}"/>
              </a:ext>
            </a:extLst>
          </p:cNvPr>
          <p:cNvCxnSpPr/>
          <p:nvPr/>
        </p:nvCxnSpPr>
        <p:spPr>
          <a:xfrm flipH="1">
            <a:off x="9102748" y="2997582"/>
            <a:ext cx="2310063" cy="1993804"/>
          </a:xfrm>
          <a:prstGeom prst="curvedConnector3">
            <a:avLst/>
          </a:prstGeom>
          <a:ln>
            <a:tailEnd type="triangle"/>
          </a:ln>
        </p:spPr>
        <p:style>
          <a:lnRef idx="3">
            <a:schemeClr val="accent6"/>
          </a:lnRef>
          <a:fillRef idx="0">
            <a:schemeClr val="accent6"/>
          </a:fillRef>
          <a:effectRef idx="2">
            <a:schemeClr val="accent6"/>
          </a:effectRef>
          <a:fontRef idx="minor">
            <a:schemeClr val="tx1"/>
          </a:fontRef>
        </p:style>
      </p:cxnSp>
      <p:sp>
        <p:nvSpPr>
          <p:cNvPr id="4" name="TextBox 3">
            <a:extLst>
              <a:ext uri="{FF2B5EF4-FFF2-40B4-BE49-F238E27FC236}">
                <a16:creationId xmlns:a16="http://schemas.microsoft.com/office/drawing/2014/main" id="{B505F0BE-52D9-267A-D864-7003CEDAD180}"/>
              </a:ext>
            </a:extLst>
          </p:cNvPr>
          <p:cNvSpPr txBox="1"/>
          <p:nvPr/>
        </p:nvSpPr>
        <p:spPr>
          <a:xfrm>
            <a:off x="1483199" y="4644000"/>
            <a:ext cx="4759200" cy="7001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chemeClr val="tx2"/>
                </a:solidFill>
                <a:cs typeface="Arial"/>
              </a:rPr>
              <a:t>Pressure Threshold Classification:</a:t>
            </a:r>
            <a:endParaRPr lang="en-US" sz="1800">
              <a:solidFill>
                <a:schemeClr val="tx2"/>
              </a:solidFill>
              <a:cs typeface="Arial"/>
            </a:endParaRPr>
          </a:p>
          <a:p>
            <a:pPr algn="l"/>
            <a:endParaRPr lang="en-US" sz="2150">
              <a:cs typeface="Arial"/>
            </a:endParaRPr>
          </a:p>
        </p:txBody>
      </p:sp>
      <p:sp>
        <p:nvSpPr>
          <p:cNvPr id="5" name="TextBox 4">
            <a:extLst>
              <a:ext uri="{FF2B5EF4-FFF2-40B4-BE49-F238E27FC236}">
                <a16:creationId xmlns:a16="http://schemas.microsoft.com/office/drawing/2014/main" id="{944E8081-F516-1566-B143-6748B60AA3AD}"/>
              </a:ext>
            </a:extLst>
          </p:cNvPr>
          <p:cNvSpPr txBox="1"/>
          <p:nvPr/>
        </p:nvSpPr>
        <p:spPr>
          <a:xfrm>
            <a:off x="1720798" y="1591199"/>
            <a:ext cx="4759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chemeClr val="tx2"/>
                </a:solidFill>
                <a:cs typeface="Arial"/>
              </a:rPr>
              <a:t>Pressure Prediction:</a:t>
            </a:r>
            <a:endParaRPr lang="en-US" sz="1800">
              <a:solidFill>
                <a:schemeClr val="tx2"/>
              </a:solidFill>
              <a:cs typeface="Arial"/>
            </a:endParaRPr>
          </a:p>
          <a:p>
            <a:pPr algn="l"/>
            <a:endParaRPr lang="en-US" sz="1800">
              <a:cs typeface="Arial"/>
            </a:endParaRPr>
          </a:p>
        </p:txBody>
      </p:sp>
      <p:sp>
        <p:nvSpPr>
          <p:cNvPr id="7" name="TextBox 6">
            <a:extLst>
              <a:ext uri="{FF2B5EF4-FFF2-40B4-BE49-F238E27FC236}">
                <a16:creationId xmlns:a16="http://schemas.microsoft.com/office/drawing/2014/main" id="{0190A746-A2C3-8739-B2B0-3E944B683CC1}"/>
              </a:ext>
            </a:extLst>
          </p:cNvPr>
          <p:cNvSpPr txBox="1"/>
          <p:nvPr/>
        </p:nvSpPr>
        <p:spPr>
          <a:xfrm>
            <a:off x="11398852" y="297851"/>
            <a:ext cx="3617844" cy="1415772"/>
          </a:xfrm>
          <a:prstGeom prst="rect">
            <a:avLst/>
          </a:prstGeom>
          <a:noFill/>
        </p:spPr>
        <p:txBody>
          <a:bodyPr wrap="square" lIns="91440" tIns="45720" rIns="91440" bIns="45720" rtlCol="0" anchor="t">
            <a:spAutoFit/>
          </a:bodyPr>
          <a:lstStyle/>
          <a:p>
            <a:r>
              <a:rPr lang="en-US" sz="2150" b="1"/>
              <a:t>Approach 3: </a:t>
            </a:r>
          </a:p>
          <a:p>
            <a:r>
              <a:rPr lang="en-US" sz="2150">
                <a:cs typeface="Arial"/>
              </a:rPr>
              <a:t>Classify when pressure exceeds 5,000 psi from prediction.</a:t>
            </a:r>
          </a:p>
        </p:txBody>
      </p:sp>
    </p:spTree>
    <p:extLst>
      <p:ext uri="{BB962C8B-B14F-4D97-AF65-F5344CB8AC3E}">
        <p14:creationId xmlns:p14="http://schemas.microsoft.com/office/powerpoint/2010/main" val="1616513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8F34F-FB88-791C-DEC8-093C78F97CE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CC0D9CD-2927-BC3B-FEF4-4F57B0E1F862}"/>
              </a:ext>
            </a:extLst>
          </p:cNvPr>
          <p:cNvPicPr>
            <a:picLocks noChangeAspect="1"/>
          </p:cNvPicPr>
          <p:nvPr/>
        </p:nvPicPr>
        <p:blipFill>
          <a:blip r:embed="rId3"/>
          <a:srcRect t="68170" r="109" b="-21"/>
          <a:stretch>
            <a:fillRect/>
          </a:stretch>
        </p:blipFill>
        <p:spPr>
          <a:xfrm>
            <a:off x="946816" y="5163266"/>
            <a:ext cx="13382237" cy="2621169"/>
          </a:xfrm>
          <a:prstGeom prst="rect">
            <a:avLst/>
          </a:prstGeom>
        </p:spPr>
      </p:pic>
      <p:pic>
        <p:nvPicPr>
          <p:cNvPr id="4" name="Picture 3">
            <a:extLst>
              <a:ext uri="{FF2B5EF4-FFF2-40B4-BE49-F238E27FC236}">
                <a16:creationId xmlns:a16="http://schemas.microsoft.com/office/drawing/2014/main" id="{7074ABB8-3911-7212-3AE1-F06370E2433D}"/>
              </a:ext>
            </a:extLst>
          </p:cNvPr>
          <p:cNvPicPr>
            <a:picLocks noChangeAspect="1"/>
          </p:cNvPicPr>
          <p:nvPr/>
        </p:nvPicPr>
        <p:blipFill>
          <a:blip r:embed="rId4"/>
          <a:srcRect t="39265" r="-3" b="40800"/>
          <a:stretch>
            <a:fillRect/>
          </a:stretch>
        </p:blipFill>
        <p:spPr>
          <a:xfrm>
            <a:off x="918715" y="1684042"/>
            <a:ext cx="13246937" cy="2864379"/>
          </a:xfrm>
          <a:prstGeom prst="rect">
            <a:avLst/>
          </a:prstGeom>
        </p:spPr>
      </p:pic>
      <p:sp>
        <p:nvSpPr>
          <p:cNvPr id="2" name="Slide Number Placeholder 1">
            <a:extLst>
              <a:ext uri="{FF2B5EF4-FFF2-40B4-BE49-F238E27FC236}">
                <a16:creationId xmlns:a16="http://schemas.microsoft.com/office/drawing/2014/main" id="{8214A1C2-3A1F-D196-70EF-30DDE420A765}"/>
              </a:ext>
            </a:extLst>
          </p:cNvPr>
          <p:cNvSpPr>
            <a:spLocks noGrp="1"/>
          </p:cNvSpPr>
          <p:nvPr>
            <p:ph type="sldNum" sz="quarter" idx="12"/>
          </p:nvPr>
        </p:nvSpPr>
        <p:spPr>
          <a:xfrm>
            <a:off x="13994296" y="7772400"/>
            <a:ext cx="453223" cy="457200"/>
          </a:xfrm>
        </p:spPr>
        <p:txBody>
          <a:bodyPr anchor="ctr">
            <a:normAutofit/>
          </a:bodyPr>
          <a:lstStyle/>
          <a:p>
            <a:pPr>
              <a:spcAft>
                <a:spcPts val="600"/>
              </a:spcAft>
            </a:pPr>
            <a:fld id="{FE7A4BB3-E848-5A44-82DF-322201952CD8}" type="slidenum">
              <a:rPr lang="en-US" smtClean="0"/>
              <a:pPr>
                <a:spcAft>
                  <a:spcPts val="600"/>
                </a:spcAft>
              </a:pPr>
              <a:t>9</a:t>
            </a:fld>
            <a:endParaRPr lang="en-US"/>
          </a:p>
        </p:txBody>
      </p:sp>
      <p:sp>
        <p:nvSpPr>
          <p:cNvPr id="3" name="Title 2">
            <a:extLst>
              <a:ext uri="{FF2B5EF4-FFF2-40B4-BE49-F238E27FC236}">
                <a16:creationId xmlns:a16="http://schemas.microsoft.com/office/drawing/2014/main" id="{3688FBA5-2C60-6709-FB72-2056ABA2C0D4}"/>
              </a:ext>
            </a:extLst>
          </p:cNvPr>
          <p:cNvSpPr>
            <a:spLocks noGrp="1"/>
          </p:cNvSpPr>
          <p:nvPr>
            <p:ph type="title"/>
          </p:nvPr>
        </p:nvSpPr>
        <p:spPr>
          <a:xfrm>
            <a:off x="3014341" y="295275"/>
            <a:ext cx="8595036" cy="1247775"/>
          </a:xfrm>
        </p:spPr>
        <p:txBody>
          <a:bodyPr lIns="0" tIns="45720" rIns="91440" bIns="45720" anchor="b">
            <a:normAutofit/>
          </a:bodyPr>
          <a:lstStyle/>
          <a:p>
            <a:r>
              <a:rPr lang="en-US">
                <a:latin typeface="Arial"/>
                <a:cs typeface="Arial"/>
              </a:rPr>
              <a:t>ML Results &amp; Insights - LSTM </a:t>
            </a:r>
            <a:endParaRPr lang="en-US"/>
          </a:p>
        </p:txBody>
      </p:sp>
      <p:sp>
        <p:nvSpPr>
          <p:cNvPr id="32" name="TextBox 31">
            <a:extLst>
              <a:ext uri="{FF2B5EF4-FFF2-40B4-BE49-F238E27FC236}">
                <a16:creationId xmlns:a16="http://schemas.microsoft.com/office/drawing/2014/main" id="{DB4437DD-5A83-7A96-817D-8A13B9E51A8F}"/>
              </a:ext>
            </a:extLst>
          </p:cNvPr>
          <p:cNvSpPr txBox="1"/>
          <p:nvPr/>
        </p:nvSpPr>
        <p:spPr>
          <a:xfrm>
            <a:off x="2261936" y="4881382"/>
            <a:ext cx="749395" cy="423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150">
                <a:cs typeface="Arial"/>
              </a:rPr>
              <a:t>+1hr</a:t>
            </a:r>
            <a:endParaRPr lang="en-US"/>
          </a:p>
        </p:txBody>
      </p:sp>
      <p:sp>
        <p:nvSpPr>
          <p:cNvPr id="33" name="TextBox 32">
            <a:extLst>
              <a:ext uri="{FF2B5EF4-FFF2-40B4-BE49-F238E27FC236}">
                <a16:creationId xmlns:a16="http://schemas.microsoft.com/office/drawing/2014/main" id="{DC11972D-56F8-8DDF-19F9-ECF591C6D737}"/>
              </a:ext>
            </a:extLst>
          </p:cNvPr>
          <p:cNvSpPr txBox="1"/>
          <p:nvPr/>
        </p:nvSpPr>
        <p:spPr>
          <a:xfrm>
            <a:off x="4922633" y="4881381"/>
            <a:ext cx="749395" cy="423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150">
                <a:cs typeface="Arial"/>
              </a:rPr>
              <a:t>+3hr</a:t>
            </a:r>
            <a:endParaRPr lang="en-US"/>
          </a:p>
        </p:txBody>
      </p:sp>
      <p:sp>
        <p:nvSpPr>
          <p:cNvPr id="34" name="TextBox 33">
            <a:extLst>
              <a:ext uri="{FF2B5EF4-FFF2-40B4-BE49-F238E27FC236}">
                <a16:creationId xmlns:a16="http://schemas.microsoft.com/office/drawing/2014/main" id="{36DFFBAA-32CF-5505-1D23-96588320400E}"/>
              </a:ext>
            </a:extLst>
          </p:cNvPr>
          <p:cNvSpPr txBox="1"/>
          <p:nvPr/>
        </p:nvSpPr>
        <p:spPr>
          <a:xfrm>
            <a:off x="7542079" y="4881381"/>
            <a:ext cx="749395" cy="423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150">
                <a:cs typeface="Arial"/>
              </a:rPr>
              <a:t>+6hr</a:t>
            </a:r>
            <a:endParaRPr lang="en-US"/>
          </a:p>
        </p:txBody>
      </p:sp>
      <p:sp>
        <p:nvSpPr>
          <p:cNvPr id="35" name="TextBox 34">
            <a:extLst>
              <a:ext uri="{FF2B5EF4-FFF2-40B4-BE49-F238E27FC236}">
                <a16:creationId xmlns:a16="http://schemas.microsoft.com/office/drawing/2014/main" id="{CFA9281F-40F0-EBF6-F57C-AE734DDCF93C}"/>
              </a:ext>
            </a:extLst>
          </p:cNvPr>
          <p:cNvSpPr txBox="1"/>
          <p:nvPr/>
        </p:nvSpPr>
        <p:spPr>
          <a:xfrm>
            <a:off x="10120275" y="4881381"/>
            <a:ext cx="996901" cy="423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150">
                <a:cs typeface="Arial"/>
              </a:rPr>
              <a:t>+12hr</a:t>
            </a:r>
            <a:endParaRPr lang="en-US"/>
          </a:p>
        </p:txBody>
      </p:sp>
      <p:sp>
        <p:nvSpPr>
          <p:cNvPr id="36" name="TextBox 35">
            <a:extLst>
              <a:ext uri="{FF2B5EF4-FFF2-40B4-BE49-F238E27FC236}">
                <a16:creationId xmlns:a16="http://schemas.microsoft.com/office/drawing/2014/main" id="{6D4DEDDF-2998-56C9-B082-572E21904DA9}"/>
              </a:ext>
            </a:extLst>
          </p:cNvPr>
          <p:cNvSpPr txBox="1"/>
          <p:nvPr/>
        </p:nvSpPr>
        <p:spPr>
          <a:xfrm>
            <a:off x="12739722" y="4881381"/>
            <a:ext cx="941900" cy="423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150">
                <a:cs typeface="Arial"/>
              </a:rPr>
              <a:t>+24hr</a:t>
            </a:r>
            <a:endParaRPr lang="en-US"/>
          </a:p>
        </p:txBody>
      </p:sp>
      <p:sp>
        <p:nvSpPr>
          <p:cNvPr id="37" name="Rectangle 36">
            <a:extLst>
              <a:ext uri="{FF2B5EF4-FFF2-40B4-BE49-F238E27FC236}">
                <a16:creationId xmlns:a16="http://schemas.microsoft.com/office/drawing/2014/main" id="{C82F859E-D030-1CCA-FDA1-F074409957C0}"/>
              </a:ext>
            </a:extLst>
          </p:cNvPr>
          <p:cNvSpPr/>
          <p:nvPr/>
        </p:nvSpPr>
        <p:spPr>
          <a:xfrm>
            <a:off x="6476428" y="4771380"/>
            <a:ext cx="2619445" cy="3011332"/>
          </a:xfrm>
          <a:prstGeom prst="rect">
            <a:avLst/>
          </a:pr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Connector: Curved 37">
            <a:extLst>
              <a:ext uri="{FF2B5EF4-FFF2-40B4-BE49-F238E27FC236}">
                <a16:creationId xmlns:a16="http://schemas.microsoft.com/office/drawing/2014/main" id="{C6E8DDB7-2497-9F81-6C6D-B48192D15BE5}"/>
              </a:ext>
            </a:extLst>
          </p:cNvPr>
          <p:cNvCxnSpPr/>
          <p:nvPr/>
        </p:nvCxnSpPr>
        <p:spPr>
          <a:xfrm flipH="1">
            <a:off x="9102748" y="2997582"/>
            <a:ext cx="2310063" cy="1993804"/>
          </a:xfrm>
          <a:prstGeom prst="curvedConnector3">
            <a:avLst/>
          </a:prstGeom>
          <a:ln>
            <a:tailEnd type="triangle"/>
          </a:ln>
        </p:spPr>
        <p:style>
          <a:lnRef idx="3">
            <a:schemeClr val="accent6"/>
          </a:lnRef>
          <a:fillRef idx="0">
            <a:schemeClr val="accent6"/>
          </a:fillRef>
          <a:effectRef idx="2">
            <a:schemeClr val="accent6"/>
          </a:effectRef>
          <a:fontRef idx="minor">
            <a:schemeClr val="tx1"/>
          </a:fontRef>
        </p:style>
      </p:cxnSp>
      <p:sp>
        <p:nvSpPr>
          <p:cNvPr id="7" name="TextBox 6">
            <a:extLst>
              <a:ext uri="{FF2B5EF4-FFF2-40B4-BE49-F238E27FC236}">
                <a16:creationId xmlns:a16="http://schemas.microsoft.com/office/drawing/2014/main" id="{19E75A65-0568-AA15-842C-FE4E8C6306D2}"/>
              </a:ext>
            </a:extLst>
          </p:cNvPr>
          <p:cNvSpPr txBox="1"/>
          <p:nvPr/>
        </p:nvSpPr>
        <p:spPr>
          <a:xfrm>
            <a:off x="1483199" y="4644000"/>
            <a:ext cx="4759200" cy="7001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chemeClr val="tx2"/>
                </a:solidFill>
                <a:cs typeface="Arial"/>
              </a:rPr>
              <a:t>Pressure Threshold Classification:</a:t>
            </a:r>
            <a:endParaRPr lang="en-US" sz="1800">
              <a:solidFill>
                <a:schemeClr val="tx2"/>
              </a:solidFill>
              <a:cs typeface="Arial"/>
            </a:endParaRPr>
          </a:p>
          <a:p>
            <a:pPr algn="l"/>
            <a:endParaRPr lang="en-US" sz="2150">
              <a:cs typeface="Arial"/>
            </a:endParaRPr>
          </a:p>
        </p:txBody>
      </p:sp>
      <p:sp>
        <p:nvSpPr>
          <p:cNvPr id="11" name="TextBox 10">
            <a:extLst>
              <a:ext uri="{FF2B5EF4-FFF2-40B4-BE49-F238E27FC236}">
                <a16:creationId xmlns:a16="http://schemas.microsoft.com/office/drawing/2014/main" id="{19971D0E-A48A-B66B-4760-B0993212B7AC}"/>
              </a:ext>
            </a:extLst>
          </p:cNvPr>
          <p:cNvSpPr txBox="1"/>
          <p:nvPr/>
        </p:nvSpPr>
        <p:spPr>
          <a:xfrm>
            <a:off x="1720798" y="1591199"/>
            <a:ext cx="4759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chemeClr val="tx2"/>
                </a:solidFill>
                <a:cs typeface="Arial"/>
              </a:rPr>
              <a:t>Pressure Prediction:</a:t>
            </a:r>
            <a:endParaRPr lang="en-US" sz="1800">
              <a:solidFill>
                <a:schemeClr val="tx2"/>
              </a:solidFill>
              <a:cs typeface="Arial"/>
            </a:endParaRPr>
          </a:p>
          <a:p>
            <a:pPr algn="l"/>
            <a:endParaRPr lang="en-US" sz="1800">
              <a:cs typeface="Arial"/>
            </a:endParaRPr>
          </a:p>
        </p:txBody>
      </p:sp>
    </p:spTree>
    <p:extLst>
      <p:ext uri="{BB962C8B-B14F-4D97-AF65-F5344CB8AC3E}">
        <p14:creationId xmlns:p14="http://schemas.microsoft.com/office/powerpoint/2010/main" val="30938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74E6ED-CA26-5EE4-8CB5-011300498FEF}"/>
              </a:ext>
            </a:extLst>
          </p:cNvPr>
          <p:cNvSpPr>
            <a:spLocks noGrp="1"/>
          </p:cNvSpPr>
          <p:nvPr>
            <p:ph type="sldNum" sz="quarter" idx="12"/>
          </p:nvPr>
        </p:nvSpPr>
        <p:spPr/>
        <p:txBody>
          <a:bodyPr/>
          <a:lstStyle/>
          <a:p>
            <a:fld id="{FE7A4BB3-E848-5A44-82DF-322201952CD8}" type="slidenum">
              <a:rPr lang="en-US" smtClean="0"/>
              <a:pPr/>
              <a:t>10</a:t>
            </a:fld>
            <a:endParaRPr lang="en-US"/>
          </a:p>
        </p:txBody>
      </p:sp>
      <p:sp>
        <p:nvSpPr>
          <p:cNvPr id="9" name="Title 4">
            <a:extLst>
              <a:ext uri="{FF2B5EF4-FFF2-40B4-BE49-F238E27FC236}">
                <a16:creationId xmlns:a16="http://schemas.microsoft.com/office/drawing/2014/main" id="{DA98905B-21B6-D330-5F56-46E4D98F226B}"/>
              </a:ext>
            </a:extLst>
          </p:cNvPr>
          <p:cNvSpPr>
            <a:spLocks noGrp="1"/>
          </p:cNvSpPr>
          <p:nvPr>
            <p:ph type="title"/>
          </p:nvPr>
        </p:nvSpPr>
        <p:spPr>
          <a:xfrm>
            <a:off x="3214149" y="-788"/>
            <a:ext cx="8040359" cy="1590675"/>
          </a:xfrm>
        </p:spPr>
        <p:txBody>
          <a:bodyPr lIns="0" tIns="45720" rIns="91440" bIns="45720" anchor="b"/>
          <a:lstStyle/>
          <a:p>
            <a:r>
              <a:rPr lang="en-US">
                <a:latin typeface="Arial"/>
                <a:cs typeface="Arial"/>
              </a:rPr>
              <a:t>LLM Approach &amp; Results - Gemma3</a:t>
            </a:r>
            <a:endParaRPr lang="en-US"/>
          </a:p>
        </p:txBody>
      </p:sp>
      <p:graphicFrame>
        <p:nvGraphicFramePr>
          <p:cNvPr id="11" name="Content Placeholder 5">
            <a:extLst>
              <a:ext uri="{FF2B5EF4-FFF2-40B4-BE49-F238E27FC236}">
                <a16:creationId xmlns:a16="http://schemas.microsoft.com/office/drawing/2014/main" id="{D53D065D-C541-9EE7-4628-588D52C5EEBD}"/>
              </a:ext>
            </a:extLst>
          </p:cNvPr>
          <p:cNvGraphicFramePr>
            <a:graphicFrameLocks/>
          </p:cNvGraphicFramePr>
          <p:nvPr>
            <p:extLst>
              <p:ext uri="{D42A27DB-BD31-4B8C-83A1-F6EECF244321}">
                <p14:modId xmlns:p14="http://schemas.microsoft.com/office/powerpoint/2010/main" val="3853019827"/>
              </p:ext>
            </p:extLst>
          </p:nvPr>
        </p:nvGraphicFramePr>
        <p:xfrm>
          <a:off x="2240379" y="1588188"/>
          <a:ext cx="10156124" cy="60131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79890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CB227-AF02-D485-1CB5-3C6971116CA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2E1AD7-1AE8-652B-415F-2C19E0C7713E}"/>
              </a:ext>
            </a:extLst>
          </p:cNvPr>
          <p:cNvSpPr>
            <a:spLocks noGrp="1"/>
          </p:cNvSpPr>
          <p:nvPr>
            <p:ph type="sldNum" sz="quarter" idx="12"/>
          </p:nvPr>
        </p:nvSpPr>
        <p:spPr/>
        <p:txBody>
          <a:bodyPr/>
          <a:lstStyle/>
          <a:p>
            <a:fld id="{FE7A4BB3-E848-5A44-82DF-322201952CD8}" type="slidenum">
              <a:rPr lang="en-US" smtClean="0"/>
              <a:pPr/>
              <a:t>11</a:t>
            </a:fld>
            <a:endParaRPr lang="en-US"/>
          </a:p>
        </p:txBody>
      </p:sp>
      <p:sp>
        <p:nvSpPr>
          <p:cNvPr id="5" name="Title 4">
            <a:extLst>
              <a:ext uri="{FF2B5EF4-FFF2-40B4-BE49-F238E27FC236}">
                <a16:creationId xmlns:a16="http://schemas.microsoft.com/office/drawing/2014/main" id="{4C59D828-3955-7B08-C650-8FD9BF622264}"/>
              </a:ext>
            </a:extLst>
          </p:cNvPr>
          <p:cNvSpPr>
            <a:spLocks noGrp="1"/>
          </p:cNvSpPr>
          <p:nvPr>
            <p:ph type="title"/>
          </p:nvPr>
        </p:nvSpPr>
        <p:spPr>
          <a:xfrm>
            <a:off x="3247041" y="-788"/>
            <a:ext cx="8389015" cy="1590675"/>
          </a:xfrm>
        </p:spPr>
        <p:txBody>
          <a:bodyPr lIns="0" tIns="45720" rIns="91440" bIns="45720" anchor="b"/>
          <a:lstStyle/>
          <a:p>
            <a:r>
              <a:rPr lang="en-US" dirty="0">
                <a:latin typeface="Arial"/>
                <a:cs typeface="Arial"/>
              </a:rPr>
              <a:t>LLM Approach &amp; Results</a:t>
            </a:r>
            <a:r>
              <a:rPr lang="en-US">
                <a:latin typeface="Arial"/>
                <a:cs typeface="Arial"/>
              </a:rPr>
              <a:t> - Gemma3</a:t>
            </a:r>
            <a:endParaRPr lang="en-US"/>
          </a:p>
        </p:txBody>
      </p:sp>
      <p:pic>
        <p:nvPicPr>
          <p:cNvPr id="8" name="Picture 7">
            <a:extLst>
              <a:ext uri="{FF2B5EF4-FFF2-40B4-BE49-F238E27FC236}">
                <a16:creationId xmlns:a16="http://schemas.microsoft.com/office/drawing/2014/main" id="{CAD42512-6BB8-CCD3-9B98-50507F8486A1}"/>
              </a:ext>
            </a:extLst>
          </p:cNvPr>
          <p:cNvPicPr>
            <a:picLocks noChangeAspect="1"/>
          </p:cNvPicPr>
          <p:nvPr/>
        </p:nvPicPr>
        <p:blipFill>
          <a:blip r:embed="rId3"/>
          <a:srcRect t="68504" r="-64" b="-21"/>
          <a:stretch>
            <a:fillRect/>
          </a:stretch>
        </p:blipFill>
        <p:spPr>
          <a:xfrm>
            <a:off x="1988376" y="2102129"/>
            <a:ext cx="10701787" cy="2593673"/>
          </a:xfrm>
          <a:prstGeom prst="rect">
            <a:avLst/>
          </a:prstGeom>
        </p:spPr>
      </p:pic>
      <p:sp>
        <p:nvSpPr>
          <p:cNvPr id="10" name="TextBox 9">
            <a:extLst>
              <a:ext uri="{FF2B5EF4-FFF2-40B4-BE49-F238E27FC236}">
                <a16:creationId xmlns:a16="http://schemas.microsoft.com/office/drawing/2014/main" id="{8F2C3D6A-D1B6-888B-A876-D259A83677FE}"/>
              </a:ext>
            </a:extLst>
          </p:cNvPr>
          <p:cNvSpPr txBox="1"/>
          <p:nvPr/>
        </p:nvSpPr>
        <p:spPr>
          <a:xfrm>
            <a:off x="3286339" y="1861496"/>
            <a:ext cx="749395" cy="423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150">
                <a:cs typeface="Arial"/>
              </a:rPr>
              <a:t>+1hr</a:t>
            </a:r>
            <a:endParaRPr lang="en-US"/>
          </a:p>
        </p:txBody>
      </p:sp>
      <p:sp>
        <p:nvSpPr>
          <p:cNvPr id="11" name="TextBox 10">
            <a:extLst>
              <a:ext uri="{FF2B5EF4-FFF2-40B4-BE49-F238E27FC236}">
                <a16:creationId xmlns:a16="http://schemas.microsoft.com/office/drawing/2014/main" id="{60CCEAD7-0D98-353C-6527-94EFD1304E51}"/>
              </a:ext>
            </a:extLst>
          </p:cNvPr>
          <p:cNvSpPr txBox="1"/>
          <p:nvPr/>
        </p:nvSpPr>
        <p:spPr>
          <a:xfrm>
            <a:off x="5933285" y="1861495"/>
            <a:ext cx="749395" cy="423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150">
                <a:cs typeface="Arial"/>
              </a:rPr>
              <a:t>+6hr</a:t>
            </a:r>
            <a:endParaRPr lang="en-US"/>
          </a:p>
        </p:txBody>
      </p:sp>
      <p:sp>
        <p:nvSpPr>
          <p:cNvPr id="12" name="TextBox 11">
            <a:extLst>
              <a:ext uri="{FF2B5EF4-FFF2-40B4-BE49-F238E27FC236}">
                <a16:creationId xmlns:a16="http://schemas.microsoft.com/office/drawing/2014/main" id="{2C97AA94-4FEC-289E-8693-7D3DE77A48E8}"/>
              </a:ext>
            </a:extLst>
          </p:cNvPr>
          <p:cNvSpPr txBox="1"/>
          <p:nvPr/>
        </p:nvSpPr>
        <p:spPr>
          <a:xfrm>
            <a:off x="8497731" y="1861495"/>
            <a:ext cx="1134405" cy="423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150">
                <a:cs typeface="Arial"/>
              </a:rPr>
              <a:t>+12hr</a:t>
            </a:r>
            <a:endParaRPr lang="en-US"/>
          </a:p>
        </p:txBody>
      </p:sp>
      <p:sp>
        <p:nvSpPr>
          <p:cNvPr id="13" name="TextBox 12">
            <a:extLst>
              <a:ext uri="{FF2B5EF4-FFF2-40B4-BE49-F238E27FC236}">
                <a16:creationId xmlns:a16="http://schemas.microsoft.com/office/drawing/2014/main" id="{04CE8509-8405-FBD1-876A-F70518D89E84}"/>
              </a:ext>
            </a:extLst>
          </p:cNvPr>
          <p:cNvSpPr txBox="1"/>
          <p:nvPr/>
        </p:nvSpPr>
        <p:spPr>
          <a:xfrm>
            <a:off x="11130928" y="1861495"/>
            <a:ext cx="941900" cy="423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150">
                <a:cs typeface="Arial"/>
              </a:rPr>
              <a:t>+24hr</a:t>
            </a:r>
            <a:endParaRPr lang="en-US"/>
          </a:p>
        </p:txBody>
      </p:sp>
      <p:pic>
        <p:nvPicPr>
          <p:cNvPr id="14" name="Picture 13">
            <a:extLst>
              <a:ext uri="{FF2B5EF4-FFF2-40B4-BE49-F238E27FC236}">
                <a16:creationId xmlns:a16="http://schemas.microsoft.com/office/drawing/2014/main" id="{7605C899-D570-B983-A934-D7BCB6C22E79}"/>
              </a:ext>
            </a:extLst>
          </p:cNvPr>
          <p:cNvPicPr>
            <a:picLocks noChangeAspect="1"/>
          </p:cNvPicPr>
          <p:nvPr/>
        </p:nvPicPr>
        <p:blipFill>
          <a:blip r:embed="rId4"/>
          <a:stretch>
            <a:fillRect/>
          </a:stretch>
        </p:blipFill>
        <p:spPr>
          <a:xfrm>
            <a:off x="996901" y="4768477"/>
            <a:ext cx="13447869" cy="3017137"/>
          </a:xfrm>
          <a:prstGeom prst="rect">
            <a:avLst/>
          </a:prstGeom>
        </p:spPr>
      </p:pic>
      <p:sp>
        <p:nvSpPr>
          <p:cNvPr id="4" name="TextBox 3">
            <a:extLst>
              <a:ext uri="{FF2B5EF4-FFF2-40B4-BE49-F238E27FC236}">
                <a16:creationId xmlns:a16="http://schemas.microsoft.com/office/drawing/2014/main" id="{BBE514C2-1F85-2CEE-12DE-70B26A0D7FEB}"/>
              </a:ext>
            </a:extLst>
          </p:cNvPr>
          <p:cNvSpPr txBox="1"/>
          <p:nvPr/>
        </p:nvSpPr>
        <p:spPr>
          <a:xfrm>
            <a:off x="1547999" y="1591200"/>
            <a:ext cx="4759200" cy="7001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chemeClr val="tx2"/>
                </a:solidFill>
                <a:cs typeface="Arial"/>
              </a:rPr>
              <a:t>Pressure Threshold Classification:</a:t>
            </a:r>
            <a:endParaRPr lang="en-US" sz="1800">
              <a:solidFill>
                <a:schemeClr val="tx2"/>
              </a:solidFill>
              <a:cs typeface="Arial"/>
            </a:endParaRPr>
          </a:p>
          <a:p>
            <a:pPr algn="l"/>
            <a:endParaRPr lang="en-US" sz="2150">
              <a:cs typeface="Arial"/>
            </a:endParaRPr>
          </a:p>
        </p:txBody>
      </p:sp>
    </p:spTree>
    <p:extLst>
      <p:ext uri="{BB962C8B-B14F-4D97-AF65-F5344CB8AC3E}">
        <p14:creationId xmlns:p14="http://schemas.microsoft.com/office/powerpoint/2010/main" val="2871604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A5881-5801-4248-5377-924EAF7A8FE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BDBEA7-14D2-E869-8CB4-FBDFA4142EC0}"/>
              </a:ext>
            </a:extLst>
          </p:cNvPr>
          <p:cNvSpPr>
            <a:spLocks noGrp="1"/>
          </p:cNvSpPr>
          <p:nvPr>
            <p:ph type="sldNum" sz="quarter" idx="12"/>
          </p:nvPr>
        </p:nvSpPr>
        <p:spPr/>
        <p:txBody>
          <a:bodyPr/>
          <a:lstStyle/>
          <a:p>
            <a:fld id="{FE7A4BB3-E848-5A44-82DF-322201952CD8}" type="slidenum">
              <a:rPr lang="en-US" smtClean="0"/>
              <a:pPr/>
              <a:t>12</a:t>
            </a:fld>
            <a:endParaRPr lang="en-US"/>
          </a:p>
        </p:txBody>
      </p:sp>
      <p:sp>
        <p:nvSpPr>
          <p:cNvPr id="5" name="Title 4">
            <a:extLst>
              <a:ext uri="{FF2B5EF4-FFF2-40B4-BE49-F238E27FC236}">
                <a16:creationId xmlns:a16="http://schemas.microsoft.com/office/drawing/2014/main" id="{555E1587-ADEB-5D14-35EB-77656F35B6AD}"/>
              </a:ext>
            </a:extLst>
          </p:cNvPr>
          <p:cNvSpPr>
            <a:spLocks noGrp="1"/>
          </p:cNvSpPr>
          <p:nvPr>
            <p:ph type="title"/>
          </p:nvPr>
        </p:nvSpPr>
        <p:spPr>
          <a:xfrm>
            <a:off x="2965620" y="753762"/>
            <a:ext cx="8180174" cy="864973"/>
          </a:xfrm>
        </p:spPr>
        <p:txBody>
          <a:bodyPr lIns="0" tIns="45720" rIns="91440" bIns="45720" anchor="b"/>
          <a:lstStyle/>
          <a:p>
            <a:r>
              <a:rPr lang="en-US">
                <a:latin typeface="Arial"/>
                <a:cs typeface="Arial"/>
              </a:rPr>
              <a:t>ML vs LLM Comparison</a:t>
            </a:r>
            <a:br>
              <a:rPr lang="en-US">
                <a:latin typeface="Arial"/>
                <a:cs typeface="Arial"/>
              </a:rPr>
            </a:br>
            <a:endParaRPr lang="en-US"/>
          </a:p>
        </p:txBody>
      </p:sp>
      <p:graphicFrame>
        <p:nvGraphicFramePr>
          <p:cNvPr id="9" name="Table 8">
            <a:extLst>
              <a:ext uri="{FF2B5EF4-FFF2-40B4-BE49-F238E27FC236}">
                <a16:creationId xmlns:a16="http://schemas.microsoft.com/office/drawing/2014/main" id="{025D09E1-4B4F-2732-330B-5B82092A6921}"/>
              </a:ext>
            </a:extLst>
          </p:cNvPr>
          <p:cNvGraphicFramePr>
            <a:graphicFrameLocks noGrp="1"/>
          </p:cNvGraphicFramePr>
          <p:nvPr>
            <p:extLst>
              <p:ext uri="{D42A27DB-BD31-4B8C-83A1-F6EECF244321}">
                <p14:modId xmlns:p14="http://schemas.microsoft.com/office/powerpoint/2010/main" val="952925513"/>
              </p:ext>
            </p:extLst>
          </p:nvPr>
        </p:nvGraphicFramePr>
        <p:xfrm>
          <a:off x="1127530" y="1615668"/>
          <a:ext cx="13187725" cy="5897124"/>
        </p:xfrm>
        <a:graphic>
          <a:graphicData uri="http://schemas.openxmlformats.org/drawingml/2006/table">
            <a:tbl>
              <a:tblPr bandRow="1">
                <a:tableStyleId>{5C22544A-7EE6-4342-B048-85BDC9FD1C3A}</a:tableStyleId>
              </a:tblPr>
              <a:tblGrid>
                <a:gridCol w="2204801">
                  <a:extLst>
                    <a:ext uri="{9D8B030D-6E8A-4147-A177-3AD203B41FA5}">
                      <a16:colId xmlns:a16="http://schemas.microsoft.com/office/drawing/2014/main" val="2720479805"/>
                    </a:ext>
                  </a:extLst>
                </a:gridCol>
                <a:gridCol w="2793661">
                  <a:extLst>
                    <a:ext uri="{9D8B030D-6E8A-4147-A177-3AD203B41FA5}">
                      <a16:colId xmlns:a16="http://schemas.microsoft.com/office/drawing/2014/main" val="642818503"/>
                    </a:ext>
                  </a:extLst>
                </a:gridCol>
                <a:gridCol w="2533467">
                  <a:extLst>
                    <a:ext uri="{9D8B030D-6E8A-4147-A177-3AD203B41FA5}">
                      <a16:colId xmlns:a16="http://schemas.microsoft.com/office/drawing/2014/main" val="4037338815"/>
                    </a:ext>
                  </a:extLst>
                </a:gridCol>
                <a:gridCol w="2944300">
                  <a:extLst>
                    <a:ext uri="{9D8B030D-6E8A-4147-A177-3AD203B41FA5}">
                      <a16:colId xmlns:a16="http://schemas.microsoft.com/office/drawing/2014/main" val="1521615559"/>
                    </a:ext>
                  </a:extLst>
                </a:gridCol>
                <a:gridCol w="2711496">
                  <a:extLst>
                    <a:ext uri="{9D8B030D-6E8A-4147-A177-3AD203B41FA5}">
                      <a16:colId xmlns:a16="http://schemas.microsoft.com/office/drawing/2014/main" val="805088494"/>
                    </a:ext>
                  </a:extLst>
                </a:gridCol>
              </a:tblGrid>
              <a:tr h="247026">
                <a:tc>
                  <a:txBody>
                    <a:bodyPr/>
                    <a:lstStyle/>
                    <a:p>
                      <a:pPr>
                        <a:buNone/>
                      </a:pPr>
                      <a:r>
                        <a:rPr lang="en-US" sz="1600" b="1">
                          <a:solidFill>
                            <a:srgbClr val="000000"/>
                          </a:solidFill>
                          <a:effectLst/>
                          <a:latin typeface="Helvetica Neue"/>
                        </a:rPr>
                        <a:t>Criteria</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a:buNone/>
                      </a:pPr>
                      <a:r>
                        <a:rPr lang="en-US" sz="1600" b="1">
                          <a:solidFill>
                            <a:srgbClr val="000000"/>
                          </a:solidFill>
                          <a:effectLst/>
                          <a:latin typeface="Helvetica Neue"/>
                        </a:rPr>
                        <a:t>Kalman Filter</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a:buNone/>
                      </a:pPr>
                      <a:r>
                        <a:rPr lang="en-US" sz="1600" b="1">
                          <a:solidFill>
                            <a:srgbClr val="000000"/>
                          </a:solidFill>
                          <a:effectLst/>
                          <a:latin typeface="Helvetica Neue"/>
                        </a:rPr>
                        <a:t>XGBoost</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a:buNone/>
                      </a:pPr>
                      <a:r>
                        <a:rPr lang="en-US" sz="1600" b="1">
                          <a:solidFill>
                            <a:srgbClr val="000000"/>
                          </a:solidFill>
                          <a:effectLst/>
                          <a:latin typeface="Helvetica Neue"/>
                        </a:rPr>
                        <a:t>LSTM</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a:buNone/>
                      </a:pPr>
                      <a:r>
                        <a:rPr lang="en-US" sz="1600" b="1">
                          <a:solidFill>
                            <a:srgbClr val="000000"/>
                          </a:solidFill>
                          <a:effectLst/>
                          <a:latin typeface="Helvetica Neue"/>
                        </a:rPr>
                        <a:t>LLM</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extLst>
                  <a:ext uri="{0D108BD9-81ED-4DB2-BD59-A6C34878D82A}">
                    <a16:rowId xmlns:a16="http://schemas.microsoft.com/office/drawing/2014/main" val="4268809934"/>
                  </a:ext>
                </a:extLst>
              </a:tr>
              <a:tr h="343759">
                <a:tc>
                  <a:txBody>
                    <a:bodyPr/>
                    <a:lstStyle/>
                    <a:p>
                      <a:pPr>
                        <a:buNone/>
                      </a:pPr>
                      <a:r>
                        <a:rPr lang="en-US" sz="1600" b="1">
                          <a:solidFill>
                            <a:srgbClr val="000000"/>
                          </a:solidFill>
                          <a:effectLst/>
                          <a:latin typeface="Helvetica Neue"/>
                        </a:rPr>
                        <a:t>Pressure MAE </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en-US" sz="1600">
                          <a:solidFill>
                            <a:srgbClr val="000000"/>
                          </a:solidFill>
                          <a:effectLst/>
                          <a:latin typeface="Helvetica Neue"/>
                        </a:rPr>
                        <a:t>4 - 116 psi</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buNone/>
                      </a:pPr>
                      <a:r>
                        <a:rPr lang="en-US" sz="1600">
                          <a:solidFill>
                            <a:srgbClr val="000000"/>
                          </a:solidFill>
                          <a:effectLst/>
                          <a:latin typeface="Helvetica Neue"/>
                        </a:rPr>
                        <a:t>57 - 87 psi</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600">
                          <a:solidFill>
                            <a:srgbClr val="000000"/>
                          </a:solidFill>
                          <a:effectLst/>
                          <a:latin typeface="Helvetica Neue"/>
                        </a:rPr>
                        <a:t>42 - 66 psi</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buNone/>
                      </a:pPr>
                      <a:r>
                        <a:rPr lang="en-US" sz="1600">
                          <a:solidFill>
                            <a:srgbClr val="000000"/>
                          </a:solidFill>
                          <a:effectLst/>
                          <a:latin typeface="Helvetica Neue"/>
                        </a:rPr>
                        <a:t>N/A</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59727168"/>
                  </a:ext>
                </a:extLst>
              </a:tr>
              <a:tr h="343759">
                <a:tc>
                  <a:txBody>
                    <a:bodyPr/>
                    <a:lstStyle/>
                    <a:p>
                      <a:pPr>
                        <a:buNone/>
                      </a:pPr>
                      <a:r>
                        <a:rPr lang="en-US" sz="1600" b="1">
                          <a:solidFill>
                            <a:srgbClr val="000000"/>
                          </a:solidFill>
                          <a:effectLst/>
                          <a:latin typeface="Helvetica Neue"/>
                        </a:rPr>
                        <a:t>Threshold F1 </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en-US" sz="1600">
                          <a:solidFill>
                            <a:srgbClr val="000000"/>
                          </a:solidFill>
                          <a:effectLst/>
                          <a:latin typeface="Helvetica Neue"/>
                        </a:rPr>
                        <a:t>0.94</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buNone/>
                      </a:pPr>
                      <a:r>
                        <a:rPr lang="en-US" sz="1600">
                          <a:solidFill>
                            <a:srgbClr val="000000"/>
                          </a:solidFill>
                          <a:effectLst/>
                          <a:latin typeface="Helvetica Neue"/>
                        </a:rPr>
                        <a:t>0.42</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600">
                          <a:solidFill>
                            <a:srgbClr val="000000"/>
                          </a:solidFill>
                          <a:effectLst/>
                          <a:latin typeface="Helvetica Neue"/>
                        </a:rPr>
                        <a:t>0.51</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600">
                          <a:solidFill>
                            <a:srgbClr val="000000"/>
                          </a:solidFill>
                          <a:effectLst/>
                          <a:latin typeface="Helvetica Neue"/>
                        </a:rPr>
                        <a:t>0.70</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259997"/>
                  </a:ext>
                </a:extLst>
              </a:tr>
              <a:tr h="385010">
                <a:tc>
                  <a:txBody>
                    <a:bodyPr/>
                    <a:lstStyle/>
                    <a:p>
                      <a:pPr>
                        <a:buNone/>
                      </a:pPr>
                      <a:r>
                        <a:rPr lang="en-US" sz="1600" b="1">
                          <a:solidFill>
                            <a:srgbClr val="000000"/>
                          </a:solidFill>
                          <a:effectLst/>
                          <a:latin typeface="Helvetica Neue"/>
                        </a:rPr>
                        <a:t>Threshold Recall </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en-US" sz="1600">
                          <a:solidFill>
                            <a:srgbClr val="000000"/>
                          </a:solidFill>
                          <a:effectLst/>
                          <a:latin typeface="Helvetica Neue"/>
                        </a:rPr>
                        <a:t>0.97</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600">
                          <a:solidFill>
                            <a:srgbClr val="000000"/>
                          </a:solidFill>
                          <a:effectLst/>
                          <a:latin typeface="Helvetica Neue"/>
                        </a:rPr>
                        <a:t>0.79</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600">
                          <a:solidFill>
                            <a:srgbClr val="000000"/>
                          </a:solidFill>
                          <a:effectLst/>
                          <a:latin typeface="Helvetica Neue"/>
                        </a:rPr>
                        <a:t>0.95</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600">
                          <a:solidFill>
                            <a:srgbClr val="000000"/>
                          </a:solidFill>
                          <a:effectLst/>
                          <a:latin typeface="Helvetica Neue"/>
                        </a:rPr>
                        <a:t>1.00</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915378525"/>
                  </a:ext>
                </a:extLst>
              </a:tr>
              <a:tr h="642269">
                <a:tc>
                  <a:txBody>
                    <a:bodyPr/>
                    <a:lstStyle/>
                    <a:p>
                      <a:pPr>
                        <a:buNone/>
                      </a:pPr>
                      <a:r>
                        <a:rPr lang="en-US" sz="1600" b="1">
                          <a:solidFill>
                            <a:srgbClr val="000000"/>
                          </a:solidFill>
                          <a:effectLst/>
                          <a:latin typeface="Helvetica Neue"/>
                        </a:rPr>
                        <a:t>Threshold Precision </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en-US" sz="1600">
                          <a:solidFill>
                            <a:srgbClr val="000000"/>
                          </a:solidFill>
                          <a:effectLst/>
                          <a:latin typeface="Helvetica Neue"/>
                        </a:rPr>
                        <a:t>0.95</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buNone/>
                      </a:pPr>
                      <a:r>
                        <a:rPr lang="en-US" sz="1600">
                          <a:solidFill>
                            <a:srgbClr val="000000"/>
                          </a:solidFill>
                          <a:effectLst/>
                          <a:latin typeface="Helvetica Neue"/>
                        </a:rPr>
                        <a:t>0.42</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600">
                          <a:solidFill>
                            <a:srgbClr val="000000"/>
                          </a:solidFill>
                          <a:effectLst/>
                          <a:latin typeface="Helvetica Neue"/>
                        </a:rPr>
                        <a:t>0.41</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600">
                          <a:solidFill>
                            <a:srgbClr val="000000"/>
                          </a:solidFill>
                          <a:effectLst/>
                          <a:latin typeface="Helvetica Neue"/>
                        </a:rPr>
                        <a:t>0.56</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8144134"/>
                  </a:ext>
                </a:extLst>
              </a:tr>
              <a:tr h="642269">
                <a:tc>
                  <a:txBody>
                    <a:bodyPr/>
                    <a:lstStyle/>
                    <a:p>
                      <a:pPr>
                        <a:buNone/>
                      </a:pPr>
                      <a:r>
                        <a:rPr lang="en-US" sz="1600" b="1">
                          <a:solidFill>
                            <a:srgbClr val="000000"/>
                          </a:solidFill>
                          <a:effectLst/>
                          <a:latin typeface="Helvetica Neue"/>
                        </a:rPr>
                        <a:t>Consistency across horizons</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en-US" sz="1600">
                          <a:solidFill>
                            <a:srgbClr val="000000"/>
                          </a:solidFill>
                          <a:effectLst/>
                          <a:latin typeface="Helvetica Neue"/>
                        </a:rPr>
                        <a:t>High</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buNone/>
                      </a:pPr>
                      <a:r>
                        <a:rPr lang="en-US" sz="1600">
                          <a:solidFill>
                            <a:srgbClr val="000000"/>
                          </a:solidFill>
                          <a:effectLst/>
                          <a:latin typeface="Helvetica Neue"/>
                        </a:rPr>
                        <a:t>Low — collapses at +24h and in Validate</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600">
                          <a:solidFill>
                            <a:srgbClr val="000000"/>
                          </a:solidFill>
                          <a:effectLst/>
                          <a:latin typeface="Helvetica Neue"/>
                        </a:rPr>
                        <a:t>Low — unstable, near-zero at some horizons</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600">
                          <a:solidFill>
                            <a:srgbClr val="000000"/>
                          </a:solidFill>
                          <a:effectLst/>
                          <a:latin typeface="Helvetica Neue"/>
                        </a:rPr>
                        <a:t>Medium — recall stable, precision variable</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4377685"/>
                  </a:ext>
                </a:extLst>
              </a:tr>
              <a:tr h="642269">
                <a:tc>
                  <a:txBody>
                    <a:bodyPr/>
                    <a:lstStyle/>
                    <a:p>
                      <a:pPr>
                        <a:buNone/>
                      </a:pPr>
                      <a:r>
                        <a:rPr lang="en-US" sz="1600" b="1">
                          <a:solidFill>
                            <a:srgbClr val="000000"/>
                          </a:solidFill>
                          <a:effectLst/>
                          <a:latin typeface="Helvetica Neue"/>
                        </a:rPr>
                        <a:t>Generalization to new regime</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en-US" sz="1600">
                          <a:solidFill>
                            <a:srgbClr val="000000"/>
                          </a:solidFill>
                          <a:effectLst/>
                          <a:latin typeface="Helvetica Neue"/>
                        </a:rPr>
                        <a:t>Good — trend extrapolation matches Validate</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buNone/>
                      </a:pPr>
                      <a:r>
                        <a:rPr lang="en-US" sz="1600">
                          <a:solidFill>
                            <a:srgbClr val="000000"/>
                          </a:solidFill>
                          <a:effectLst/>
                          <a:latin typeface="Helvetica Neue"/>
                        </a:rPr>
                        <a:t>Poor — hard extrapolation boundary</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600">
                          <a:solidFill>
                            <a:srgbClr val="000000"/>
                          </a:solidFill>
                          <a:effectLst/>
                          <a:latin typeface="Helvetica Neue"/>
                        </a:rPr>
                        <a:t>Poor — inconsistent outside training distribution</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600">
                          <a:solidFill>
                            <a:srgbClr val="000000"/>
                          </a:solidFill>
                          <a:effectLst/>
                          <a:latin typeface="Helvetica Neue"/>
                        </a:rPr>
                        <a:t>Good – if threshold and metrics are defined</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793738553"/>
                  </a:ext>
                </a:extLst>
              </a:tr>
              <a:tr h="247026">
                <a:tc>
                  <a:txBody>
                    <a:bodyPr/>
                    <a:lstStyle/>
                    <a:p>
                      <a:pPr>
                        <a:buNone/>
                      </a:pPr>
                      <a:r>
                        <a:rPr lang="en-US" sz="1600" b="1">
                          <a:solidFill>
                            <a:srgbClr val="000000"/>
                          </a:solidFill>
                          <a:effectLst/>
                          <a:latin typeface="Helvetica Neue"/>
                        </a:rPr>
                        <a:t>Speed</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en-US" sz="1600">
                          <a:solidFill>
                            <a:srgbClr val="000000"/>
                          </a:solidFill>
                          <a:effectLst/>
                          <a:latin typeface="Helvetica Neue"/>
                        </a:rPr>
                        <a:t>Fast</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buNone/>
                      </a:pPr>
                      <a:r>
                        <a:rPr lang="en-US" sz="1600">
                          <a:solidFill>
                            <a:srgbClr val="000000"/>
                          </a:solidFill>
                          <a:effectLst/>
                          <a:latin typeface="Helvetica Neue"/>
                        </a:rPr>
                        <a:t>Fast</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buNone/>
                      </a:pPr>
                      <a:r>
                        <a:rPr lang="en-US" sz="1600">
                          <a:solidFill>
                            <a:srgbClr val="000000"/>
                          </a:solidFill>
                          <a:effectLst/>
                          <a:latin typeface="Helvetica Neue"/>
                        </a:rPr>
                        <a:t>Moderate</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600">
                          <a:solidFill>
                            <a:srgbClr val="000000"/>
                          </a:solidFill>
                          <a:effectLst/>
                          <a:latin typeface="Helvetica Neue"/>
                        </a:rPr>
                        <a:t>Slow</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49512391"/>
                  </a:ext>
                </a:extLst>
              </a:tr>
              <a:tr h="642269">
                <a:tc>
                  <a:txBody>
                    <a:bodyPr/>
                    <a:lstStyle/>
                    <a:p>
                      <a:pPr>
                        <a:buNone/>
                      </a:pPr>
                      <a:r>
                        <a:rPr lang="en-US" sz="1600" b="1">
                          <a:solidFill>
                            <a:srgbClr val="000000"/>
                          </a:solidFill>
                          <a:effectLst/>
                          <a:latin typeface="Helvetica Neue"/>
                        </a:rPr>
                        <a:t>Setup effort</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en-US" sz="1600">
                          <a:solidFill>
                            <a:srgbClr val="000000"/>
                          </a:solidFill>
                          <a:effectLst/>
                          <a:latin typeface="Helvetica Neue"/>
                        </a:rPr>
                        <a:t>Low to Medium — physical model design, few hyperparameters</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buNone/>
                      </a:pPr>
                      <a:r>
                        <a:rPr lang="en-US" sz="1600">
                          <a:solidFill>
                            <a:srgbClr val="000000"/>
                          </a:solidFill>
                          <a:effectLst/>
                          <a:latin typeface="Helvetica Neue"/>
                        </a:rPr>
                        <a:t>Medium — feature engineering + tuning</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600">
                          <a:solidFill>
                            <a:srgbClr val="000000"/>
                          </a:solidFill>
                          <a:effectLst/>
                          <a:latin typeface="Helvetica Neue"/>
                        </a:rPr>
                        <a:t>High — architecture, training, instability</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600">
                          <a:solidFill>
                            <a:srgbClr val="000000"/>
                          </a:solidFill>
                          <a:effectLst/>
                          <a:latin typeface="Helvetica Neue"/>
                        </a:rPr>
                        <a:t>Low to medium— prompt engineering only (can vary)</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478276159"/>
                  </a:ext>
                </a:extLst>
              </a:tr>
              <a:tr h="642269">
                <a:tc>
                  <a:txBody>
                    <a:bodyPr/>
                    <a:lstStyle/>
                    <a:p>
                      <a:pPr>
                        <a:buNone/>
                      </a:pPr>
                      <a:r>
                        <a:rPr lang="en-US" sz="1600" b="1">
                          <a:solidFill>
                            <a:srgbClr val="000000"/>
                          </a:solidFill>
                          <a:effectLst/>
                          <a:latin typeface="Helvetica Neue"/>
                        </a:rPr>
                        <a:t>Flexibility</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en-US" sz="1600">
                          <a:solidFill>
                            <a:srgbClr val="000000"/>
                          </a:solidFill>
                          <a:effectLst/>
                          <a:latin typeface="Helvetica Neue"/>
                        </a:rPr>
                        <a:t>Moderate to high — paramaters transferrable </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buNone/>
                      </a:pPr>
                      <a:r>
                        <a:rPr lang="en-US" sz="1600">
                          <a:solidFill>
                            <a:srgbClr val="000000"/>
                          </a:solidFill>
                          <a:effectLst/>
                          <a:latin typeface="Helvetica Neue"/>
                        </a:rPr>
                        <a:t>Moderate — retraining required for new regime</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600">
                          <a:solidFill>
                            <a:srgbClr val="000000"/>
                          </a:solidFill>
                          <a:effectLst/>
                          <a:latin typeface="Helvetica Neue"/>
                        </a:rPr>
                        <a:t>Moderate — retraining required</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600">
                          <a:solidFill>
                            <a:srgbClr val="000000"/>
                          </a:solidFill>
                          <a:effectLst/>
                          <a:latin typeface="Helvetica Neue"/>
                        </a:rPr>
                        <a:t>High — prompt adjustable without retraining. More complicated inputs.</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901809689"/>
                  </a:ext>
                </a:extLst>
              </a:tr>
              <a:tr h="642269">
                <a:tc>
                  <a:txBody>
                    <a:bodyPr/>
                    <a:lstStyle/>
                    <a:p>
                      <a:pPr>
                        <a:buNone/>
                      </a:pPr>
                      <a:r>
                        <a:rPr lang="en-US" sz="1600" b="1">
                          <a:solidFill>
                            <a:srgbClr val="000000"/>
                          </a:solidFill>
                          <a:effectLst/>
                          <a:latin typeface="Helvetica Neue"/>
                        </a:rPr>
                        <a:t>Interpretability</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en-US" sz="1600">
                          <a:solidFill>
                            <a:srgbClr val="000000"/>
                          </a:solidFill>
                          <a:effectLst/>
                          <a:latin typeface="Helvetica Neue"/>
                        </a:rPr>
                        <a:t>High — physical state decomposition</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buNone/>
                      </a:pPr>
                      <a:r>
                        <a:rPr lang="en-US" sz="1600">
                          <a:solidFill>
                            <a:srgbClr val="000000"/>
                          </a:solidFill>
                          <a:effectLst/>
                          <a:latin typeface="Helvetica Neue"/>
                        </a:rPr>
                        <a:t>Low - medium</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600">
                          <a:solidFill>
                            <a:srgbClr val="000000"/>
                          </a:solidFill>
                          <a:effectLst/>
                          <a:latin typeface="Helvetica Neue"/>
                        </a:rPr>
                        <a:t>Low</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1600">
                          <a:solidFill>
                            <a:srgbClr val="000000"/>
                          </a:solidFill>
                          <a:effectLst/>
                          <a:latin typeface="Helvetica Neue"/>
                        </a:rPr>
                        <a:t>High — reasoning visible in prompt/output</a:t>
                      </a:r>
                      <a:endParaRPr lang="en-US" sz="16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499897642"/>
                  </a:ext>
                </a:extLst>
              </a:tr>
            </a:tbl>
          </a:graphicData>
        </a:graphic>
      </p:graphicFrame>
      <p:sp>
        <p:nvSpPr>
          <p:cNvPr id="10" name="Rectangle 9">
            <a:extLst>
              <a:ext uri="{FF2B5EF4-FFF2-40B4-BE49-F238E27FC236}">
                <a16:creationId xmlns:a16="http://schemas.microsoft.com/office/drawing/2014/main" id="{CD2776A1-4C2B-994E-2FC3-5CB52DF85004}"/>
              </a:ext>
            </a:extLst>
          </p:cNvPr>
          <p:cNvSpPr/>
          <p:nvPr/>
        </p:nvSpPr>
        <p:spPr>
          <a:xfrm>
            <a:off x="9900271" y="1141280"/>
            <a:ext cx="838772" cy="330009"/>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104C927-6D9A-7A69-3430-05AE805EEEE9}"/>
              </a:ext>
            </a:extLst>
          </p:cNvPr>
          <p:cNvSpPr txBox="1"/>
          <p:nvPr/>
        </p:nvSpPr>
        <p:spPr>
          <a:xfrm>
            <a:off x="10739044" y="1106905"/>
            <a:ext cx="344446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cs typeface="Arial"/>
              </a:rPr>
              <a:t>= Best performing method(s)</a:t>
            </a:r>
          </a:p>
        </p:txBody>
      </p:sp>
      <p:sp>
        <p:nvSpPr>
          <p:cNvPr id="12" name="TextBox 11">
            <a:extLst>
              <a:ext uri="{FF2B5EF4-FFF2-40B4-BE49-F238E27FC236}">
                <a16:creationId xmlns:a16="http://schemas.microsoft.com/office/drawing/2014/main" id="{062DC8E4-A3E9-099C-9641-603889B0E617}"/>
              </a:ext>
            </a:extLst>
          </p:cNvPr>
          <p:cNvSpPr txBox="1"/>
          <p:nvPr/>
        </p:nvSpPr>
        <p:spPr>
          <a:xfrm>
            <a:off x="7535206" y="7823964"/>
            <a:ext cx="85664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cs typeface="Arial"/>
              </a:rPr>
              <a:t>* values represent an average of 1 to 24 hour forecast horizons</a:t>
            </a:r>
          </a:p>
        </p:txBody>
      </p:sp>
    </p:spTree>
    <p:extLst>
      <p:ext uri="{BB962C8B-B14F-4D97-AF65-F5344CB8AC3E}">
        <p14:creationId xmlns:p14="http://schemas.microsoft.com/office/powerpoint/2010/main" val="3368561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5E9AD-9B79-127A-C08C-84F6CF68635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7EDA721-CBAA-70AC-3630-25C0C0315B76}"/>
              </a:ext>
            </a:extLst>
          </p:cNvPr>
          <p:cNvSpPr>
            <a:spLocks noGrp="1"/>
          </p:cNvSpPr>
          <p:nvPr>
            <p:ph type="sldNum" sz="quarter" idx="12"/>
          </p:nvPr>
        </p:nvSpPr>
        <p:spPr>
          <a:xfrm>
            <a:off x="13994296" y="7772400"/>
            <a:ext cx="453223" cy="457200"/>
          </a:xfrm>
        </p:spPr>
        <p:txBody>
          <a:bodyPr anchor="ctr">
            <a:normAutofit/>
          </a:bodyPr>
          <a:lstStyle/>
          <a:p>
            <a:pPr>
              <a:spcAft>
                <a:spcPts val="600"/>
              </a:spcAft>
            </a:pPr>
            <a:fld id="{FE7A4BB3-E848-5A44-82DF-322201952CD8}" type="slidenum">
              <a:rPr lang="en-US" smtClean="0"/>
              <a:pPr>
                <a:spcAft>
                  <a:spcPts val="600"/>
                </a:spcAft>
              </a:pPr>
              <a:t>13</a:t>
            </a:fld>
            <a:endParaRPr lang="en-US"/>
          </a:p>
        </p:txBody>
      </p:sp>
      <p:graphicFrame>
        <p:nvGraphicFramePr>
          <p:cNvPr id="8" name="Content Placeholder 5">
            <a:extLst>
              <a:ext uri="{FF2B5EF4-FFF2-40B4-BE49-F238E27FC236}">
                <a16:creationId xmlns:a16="http://schemas.microsoft.com/office/drawing/2014/main" id="{8660E4CF-23CC-BB90-6129-6DE4FE39CE99}"/>
              </a:ext>
            </a:extLst>
          </p:cNvPr>
          <p:cNvGraphicFramePr>
            <a:graphicFrameLocks noGrp="1"/>
          </p:cNvGraphicFramePr>
          <p:nvPr>
            <p:ph sz="quarter" idx="20"/>
            <p:extLst>
              <p:ext uri="{D42A27DB-BD31-4B8C-83A1-F6EECF244321}">
                <p14:modId xmlns:p14="http://schemas.microsoft.com/office/powerpoint/2010/main" val="1448748297"/>
              </p:ext>
            </p:extLst>
          </p:nvPr>
        </p:nvGraphicFramePr>
        <p:xfrm>
          <a:off x="1431234" y="1759226"/>
          <a:ext cx="12669079" cy="60131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2">
            <a:extLst>
              <a:ext uri="{FF2B5EF4-FFF2-40B4-BE49-F238E27FC236}">
                <a16:creationId xmlns:a16="http://schemas.microsoft.com/office/drawing/2014/main" id="{D78FAA54-847C-F74C-ACF1-C0B369928221}"/>
              </a:ext>
            </a:extLst>
          </p:cNvPr>
          <p:cNvSpPr>
            <a:spLocks noGrp="1"/>
          </p:cNvSpPr>
          <p:nvPr>
            <p:ph type="title"/>
          </p:nvPr>
        </p:nvSpPr>
        <p:spPr>
          <a:xfrm>
            <a:off x="3014341" y="295275"/>
            <a:ext cx="10012546" cy="1247775"/>
          </a:xfrm>
        </p:spPr>
        <p:txBody>
          <a:bodyPr lIns="0" tIns="45720" rIns="91440" bIns="45720" anchor="b">
            <a:normAutofit/>
          </a:bodyPr>
          <a:lstStyle/>
          <a:p>
            <a:r>
              <a:rPr lang="en-US">
                <a:latin typeface="Arial"/>
                <a:cs typeface="Arial"/>
              </a:rPr>
              <a:t>Insights &amp; Closing</a:t>
            </a:r>
            <a:endParaRPr lang="en-US"/>
          </a:p>
        </p:txBody>
      </p:sp>
    </p:spTree>
    <p:extLst>
      <p:ext uri="{BB962C8B-B14F-4D97-AF65-F5344CB8AC3E}">
        <p14:creationId xmlns:p14="http://schemas.microsoft.com/office/powerpoint/2010/main" val="356088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433BB6-ACB2-4953-9ADC-C0F78F3BD058}"/>
              </a:ext>
            </a:extLst>
          </p:cNvPr>
          <p:cNvSpPr>
            <a:spLocks noGrp="1"/>
          </p:cNvSpPr>
          <p:nvPr>
            <p:ph type="sldNum" sz="quarter" idx="12"/>
          </p:nvPr>
        </p:nvSpPr>
        <p:spPr/>
        <p:txBody>
          <a:bodyPr/>
          <a:lstStyle/>
          <a:p>
            <a:fld id="{FE7A4BB3-E848-5A44-82DF-322201952CD8}" type="slidenum">
              <a:rPr lang="en-US" smtClean="0"/>
              <a:pPr/>
              <a:t>14</a:t>
            </a:fld>
            <a:endParaRPr lang="en-US"/>
          </a:p>
        </p:txBody>
      </p:sp>
    </p:spTree>
    <p:extLst>
      <p:ext uri="{BB962C8B-B14F-4D97-AF65-F5344CB8AC3E}">
        <p14:creationId xmlns:p14="http://schemas.microsoft.com/office/powerpoint/2010/main" val="757395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30BD2FD-1A79-4E55-9458-9294D45BDD02}"/>
              </a:ext>
            </a:extLst>
          </p:cNvPr>
          <p:cNvSpPr>
            <a:spLocks noGrp="1"/>
          </p:cNvSpPr>
          <p:nvPr>
            <p:ph type="sldNum" sz="quarter" idx="12"/>
          </p:nvPr>
        </p:nvSpPr>
        <p:spPr/>
        <p:txBody>
          <a:bodyPr/>
          <a:lstStyle/>
          <a:p>
            <a:fld id="{FE7A4BB3-E848-5A44-82DF-322201952CD8}" type="slidenum">
              <a:rPr lang="en-US" smtClean="0"/>
              <a:pPr/>
              <a:t>15</a:t>
            </a:fld>
            <a:endParaRPr lang="en-US"/>
          </a:p>
        </p:txBody>
      </p:sp>
      <p:sp>
        <p:nvSpPr>
          <p:cNvPr id="5" name="Title 4">
            <a:extLst>
              <a:ext uri="{FF2B5EF4-FFF2-40B4-BE49-F238E27FC236}">
                <a16:creationId xmlns:a16="http://schemas.microsoft.com/office/drawing/2014/main" id="{125E1129-5FFA-4B82-BEB0-8A26ACAE653A}"/>
              </a:ext>
            </a:extLst>
          </p:cNvPr>
          <p:cNvSpPr>
            <a:spLocks noGrp="1"/>
          </p:cNvSpPr>
          <p:nvPr>
            <p:ph type="title"/>
          </p:nvPr>
        </p:nvSpPr>
        <p:spPr>
          <a:xfrm>
            <a:off x="1371599" y="1826294"/>
            <a:ext cx="4572001" cy="1590675"/>
          </a:xfrm>
        </p:spPr>
        <p:txBody>
          <a:bodyPr/>
          <a:lstStyle/>
          <a:p>
            <a:r>
              <a:rPr lang="en-US"/>
              <a:t>Why study Fracture Thermal Energy Storage (FTES)?</a:t>
            </a:r>
          </a:p>
        </p:txBody>
      </p:sp>
      <p:sp>
        <p:nvSpPr>
          <p:cNvPr id="6" name="Content Placeholder 5">
            <a:extLst>
              <a:ext uri="{FF2B5EF4-FFF2-40B4-BE49-F238E27FC236}">
                <a16:creationId xmlns:a16="http://schemas.microsoft.com/office/drawing/2014/main" id="{776CC710-250E-4B7A-AC52-86F0566B64C1}"/>
              </a:ext>
            </a:extLst>
          </p:cNvPr>
          <p:cNvSpPr>
            <a:spLocks noGrp="1"/>
          </p:cNvSpPr>
          <p:nvPr>
            <p:ph sz="quarter" idx="21"/>
          </p:nvPr>
        </p:nvSpPr>
        <p:spPr>
          <a:xfrm>
            <a:off x="1371599" y="3697357"/>
            <a:ext cx="5125454" cy="3856382"/>
          </a:xfrm>
        </p:spPr>
        <p:txBody>
          <a:bodyPr/>
          <a:lstStyle/>
          <a:p>
            <a:pPr marL="0" indent="0">
              <a:buNone/>
            </a:pPr>
            <a:r>
              <a:rPr lang="en-US" sz="2000">
                <a:solidFill>
                  <a:schemeClr val="accent2"/>
                </a:solidFill>
                <a:latin typeface="+mj-lt"/>
              </a:rPr>
              <a:t>FTES stores heat in subsurface rock by injecting warm water into one well and producing water from nearby wells. This energy can be recovered later. </a:t>
            </a:r>
          </a:p>
          <a:p>
            <a:pPr marL="0" indent="0">
              <a:buNone/>
            </a:pPr>
            <a:r>
              <a:rPr lang="en-US" sz="2000">
                <a:solidFill>
                  <a:schemeClr val="accent2"/>
                </a:solidFill>
                <a:latin typeface="+mj-lt"/>
              </a:rPr>
              <a:t>Operators need to anticipate rising injection pressures (which can force them to reduce pumping rate) and changes in produced water temperature and flow (which determine how much useful heat is recovered). The challenge is to build a model that uses high‑frequency well telemetry to forecast injection pressure and producer temperature/flow, enabling earlier and better operational decisions.</a:t>
            </a:r>
          </a:p>
        </p:txBody>
      </p:sp>
      <p:pic>
        <p:nvPicPr>
          <p:cNvPr id="7" name="drawing" descr="Graphical user interface, website&#10;&#10;AI-generated content may be incorrect.">
            <a:extLst>
              <a:ext uri="{FF2B5EF4-FFF2-40B4-BE49-F238E27FC236}">
                <a16:creationId xmlns:a16="http://schemas.microsoft.com/office/drawing/2014/main" id="{E1BF4845-7182-3972-FCA2-9F8034AC746F}"/>
              </a:ext>
            </a:extLst>
          </p:cNvPr>
          <p:cNvPicPr>
            <a:picLocks noGrp="1" noChangeAspect="1"/>
          </p:cNvPicPr>
          <p:nvPr>
            <p:ph type="pic" sz="quarter" idx="10"/>
          </p:nvPr>
        </p:nvPicPr>
        <p:blipFill>
          <a:blip r:embed="rId2">
            <a:extLst>
              <a:ext uri="{28A0092B-C50C-407E-A947-70E740481C1C}">
                <a14:useLocalDpi xmlns:a14="http://schemas.microsoft.com/office/drawing/2010/main"/>
              </a:ext>
            </a:extLst>
          </a:blip>
          <a:srcRect t="6161" b="6161"/>
          <a:stretch>
            <a:fillRect/>
          </a:stretch>
        </p:blipFill>
        <p:spPr>
          <a:xfrm>
            <a:off x="7447547" y="1130967"/>
            <a:ext cx="6110538" cy="5751095"/>
          </a:xfrm>
          <a:prstGeom prst="rect">
            <a:avLst/>
          </a:prstGeom>
        </p:spPr>
      </p:pic>
      <p:sp>
        <p:nvSpPr>
          <p:cNvPr id="10" name="TextBox 9">
            <a:extLst>
              <a:ext uri="{FF2B5EF4-FFF2-40B4-BE49-F238E27FC236}">
                <a16:creationId xmlns:a16="http://schemas.microsoft.com/office/drawing/2014/main" id="{116220B3-57B3-A21C-1C48-6E4E7C1C60DE}"/>
              </a:ext>
            </a:extLst>
          </p:cNvPr>
          <p:cNvSpPr txBox="1"/>
          <p:nvPr/>
        </p:nvSpPr>
        <p:spPr>
          <a:xfrm>
            <a:off x="7283395" y="7118511"/>
            <a:ext cx="6438841" cy="640175"/>
          </a:xfrm>
          <a:prstGeom prst="rect">
            <a:avLst/>
          </a:prstGeom>
          <a:noFill/>
        </p:spPr>
        <p:txBody>
          <a:bodyPr wrap="square" rtlCol="0">
            <a:spAutoFit/>
          </a:bodyPr>
          <a:lstStyle/>
          <a:p>
            <a:pPr algn="ctr"/>
            <a:r>
              <a:rPr lang="en-US" sz="1400">
                <a:solidFill>
                  <a:srgbClr val="000000"/>
                </a:solidFill>
                <a:latin typeface="+mj-lt"/>
                <a:cs typeface="Calibri" panose="020F0502020204030204" pitchFamily="34" charset="0"/>
              </a:rPr>
              <a:t>Lab-scale fracture thermal energy storage experiment (Burghardt et al., 2026)</a:t>
            </a:r>
          </a:p>
          <a:p>
            <a:endParaRPr lang="en-US">
              <a:latin typeface="+mj-lt"/>
            </a:endParaRPr>
          </a:p>
        </p:txBody>
      </p:sp>
    </p:spTree>
    <p:extLst>
      <p:ext uri="{BB962C8B-B14F-4D97-AF65-F5344CB8AC3E}">
        <p14:creationId xmlns:p14="http://schemas.microsoft.com/office/powerpoint/2010/main" val="3169358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5BEAA-7FD3-EA61-1C85-81990212503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C7969E-F462-2F7C-F60D-FFC4F877601A}"/>
              </a:ext>
            </a:extLst>
          </p:cNvPr>
          <p:cNvSpPr>
            <a:spLocks noGrp="1"/>
          </p:cNvSpPr>
          <p:nvPr>
            <p:ph type="sldNum" sz="quarter" idx="12"/>
          </p:nvPr>
        </p:nvSpPr>
        <p:spPr/>
        <p:txBody>
          <a:bodyPr/>
          <a:lstStyle/>
          <a:p>
            <a:fld id="{FE7A4BB3-E848-5A44-82DF-322201952CD8}" type="slidenum">
              <a:rPr lang="en-US" smtClean="0"/>
              <a:pPr/>
              <a:t>16</a:t>
            </a:fld>
            <a:endParaRPr lang="en-US"/>
          </a:p>
        </p:txBody>
      </p:sp>
      <p:sp>
        <p:nvSpPr>
          <p:cNvPr id="5" name="Title 4">
            <a:extLst>
              <a:ext uri="{FF2B5EF4-FFF2-40B4-BE49-F238E27FC236}">
                <a16:creationId xmlns:a16="http://schemas.microsoft.com/office/drawing/2014/main" id="{C0C406A8-AA1B-AD26-3EC4-FF69E6E82C0E}"/>
              </a:ext>
            </a:extLst>
          </p:cNvPr>
          <p:cNvSpPr>
            <a:spLocks noGrp="1"/>
          </p:cNvSpPr>
          <p:nvPr>
            <p:ph type="title"/>
          </p:nvPr>
        </p:nvSpPr>
        <p:spPr/>
        <p:txBody>
          <a:bodyPr lIns="0" tIns="45720" rIns="91440" bIns="45720" anchor="b"/>
          <a:lstStyle/>
          <a:p>
            <a:r>
              <a:rPr lang="en-US">
                <a:latin typeface="Arial"/>
                <a:cs typeface="Arial"/>
              </a:rPr>
              <a:t>Backup Slides – Kalman Threshold Time Series</a:t>
            </a:r>
            <a:endParaRPr lang="en-US"/>
          </a:p>
        </p:txBody>
      </p:sp>
      <p:pic>
        <p:nvPicPr>
          <p:cNvPr id="7" name="Picture 6">
            <a:extLst>
              <a:ext uri="{FF2B5EF4-FFF2-40B4-BE49-F238E27FC236}">
                <a16:creationId xmlns:a16="http://schemas.microsoft.com/office/drawing/2014/main" id="{133F1D4D-AD81-8F1F-4FED-B1BE9CA44854}"/>
              </a:ext>
            </a:extLst>
          </p:cNvPr>
          <p:cNvPicPr>
            <a:picLocks noChangeAspect="1"/>
          </p:cNvPicPr>
          <p:nvPr/>
        </p:nvPicPr>
        <p:blipFill>
          <a:blip r:embed="rId3"/>
          <a:stretch>
            <a:fillRect/>
          </a:stretch>
        </p:blipFill>
        <p:spPr>
          <a:xfrm>
            <a:off x="1478165" y="1577360"/>
            <a:ext cx="11887201" cy="6649300"/>
          </a:xfrm>
          <a:prstGeom prst="rect">
            <a:avLst/>
          </a:prstGeom>
        </p:spPr>
      </p:pic>
    </p:spTree>
    <p:extLst>
      <p:ext uri="{BB962C8B-B14F-4D97-AF65-F5344CB8AC3E}">
        <p14:creationId xmlns:p14="http://schemas.microsoft.com/office/powerpoint/2010/main" val="2968950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C70E1-3FEE-910E-ADD6-32D70F71D16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0D6C5E-6B4B-8902-ABAB-43EA1C393C4B}"/>
              </a:ext>
            </a:extLst>
          </p:cNvPr>
          <p:cNvSpPr>
            <a:spLocks noGrp="1"/>
          </p:cNvSpPr>
          <p:nvPr>
            <p:ph type="sldNum" sz="quarter" idx="12"/>
          </p:nvPr>
        </p:nvSpPr>
        <p:spPr/>
        <p:txBody>
          <a:bodyPr/>
          <a:lstStyle/>
          <a:p>
            <a:fld id="{FE7A4BB3-E848-5A44-82DF-322201952CD8}" type="slidenum">
              <a:rPr lang="en-US" smtClean="0"/>
              <a:pPr/>
              <a:t>17</a:t>
            </a:fld>
            <a:endParaRPr lang="en-US"/>
          </a:p>
        </p:txBody>
      </p:sp>
      <p:sp>
        <p:nvSpPr>
          <p:cNvPr id="5" name="Title 4">
            <a:extLst>
              <a:ext uri="{FF2B5EF4-FFF2-40B4-BE49-F238E27FC236}">
                <a16:creationId xmlns:a16="http://schemas.microsoft.com/office/drawing/2014/main" id="{BA204E49-AFDF-CDCF-0E15-4659D8B4A70F}"/>
              </a:ext>
            </a:extLst>
          </p:cNvPr>
          <p:cNvSpPr>
            <a:spLocks noGrp="1"/>
          </p:cNvSpPr>
          <p:nvPr>
            <p:ph type="title"/>
          </p:nvPr>
        </p:nvSpPr>
        <p:spPr/>
        <p:txBody>
          <a:bodyPr lIns="0" tIns="45720" rIns="91440" bIns="45720" anchor="b"/>
          <a:lstStyle/>
          <a:p>
            <a:r>
              <a:rPr lang="en-US">
                <a:latin typeface="Arial"/>
                <a:cs typeface="Arial"/>
              </a:rPr>
              <a:t>Backup Slides – Kalman Filter Error Distribution</a:t>
            </a:r>
            <a:endParaRPr lang="en-US"/>
          </a:p>
        </p:txBody>
      </p:sp>
      <p:pic>
        <p:nvPicPr>
          <p:cNvPr id="3" name="Picture 2">
            <a:extLst>
              <a:ext uri="{FF2B5EF4-FFF2-40B4-BE49-F238E27FC236}">
                <a16:creationId xmlns:a16="http://schemas.microsoft.com/office/drawing/2014/main" id="{009F465A-B45A-CC7F-7AC0-8A76193B95A1}"/>
              </a:ext>
            </a:extLst>
          </p:cNvPr>
          <p:cNvPicPr>
            <a:picLocks noChangeAspect="1"/>
          </p:cNvPicPr>
          <p:nvPr/>
        </p:nvPicPr>
        <p:blipFill>
          <a:blip r:embed="rId3"/>
          <a:stretch>
            <a:fillRect/>
          </a:stretch>
        </p:blipFill>
        <p:spPr>
          <a:xfrm>
            <a:off x="2000680" y="1583113"/>
            <a:ext cx="11990328" cy="6431537"/>
          </a:xfrm>
          <a:prstGeom prst="rect">
            <a:avLst/>
          </a:prstGeom>
        </p:spPr>
      </p:pic>
    </p:spTree>
    <p:extLst>
      <p:ext uri="{BB962C8B-B14F-4D97-AF65-F5344CB8AC3E}">
        <p14:creationId xmlns:p14="http://schemas.microsoft.com/office/powerpoint/2010/main" val="2512986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DBF40-A5EF-4F47-4D4D-C32EE05DF31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E6C4CE-ED5F-8953-3FA0-8C7CFB75FE82}"/>
              </a:ext>
            </a:extLst>
          </p:cNvPr>
          <p:cNvSpPr>
            <a:spLocks noGrp="1"/>
          </p:cNvSpPr>
          <p:nvPr>
            <p:ph type="sldNum" sz="quarter" idx="12"/>
          </p:nvPr>
        </p:nvSpPr>
        <p:spPr/>
        <p:txBody>
          <a:bodyPr/>
          <a:lstStyle/>
          <a:p>
            <a:fld id="{FE7A4BB3-E848-5A44-82DF-322201952CD8}" type="slidenum">
              <a:rPr lang="en-US" smtClean="0"/>
              <a:pPr/>
              <a:t>18</a:t>
            </a:fld>
            <a:endParaRPr lang="en-US"/>
          </a:p>
        </p:txBody>
      </p:sp>
      <p:sp>
        <p:nvSpPr>
          <p:cNvPr id="5" name="Title 4">
            <a:extLst>
              <a:ext uri="{FF2B5EF4-FFF2-40B4-BE49-F238E27FC236}">
                <a16:creationId xmlns:a16="http://schemas.microsoft.com/office/drawing/2014/main" id="{4E43D3D7-191D-4656-D346-D1819C3A3BAF}"/>
              </a:ext>
            </a:extLst>
          </p:cNvPr>
          <p:cNvSpPr>
            <a:spLocks noGrp="1"/>
          </p:cNvSpPr>
          <p:nvPr>
            <p:ph type="title"/>
          </p:nvPr>
        </p:nvSpPr>
        <p:spPr/>
        <p:txBody>
          <a:bodyPr lIns="0" tIns="45720" rIns="91440" bIns="45720" anchor="b"/>
          <a:lstStyle/>
          <a:p>
            <a:r>
              <a:rPr lang="en-US">
                <a:latin typeface="Arial"/>
                <a:cs typeface="Arial"/>
              </a:rPr>
              <a:t>Backup Slides – Kalman Confusion Matrices</a:t>
            </a:r>
            <a:endParaRPr lang="en-US"/>
          </a:p>
        </p:txBody>
      </p:sp>
      <p:pic>
        <p:nvPicPr>
          <p:cNvPr id="3" name="Picture 2">
            <a:extLst>
              <a:ext uri="{FF2B5EF4-FFF2-40B4-BE49-F238E27FC236}">
                <a16:creationId xmlns:a16="http://schemas.microsoft.com/office/drawing/2014/main" id="{F32AF68A-4139-31B6-AC9B-566A73895D35}"/>
              </a:ext>
            </a:extLst>
          </p:cNvPr>
          <p:cNvPicPr>
            <a:picLocks noChangeAspect="1"/>
          </p:cNvPicPr>
          <p:nvPr/>
        </p:nvPicPr>
        <p:blipFill>
          <a:blip r:embed="rId3"/>
          <a:stretch>
            <a:fillRect/>
          </a:stretch>
        </p:blipFill>
        <p:spPr>
          <a:xfrm>
            <a:off x="2290360" y="1567543"/>
            <a:ext cx="10819703" cy="6662058"/>
          </a:xfrm>
          <a:prstGeom prst="rect">
            <a:avLst/>
          </a:prstGeom>
        </p:spPr>
      </p:pic>
    </p:spTree>
    <p:extLst>
      <p:ext uri="{BB962C8B-B14F-4D97-AF65-F5344CB8AC3E}">
        <p14:creationId xmlns:p14="http://schemas.microsoft.com/office/powerpoint/2010/main" val="1811577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E81FA-27B2-0F1B-8B34-6EDBF19B694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EF85AE-D95A-668C-BC8E-00BEC61F05C9}"/>
              </a:ext>
            </a:extLst>
          </p:cNvPr>
          <p:cNvSpPr>
            <a:spLocks noGrp="1"/>
          </p:cNvSpPr>
          <p:nvPr>
            <p:ph type="sldNum" sz="quarter" idx="12"/>
          </p:nvPr>
        </p:nvSpPr>
        <p:spPr/>
        <p:txBody>
          <a:bodyPr/>
          <a:lstStyle/>
          <a:p>
            <a:fld id="{FE7A4BB3-E848-5A44-82DF-322201952CD8}" type="slidenum">
              <a:rPr lang="en-US" smtClean="0"/>
              <a:pPr/>
              <a:t>19</a:t>
            </a:fld>
            <a:endParaRPr lang="en-US"/>
          </a:p>
        </p:txBody>
      </p:sp>
      <p:sp>
        <p:nvSpPr>
          <p:cNvPr id="5" name="Title 4">
            <a:extLst>
              <a:ext uri="{FF2B5EF4-FFF2-40B4-BE49-F238E27FC236}">
                <a16:creationId xmlns:a16="http://schemas.microsoft.com/office/drawing/2014/main" id="{96BC51F1-CCB6-F6C6-BD46-4A1FB72AC1E1}"/>
              </a:ext>
            </a:extLst>
          </p:cNvPr>
          <p:cNvSpPr>
            <a:spLocks noGrp="1"/>
          </p:cNvSpPr>
          <p:nvPr>
            <p:ph type="title"/>
          </p:nvPr>
        </p:nvSpPr>
        <p:spPr/>
        <p:txBody>
          <a:bodyPr lIns="0" tIns="45720" rIns="91440" bIns="45720" anchor="b"/>
          <a:lstStyle/>
          <a:p>
            <a:r>
              <a:rPr lang="en-US">
                <a:latin typeface="Arial"/>
                <a:cs typeface="Arial"/>
              </a:rPr>
              <a:t>Backup Slides – XGBoost Confusion Matrices</a:t>
            </a:r>
            <a:endParaRPr lang="en-US"/>
          </a:p>
        </p:txBody>
      </p:sp>
      <p:pic>
        <p:nvPicPr>
          <p:cNvPr id="4" name="Picture 3">
            <a:extLst>
              <a:ext uri="{FF2B5EF4-FFF2-40B4-BE49-F238E27FC236}">
                <a16:creationId xmlns:a16="http://schemas.microsoft.com/office/drawing/2014/main" id="{CB5AF462-8BF2-8ACB-D463-79162D9FDECA}"/>
              </a:ext>
            </a:extLst>
          </p:cNvPr>
          <p:cNvPicPr>
            <a:picLocks noChangeAspect="1"/>
          </p:cNvPicPr>
          <p:nvPr/>
        </p:nvPicPr>
        <p:blipFill>
          <a:blip r:embed="rId3"/>
          <a:stretch>
            <a:fillRect/>
          </a:stretch>
        </p:blipFill>
        <p:spPr>
          <a:xfrm>
            <a:off x="2459357" y="1581293"/>
            <a:ext cx="10612335" cy="6524554"/>
          </a:xfrm>
          <a:prstGeom prst="rect">
            <a:avLst/>
          </a:prstGeom>
        </p:spPr>
      </p:pic>
    </p:spTree>
    <p:extLst>
      <p:ext uri="{BB962C8B-B14F-4D97-AF65-F5344CB8AC3E}">
        <p14:creationId xmlns:p14="http://schemas.microsoft.com/office/powerpoint/2010/main" val="4166836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6563E-CB5C-8F9C-35F1-3144FF20938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766031-8868-8DAF-2AEF-7029E518BBC6}"/>
              </a:ext>
            </a:extLst>
          </p:cNvPr>
          <p:cNvSpPr>
            <a:spLocks noGrp="1"/>
          </p:cNvSpPr>
          <p:nvPr>
            <p:ph type="sldNum" sz="quarter" idx="12"/>
          </p:nvPr>
        </p:nvSpPr>
        <p:spPr/>
        <p:txBody>
          <a:bodyPr/>
          <a:lstStyle/>
          <a:p>
            <a:fld id="{FE7A4BB3-E848-5A44-82DF-322201952CD8}" type="slidenum">
              <a:rPr lang="en-US" smtClean="0"/>
              <a:pPr/>
              <a:t>20</a:t>
            </a:fld>
            <a:endParaRPr lang="en-US"/>
          </a:p>
        </p:txBody>
      </p:sp>
      <p:sp>
        <p:nvSpPr>
          <p:cNvPr id="5" name="Title 4">
            <a:extLst>
              <a:ext uri="{FF2B5EF4-FFF2-40B4-BE49-F238E27FC236}">
                <a16:creationId xmlns:a16="http://schemas.microsoft.com/office/drawing/2014/main" id="{53F01B68-F59C-D342-2463-F919EC194B95}"/>
              </a:ext>
            </a:extLst>
          </p:cNvPr>
          <p:cNvSpPr>
            <a:spLocks noGrp="1"/>
          </p:cNvSpPr>
          <p:nvPr>
            <p:ph type="title"/>
          </p:nvPr>
        </p:nvSpPr>
        <p:spPr/>
        <p:txBody>
          <a:bodyPr lIns="0" tIns="45720" rIns="91440" bIns="45720" anchor="b"/>
          <a:lstStyle/>
          <a:p>
            <a:r>
              <a:rPr lang="en-US">
                <a:latin typeface="Arial"/>
                <a:cs typeface="Arial"/>
              </a:rPr>
              <a:t>Backup Slides – LSTM Confusion Matrices</a:t>
            </a:r>
            <a:endParaRPr lang="en-US"/>
          </a:p>
        </p:txBody>
      </p:sp>
      <p:pic>
        <p:nvPicPr>
          <p:cNvPr id="4" name="Picture 3">
            <a:extLst>
              <a:ext uri="{FF2B5EF4-FFF2-40B4-BE49-F238E27FC236}">
                <a16:creationId xmlns:a16="http://schemas.microsoft.com/office/drawing/2014/main" id="{9D7E1851-48BC-5D4E-8ADC-8F15A74AFD07}"/>
              </a:ext>
            </a:extLst>
          </p:cNvPr>
          <p:cNvPicPr>
            <a:picLocks noChangeAspect="1"/>
          </p:cNvPicPr>
          <p:nvPr/>
        </p:nvPicPr>
        <p:blipFill>
          <a:blip r:embed="rId3"/>
          <a:stretch>
            <a:fillRect/>
          </a:stretch>
        </p:blipFill>
        <p:spPr>
          <a:xfrm>
            <a:off x="2115598" y="1560668"/>
            <a:ext cx="10846091" cy="6668933"/>
          </a:xfrm>
          <a:prstGeom prst="rect">
            <a:avLst/>
          </a:prstGeom>
        </p:spPr>
      </p:pic>
    </p:spTree>
    <p:extLst>
      <p:ext uri="{BB962C8B-B14F-4D97-AF65-F5344CB8AC3E}">
        <p14:creationId xmlns:p14="http://schemas.microsoft.com/office/powerpoint/2010/main" val="3253519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E2D96-EED6-B946-A2F1-BD59D3DC7FE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78DF6C-B102-82C2-B12F-D52A3FA8D0D6}"/>
              </a:ext>
            </a:extLst>
          </p:cNvPr>
          <p:cNvSpPr>
            <a:spLocks noGrp="1"/>
          </p:cNvSpPr>
          <p:nvPr>
            <p:ph type="sldNum" sz="quarter" idx="12"/>
          </p:nvPr>
        </p:nvSpPr>
        <p:spPr/>
        <p:txBody>
          <a:bodyPr/>
          <a:lstStyle/>
          <a:p>
            <a:fld id="{FE7A4BB3-E848-5A44-82DF-322201952CD8}" type="slidenum">
              <a:rPr lang="en-US" smtClean="0"/>
              <a:pPr/>
              <a:t>21</a:t>
            </a:fld>
            <a:endParaRPr lang="en-US"/>
          </a:p>
        </p:txBody>
      </p:sp>
      <p:sp>
        <p:nvSpPr>
          <p:cNvPr id="5" name="Title 4">
            <a:extLst>
              <a:ext uri="{FF2B5EF4-FFF2-40B4-BE49-F238E27FC236}">
                <a16:creationId xmlns:a16="http://schemas.microsoft.com/office/drawing/2014/main" id="{9BE78330-64E9-577F-B9A5-1F6974EA96E5}"/>
              </a:ext>
            </a:extLst>
          </p:cNvPr>
          <p:cNvSpPr>
            <a:spLocks noGrp="1"/>
          </p:cNvSpPr>
          <p:nvPr>
            <p:ph type="title"/>
          </p:nvPr>
        </p:nvSpPr>
        <p:spPr/>
        <p:txBody>
          <a:bodyPr lIns="0" tIns="45720" rIns="91440" bIns="45720" anchor="b"/>
          <a:lstStyle/>
          <a:p>
            <a:r>
              <a:rPr lang="en-US">
                <a:latin typeface="Arial"/>
                <a:cs typeface="Arial"/>
              </a:rPr>
              <a:t>Backup Slides – LLM Gemma3 Confusion Matrices</a:t>
            </a:r>
            <a:endParaRPr lang="en-US"/>
          </a:p>
        </p:txBody>
      </p:sp>
      <p:pic>
        <p:nvPicPr>
          <p:cNvPr id="4" name="Picture 3">
            <a:extLst>
              <a:ext uri="{FF2B5EF4-FFF2-40B4-BE49-F238E27FC236}">
                <a16:creationId xmlns:a16="http://schemas.microsoft.com/office/drawing/2014/main" id="{23D549F1-BDD8-45ED-A09A-DB855E4E7AFE}"/>
              </a:ext>
            </a:extLst>
          </p:cNvPr>
          <p:cNvPicPr>
            <a:picLocks noChangeAspect="1"/>
          </p:cNvPicPr>
          <p:nvPr/>
        </p:nvPicPr>
        <p:blipFill>
          <a:blip r:embed="rId3"/>
          <a:stretch>
            <a:fillRect/>
          </a:stretch>
        </p:blipFill>
        <p:spPr>
          <a:xfrm>
            <a:off x="3198409" y="1546917"/>
            <a:ext cx="8742346" cy="6682683"/>
          </a:xfrm>
          <a:prstGeom prst="rect">
            <a:avLst/>
          </a:prstGeom>
        </p:spPr>
      </p:pic>
    </p:spTree>
    <p:extLst>
      <p:ext uri="{BB962C8B-B14F-4D97-AF65-F5344CB8AC3E}">
        <p14:creationId xmlns:p14="http://schemas.microsoft.com/office/powerpoint/2010/main" val="4203734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PNNL_Option_4">
  <a:themeElements>
    <a:clrScheme name="PNNL">
      <a:dk1>
        <a:srgbClr val="616265"/>
      </a:dk1>
      <a:lt1>
        <a:srgbClr val="FFFFFF"/>
      </a:lt1>
      <a:dk2>
        <a:srgbClr val="D77600"/>
      </a:dk2>
      <a:lt2>
        <a:srgbClr val="B3B3B3"/>
      </a:lt2>
      <a:accent1>
        <a:srgbClr val="A63F1E"/>
      </a:accent1>
      <a:accent2>
        <a:srgbClr val="191C1F"/>
      </a:accent2>
      <a:accent3>
        <a:srgbClr val="F4AA00"/>
      </a:accent3>
      <a:accent4>
        <a:srgbClr val="007836"/>
      </a:accent4>
      <a:accent5>
        <a:srgbClr val="C10435"/>
      </a:accent5>
      <a:accent6>
        <a:srgbClr val="00338E"/>
      </a:accent6>
      <a:hlink>
        <a:srgbClr val="003698"/>
      </a:hlink>
      <a:folHlink>
        <a:srgbClr val="8A0752"/>
      </a:folHlink>
    </a:clrScheme>
    <a:fontScheme name="PNNL_Arial">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NNL.BioCulture" id="{EB615C0F-2CA8-7946-AEE4-5EB1D3677827}" vid="{E2FC8ED8-3832-9B45-9DAD-D45105BA0BF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PNNL_Option_4</Template>
  <Application>Microsoft Office PowerPoint</Application>
  <PresentationFormat>Custom</PresentationFormat>
  <Slides>21</Slides>
  <Notes>19</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PNNL_Option_4</vt:lpstr>
      <vt:lpstr>Signal‑to‑Storage:  Early Warning Forecasts for FTES Charging Operations</vt:lpstr>
      <vt:lpstr>Project Overview and Metrics for Success</vt:lpstr>
      <vt:lpstr>PowerPoint Presentation</vt:lpstr>
      <vt:lpstr>PowerPoint Presentation</vt:lpstr>
      <vt:lpstr>Model Selection</vt:lpstr>
      <vt:lpstr>Approach Overview – Feature Selection</vt:lpstr>
      <vt:lpstr>Initial ML Results &amp; Insights – XGBoost Test Set</vt:lpstr>
      <vt:lpstr>ML Results &amp; Insights - Kalman Filter </vt:lpstr>
      <vt:lpstr>ML Results &amp; Insights - LSTM </vt:lpstr>
      <vt:lpstr>LLM Approach &amp; Results - Gemma3</vt:lpstr>
      <vt:lpstr>LLM Approach &amp; Results - Gemma3</vt:lpstr>
      <vt:lpstr>ML vs LLM Comparison </vt:lpstr>
      <vt:lpstr>Insights &amp; Closing</vt:lpstr>
      <vt:lpstr>PowerPoint Presentation</vt:lpstr>
      <vt:lpstr>Why study Fracture Thermal Energy Storage (FTES)?</vt:lpstr>
      <vt:lpstr>Backup Slides – Kalman Threshold Time Series</vt:lpstr>
      <vt:lpstr>Backup Slides – Kalman Filter Error Distribution</vt:lpstr>
      <vt:lpstr>Backup Slides – Kalman Confusion Matrices</vt:lpstr>
      <vt:lpstr>Backup Slides – XGBoost Confusion Matrices</vt:lpstr>
      <vt:lpstr>Backup Slides – LSTM Confusion Matrices</vt:lpstr>
      <vt:lpstr>Backup Slides – LLM Gemma3 Confusion Matrices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Starr, Andrea S</dc:creator>
  <cp:revision>110</cp:revision>
  <dcterms:created xsi:type="dcterms:W3CDTF">2020-09-03T19:10:02Z</dcterms:created>
  <dcterms:modified xsi:type="dcterms:W3CDTF">2026-04-23T23:44:43Z</dcterms:modified>
</cp:coreProperties>
</file>