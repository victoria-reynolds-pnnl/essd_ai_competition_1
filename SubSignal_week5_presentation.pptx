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3" r:id="rId4"/>
  </p:sldMasterIdLst>
  <p:notesMasterIdLst>
    <p:notesMasterId r:id="rId16"/>
  </p:notesMasterIdLst>
  <p:handoutMasterIdLst>
    <p:handoutMasterId r:id="rId17"/>
  </p:handoutMasterIdLst>
  <p:sldIdLst>
    <p:sldId id="260" r:id="rId5"/>
    <p:sldId id="261" r:id="rId6"/>
    <p:sldId id="262" r:id="rId7"/>
    <p:sldId id="263" r:id="rId8"/>
    <p:sldId id="269" r:id="rId9"/>
    <p:sldId id="270" r:id="rId10"/>
    <p:sldId id="274" r:id="rId11"/>
    <p:sldId id="271" r:id="rId12"/>
    <p:sldId id="272" r:id="rId13"/>
    <p:sldId id="273" r:id="rId14"/>
    <p:sldId id="268" r:id="rId15"/>
  </p:sldIdLst>
  <p:sldSz cx="14630400" cy="82296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877A2A-B409-6333-B8CA-0606F0C754FE}" name="Barajas, Juan" initials="BJ" userId="S::juan.barajas@pnnl.gov::01915e5f-9afb-4f54-86a7-0b8f16a3f3b8" providerId="AD"/>
  <p188:author id="{30A10C4D-37B6-82AC-6C8A-872D693D4783}" name="Iveson, Rebecka" initials="RI" userId="S::rebecka.iveson@pnnl.gov::6a9ba543-8d02-4534-832e-65206d8155a3" providerId="AD"/>
  <p188:author id="{6E7D9FC2-FC9C-3FE9-01EE-D7DC349E8C9E}" name="Ferencz, Stephen B" initials="SF" userId="S::stephen.ferencz@pnnl.gov::e081e30e-70ca-4b6a-9c2a-731b7715583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719500"/>
    <a:srgbClr val="007836"/>
    <a:srgbClr val="BE0F34"/>
    <a:srgbClr val="820150"/>
    <a:srgbClr val="502D7F"/>
    <a:srgbClr val="00338E"/>
    <a:srgbClr val="0081AB"/>
    <a:srgbClr val="758F9D"/>
    <a:srgbClr val="B3B3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8859A2-6142-4430-8E86-114E9B33A7AA}" v="721" dt="2026-04-23T16:01:34.235"/>
    <p1510:client id="{A0266E83-DB00-4FB6-8795-7F133BCE8B5A}" v="462" dt="2026-04-23T15:57:10.807"/>
    <p1510:client id="{B383811E-8925-0E26-BA76-23AFD7D1D35B}" v="1546" dt="2026-04-22T22:55:15.351"/>
    <p1510:client id="{CFB6C464-A811-48E0-B503-1CC6804E30FB}" v="127" dt="2026-04-22T22:20:18.008"/>
    <p1510:client id="{E7CE0D64-8B9B-4371-B482-AA59033ADE7E}" v="485" dt="2026-04-22T22:50:23.834"/>
    <p1510:client id="{F35C6EA6-0C5E-DE0D-E304-564778F4E37E}" v="4" dt="2026-04-23T15:25:07.736"/>
    <p1510:client id="{F68287A6-28C2-9ECD-6592-4777FF83EB5A}" v="684" dt="2026-04-22T17:45:28.367"/>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288" y="30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diagrams/_rels/data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389006-4297-48A9-957E-04BCD684FD18}"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4DC74E4C-6BBB-4B39-948B-51CBFC4A4DF8}">
      <dgm:prSet/>
      <dgm:spPr/>
      <dgm:t>
        <a:bodyPr/>
        <a:lstStyle/>
        <a:p>
          <a:r>
            <a:rPr lang="en-US"/>
            <a:t>Problem</a:t>
          </a:r>
        </a:p>
      </dgm:t>
    </dgm:pt>
    <dgm:pt modelId="{F0D10889-77C2-4E69-9529-9D13974F81EF}" type="parTrans" cxnId="{3298E9BA-774E-4CF1-B8B5-4498BA47D829}">
      <dgm:prSet/>
      <dgm:spPr/>
      <dgm:t>
        <a:bodyPr/>
        <a:lstStyle/>
        <a:p>
          <a:endParaRPr lang="en-US"/>
        </a:p>
      </dgm:t>
    </dgm:pt>
    <dgm:pt modelId="{EB5B282C-2EEE-440B-83C3-ED7048545583}" type="sibTrans" cxnId="{3298E9BA-774E-4CF1-B8B5-4498BA47D829}">
      <dgm:prSet/>
      <dgm:spPr/>
      <dgm:t>
        <a:bodyPr/>
        <a:lstStyle/>
        <a:p>
          <a:endParaRPr lang="en-US"/>
        </a:p>
      </dgm:t>
    </dgm:pt>
    <dgm:pt modelId="{6515D45F-E76C-4ED4-B350-9FAC6FA1D132}">
      <dgm:prSet/>
      <dgm:spPr/>
      <dgm:t>
        <a:bodyPr/>
        <a:lstStyle/>
        <a:p>
          <a:pPr rtl="0"/>
          <a:r>
            <a:rPr lang="en-US">
              <a:latin typeface="Arial"/>
            </a:rPr>
            <a:t>FTES stores excess heat in hydraulically created fractures and monitors conditions through multiparameter data from several boreholes. A major challenge is determining if and when fracture connectivity changes during pressurized injections or recovery. </a:t>
          </a:r>
          <a:endParaRPr lang="en-US"/>
        </a:p>
      </dgm:t>
    </dgm:pt>
    <dgm:pt modelId="{587DAAE4-B0D4-4314-A883-8BC77B8650FE}" type="parTrans" cxnId="{0B39A2BD-C245-490D-944B-4086E77E7E86}">
      <dgm:prSet/>
      <dgm:spPr/>
      <dgm:t>
        <a:bodyPr/>
        <a:lstStyle/>
        <a:p>
          <a:endParaRPr lang="en-US"/>
        </a:p>
      </dgm:t>
    </dgm:pt>
    <dgm:pt modelId="{BA761556-2638-4042-88A3-E60C7F811CAE}" type="sibTrans" cxnId="{0B39A2BD-C245-490D-944B-4086E77E7E86}">
      <dgm:prSet/>
      <dgm:spPr/>
      <dgm:t>
        <a:bodyPr/>
        <a:lstStyle/>
        <a:p>
          <a:endParaRPr lang="en-US"/>
        </a:p>
      </dgm:t>
    </dgm:pt>
    <dgm:pt modelId="{79330B22-699C-481D-BEBA-3D6C17E689C2}">
      <dgm:prSet/>
      <dgm:spPr/>
      <dgm:t>
        <a:bodyPr/>
        <a:lstStyle/>
        <a:p>
          <a:pPr rtl="0"/>
          <a:r>
            <a:rPr lang="en-US">
              <a:latin typeface="Arial"/>
            </a:rPr>
            <a:t>Understanding changes in fracture connectivity can help understand long-term heat-storage performance and inform operational decisions.</a:t>
          </a:r>
          <a:endParaRPr lang="en-US"/>
        </a:p>
      </dgm:t>
    </dgm:pt>
    <dgm:pt modelId="{A085B82A-2B45-4CEF-B358-FEFD097C53CF}" type="parTrans" cxnId="{51E7C049-48C7-4424-ADBC-FD22C96A68AA}">
      <dgm:prSet/>
      <dgm:spPr/>
      <dgm:t>
        <a:bodyPr/>
        <a:lstStyle/>
        <a:p>
          <a:endParaRPr lang="en-US"/>
        </a:p>
      </dgm:t>
    </dgm:pt>
    <dgm:pt modelId="{C547A69B-55E0-43E3-8D06-A267A7317504}" type="sibTrans" cxnId="{51E7C049-48C7-4424-ADBC-FD22C96A68AA}">
      <dgm:prSet/>
      <dgm:spPr/>
      <dgm:t>
        <a:bodyPr/>
        <a:lstStyle/>
        <a:p>
          <a:endParaRPr lang="en-US"/>
        </a:p>
      </dgm:t>
    </dgm:pt>
    <dgm:pt modelId="{D5A5BCD9-6B50-407E-865C-17255D1E21CC}">
      <dgm:prSet/>
      <dgm:spPr/>
      <dgm:t>
        <a:bodyPr/>
        <a:lstStyle/>
        <a:p>
          <a:r>
            <a:rPr lang="en-US"/>
            <a:t>Goal</a:t>
          </a:r>
        </a:p>
      </dgm:t>
    </dgm:pt>
    <dgm:pt modelId="{1024109B-51D0-4D89-B172-E9E428A9BED9}" type="parTrans" cxnId="{99BFD16F-E822-43DC-AA22-CCF22CE6A9C7}">
      <dgm:prSet/>
      <dgm:spPr/>
      <dgm:t>
        <a:bodyPr/>
        <a:lstStyle/>
        <a:p>
          <a:endParaRPr lang="en-US"/>
        </a:p>
      </dgm:t>
    </dgm:pt>
    <dgm:pt modelId="{EDCB5C1F-B57E-4BFE-8FF4-FD1F4B1B5998}" type="sibTrans" cxnId="{99BFD16F-E822-43DC-AA22-CCF22CE6A9C7}">
      <dgm:prSet/>
      <dgm:spPr/>
      <dgm:t>
        <a:bodyPr/>
        <a:lstStyle/>
        <a:p>
          <a:endParaRPr lang="en-US"/>
        </a:p>
      </dgm:t>
    </dgm:pt>
    <dgm:pt modelId="{1CBFEE5D-925B-494A-A304-D259D7FF53C1}">
      <dgm:prSet/>
      <dgm:spPr/>
      <dgm:t>
        <a:bodyPr/>
        <a:lstStyle/>
        <a:p>
          <a:pPr rtl="0"/>
          <a:r>
            <a:rPr lang="en-US"/>
            <a:t>Build </a:t>
          </a:r>
          <a:r>
            <a:rPr lang="en-US">
              <a:latin typeface="Arial"/>
            </a:rPr>
            <a:t>an AI/ML model</a:t>
          </a:r>
          <a:r>
            <a:rPr lang="en-US"/>
            <a:t> to</a:t>
          </a:r>
          <a:r>
            <a:rPr lang="en-US">
              <a:latin typeface="Arial"/>
            </a:rPr>
            <a:t> automatically clean and process multi-resolution time-series data to quantify system behavior and build</a:t>
          </a:r>
          <a:r>
            <a:rPr lang="en-US"/>
            <a:t> </a:t>
          </a:r>
          <a:r>
            <a:rPr lang="en-US">
              <a:latin typeface="Arial"/>
            </a:rPr>
            <a:t>a technically defensible measured digital twin of the FTES system. </a:t>
          </a:r>
          <a:endParaRPr lang="en-US"/>
        </a:p>
      </dgm:t>
    </dgm:pt>
    <dgm:pt modelId="{7589F97A-F30C-4C51-A122-CF63DF2C6D30}" type="parTrans" cxnId="{EF7ADBD2-4953-4453-9180-A03F4BDD3E09}">
      <dgm:prSet/>
      <dgm:spPr/>
      <dgm:t>
        <a:bodyPr/>
        <a:lstStyle/>
        <a:p>
          <a:endParaRPr lang="en-US"/>
        </a:p>
      </dgm:t>
    </dgm:pt>
    <dgm:pt modelId="{D02BE59A-E1A6-483D-9D5A-D163E806BE1E}" type="sibTrans" cxnId="{EF7ADBD2-4953-4453-9180-A03F4BDD3E09}">
      <dgm:prSet/>
      <dgm:spPr/>
      <dgm:t>
        <a:bodyPr/>
        <a:lstStyle/>
        <a:p>
          <a:endParaRPr lang="en-US"/>
        </a:p>
      </dgm:t>
    </dgm:pt>
    <dgm:pt modelId="{742E2C71-BF3E-41E7-883B-8342B5AAA4F7}">
      <dgm:prSet/>
      <dgm:spPr/>
      <dgm:t>
        <a:bodyPr/>
        <a:lstStyle/>
        <a:p>
          <a:r>
            <a:rPr lang="en-US"/>
            <a:t>Success Criteria</a:t>
          </a:r>
        </a:p>
      </dgm:t>
    </dgm:pt>
    <dgm:pt modelId="{DE7DCCCD-14CB-4938-B4C4-5625F46D6B5F}" type="parTrans" cxnId="{8531A715-5AEC-4771-9BD3-C38E81A694FA}">
      <dgm:prSet/>
      <dgm:spPr/>
      <dgm:t>
        <a:bodyPr/>
        <a:lstStyle/>
        <a:p>
          <a:endParaRPr lang="en-US"/>
        </a:p>
      </dgm:t>
    </dgm:pt>
    <dgm:pt modelId="{5E20C091-157B-4606-8ACE-548A07DF080C}" type="sibTrans" cxnId="{8531A715-5AEC-4771-9BD3-C38E81A694FA}">
      <dgm:prSet/>
      <dgm:spPr/>
      <dgm:t>
        <a:bodyPr/>
        <a:lstStyle/>
        <a:p>
          <a:endParaRPr lang="en-US"/>
        </a:p>
      </dgm:t>
    </dgm:pt>
    <dgm:pt modelId="{CC33299B-E2A4-417D-B25C-489AC40F62B3}">
      <dgm:prSet phldr="0"/>
      <dgm:spPr/>
      <dgm:t>
        <a:bodyPr/>
        <a:lstStyle/>
        <a:p>
          <a:pPr rtl="0"/>
          <a:r>
            <a:rPr lang="en-US">
              <a:latin typeface="Arial"/>
            </a:rPr>
            <a:t>Automated, accurate data processing achieved.</a:t>
          </a:r>
          <a:endParaRPr lang="en-US"/>
        </a:p>
      </dgm:t>
    </dgm:pt>
    <dgm:pt modelId="{64D8E184-D09B-4BA9-A336-366F1121F9DF}" type="parTrans" cxnId="{963229AC-3BEB-49DF-8224-C1D8DE760917}">
      <dgm:prSet/>
      <dgm:spPr/>
    </dgm:pt>
    <dgm:pt modelId="{14AEFD29-6183-4131-9813-0E49D302F846}" type="sibTrans" cxnId="{963229AC-3BEB-49DF-8224-C1D8DE760917}">
      <dgm:prSet/>
      <dgm:spPr/>
    </dgm:pt>
    <dgm:pt modelId="{6B0D9D30-FF88-4911-9551-009E4B24BD6F}">
      <dgm:prSet phldr="0"/>
      <dgm:spPr/>
      <dgm:t>
        <a:bodyPr/>
        <a:lstStyle/>
        <a:p>
          <a:pPr rtl="0"/>
          <a:r>
            <a:rPr lang="en-US">
              <a:latin typeface="Arial"/>
            </a:rPr>
            <a:t>Temporal evolution of edge-weighting that is consistent with observed measurement differences at the wells in the given dataset. </a:t>
          </a:r>
        </a:p>
      </dgm:t>
    </dgm:pt>
    <dgm:pt modelId="{A04B0E53-A217-4475-BEFB-6414365B4679}" type="parTrans" cxnId="{91EAB3B2-63D8-4C00-8097-00C28C189086}">
      <dgm:prSet/>
      <dgm:spPr/>
    </dgm:pt>
    <dgm:pt modelId="{3B912760-4101-4086-B311-057423ECB0C3}" type="sibTrans" cxnId="{91EAB3B2-63D8-4C00-8097-00C28C189086}">
      <dgm:prSet/>
      <dgm:spPr/>
    </dgm:pt>
    <dgm:pt modelId="{B6D3CE4A-FB5F-4AED-A0B6-55990621D9B8}" type="pres">
      <dgm:prSet presAssocID="{46389006-4297-48A9-957E-04BCD684FD18}" presName="linear" presStyleCnt="0">
        <dgm:presLayoutVars>
          <dgm:animLvl val="lvl"/>
          <dgm:resizeHandles val="exact"/>
        </dgm:presLayoutVars>
      </dgm:prSet>
      <dgm:spPr/>
    </dgm:pt>
    <dgm:pt modelId="{A14DC285-AA31-495B-852B-1A9BA2A8CDAB}" type="pres">
      <dgm:prSet presAssocID="{4DC74E4C-6BBB-4B39-948B-51CBFC4A4DF8}" presName="parentText" presStyleLbl="node1" presStyleIdx="0" presStyleCnt="3" custScaleY="72470">
        <dgm:presLayoutVars>
          <dgm:chMax val="0"/>
          <dgm:bulletEnabled val="1"/>
        </dgm:presLayoutVars>
      </dgm:prSet>
      <dgm:spPr/>
    </dgm:pt>
    <dgm:pt modelId="{06652109-65F9-4E5C-916E-335E99EF96A9}" type="pres">
      <dgm:prSet presAssocID="{4DC74E4C-6BBB-4B39-948B-51CBFC4A4DF8}" presName="childText" presStyleLbl="revTx" presStyleIdx="0" presStyleCnt="3">
        <dgm:presLayoutVars>
          <dgm:bulletEnabled val="1"/>
        </dgm:presLayoutVars>
      </dgm:prSet>
      <dgm:spPr/>
    </dgm:pt>
    <dgm:pt modelId="{AA7085D8-100E-4791-8A0A-79B853ED3F6E}" type="pres">
      <dgm:prSet presAssocID="{D5A5BCD9-6B50-407E-865C-17255D1E21CC}" presName="parentText" presStyleLbl="node1" presStyleIdx="1" presStyleCnt="3" custScaleY="75148">
        <dgm:presLayoutVars>
          <dgm:chMax val="0"/>
          <dgm:bulletEnabled val="1"/>
        </dgm:presLayoutVars>
      </dgm:prSet>
      <dgm:spPr/>
    </dgm:pt>
    <dgm:pt modelId="{D247E857-4D74-4A0A-8738-DA4BF8B57AD5}" type="pres">
      <dgm:prSet presAssocID="{D5A5BCD9-6B50-407E-865C-17255D1E21CC}" presName="childText" presStyleLbl="revTx" presStyleIdx="1" presStyleCnt="3" custScaleY="135439">
        <dgm:presLayoutVars>
          <dgm:bulletEnabled val="1"/>
        </dgm:presLayoutVars>
      </dgm:prSet>
      <dgm:spPr/>
    </dgm:pt>
    <dgm:pt modelId="{9FF5E077-601D-49D5-9F29-06EE4CF49A2B}" type="pres">
      <dgm:prSet presAssocID="{742E2C71-BF3E-41E7-883B-8342B5AAA4F7}" presName="parentText" presStyleLbl="node1" presStyleIdx="2" presStyleCnt="3" custScaleY="73812">
        <dgm:presLayoutVars>
          <dgm:chMax val="0"/>
          <dgm:bulletEnabled val="1"/>
        </dgm:presLayoutVars>
      </dgm:prSet>
      <dgm:spPr/>
    </dgm:pt>
    <dgm:pt modelId="{00352403-9404-4AE3-AB65-3EAFFE013E65}" type="pres">
      <dgm:prSet presAssocID="{742E2C71-BF3E-41E7-883B-8342B5AAA4F7}" presName="childText" presStyleLbl="revTx" presStyleIdx="2" presStyleCnt="3">
        <dgm:presLayoutVars>
          <dgm:bulletEnabled val="1"/>
        </dgm:presLayoutVars>
      </dgm:prSet>
      <dgm:spPr/>
    </dgm:pt>
  </dgm:ptLst>
  <dgm:cxnLst>
    <dgm:cxn modelId="{25B9E204-AE41-48A5-A28F-4944F40058F7}" type="presOf" srcId="{1CBFEE5D-925B-494A-A304-D259D7FF53C1}" destId="{D247E857-4D74-4A0A-8738-DA4BF8B57AD5}" srcOrd="0" destOrd="0" presId="urn:microsoft.com/office/officeart/2005/8/layout/vList2"/>
    <dgm:cxn modelId="{8531A715-5AEC-4771-9BD3-C38E81A694FA}" srcId="{46389006-4297-48A9-957E-04BCD684FD18}" destId="{742E2C71-BF3E-41E7-883B-8342B5AAA4F7}" srcOrd="2" destOrd="0" parTransId="{DE7DCCCD-14CB-4938-B4C4-5625F46D6B5F}" sibTransId="{5E20C091-157B-4606-8ACE-548A07DF080C}"/>
    <dgm:cxn modelId="{DCD37B21-8051-450A-8839-FAD2060DE47B}" type="presOf" srcId="{D5A5BCD9-6B50-407E-865C-17255D1E21CC}" destId="{AA7085D8-100E-4791-8A0A-79B853ED3F6E}" srcOrd="0" destOrd="0" presId="urn:microsoft.com/office/officeart/2005/8/layout/vList2"/>
    <dgm:cxn modelId="{AF286E24-F265-4FC2-B84F-5891D6CFF0E4}" type="presOf" srcId="{6B0D9D30-FF88-4911-9551-009E4B24BD6F}" destId="{00352403-9404-4AE3-AB65-3EAFFE013E65}" srcOrd="0" destOrd="1" presId="urn:microsoft.com/office/officeart/2005/8/layout/vList2"/>
    <dgm:cxn modelId="{214C8066-AE59-428E-A747-63D41382717D}" type="presOf" srcId="{46389006-4297-48A9-957E-04BCD684FD18}" destId="{B6D3CE4A-FB5F-4AED-A0B6-55990621D9B8}" srcOrd="0" destOrd="0" presId="urn:microsoft.com/office/officeart/2005/8/layout/vList2"/>
    <dgm:cxn modelId="{A3AB9968-76E5-46BD-A135-82E81F153CE2}" type="presOf" srcId="{CC33299B-E2A4-417D-B25C-489AC40F62B3}" destId="{00352403-9404-4AE3-AB65-3EAFFE013E65}" srcOrd="0" destOrd="0" presId="urn:microsoft.com/office/officeart/2005/8/layout/vList2"/>
    <dgm:cxn modelId="{51E7C049-48C7-4424-ADBC-FD22C96A68AA}" srcId="{4DC74E4C-6BBB-4B39-948B-51CBFC4A4DF8}" destId="{79330B22-699C-481D-BEBA-3D6C17E689C2}" srcOrd="1" destOrd="0" parTransId="{A085B82A-2B45-4CEF-B358-FEFD097C53CF}" sibTransId="{C547A69B-55E0-43E3-8D06-A267A7317504}"/>
    <dgm:cxn modelId="{99BFD16F-E822-43DC-AA22-CCF22CE6A9C7}" srcId="{46389006-4297-48A9-957E-04BCD684FD18}" destId="{D5A5BCD9-6B50-407E-865C-17255D1E21CC}" srcOrd="1" destOrd="0" parTransId="{1024109B-51D0-4D89-B172-E9E428A9BED9}" sibTransId="{EDCB5C1F-B57E-4BFE-8FF4-FD1F4B1B5998}"/>
    <dgm:cxn modelId="{27402C9A-74DA-4FF0-B85F-B966000DCE44}" type="presOf" srcId="{4DC74E4C-6BBB-4B39-948B-51CBFC4A4DF8}" destId="{A14DC285-AA31-495B-852B-1A9BA2A8CDAB}" srcOrd="0" destOrd="0" presId="urn:microsoft.com/office/officeart/2005/8/layout/vList2"/>
    <dgm:cxn modelId="{963229AC-3BEB-49DF-8224-C1D8DE760917}" srcId="{742E2C71-BF3E-41E7-883B-8342B5AAA4F7}" destId="{CC33299B-E2A4-417D-B25C-489AC40F62B3}" srcOrd="0" destOrd="0" parTransId="{64D8E184-D09B-4BA9-A336-366F1121F9DF}" sibTransId="{14AEFD29-6183-4131-9813-0E49D302F846}"/>
    <dgm:cxn modelId="{91EAB3B2-63D8-4C00-8097-00C28C189086}" srcId="{742E2C71-BF3E-41E7-883B-8342B5AAA4F7}" destId="{6B0D9D30-FF88-4911-9551-009E4B24BD6F}" srcOrd="1" destOrd="0" parTransId="{A04B0E53-A217-4475-BEFB-6414365B4679}" sibTransId="{3B912760-4101-4086-B311-057423ECB0C3}"/>
    <dgm:cxn modelId="{335BFCB6-0203-4547-9B1E-970EF2E74C71}" type="presOf" srcId="{79330B22-699C-481D-BEBA-3D6C17E689C2}" destId="{06652109-65F9-4E5C-916E-335E99EF96A9}" srcOrd="0" destOrd="1" presId="urn:microsoft.com/office/officeart/2005/8/layout/vList2"/>
    <dgm:cxn modelId="{3298E9BA-774E-4CF1-B8B5-4498BA47D829}" srcId="{46389006-4297-48A9-957E-04BCD684FD18}" destId="{4DC74E4C-6BBB-4B39-948B-51CBFC4A4DF8}" srcOrd="0" destOrd="0" parTransId="{F0D10889-77C2-4E69-9529-9D13974F81EF}" sibTransId="{EB5B282C-2EEE-440B-83C3-ED7048545583}"/>
    <dgm:cxn modelId="{0B39A2BD-C245-490D-944B-4086E77E7E86}" srcId="{4DC74E4C-6BBB-4B39-948B-51CBFC4A4DF8}" destId="{6515D45F-E76C-4ED4-B350-9FAC6FA1D132}" srcOrd="0" destOrd="0" parTransId="{587DAAE4-B0D4-4314-A883-8BC77B8650FE}" sibTransId="{BA761556-2638-4042-88A3-E60C7F811CAE}"/>
    <dgm:cxn modelId="{EF7ADBD2-4953-4453-9180-A03F4BDD3E09}" srcId="{D5A5BCD9-6B50-407E-865C-17255D1E21CC}" destId="{1CBFEE5D-925B-494A-A304-D259D7FF53C1}" srcOrd="0" destOrd="0" parTransId="{7589F97A-F30C-4C51-A122-CF63DF2C6D30}" sibTransId="{D02BE59A-E1A6-483D-9D5A-D163E806BE1E}"/>
    <dgm:cxn modelId="{AD3AFED3-58BC-48E9-AA4D-741A782E970B}" type="presOf" srcId="{742E2C71-BF3E-41E7-883B-8342B5AAA4F7}" destId="{9FF5E077-601D-49D5-9F29-06EE4CF49A2B}" srcOrd="0" destOrd="0" presId="urn:microsoft.com/office/officeart/2005/8/layout/vList2"/>
    <dgm:cxn modelId="{05299CDB-A22C-4614-947C-CD9D2A2B6FBB}" type="presOf" srcId="{6515D45F-E76C-4ED4-B350-9FAC6FA1D132}" destId="{06652109-65F9-4E5C-916E-335E99EF96A9}" srcOrd="0" destOrd="0" presId="urn:microsoft.com/office/officeart/2005/8/layout/vList2"/>
    <dgm:cxn modelId="{39CF9F26-4846-4C52-96ED-E9275DA97E67}" type="presParOf" srcId="{B6D3CE4A-FB5F-4AED-A0B6-55990621D9B8}" destId="{A14DC285-AA31-495B-852B-1A9BA2A8CDAB}" srcOrd="0" destOrd="0" presId="urn:microsoft.com/office/officeart/2005/8/layout/vList2"/>
    <dgm:cxn modelId="{0BA5BD2E-24ED-47BA-B329-51A9BCF9393C}" type="presParOf" srcId="{B6D3CE4A-FB5F-4AED-A0B6-55990621D9B8}" destId="{06652109-65F9-4E5C-916E-335E99EF96A9}" srcOrd="1" destOrd="0" presId="urn:microsoft.com/office/officeart/2005/8/layout/vList2"/>
    <dgm:cxn modelId="{A0C03A84-C773-4A63-AA09-79B8D6DEF226}" type="presParOf" srcId="{B6D3CE4A-FB5F-4AED-A0B6-55990621D9B8}" destId="{AA7085D8-100E-4791-8A0A-79B853ED3F6E}" srcOrd="2" destOrd="0" presId="urn:microsoft.com/office/officeart/2005/8/layout/vList2"/>
    <dgm:cxn modelId="{4897FD7A-1709-4DCD-9D1C-07D4EA97746E}" type="presParOf" srcId="{B6D3CE4A-FB5F-4AED-A0B6-55990621D9B8}" destId="{D247E857-4D74-4A0A-8738-DA4BF8B57AD5}" srcOrd="3" destOrd="0" presId="urn:microsoft.com/office/officeart/2005/8/layout/vList2"/>
    <dgm:cxn modelId="{D49E0A47-1609-4352-A167-05E1B2FE984A}" type="presParOf" srcId="{B6D3CE4A-FB5F-4AED-A0B6-55990621D9B8}" destId="{9FF5E077-601D-49D5-9F29-06EE4CF49A2B}" srcOrd="4" destOrd="0" presId="urn:microsoft.com/office/officeart/2005/8/layout/vList2"/>
    <dgm:cxn modelId="{24300CA1-41C7-4973-ABC2-6F71F358AC38}" type="presParOf" srcId="{B6D3CE4A-FB5F-4AED-A0B6-55990621D9B8}" destId="{00352403-9404-4AE3-AB65-3EAFFE013E65}"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73F088-FF82-48F5-87BA-BEC97B04840F}" type="doc">
      <dgm:prSet loTypeId="urn:microsoft.com/office/officeart/2005/8/layout/list1" loCatId="list" qsTypeId="urn:microsoft.com/office/officeart/2005/8/quickstyle/simple4" qsCatId="simple" csTypeId="urn:microsoft.com/office/officeart/2005/8/colors/accent2_2" csCatId="accent2"/>
      <dgm:spPr/>
      <dgm:t>
        <a:bodyPr/>
        <a:lstStyle/>
        <a:p>
          <a:endParaRPr lang="en-US"/>
        </a:p>
      </dgm:t>
    </dgm:pt>
    <dgm:pt modelId="{C98620AE-FEA8-4FD5-8258-F4910EEFBE6C}">
      <dgm:prSet/>
      <dgm:spPr/>
      <dgm:t>
        <a:bodyPr/>
        <a:lstStyle/>
        <a:p>
          <a:r>
            <a:rPr lang="en-US" b="1"/>
            <a:t>Dataset</a:t>
          </a:r>
          <a:endParaRPr lang="en-US"/>
        </a:p>
      </dgm:t>
    </dgm:pt>
    <dgm:pt modelId="{4A723E26-88BB-4C3D-A719-66AABD722EC7}" type="parTrans" cxnId="{204C3BAD-FDE0-41DE-AB81-3534B90CA696}">
      <dgm:prSet/>
      <dgm:spPr/>
      <dgm:t>
        <a:bodyPr/>
        <a:lstStyle/>
        <a:p>
          <a:endParaRPr lang="en-US"/>
        </a:p>
      </dgm:t>
    </dgm:pt>
    <dgm:pt modelId="{3104273B-C31C-42BD-AE30-A87893D2ACD4}" type="sibTrans" cxnId="{204C3BAD-FDE0-41DE-AB81-3534B90CA696}">
      <dgm:prSet/>
      <dgm:spPr/>
      <dgm:t>
        <a:bodyPr/>
        <a:lstStyle/>
        <a:p>
          <a:endParaRPr lang="en-US"/>
        </a:p>
      </dgm:t>
    </dgm:pt>
    <dgm:pt modelId="{370E251F-7D14-4DFD-9246-DEF2E11A8334}">
      <dgm:prSet/>
      <dgm:spPr/>
      <dgm:t>
        <a:bodyPr/>
        <a:lstStyle/>
        <a:p>
          <a:pPr rtl="0"/>
          <a:r>
            <a:rPr lang="en-US"/>
            <a:t>Source: </a:t>
          </a:r>
          <a:r>
            <a:rPr lang="en-US">
              <a:latin typeface="Arial"/>
            </a:rPr>
            <a:t>Geothermal Data Repository</a:t>
          </a:r>
          <a:endParaRPr lang="en-US"/>
        </a:p>
      </dgm:t>
    </dgm:pt>
    <dgm:pt modelId="{950F1C60-3775-4B0D-B24D-3D01E7BE7B12}" type="parTrans" cxnId="{8B59ABC7-7EBB-4F1B-9B56-8A7381CDB802}">
      <dgm:prSet/>
      <dgm:spPr/>
      <dgm:t>
        <a:bodyPr/>
        <a:lstStyle/>
        <a:p>
          <a:endParaRPr lang="en-US"/>
        </a:p>
      </dgm:t>
    </dgm:pt>
    <dgm:pt modelId="{59AAF5C6-593F-446B-8DFB-F98CCBB3FC9E}" type="sibTrans" cxnId="{8B59ABC7-7EBB-4F1B-9B56-8A7381CDB802}">
      <dgm:prSet/>
      <dgm:spPr/>
      <dgm:t>
        <a:bodyPr/>
        <a:lstStyle/>
        <a:p>
          <a:endParaRPr lang="en-US"/>
        </a:p>
      </dgm:t>
    </dgm:pt>
    <dgm:pt modelId="{80C9F7BE-83EB-4D53-AE74-7AE010C7455B}">
      <dgm:prSet/>
      <dgm:spPr/>
      <dgm:t>
        <a:bodyPr/>
        <a:lstStyle/>
        <a:p>
          <a:pPr rtl="0"/>
          <a:r>
            <a:rPr lang="en-US"/>
            <a:t>Size: </a:t>
          </a:r>
          <a:r>
            <a:rPr lang="en-US">
              <a:latin typeface="Arial"/>
            </a:rPr>
            <a:t>2,609 hourly time steps</a:t>
          </a:r>
          <a:endParaRPr lang="en-US"/>
        </a:p>
      </dgm:t>
    </dgm:pt>
    <dgm:pt modelId="{CB96E76F-2807-4DF2-916B-BC322B03E763}" type="parTrans" cxnId="{C86E2236-1A3F-450B-8312-BDC7241EEB3D}">
      <dgm:prSet/>
      <dgm:spPr/>
      <dgm:t>
        <a:bodyPr/>
        <a:lstStyle/>
        <a:p>
          <a:endParaRPr lang="en-US"/>
        </a:p>
      </dgm:t>
    </dgm:pt>
    <dgm:pt modelId="{1B7ABA12-B469-48E2-9DD4-C1B01AA810A4}" type="sibTrans" cxnId="{C86E2236-1A3F-450B-8312-BDC7241EEB3D}">
      <dgm:prSet/>
      <dgm:spPr/>
      <dgm:t>
        <a:bodyPr/>
        <a:lstStyle/>
        <a:p>
          <a:endParaRPr lang="en-US"/>
        </a:p>
      </dgm:t>
    </dgm:pt>
    <dgm:pt modelId="{3C1CCA37-EA7D-4CFB-AD36-BCA040379FF4}">
      <dgm:prSet/>
      <dgm:spPr/>
      <dgm:t>
        <a:bodyPr/>
        <a:lstStyle/>
        <a:p>
          <a:pPr rtl="0"/>
          <a:r>
            <a:rPr lang="en-US"/>
            <a:t>Features: </a:t>
          </a:r>
          <a:r>
            <a:rPr lang="en-US">
              <a:latin typeface="Arial"/>
            </a:rPr>
            <a:t>68 + 4 Engineered</a:t>
          </a:r>
          <a:endParaRPr lang="en-US"/>
        </a:p>
      </dgm:t>
    </dgm:pt>
    <dgm:pt modelId="{CBF4B4D1-696D-418F-A9C0-CBF095FE1442}" type="parTrans" cxnId="{8218044B-A3B1-4991-BC18-6C6983E9C539}">
      <dgm:prSet/>
      <dgm:spPr/>
      <dgm:t>
        <a:bodyPr/>
        <a:lstStyle/>
        <a:p>
          <a:endParaRPr lang="en-US"/>
        </a:p>
      </dgm:t>
    </dgm:pt>
    <dgm:pt modelId="{C0BE9C4C-CF10-4D81-BD52-27E7BFDCB94F}" type="sibTrans" cxnId="{8218044B-A3B1-4991-BC18-6C6983E9C539}">
      <dgm:prSet/>
      <dgm:spPr/>
      <dgm:t>
        <a:bodyPr/>
        <a:lstStyle/>
        <a:p>
          <a:endParaRPr lang="en-US"/>
        </a:p>
      </dgm:t>
    </dgm:pt>
    <dgm:pt modelId="{412982FE-171F-4DCD-9E99-294C2F452EA3}">
      <dgm:prSet/>
      <dgm:spPr/>
      <dgm:t>
        <a:bodyPr/>
        <a:lstStyle/>
        <a:p>
          <a:r>
            <a:rPr lang="en-US" b="1"/>
            <a:t>Challenges</a:t>
          </a:r>
          <a:endParaRPr lang="en-US"/>
        </a:p>
      </dgm:t>
    </dgm:pt>
    <dgm:pt modelId="{F156A93C-E5D3-4B7A-9576-12E37A39121F}" type="parTrans" cxnId="{1D8C1C6E-1EEE-48DD-844F-136F0850E97A}">
      <dgm:prSet/>
      <dgm:spPr/>
      <dgm:t>
        <a:bodyPr/>
        <a:lstStyle/>
        <a:p>
          <a:endParaRPr lang="en-US"/>
        </a:p>
      </dgm:t>
    </dgm:pt>
    <dgm:pt modelId="{2A5FD824-DC63-4D93-A66C-0A1503312C93}" type="sibTrans" cxnId="{1D8C1C6E-1EEE-48DD-844F-136F0850E97A}">
      <dgm:prSet/>
      <dgm:spPr/>
      <dgm:t>
        <a:bodyPr/>
        <a:lstStyle/>
        <a:p>
          <a:endParaRPr lang="en-US"/>
        </a:p>
      </dgm:t>
    </dgm:pt>
    <dgm:pt modelId="{7E20DDAC-2CA8-4282-8CF1-B9ED7156ADDC}">
      <dgm:prSet/>
      <dgm:spPr/>
      <dgm:t>
        <a:bodyPr/>
        <a:lstStyle/>
        <a:p>
          <a:pPr rtl="0"/>
          <a:r>
            <a:rPr lang="en-US">
              <a:latin typeface="Arial"/>
            </a:rPr>
            <a:t>Minor: Small # of missing</a:t>
          </a:r>
          <a:r>
            <a:rPr lang="en-US"/>
            <a:t> values </a:t>
          </a:r>
        </a:p>
      </dgm:t>
    </dgm:pt>
    <dgm:pt modelId="{F2AA71BC-B5DA-4F17-BAB3-134B25611C23}" type="parTrans" cxnId="{DEA23F90-809D-4F81-A06D-C310ED1F9ECD}">
      <dgm:prSet/>
      <dgm:spPr/>
      <dgm:t>
        <a:bodyPr/>
        <a:lstStyle/>
        <a:p>
          <a:endParaRPr lang="en-US"/>
        </a:p>
      </dgm:t>
    </dgm:pt>
    <dgm:pt modelId="{EE40296A-7229-4CD2-A50A-0480FAFBBE7C}" type="sibTrans" cxnId="{DEA23F90-809D-4F81-A06D-C310ED1F9ECD}">
      <dgm:prSet/>
      <dgm:spPr/>
      <dgm:t>
        <a:bodyPr/>
        <a:lstStyle/>
        <a:p>
          <a:endParaRPr lang="en-US"/>
        </a:p>
      </dgm:t>
    </dgm:pt>
    <dgm:pt modelId="{E5A4C44D-5803-4811-AE67-85269B92964A}">
      <dgm:prSet/>
      <dgm:spPr/>
      <dgm:t>
        <a:bodyPr/>
        <a:lstStyle/>
        <a:p>
          <a:pPr rtl="0"/>
          <a:r>
            <a:rPr lang="en-US">
              <a:latin typeface="Arial"/>
            </a:rPr>
            <a:t>Short observational time period and limited variety of operational conditions not well suited for system characterization for predicting future behavior</a:t>
          </a:r>
          <a:endParaRPr lang="en-US"/>
        </a:p>
      </dgm:t>
    </dgm:pt>
    <dgm:pt modelId="{6617CE5F-1915-40CF-854C-4C2389CED88D}" type="parTrans" cxnId="{FD13CA15-B276-4BA3-A220-42ACBE37F8D5}">
      <dgm:prSet/>
      <dgm:spPr/>
      <dgm:t>
        <a:bodyPr/>
        <a:lstStyle/>
        <a:p>
          <a:endParaRPr lang="en-US"/>
        </a:p>
      </dgm:t>
    </dgm:pt>
    <dgm:pt modelId="{BFB48638-5A1E-485D-8A5B-5D92ABDADAEC}" type="sibTrans" cxnId="{FD13CA15-B276-4BA3-A220-42ACBE37F8D5}">
      <dgm:prSet/>
      <dgm:spPr/>
      <dgm:t>
        <a:bodyPr/>
        <a:lstStyle/>
        <a:p>
          <a:endParaRPr lang="en-US"/>
        </a:p>
      </dgm:t>
    </dgm:pt>
    <dgm:pt modelId="{5F0D0D7F-D949-430E-A08B-127EBFFD189B}">
      <dgm:prSet/>
      <dgm:spPr/>
      <dgm:t>
        <a:bodyPr/>
        <a:lstStyle/>
        <a:p>
          <a:endParaRPr lang="en-US"/>
        </a:p>
      </dgm:t>
    </dgm:pt>
    <dgm:pt modelId="{B2A5B6CE-0580-4216-AF42-95FDC9F99F30}" type="parTrans" cxnId="{5CD6BC95-4100-4D61-937E-EEDEC753E9C8}">
      <dgm:prSet/>
      <dgm:spPr/>
      <dgm:t>
        <a:bodyPr/>
        <a:lstStyle/>
        <a:p>
          <a:endParaRPr lang="en-US"/>
        </a:p>
      </dgm:t>
    </dgm:pt>
    <dgm:pt modelId="{AF382945-D83F-4BC4-851E-40520F204D77}" type="sibTrans" cxnId="{5CD6BC95-4100-4D61-937E-EEDEC753E9C8}">
      <dgm:prSet/>
      <dgm:spPr/>
      <dgm:t>
        <a:bodyPr/>
        <a:lstStyle/>
        <a:p>
          <a:endParaRPr lang="en-US"/>
        </a:p>
      </dgm:t>
    </dgm:pt>
    <dgm:pt modelId="{913BEAE2-BBFB-4D0E-9480-F2F6E61775E8}" type="pres">
      <dgm:prSet presAssocID="{9E73F088-FF82-48F5-87BA-BEC97B04840F}" presName="linear" presStyleCnt="0">
        <dgm:presLayoutVars>
          <dgm:dir/>
          <dgm:animLvl val="lvl"/>
          <dgm:resizeHandles val="exact"/>
        </dgm:presLayoutVars>
      </dgm:prSet>
      <dgm:spPr/>
    </dgm:pt>
    <dgm:pt modelId="{F86A033B-AB1F-4E35-875A-1C0AEAB23A46}" type="pres">
      <dgm:prSet presAssocID="{C98620AE-FEA8-4FD5-8258-F4910EEFBE6C}" presName="parentLin" presStyleCnt="0"/>
      <dgm:spPr/>
    </dgm:pt>
    <dgm:pt modelId="{C6BCFBDA-7556-4EAD-B3E8-45A200310C5E}" type="pres">
      <dgm:prSet presAssocID="{C98620AE-FEA8-4FD5-8258-F4910EEFBE6C}" presName="parentLeftMargin" presStyleLbl="node1" presStyleIdx="0" presStyleCnt="2"/>
      <dgm:spPr/>
    </dgm:pt>
    <dgm:pt modelId="{86EF778E-19CA-419C-B3B3-A875992416B4}" type="pres">
      <dgm:prSet presAssocID="{C98620AE-FEA8-4FD5-8258-F4910EEFBE6C}" presName="parentText" presStyleLbl="node1" presStyleIdx="0" presStyleCnt="2">
        <dgm:presLayoutVars>
          <dgm:chMax val="0"/>
          <dgm:bulletEnabled val="1"/>
        </dgm:presLayoutVars>
      </dgm:prSet>
      <dgm:spPr/>
    </dgm:pt>
    <dgm:pt modelId="{F0DF3703-B768-4362-8B8E-F0504AF22357}" type="pres">
      <dgm:prSet presAssocID="{C98620AE-FEA8-4FD5-8258-F4910EEFBE6C}" presName="negativeSpace" presStyleCnt="0"/>
      <dgm:spPr/>
    </dgm:pt>
    <dgm:pt modelId="{CEBE5F0C-8059-4302-9C7B-55A36B25A4EB}" type="pres">
      <dgm:prSet presAssocID="{C98620AE-FEA8-4FD5-8258-F4910EEFBE6C}" presName="childText" presStyleLbl="conFgAcc1" presStyleIdx="0" presStyleCnt="2">
        <dgm:presLayoutVars>
          <dgm:bulletEnabled val="1"/>
        </dgm:presLayoutVars>
      </dgm:prSet>
      <dgm:spPr/>
    </dgm:pt>
    <dgm:pt modelId="{91F71478-CA7D-49A0-A9B3-0993DA64105E}" type="pres">
      <dgm:prSet presAssocID="{3104273B-C31C-42BD-AE30-A87893D2ACD4}" presName="spaceBetweenRectangles" presStyleCnt="0"/>
      <dgm:spPr/>
    </dgm:pt>
    <dgm:pt modelId="{5516E0FA-2B73-4A2C-9464-2A970CE72E51}" type="pres">
      <dgm:prSet presAssocID="{412982FE-171F-4DCD-9E99-294C2F452EA3}" presName="parentLin" presStyleCnt="0"/>
      <dgm:spPr/>
    </dgm:pt>
    <dgm:pt modelId="{70A14D64-259A-4C42-8C88-DA4F9600F93F}" type="pres">
      <dgm:prSet presAssocID="{412982FE-171F-4DCD-9E99-294C2F452EA3}" presName="parentLeftMargin" presStyleLbl="node1" presStyleIdx="0" presStyleCnt="2"/>
      <dgm:spPr/>
    </dgm:pt>
    <dgm:pt modelId="{932A5BCC-9B22-47BB-876F-490503FF87FE}" type="pres">
      <dgm:prSet presAssocID="{412982FE-171F-4DCD-9E99-294C2F452EA3}" presName="parentText" presStyleLbl="node1" presStyleIdx="1" presStyleCnt="2">
        <dgm:presLayoutVars>
          <dgm:chMax val="0"/>
          <dgm:bulletEnabled val="1"/>
        </dgm:presLayoutVars>
      </dgm:prSet>
      <dgm:spPr/>
    </dgm:pt>
    <dgm:pt modelId="{F8EFCD62-4CF8-464F-B507-0A5DDEA1811E}" type="pres">
      <dgm:prSet presAssocID="{412982FE-171F-4DCD-9E99-294C2F452EA3}" presName="negativeSpace" presStyleCnt="0"/>
      <dgm:spPr/>
    </dgm:pt>
    <dgm:pt modelId="{ADE3EEC1-2B04-4978-99AA-B38B828A3E66}" type="pres">
      <dgm:prSet presAssocID="{412982FE-171F-4DCD-9E99-294C2F452EA3}" presName="childText" presStyleLbl="conFgAcc1" presStyleIdx="1" presStyleCnt="2">
        <dgm:presLayoutVars>
          <dgm:bulletEnabled val="1"/>
        </dgm:presLayoutVars>
      </dgm:prSet>
      <dgm:spPr/>
    </dgm:pt>
  </dgm:ptLst>
  <dgm:cxnLst>
    <dgm:cxn modelId="{FD13CA15-B276-4BA3-A220-42ACBE37F8D5}" srcId="{412982FE-171F-4DCD-9E99-294C2F452EA3}" destId="{E5A4C44D-5803-4811-AE67-85269B92964A}" srcOrd="1" destOrd="0" parTransId="{6617CE5F-1915-40CF-854C-4C2389CED88D}" sibTransId="{BFB48638-5A1E-485D-8A5B-5D92ABDADAEC}"/>
    <dgm:cxn modelId="{C86E2236-1A3F-450B-8312-BDC7241EEB3D}" srcId="{C98620AE-FEA8-4FD5-8258-F4910EEFBE6C}" destId="{80C9F7BE-83EB-4D53-AE74-7AE010C7455B}" srcOrd="1" destOrd="0" parTransId="{CB96E76F-2807-4DF2-916B-BC322B03E763}" sibTransId="{1B7ABA12-B469-48E2-9DD4-C1B01AA810A4}"/>
    <dgm:cxn modelId="{2B155D36-C733-4A40-A700-3D3CC3BE64E0}" type="presOf" srcId="{C98620AE-FEA8-4FD5-8258-F4910EEFBE6C}" destId="{86EF778E-19CA-419C-B3B3-A875992416B4}" srcOrd="1" destOrd="0" presId="urn:microsoft.com/office/officeart/2005/8/layout/list1"/>
    <dgm:cxn modelId="{8218044B-A3B1-4991-BC18-6C6983E9C539}" srcId="{C98620AE-FEA8-4FD5-8258-F4910EEFBE6C}" destId="{3C1CCA37-EA7D-4CFB-AD36-BCA040379FF4}" srcOrd="2" destOrd="0" parTransId="{CBF4B4D1-696D-418F-A9C0-CBF095FE1442}" sibTransId="{C0BE9C4C-CF10-4D81-BD52-27E7BFDCB94F}"/>
    <dgm:cxn modelId="{3203424B-4660-4DBB-B02E-C7E8E8847A42}" type="presOf" srcId="{3C1CCA37-EA7D-4CFB-AD36-BCA040379FF4}" destId="{CEBE5F0C-8059-4302-9C7B-55A36B25A4EB}" srcOrd="0" destOrd="2" presId="urn:microsoft.com/office/officeart/2005/8/layout/list1"/>
    <dgm:cxn modelId="{4B4A424C-8536-41FF-ACC1-3B7DCED2C40A}" type="presOf" srcId="{C98620AE-FEA8-4FD5-8258-F4910EEFBE6C}" destId="{C6BCFBDA-7556-4EAD-B3E8-45A200310C5E}" srcOrd="0" destOrd="0" presId="urn:microsoft.com/office/officeart/2005/8/layout/list1"/>
    <dgm:cxn modelId="{1D8C1C6E-1EEE-48DD-844F-136F0850E97A}" srcId="{9E73F088-FF82-48F5-87BA-BEC97B04840F}" destId="{412982FE-171F-4DCD-9E99-294C2F452EA3}" srcOrd="1" destOrd="0" parTransId="{F156A93C-E5D3-4B7A-9576-12E37A39121F}" sibTransId="{2A5FD824-DC63-4D93-A66C-0A1503312C93}"/>
    <dgm:cxn modelId="{CACF3670-BF9B-4CEB-8C29-40D5CA7C92CD}" type="presOf" srcId="{5F0D0D7F-D949-430E-A08B-127EBFFD189B}" destId="{ADE3EEC1-2B04-4978-99AA-B38B828A3E66}" srcOrd="0" destOrd="2" presId="urn:microsoft.com/office/officeart/2005/8/layout/list1"/>
    <dgm:cxn modelId="{39775979-A1FD-446C-9E85-C6328E08C566}" type="presOf" srcId="{412982FE-171F-4DCD-9E99-294C2F452EA3}" destId="{70A14D64-259A-4C42-8C88-DA4F9600F93F}" srcOrd="0" destOrd="0" presId="urn:microsoft.com/office/officeart/2005/8/layout/list1"/>
    <dgm:cxn modelId="{DEA23F90-809D-4F81-A06D-C310ED1F9ECD}" srcId="{412982FE-171F-4DCD-9E99-294C2F452EA3}" destId="{7E20DDAC-2CA8-4282-8CF1-B9ED7156ADDC}" srcOrd="0" destOrd="0" parTransId="{F2AA71BC-B5DA-4F17-BAB3-134B25611C23}" sibTransId="{EE40296A-7229-4CD2-A50A-0480FAFBBE7C}"/>
    <dgm:cxn modelId="{5CD6BC95-4100-4D61-937E-EEDEC753E9C8}" srcId="{412982FE-171F-4DCD-9E99-294C2F452EA3}" destId="{5F0D0D7F-D949-430E-A08B-127EBFFD189B}" srcOrd="2" destOrd="0" parTransId="{B2A5B6CE-0580-4216-AF42-95FDC9F99F30}" sibTransId="{AF382945-D83F-4BC4-851E-40520F204D77}"/>
    <dgm:cxn modelId="{204C3BAD-FDE0-41DE-AB81-3534B90CA696}" srcId="{9E73F088-FF82-48F5-87BA-BEC97B04840F}" destId="{C98620AE-FEA8-4FD5-8258-F4910EEFBE6C}" srcOrd="0" destOrd="0" parTransId="{4A723E26-88BB-4C3D-A719-66AABD722EC7}" sibTransId="{3104273B-C31C-42BD-AE30-A87893D2ACD4}"/>
    <dgm:cxn modelId="{472F69B3-1A1F-4105-BF0A-D33234ED99EA}" type="presOf" srcId="{E5A4C44D-5803-4811-AE67-85269B92964A}" destId="{ADE3EEC1-2B04-4978-99AA-B38B828A3E66}" srcOrd="0" destOrd="1" presId="urn:microsoft.com/office/officeart/2005/8/layout/list1"/>
    <dgm:cxn modelId="{8B59ABC7-7EBB-4F1B-9B56-8A7381CDB802}" srcId="{C98620AE-FEA8-4FD5-8258-F4910EEFBE6C}" destId="{370E251F-7D14-4DFD-9246-DEF2E11A8334}" srcOrd="0" destOrd="0" parTransId="{950F1C60-3775-4B0D-B24D-3D01E7BE7B12}" sibTransId="{59AAF5C6-593F-446B-8DFB-F98CCBB3FC9E}"/>
    <dgm:cxn modelId="{9F4C82D1-8D8B-42C4-BAA9-C891F28C5DA4}" type="presOf" srcId="{412982FE-171F-4DCD-9E99-294C2F452EA3}" destId="{932A5BCC-9B22-47BB-876F-490503FF87FE}" srcOrd="1" destOrd="0" presId="urn:microsoft.com/office/officeart/2005/8/layout/list1"/>
    <dgm:cxn modelId="{2CE38BD2-45D8-4895-A10B-E964B3E7DE75}" type="presOf" srcId="{370E251F-7D14-4DFD-9246-DEF2E11A8334}" destId="{CEBE5F0C-8059-4302-9C7B-55A36B25A4EB}" srcOrd="0" destOrd="0" presId="urn:microsoft.com/office/officeart/2005/8/layout/list1"/>
    <dgm:cxn modelId="{F6C5D0D5-29FC-4F37-B4C4-C7F83DC5B6CE}" type="presOf" srcId="{9E73F088-FF82-48F5-87BA-BEC97B04840F}" destId="{913BEAE2-BBFB-4D0E-9480-F2F6E61775E8}" srcOrd="0" destOrd="0" presId="urn:microsoft.com/office/officeart/2005/8/layout/list1"/>
    <dgm:cxn modelId="{87FCC5F5-28D2-4DCF-A5DB-CD9CF6C848DB}" type="presOf" srcId="{80C9F7BE-83EB-4D53-AE74-7AE010C7455B}" destId="{CEBE5F0C-8059-4302-9C7B-55A36B25A4EB}" srcOrd="0" destOrd="1" presId="urn:microsoft.com/office/officeart/2005/8/layout/list1"/>
    <dgm:cxn modelId="{67B3E5FB-246C-4C9F-84EB-C47EB87C3CAD}" type="presOf" srcId="{7E20DDAC-2CA8-4282-8CF1-B9ED7156ADDC}" destId="{ADE3EEC1-2B04-4978-99AA-B38B828A3E66}" srcOrd="0" destOrd="0" presId="urn:microsoft.com/office/officeart/2005/8/layout/list1"/>
    <dgm:cxn modelId="{253E475B-0BD6-4C6A-8D79-75728B753579}" type="presParOf" srcId="{913BEAE2-BBFB-4D0E-9480-F2F6E61775E8}" destId="{F86A033B-AB1F-4E35-875A-1C0AEAB23A46}" srcOrd="0" destOrd="0" presId="urn:microsoft.com/office/officeart/2005/8/layout/list1"/>
    <dgm:cxn modelId="{6C3D1DCD-631F-4380-81D2-A0D211679613}" type="presParOf" srcId="{F86A033B-AB1F-4E35-875A-1C0AEAB23A46}" destId="{C6BCFBDA-7556-4EAD-B3E8-45A200310C5E}" srcOrd="0" destOrd="0" presId="urn:microsoft.com/office/officeart/2005/8/layout/list1"/>
    <dgm:cxn modelId="{F74E5232-F656-453B-ADF6-3CCFF34C4B7D}" type="presParOf" srcId="{F86A033B-AB1F-4E35-875A-1C0AEAB23A46}" destId="{86EF778E-19CA-419C-B3B3-A875992416B4}" srcOrd="1" destOrd="0" presId="urn:microsoft.com/office/officeart/2005/8/layout/list1"/>
    <dgm:cxn modelId="{BBC0F68B-6F79-4105-BC4B-54D11569F601}" type="presParOf" srcId="{913BEAE2-BBFB-4D0E-9480-F2F6E61775E8}" destId="{F0DF3703-B768-4362-8B8E-F0504AF22357}" srcOrd="1" destOrd="0" presId="urn:microsoft.com/office/officeart/2005/8/layout/list1"/>
    <dgm:cxn modelId="{EF805CB3-B8D2-435D-AE6E-1ABB9F395E1D}" type="presParOf" srcId="{913BEAE2-BBFB-4D0E-9480-F2F6E61775E8}" destId="{CEBE5F0C-8059-4302-9C7B-55A36B25A4EB}" srcOrd="2" destOrd="0" presId="urn:microsoft.com/office/officeart/2005/8/layout/list1"/>
    <dgm:cxn modelId="{2F773614-775C-4E2D-8419-2E39D05B6C22}" type="presParOf" srcId="{913BEAE2-BBFB-4D0E-9480-F2F6E61775E8}" destId="{91F71478-CA7D-49A0-A9B3-0993DA64105E}" srcOrd="3" destOrd="0" presId="urn:microsoft.com/office/officeart/2005/8/layout/list1"/>
    <dgm:cxn modelId="{3F0C3CFD-D022-4225-A332-F0FBA7A3178A}" type="presParOf" srcId="{913BEAE2-BBFB-4D0E-9480-F2F6E61775E8}" destId="{5516E0FA-2B73-4A2C-9464-2A970CE72E51}" srcOrd="4" destOrd="0" presId="urn:microsoft.com/office/officeart/2005/8/layout/list1"/>
    <dgm:cxn modelId="{E49D5093-A50E-4910-9083-AF6077093AC1}" type="presParOf" srcId="{5516E0FA-2B73-4A2C-9464-2A970CE72E51}" destId="{70A14D64-259A-4C42-8C88-DA4F9600F93F}" srcOrd="0" destOrd="0" presId="urn:microsoft.com/office/officeart/2005/8/layout/list1"/>
    <dgm:cxn modelId="{8AB454F3-B68B-4CB6-ADC9-E77FD591A6FE}" type="presParOf" srcId="{5516E0FA-2B73-4A2C-9464-2A970CE72E51}" destId="{932A5BCC-9B22-47BB-876F-490503FF87FE}" srcOrd="1" destOrd="0" presId="urn:microsoft.com/office/officeart/2005/8/layout/list1"/>
    <dgm:cxn modelId="{166FCF00-EA75-4740-8859-909915FAA998}" type="presParOf" srcId="{913BEAE2-BBFB-4D0E-9480-F2F6E61775E8}" destId="{F8EFCD62-4CF8-464F-B507-0A5DDEA1811E}" srcOrd="5" destOrd="0" presId="urn:microsoft.com/office/officeart/2005/8/layout/list1"/>
    <dgm:cxn modelId="{BCFA08E1-1C44-4D5A-99C8-A9950518D6BD}" type="presParOf" srcId="{913BEAE2-BBFB-4D0E-9480-F2F6E61775E8}" destId="{ADE3EEC1-2B04-4978-99AA-B38B828A3E66}"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C12587-C261-49AB-AE23-F2AA6E811B4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3B51A04-044A-49AC-A68E-AE44F68A8607}">
      <dgm:prSet/>
      <dgm:spPr/>
      <dgm:t>
        <a:bodyPr/>
        <a:lstStyle/>
        <a:p>
          <a:pPr>
            <a:lnSpc>
              <a:spcPct val="100000"/>
            </a:lnSpc>
          </a:pPr>
          <a:r>
            <a:rPr lang="en-US" b="1"/>
            <a:t>Data Preparation</a:t>
          </a:r>
          <a:r>
            <a:rPr lang="en-US" b="1">
              <a:latin typeface="Arial"/>
            </a:rPr>
            <a:t>: </a:t>
          </a:r>
          <a:r>
            <a:rPr lang="en-US" b="0">
              <a:latin typeface="Arial"/>
            </a:rPr>
            <a:t>We</a:t>
          </a:r>
          <a:r>
            <a:rPr lang="en-US">
              <a:latin typeface="Arial"/>
            </a:rPr>
            <a:t> cleaned and normalized the time-series data by removing faulty sensor channels, correcting duplicate time stamps and applying an appropriate scaling. </a:t>
          </a:r>
          <a:endParaRPr lang="en-US"/>
        </a:p>
      </dgm:t>
    </dgm:pt>
    <dgm:pt modelId="{16EDFAAF-E1F4-4DB6-827E-FB5B0CF8462F}" type="parTrans" cxnId="{2EC74048-278B-49FC-BA34-AC08831EB866}">
      <dgm:prSet/>
      <dgm:spPr/>
      <dgm:t>
        <a:bodyPr/>
        <a:lstStyle/>
        <a:p>
          <a:endParaRPr lang="en-US"/>
        </a:p>
      </dgm:t>
    </dgm:pt>
    <dgm:pt modelId="{139E2FAB-2506-4967-B144-E7B896FFB3BB}" type="sibTrans" cxnId="{2EC74048-278B-49FC-BA34-AC08831EB866}">
      <dgm:prSet/>
      <dgm:spPr/>
      <dgm:t>
        <a:bodyPr/>
        <a:lstStyle/>
        <a:p>
          <a:endParaRPr lang="en-US"/>
        </a:p>
      </dgm:t>
    </dgm:pt>
    <dgm:pt modelId="{92660779-EEAB-4C03-B674-BF9B7BDE7053}">
      <dgm:prSet/>
      <dgm:spPr/>
      <dgm:t>
        <a:bodyPr/>
        <a:lstStyle/>
        <a:p>
          <a:pPr>
            <a:lnSpc>
              <a:spcPct val="100000"/>
            </a:lnSpc>
          </a:pPr>
          <a:r>
            <a:rPr lang="en-US" b="1"/>
            <a:t>Model Selection</a:t>
          </a:r>
          <a:r>
            <a:rPr lang="en-US" b="1">
              <a:latin typeface="Arial"/>
            </a:rPr>
            <a:t>: </a:t>
          </a:r>
          <a:r>
            <a:rPr lang="en-US" b="0">
              <a:latin typeface="Arial"/>
            </a:rPr>
            <a:t>We evaluated available ML options and selected a spatio-temporal graph neural network (ST-GNN) because it can simultaneously learn spatial coupling between wells. </a:t>
          </a:r>
          <a:endParaRPr lang="en-US" b="0"/>
        </a:p>
      </dgm:t>
    </dgm:pt>
    <dgm:pt modelId="{752B977F-376F-47AD-9715-99D55E2A5966}" type="parTrans" cxnId="{403FED28-4E19-4D73-8F7D-7CFAFCC86695}">
      <dgm:prSet/>
      <dgm:spPr/>
      <dgm:t>
        <a:bodyPr/>
        <a:lstStyle/>
        <a:p>
          <a:endParaRPr lang="en-US"/>
        </a:p>
      </dgm:t>
    </dgm:pt>
    <dgm:pt modelId="{1D3DD967-1542-420F-BF69-5A39494142C0}" type="sibTrans" cxnId="{403FED28-4E19-4D73-8F7D-7CFAFCC86695}">
      <dgm:prSet/>
      <dgm:spPr/>
      <dgm:t>
        <a:bodyPr/>
        <a:lstStyle/>
        <a:p>
          <a:endParaRPr lang="en-US"/>
        </a:p>
      </dgm:t>
    </dgm:pt>
    <dgm:pt modelId="{ABDD42FF-EF58-4D49-94BA-39A12F5125A9}">
      <dgm:prSet/>
      <dgm:spPr/>
      <dgm:t>
        <a:bodyPr/>
        <a:lstStyle/>
        <a:p>
          <a:pPr>
            <a:lnSpc>
              <a:spcPct val="100000"/>
            </a:lnSpc>
          </a:pPr>
          <a:r>
            <a:rPr lang="en-US" b="1"/>
            <a:t>Workflow</a:t>
          </a:r>
          <a:r>
            <a:rPr lang="en-US" b="1">
              <a:latin typeface="Arial"/>
            </a:rPr>
            <a:t>: </a:t>
          </a:r>
          <a:r>
            <a:rPr lang="en-US">
              <a:latin typeface="Arial"/>
            </a:rPr>
            <a:t>We integrated datast cleaning, feature engineering, scaling, model selection, training and evaluation into reproducible end-to-end workflow documenting each step and ensurse ourputs align with desired deliverables. </a:t>
          </a:r>
          <a:endParaRPr lang="en-US"/>
        </a:p>
      </dgm:t>
    </dgm:pt>
    <dgm:pt modelId="{09AF3C8A-7492-4AF6-84C4-8F9DBE80C075}" type="parTrans" cxnId="{0F85F079-0DB7-4894-BDD2-3310ADBA81D9}">
      <dgm:prSet/>
      <dgm:spPr/>
      <dgm:t>
        <a:bodyPr/>
        <a:lstStyle/>
        <a:p>
          <a:endParaRPr lang="en-US"/>
        </a:p>
      </dgm:t>
    </dgm:pt>
    <dgm:pt modelId="{C61BD6DB-05B2-456C-A878-9C0938F702D1}" type="sibTrans" cxnId="{0F85F079-0DB7-4894-BDD2-3310ADBA81D9}">
      <dgm:prSet/>
      <dgm:spPr/>
      <dgm:t>
        <a:bodyPr/>
        <a:lstStyle/>
        <a:p>
          <a:endParaRPr lang="en-US"/>
        </a:p>
      </dgm:t>
    </dgm:pt>
    <dgm:pt modelId="{E0FBBC0A-4444-4E27-BC0F-A8662DDB82D3}" type="pres">
      <dgm:prSet presAssocID="{92C12587-C261-49AB-AE23-F2AA6E811B49}" presName="root" presStyleCnt="0">
        <dgm:presLayoutVars>
          <dgm:dir/>
          <dgm:resizeHandles val="exact"/>
        </dgm:presLayoutVars>
      </dgm:prSet>
      <dgm:spPr/>
    </dgm:pt>
    <dgm:pt modelId="{CECF32F8-E0E0-4064-A1F8-344C7009E2AD}" type="pres">
      <dgm:prSet presAssocID="{B3B51A04-044A-49AC-A68E-AE44F68A8607}" presName="compNode" presStyleCnt="0"/>
      <dgm:spPr/>
    </dgm:pt>
    <dgm:pt modelId="{308D218F-B5C9-4B25-BE14-5C725757568E}" type="pres">
      <dgm:prSet presAssocID="{B3B51A04-044A-49AC-A68E-AE44F68A8607}" presName="bgRect" presStyleLbl="bgShp" presStyleIdx="0" presStyleCnt="3"/>
      <dgm:spPr/>
    </dgm:pt>
    <dgm:pt modelId="{6E40C719-F729-4671-9E6D-FAF1E4628E1F}" type="pres">
      <dgm:prSet presAssocID="{B3B51A04-044A-49AC-A68E-AE44F68A860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C94E388C-7B7D-4354-A5CD-B2AD84848AD0}" type="pres">
      <dgm:prSet presAssocID="{B3B51A04-044A-49AC-A68E-AE44F68A8607}" presName="spaceRect" presStyleCnt="0"/>
      <dgm:spPr/>
    </dgm:pt>
    <dgm:pt modelId="{129DEB09-6F7F-4869-9626-4C2AA74CEC98}" type="pres">
      <dgm:prSet presAssocID="{B3B51A04-044A-49AC-A68E-AE44F68A8607}" presName="parTx" presStyleLbl="revTx" presStyleIdx="0" presStyleCnt="3" custLinFactNeighborX="-14751" custLinFactNeighborY="296">
        <dgm:presLayoutVars>
          <dgm:chMax val="0"/>
          <dgm:chPref val="0"/>
        </dgm:presLayoutVars>
      </dgm:prSet>
      <dgm:spPr/>
    </dgm:pt>
    <dgm:pt modelId="{46C4395D-6EA8-4960-8A52-B4FC7F28395E}" type="pres">
      <dgm:prSet presAssocID="{139E2FAB-2506-4967-B144-E7B896FFB3BB}" presName="sibTrans" presStyleCnt="0"/>
      <dgm:spPr/>
    </dgm:pt>
    <dgm:pt modelId="{895454A0-D7FA-4EBF-B05C-DB241CD82983}" type="pres">
      <dgm:prSet presAssocID="{92660779-EEAB-4C03-B674-BF9B7BDE7053}" presName="compNode" presStyleCnt="0"/>
      <dgm:spPr/>
    </dgm:pt>
    <dgm:pt modelId="{05DBAAAB-887E-4650-9F21-C6ECC9E9A4BB}" type="pres">
      <dgm:prSet presAssocID="{92660779-EEAB-4C03-B674-BF9B7BDE7053}" presName="bgRect" presStyleLbl="bgShp" presStyleIdx="1" presStyleCnt="3"/>
      <dgm:spPr/>
    </dgm:pt>
    <dgm:pt modelId="{270CAD88-6F94-4A88-882A-A4E268125984}" type="pres">
      <dgm:prSet presAssocID="{92660779-EEAB-4C03-B674-BF9B7BDE705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90620D1C-FD18-40F3-9A76-42D2AE138E9D}" type="pres">
      <dgm:prSet presAssocID="{92660779-EEAB-4C03-B674-BF9B7BDE7053}" presName="spaceRect" presStyleCnt="0"/>
      <dgm:spPr/>
    </dgm:pt>
    <dgm:pt modelId="{F950F316-BBB4-4ABF-9BBC-845DB255AD51}" type="pres">
      <dgm:prSet presAssocID="{92660779-EEAB-4C03-B674-BF9B7BDE7053}" presName="parTx" presStyleLbl="revTx" presStyleIdx="1" presStyleCnt="3" custLinFactNeighborX="-14408" custLinFactNeighborY="0">
        <dgm:presLayoutVars>
          <dgm:chMax val="0"/>
          <dgm:chPref val="0"/>
        </dgm:presLayoutVars>
      </dgm:prSet>
      <dgm:spPr/>
    </dgm:pt>
    <dgm:pt modelId="{4E8A865A-6AB7-4805-B59E-A05C3660103E}" type="pres">
      <dgm:prSet presAssocID="{1D3DD967-1542-420F-BF69-5A39494142C0}" presName="sibTrans" presStyleCnt="0"/>
      <dgm:spPr/>
    </dgm:pt>
    <dgm:pt modelId="{D3870FBC-1A49-45C0-A1AC-F8A7261E4AB5}" type="pres">
      <dgm:prSet presAssocID="{ABDD42FF-EF58-4D49-94BA-39A12F5125A9}" presName="compNode" presStyleCnt="0"/>
      <dgm:spPr/>
    </dgm:pt>
    <dgm:pt modelId="{3C24337D-580A-483C-8B25-7EEDB794829C}" type="pres">
      <dgm:prSet presAssocID="{ABDD42FF-EF58-4D49-94BA-39A12F5125A9}" presName="bgRect" presStyleLbl="bgShp" presStyleIdx="2" presStyleCnt="3"/>
      <dgm:spPr/>
    </dgm:pt>
    <dgm:pt modelId="{F9F75E66-72EA-45FD-A487-ADB422523F1D}" type="pres">
      <dgm:prSet presAssocID="{ABDD42FF-EF58-4D49-94BA-39A12F5125A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rain"/>
        </a:ext>
      </dgm:extLst>
    </dgm:pt>
    <dgm:pt modelId="{49485206-7E20-4F7E-B146-272504FE622C}" type="pres">
      <dgm:prSet presAssocID="{ABDD42FF-EF58-4D49-94BA-39A12F5125A9}" presName="spaceRect" presStyleCnt="0"/>
      <dgm:spPr/>
    </dgm:pt>
    <dgm:pt modelId="{F36BB16B-609C-4753-8B4D-DFF7E3506DF5}" type="pres">
      <dgm:prSet presAssocID="{ABDD42FF-EF58-4D49-94BA-39A12F5125A9}" presName="parTx" presStyleLbl="revTx" presStyleIdx="2" presStyleCnt="3" custLinFactNeighborX="-14407" custLinFactNeighborY="214">
        <dgm:presLayoutVars>
          <dgm:chMax val="0"/>
          <dgm:chPref val="0"/>
        </dgm:presLayoutVars>
      </dgm:prSet>
      <dgm:spPr/>
    </dgm:pt>
  </dgm:ptLst>
  <dgm:cxnLst>
    <dgm:cxn modelId="{403FED28-4E19-4D73-8F7D-7CFAFCC86695}" srcId="{92C12587-C261-49AB-AE23-F2AA6E811B49}" destId="{92660779-EEAB-4C03-B674-BF9B7BDE7053}" srcOrd="1" destOrd="0" parTransId="{752B977F-376F-47AD-9715-99D55E2A5966}" sibTransId="{1D3DD967-1542-420F-BF69-5A39494142C0}"/>
    <dgm:cxn modelId="{0030602C-1C1A-43FC-8864-DEB3351801D7}" type="presOf" srcId="{92C12587-C261-49AB-AE23-F2AA6E811B49}" destId="{E0FBBC0A-4444-4E27-BC0F-A8662DDB82D3}" srcOrd="0" destOrd="0" presId="urn:microsoft.com/office/officeart/2018/2/layout/IconVerticalSolidList"/>
    <dgm:cxn modelId="{2EC74048-278B-49FC-BA34-AC08831EB866}" srcId="{92C12587-C261-49AB-AE23-F2AA6E811B49}" destId="{B3B51A04-044A-49AC-A68E-AE44F68A8607}" srcOrd="0" destOrd="0" parTransId="{16EDFAAF-E1F4-4DB6-827E-FB5B0CF8462F}" sibTransId="{139E2FAB-2506-4967-B144-E7B896FFB3BB}"/>
    <dgm:cxn modelId="{3342856F-13E9-477C-A4E3-3BAAA33938F5}" type="presOf" srcId="{B3B51A04-044A-49AC-A68E-AE44F68A8607}" destId="{129DEB09-6F7F-4869-9626-4C2AA74CEC98}" srcOrd="0" destOrd="0" presId="urn:microsoft.com/office/officeart/2018/2/layout/IconVerticalSolidList"/>
    <dgm:cxn modelId="{0F85F079-0DB7-4894-BDD2-3310ADBA81D9}" srcId="{92C12587-C261-49AB-AE23-F2AA6E811B49}" destId="{ABDD42FF-EF58-4D49-94BA-39A12F5125A9}" srcOrd="2" destOrd="0" parTransId="{09AF3C8A-7492-4AF6-84C4-8F9DBE80C075}" sibTransId="{C61BD6DB-05B2-456C-A878-9C0938F702D1}"/>
    <dgm:cxn modelId="{995971AA-524D-484D-BFC7-98F087925666}" type="presOf" srcId="{ABDD42FF-EF58-4D49-94BA-39A12F5125A9}" destId="{F36BB16B-609C-4753-8B4D-DFF7E3506DF5}" srcOrd="0" destOrd="0" presId="urn:microsoft.com/office/officeart/2018/2/layout/IconVerticalSolidList"/>
    <dgm:cxn modelId="{608A6EBB-86C7-4E54-87A6-F02672146F47}" type="presOf" srcId="{92660779-EEAB-4C03-B674-BF9B7BDE7053}" destId="{F950F316-BBB4-4ABF-9BBC-845DB255AD51}" srcOrd="0" destOrd="0" presId="urn:microsoft.com/office/officeart/2018/2/layout/IconVerticalSolidList"/>
    <dgm:cxn modelId="{8769E7CF-1BEA-4D41-ABA7-FE2A3FF8C98B}" type="presParOf" srcId="{E0FBBC0A-4444-4E27-BC0F-A8662DDB82D3}" destId="{CECF32F8-E0E0-4064-A1F8-344C7009E2AD}" srcOrd="0" destOrd="0" presId="urn:microsoft.com/office/officeart/2018/2/layout/IconVerticalSolidList"/>
    <dgm:cxn modelId="{2BED7B45-3EA9-4D05-BDBA-6181F48CA19B}" type="presParOf" srcId="{CECF32F8-E0E0-4064-A1F8-344C7009E2AD}" destId="{308D218F-B5C9-4B25-BE14-5C725757568E}" srcOrd="0" destOrd="0" presId="urn:microsoft.com/office/officeart/2018/2/layout/IconVerticalSolidList"/>
    <dgm:cxn modelId="{C4F53D40-6202-494F-8556-B13A2F70E229}" type="presParOf" srcId="{CECF32F8-E0E0-4064-A1F8-344C7009E2AD}" destId="{6E40C719-F729-4671-9E6D-FAF1E4628E1F}" srcOrd="1" destOrd="0" presId="urn:microsoft.com/office/officeart/2018/2/layout/IconVerticalSolidList"/>
    <dgm:cxn modelId="{BEFD6163-C8FA-4070-A2F9-D9ED35B93B96}" type="presParOf" srcId="{CECF32F8-E0E0-4064-A1F8-344C7009E2AD}" destId="{C94E388C-7B7D-4354-A5CD-B2AD84848AD0}" srcOrd="2" destOrd="0" presId="urn:microsoft.com/office/officeart/2018/2/layout/IconVerticalSolidList"/>
    <dgm:cxn modelId="{A079E8CD-4187-4F3B-87F5-41BB3A2DA2E7}" type="presParOf" srcId="{CECF32F8-E0E0-4064-A1F8-344C7009E2AD}" destId="{129DEB09-6F7F-4869-9626-4C2AA74CEC98}" srcOrd="3" destOrd="0" presId="urn:microsoft.com/office/officeart/2018/2/layout/IconVerticalSolidList"/>
    <dgm:cxn modelId="{20B9A1ED-BDBC-40B4-9543-0099E863E03E}" type="presParOf" srcId="{E0FBBC0A-4444-4E27-BC0F-A8662DDB82D3}" destId="{46C4395D-6EA8-4960-8A52-B4FC7F28395E}" srcOrd="1" destOrd="0" presId="urn:microsoft.com/office/officeart/2018/2/layout/IconVerticalSolidList"/>
    <dgm:cxn modelId="{11F33EBB-DA75-4CCB-83A7-AF9A51B64F38}" type="presParOf" srcId="{E0FBBC0A-4444-4E27-BC0F-A8662DDB82D3}" destId="{895454A0-D7FA-4EBF-B05C-DB241CD82983}" srcOrd="2" destOrd="0" presId="urn:microsoft.com/office/officeart/2018/2/layout/IconVerticalSolidList"/>
    <dgm:cxn modelId="{2F2F9597-5E25-40BB-A41D-0B673DE77D61}" type="presParOf" srcId="{895454A0-D7FA-4EBF-B05C-DB241CD82983}" destId="{05DBAAAB-887E-4650-9F21-C6ECC9E9A4BB}" srcOrd="0" destOrd="0" presId="urn:microsoft.com/office/officeart/2018/2/layout/IconVerticalSolidList"/>
    <dgm:cxn modelId="{9826AD5D-AC68-4703-981B-F7DC30FA1EAA}" type="presParOf" srcId="{895454A0-D7FA-4EBF-B05C-DB241CD82983}" destId="{270CAD88-6F94-4A88-882A-A4E268125984}" srcOrd="1" destOrd="0" presId="urn:microsoft.com/office/officeart/2018/2/layout/IconVerticalSolidList"/>
    <dgm:cxn modelId="{ADC58F7A-BE20-438E-8591-11D5117E7BCC}" type="presParOf" srcId="{895454A0-D7FA-4EBF-B05C-DB241CD82983}" destId="{90620D1C-FD18-40F3-9A76-42D2AE138E9D}" srcOrd="2" destOrd="0" presId="urn:microsoft.com/office/officeart/2018/2/layout/IconVerticalSolidList"/>
    <dgm:cxn modelId="{054DAFD8-29E7-4A62-B8AA-BCB6F9968A89}" type="presParOf" srcId="{895454A0-D7FA-4EBF-B05C-DB241CD82983}" destId="{F950F316-BBB4-4ABF-9BBC-845DB255AD51}" srcOrd="3" destOrd="0" presId="urn:microsoft.com/office/officeart/2018/2/layout/IconVerticalSolidList"/>
    <dgm:cxn modelId="{C546A3B4-3B80-4B7A-B739-EF453700D916}" type="presParOf" srcId="{E0FBBC0A-4444-4E27-BC0F-A8662DDB82D3}" destId="{4E8A865A-6AB7-4805-B59E-A05C3660103E}" srcOrd="3" destOrd="0" presId="urn:microsoft.com/office/officeart/2018/2/layout/IconVerticalSolidList"/>
    <dgm:cxn modelId="{B222FAF2-F2F6-44F6-909A-DCA86FE9C099}" type="presParOf" srcId="{E0FBBC0A-4444-4E27-BC0F-A8662DDB82D3}" destId="{D3870FBC-1A49-45C0-A1AC-F8A7261E4AB5}" srcOrd="4" destOrd="0" presId="urn:microsoft.com/office/officeart/2018/2/layout/IconVerticalSolidList"/>
    <dgm:cxn modelId="{9691B630-9F34-4204-9F05-AE1FC6096327}" type="presParOf" srcId="{D3870FBC-1A49-45C0-A1AC-F8A7261E4AB5}" destId="{3C24337D-580A-483C-8B25-7EEDB794829C}" srcOrd="0" destOrd="0" presId="urn:microsoft.com/office/officeart/2018/2/layout/IconVerticalSolidList"/>
    <dgm:cxn modelId="{7D4D3F20-8433-4D65-9F95-11151684E3DD}" type="presParOf" srcId="{D3870FBC-1A49-45C0-A1AC-F8A7261E4AB5}" destId="{F9F75E66-72EA-45FD-A487-ADB422523F1D}" srcOrd="1" destOrd="0" presId="urn:microsoft.com/office/officeart/2018/2/layout/IconVerticalSolidList"/>
    <dgm:cxn modelId="{98E84980-63E7-49CC-9A8E-D8062067BD4B}" type="presParOf" srcId="{D3870FBC-1A49-45C0-A1AC-F8A7261E4AB5}" destId="{49485206-7E20-4F7E-B146-272504FE622C}" srcOrd="2" destOrd="0" presId="urn:microsoft.com/office/officeart/2018/2/layout/IconVerticalSolidList"/>
    <dgm:cxn modelId="{1E3EC85B-9667-4356-B37C-24DBA6AFE3E6}" type="presParOf" srcId="{D3870FBC-1A49-45C0-A1AC-F8A7261E4AB5}" destId="{F36BB16B-609C-4753-8B4D-DFF7E3506DF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05CE701-DC77-4C0F-9B9D-7B0AC2AB70BA}" type="doc">
      <dgm:prSet loTypeId="urn:microsoft.com/office/officeart/2005/8/layout/vList2" loCatId="list" qsTypeId="urn:microsoft.com/office/officeart/2005/8/quickstyle/simple4" qsCatId="simple" csTypeId="urn:microsoft.com/office/officeart/2005/8/colors/accent2_2" csCatId="accent2" phldr="1"/>
      <dgm:spPr/>
      <dgm:t>
        <a:bodyPr/>
        <a:lstStyle/>
        <a:p>
          <a:endParaRPr lang="en-US"/>
        </a:p>
      </dgm:t>
    </dgm:pt>
    <dgm:pt modelId="{5E70E508-D13B-49A9-B961-8E24DECF181A}">
      <dgm:prSet/>
      <dgm:spPr/>
      <dgm:t>
        <a:bodyPr/>
        <a:lstStyle/>
        <a:p>
          <a:r>
            <a:rPr lang="en-US" b="1"/>
            <a:t>Demo / System Flow</a:t>
          </a:r>
          <a:endParaRPr lang="en-US"/>
        </a:p>
      </dgm:t>
    </dgm:pt>
    <dgm:pt modelId="{8344337D-9CBC-407C-8256-A32F27F1F8CE}" type="parTrans" cxnId="{361912B4-9FF6-40E1-BD5A-652F2FD721F4}">
      <dgm:prSet/>
      <dgm:spPr/>
      <dgm:t>
        <a:bodyPr/>
        <a:lstStyle/>
        <a:p>
          <a:endParaRPr lang="en-US"/>
        </a:p>
      </dgm:t>
    </dgm:pt>
    <dgm:pt modelId="{80F05ABF-352D-4606-B511-A0672479346E}" type="sibTrans" cxnId="{361912B4-9FF6-40E1-BD5A-652F2FD721F4}">
      <dgm:prSet/>
      <dgm:spPr/>
      <dgm:t>
        <a:bodyPr/>
        <a:lstStyle/>
        <a:p>
          <a:endParaRPr lang="en-US"/>
        </a:p>
      </dgm:t>
    </dgm:pt>
    <dgm:pt modelId="{98344FD4-4E3C-4634-85CC-BAB87EC25BD1}">
      <dgm:prSet custT="1"/>
      <dgm:spPr/>
      <dgm:t>
        <a:bodyPr/>
        <a:lstStyle/>
        <a:p>
          <a:pPr rtl="0"/>
          <a:r>
            <a:rPr lang="en-US" sz="2400">
              <a:latin typeface="Arial"/>
            </a:rPr>
            <a:t>Observational well data</a:t>
          </a:r>
          <a:r>
            <a:rPr lang="en-US" sz="2400"/>
            <a:t>→</a:t>
          </a:r>
          <a:r>
            <a:rPr lang="en-US" sz="2400">
              <a:latin typeface="Arial"/>
            </a:rPr>
            <a:t> Graph NN</a:t>
          </a:r>
          <a:r>
            <a:rPr lang="en-US" sz="2400"/>
            <a:t> →</a:t>
          </a:r>
          <a:r>
            <a:rPr lang="en-US" sz="2400">
              <a:latin typeface="Arial"/>
            </a:rPr>
            <a:t> Edge weights over time </a:t>
          </a:r>
          <a:endParaRPr lang="en-US" sz="2400"/>
        </a:p>
      </dgm:t>
    </dgm:pt>
    <dgm:pt modelId="{AB86C21E-729A-46A2-8D86-DF1750522392}" type="parTrans" cxnId="{0448917E-22FC-4B49-AABF-F035D5DC1F03}">
      <dgm:prSet/>
      <dgm:spPr/>
      <dgm:t>
        <a:bodyPr/>
        <a:lstStyle/>
        <a:p>
          <a:endParaRPr lang="en-US"/>
        </a:p>
      </dgm:t>
    </dgm:pt>
    <dgm:pt modelId="{6E846614-D932-46B9-A76A-F603039C68A0}" type="sibTrans" cxnId="{0448917E-22FC-4B49-AABF-F035D5DC1F03}">
      <dgm:prSet/>
      <dgm:spPr/>
      <dgm:t>
        <a:bodyPr/>
        <a:lstStyle/>
        <a:p>
          <a:endParaRPr lang="en-US"/>
        </a:p>
      </dgm:t>
    </dgm:pt>
    <dgm:pt modelId="{5BB6B48D-C1ED-47D4-ADBF-13590F097AA2}">
      <dgm:prSet/>
      <dgm:spPr/>
      <dgm:t>
        <a:bodyPr/>
        <a:lstStyle/>
        <a:p>
          <a:r>
            <a:rPr lang="en-US" b="1"/>
            <a:t>Key Insights</a:t>
          </a:r>
          <a:endParaRPr lang="en-US"/>
        </a:p>
      </dgm:t>
    </dgm:pt>
    <dgm:pt modelId="{9361955C-00AB-4406-B31D-E8619B790642}" type="parTrans" cxnId="{A5648AF5-738D-46A1-8207-6B6CABBE8BD2}">
      <dgm:prSet/>
      <dgm:spPr/>
      <dgm:t>
        <a:bodyPr/>
        <a:lstStyle/>
        <a:p>
          <a:endParaRPr lang="en-US"/>
        </a:p>
      </dgm:t>
    </dgm:pt>
    <dgm:pt modelId="{C9E0EA96-CA11-4A37-955B-1D8ADEDF5999}" type="sibTrans" cxnId="{A5648AF5-738D-46A1-8207-6B6CABBE8BD2}">
      <dgm:prSet/>
      <dgm:spPr/>
      <dgm:t>
        <a:bodyPr/>
        <a:lstStyle/>
        <a:p>
          <a:endParaRPr lang="en-US"/>
        </a:p>
      </dgm:t>
    </dgm:pt>
    <dgm:pt modelId="{A45934A0-9088-4333-B2BA-5C90AD20CA2B}">
      <dgm:prSet/>
      <dgm:spPr/>
      <dgm:t>
        <a:bodyPr/>
        <a:lstStyle/>
        <a:p>
          <a:r>
            <a:rPr lang="en-US"/>
            <a:t>The tools people use in their day to day make a big difference – if we could have more easily combined our 6 </a:t>
          </a:r>
          <a:r>
            <a:rPr lang="en-US" err="1"/>
            <a:t>personnas</a:t>
          </a:r>
          <a:r>
            <a:rPr lang="en-US"/>
            <a:t> into 1, we would have been unstoppable</a:t>
          </a:r>
        </a:p>
      </dgm:t>
    </dgm:pt>
    <dgm:pt modelId="{ABFEAE10-A247-4CAB-8685-9E8F1CD4651C}" type="parTrans" cxnId="{FA73AE2E-BFA8-4430-9767-C673828427A5}">
      <dgm:prSet/>
      <dgm:spPr/>
      <dgm:t>
        <a:bodyPr/>
        <a:lstStyle/>
        <a:p>
          <a:endParaRPr lang="en-US"/>
        </a:p>
      </dgm:t>
    </dgm:pt>
    <dgm:pt modelId="{A2085891-A360-4BE3-9EE9-427C11964A73}" type="sibTrans" cxnId="{FA73AE2E-BFA8-4430-9767-C673828427A5}">
      <dgm:prSet/>
      <dgm:spPr/>
      <dgm:t>
        <a:bodyPr/>
        <a:lstStyle/>
        <a:p>
          <a:endParaRPr lang="en-US"/>
        </a:p>
      </dgm:t>
    </dgm:pt>
    <dgm:pt modelId="{EB0F23C4-24DF-4263-A8FE-E18B1281156B}">
      <dgm:prSet/>
      <dgm:spPr/>
      <dgm:t>
        <a:bodyPr/>
        <a:lstStyle/>
        <a:p>
          <a:r>
            <a:rPr lang="en-US"/>
            <a:t>ML is more reliable for structured tasks </a:t>
          </a:r>
        </a:p>
      </dgm:t>
    </dgm:pt>
    <dgm:pt modelId="{1A3A55BD-CAD5-461F-B80B-3E32095C12F3}" type="parTrans" cxnId="{0A4BA251-D152-4E1D-BC98-6D0F3D0D5ABA}">
      <dgm:prSet/>
      <dgm:spPr/>
      <dgm:t>
        <a:bodyPr/>
        <a:lstStyle/>
        <a:p>
          <a:endParaRPr lang="en-US"/>
        </a:p>
      </dgm:t>
    </dgm:pt>
    <dgm:pt modelId="{1389DC6D-AF6B-479E-9F52-32F4D62287B2}" type="sibTrans" cxnId="{0A4BA251-D152-4E1D-BC98-6D0F3D0D5ABA}">
      <dgm:prSet/>
      <dgm:spPr/>
      <dgm:t>
        <a:bodyPr/>
        <a:lstStyle/>
        <a:p>
          <a:endParaRPr lang="en-US"/>
        </a:p>
      </dgm:t>
    </dgm:pt>
    <dgm:pt modelId="{909F97E3-33E7-4587-957A-E1C511274B7F}">
      <dgm:prSet/>
      <dgm:spPr/>
      <dgm:t>
        <a:bodyPr/>
        <a:lstStyle/>
        <a:p>
          <a:r>
            <a:rPr lang="en-US"/>
            <a:t>LLM performance depends on prompt design but can potentially get you answers quicker. Need to balance the risk vs. desired outcome.</a:t>
          </a:r>
        </a:p>
      </dgm:t>
    </dgm:pt>
    <dgm:pt modelId="{DBE1865C-2675-4E12-88F0-E57BF831E27E}" type="parTrans" cxnId="{5F67EF3C-7E56-435B-B182-274F991AE646}">
      <dgm:prSet/>
      <dgm:spPr/>
      <dgm:t>
        <a:bodyPr/>
        <a:lstStyle/>
        <a:p>
          <a:endParaRPr lang="en-US"/>
        </a:p>
      </dgm:t>
    </dgm:pt>
    <dgm:pt modelId="{ECC09CCC-389C-4F99-97FC-02D961A94283}" type="sibTrans" cxnId="{5F67EF3C-7E56-435B-B182-274F991AE646}">
      <dgm:prSet/>
      <dgm:spPr/>
      <dgm:t>
        <a:bodyPr/>
        <a:lstStyle/>
        <a:p>
          <a:endParaRPr lang="en-US"/>
        </a:p>
      </dgm:t>
    </dgm:pt>
    <dgm:pt modelId="{04C4008F-28EA-4A0A-803B-F2C72D230AB1}">
      <dgm:prSet/>
      <dgm:spPr/>
      <dgm:t>
        <a:bodyPr/>
        <a:lstStyle/>
        <a:p>
          <a:r>
            <a:rPr lang="en-US" b="1"/>
            <a:t>Limitations</a:t>
          </a:r>
          <a:endParaRPr lang="en-US"/>
        </a:p>
      </dgm:t>
    </dgm:pt>
    <dgm:pt modelId="{F7206184-ED15-41C3-8825-AD46AAA506FE}" type="parTrans" cxnId="{9D840691-1355-4866-B5E5-42BA79F2D3F7}">
      <dgm:prSet/>
      <dgm:spPr/>
      <dgm:t>
        <a:bodyPr/>
        <a:lstStyle/>
        <a:p>
          <a:endParaRPr lang="en-US"/>
        </a:p>
      </dgm:t>
    </dgm:pt>
    <dgm:pt modelId="{0A406D4B-F52D-4280-AC9B-5C04FE789563}" type="sibTrans" cxnId="{9D840691-1355-4866-B5E5-42BA79F2D3F7}">
      <dgm:prSet/>
      <dgm:spPr/>
      <dgm:t>
        <a:bodyPr/>
        <a:lstStyle/>
        <a:p>
          <a:endParaRPr lang="en-US"/>
        </a:p>
      </dgm:t>
    </dgm:pt>
    <dgm:pt modelId="{3D0B94FD-FC9A-4A80-A268-6FB7F338E737}">
      <dgm:prSet/>
      <dgm:spPr/>
      <dgm:t>
        <a:bodyPr/>
        <a:lstStyle/>
        <a:p>
          <a:r>
            <a:rPr lang="en-US"/>
            <a:t>ML approach has steeper learning curve to setup and troubleshoot</a:t>
          </a:r>
        </a:p>
      </dgm:t>
    </dgm:pt>
    <dgm:pt modelId="{DB6E16C6-9793-43DC-9982-A1E0863CC137}" type="parTrans" cxnId="{C8C060A0-A1E4-4417-AF18-0CCE08C3E603}">
      <dgm:prSet/>
      <dgm:spPr/>
      <dgm:t>
        <a:bodyPr/>
        <a:lstStyle/>
        <a:p>
          <a:endParaRPr lang="en-US"/>
        </a:p>
      </dgm:t>
    </dgm:pt>
    <dgm:pt modelId="{86F7D0A1-5E75-4DA9-94DD-D924A70CBF45}" type="sibTrans" cxnId="{C8C060A0-A1E4-4417-AF18-0CCE08C3E603}">
      <dgm:prSet/>
      <dgm:spPr/>
      <dgm:t>
        <a:bodyPr/>
        <a:lstStyle/>
        <a:p>
          <a:endParaRPr lang="en-US"/>
        </a:p>
      </dgm:t>
    </dgm:pt>
    <dgm:pt modelId="{C28AEEB8-ED8B-4C65-85C0-AE4F749D7527}">
      <dgm:prSet/>
      <dgm:spPr/>
      <dgm:t>
        <a:bodyPr/>
        <a:lstStyle/>
        <a:p>
          <a:r>
            <a:rPr lang="en-US"/>
            <a:t>LLM variability – what you have access to (free vs. paid; integrated vs. AI incubator), makes a difference for speed and quality of output</a:t>
          </a:r>
        </a:p>
      </dgm:t>
    </dgm:pt>
    <dgm:pt modelId="{6E96D5B6-0399-4918-B356-0C1BCBB536F7}" type="parTrans" cxnId="{7F5161D6-A3FC-49E6-99A7-48C84A327D12}">
      <dgm:prSet/>
      <dgm:spPr/>
      <dgm:t>
        <a:bodyPr/>
        <a:lstStyle/>
        <a:p>
          <a:endParaRPr lang="en-US"/>
        </a:p>
      </dgm:t>
    </dgm:pt>
    <dgm:pt modelId="{F9B63333-16E9-448D-925E-B3001F67B579}" type="sibTrans" cxnId="{7F5161D6-A3FC-49E6-99A7-48C84A327D12}">
      <dgm:prSet/>
      <dgm:spPr/>
      <dgm:t>
        <a:bodyPr/>
        <a:lstStyle/>
        <a:p>
          <a:endParaRPr lang="en-US"/>
        </a:p>
      </dgm:t>
    </dgm:pt>
    <dgm:pt modelId="{D6D33840-388B-4ED5-96FF-E2CF28ECC52D}">
      <dgm:prSet/>
      <dgm:spPr/>
      <dgm:t>
        <a:bodyPr/>
        <a:lstStyle/>
        <a:p>
          <a:r>
            <a:rPr lang="en-US" b="1"/>
            <a:t>Future Work</a:t>
          </a:r>
          <a:endParaRPr lang="en-US"/>
        </a:p>
      </dgm:t>
    </dgm:pt>
    <dgm:pt modelId="{A042AB3A-4A6C-4D11-946A-5298F414F909}" type="parTrans" cxnId="{CEBE1915-E10A-47E2-AEFB-8890B52E8963}">
      <dgm:prSet/>
      <dgm:spPr/>
      <dgm:t>
        <a:bodyPr/>
        <a:lstStyle/>
        <a:p>
          <a:endParaRPr lang="en-US"/>
        </a:p>
      </dgm:t>
    </dgm:pt>
    <dgm:pt modelId="{B76A996E-F52F-4232-B9D7-58980719F3D0}" type="sibTrans" cxnId="{CEBE1915-E10A-47E2-AEFB-8890B52E8963}">
      <dgm:prSet/>
      <dgm:spPr/>
      <dgm:t>
        <a:bodyPr/>
        <a:lstStyle/>
        <a:p>
          <a:endParaRPr lang="en-US"/>
        </a:p>
      </dgm:t>
    </dgm:pt>
    <dgm:pt modelId="{4CF362D1-BEF4-45B2-948B-FC61EF614B89}">
      <dgm:prSet/>
      <dgm:spPr/>
      <dgm:t>
        <a:bodyPr/>
        <a:lstStyle/>
        <a:p>
          <a:r>
            <a:rPr lang="en-US"/>
            <a:t>Continue to learn to use these tools, so that when you need to apply them, the learning curve is less steep</a:t>
          </a:r>
        </a:p>
      </dgm:t>
    </dgm:pt>
    <dgm:pt modelId="{C4911C0E-97B2-4EC5-AAF1-101A7ADEA8BF}" type="parTrans" cxnId="{82FBE673-E2B9-4A4D-AB18-A0BA0EAADEF7}">
      <dgm:prSet/>
      <dgm:spPr/>
      <dgm:t>
        <a:bodyPr/>
        <a:lstStyle/>
        <a:p>
          <a:endParaRPr lang="en-US"/>
        </a:p>
      </dgm:t>
    </dgm:pt>
    <dgm:pt modelId="{9521305F-6A5D-4C23-9A5C-776BB152ED60}" type="sibTrans" cxnId="{82FBE673-E2B9-4A4D-AB18-A0BA0EAADEF7}">
      <dgm:prSet/>
      <dgm:spPr/>
      <dgm:t>
        <a:bodyPr/>
        <a:lstStyle/>
        <a:p>
          <a:endParaRPr lang="en-US"/>
        </a:p>
      </dgm:t>
    </dgm:pt>
    <dgm:pt modelId="{F6744CB3-F8F5-4409-9DA4-25A1F26CB4AD}">
      <dgm:prSet/>
      <dgm:spPr/>
      <dgm:t>
        <a:bodyPr/>
        <a:lstStyle/>
        <a:p>
          <a:r>
            <a:rPr lang="en-US"/>
            <a:t>Stay up to date on latest models, agents, skills, etc.</a:t>
          </a:r>
        </a:p>
      </dgm:t>
    </dgm:pt>
    <dgm:pt modelId="{EC08BF16-14CB-491D-8EEB-773ABE0B854D}" type="parTrans" cxnId="{5766C32F-CA0D-40EC-99E8-43B7CD8B4920}">
      <dgm:prSet/>
      <dgm:spPr/>
      <dgm:t>
        <a:bodyPr/>
        <a:lstStyle/>
        <a:p>
          <a:endParaRPr lang="en-US"/>
        </a:p>
      </dgm:t>
    </dgm:pt>
    <dgm:pt modelId="{2B6B8DBF-2E09-4FB3-84FB-91A2630D3774}" type="sibTrans" cxnId="{5766C32F-CA0D-40EC-99E8-43B7CD8B4920}">
      <dgm:prSet/>
      <dgm:spPr/>
      <dgm:t>
        <a:bodyPr/>
        <a:lstStyle/>
        <a:p>
          <a:endParaRPr lang="en-US"/>
        </a:p>
      </dgm:t>
    </dgm:pt>
    <dgm:pt modelId="{F67A49CA-B82F-405B-96D6-B28F66A0B551}" type="pres">
      <dgm:prSet presAssocID="{505CE701-DC77-4C0F-9B9D-7B0AC2AB70BA}" presName="linear" presStyleCnt="0">
        <dgm:presLayoutVars>
          <dgm:animLvl val="lvl"/>
          <dgm:resizeHandles val="exact"/>
        </dgm:presLayoutVars>
      </dgm:prSet>
      <dgm:spPr/>
    </dgm:pt>
    <dgm:pt modelId="{4B1A4B99-5FD5-4D81-8F05-F93010C06E2B}" type="pres">
      <dgm:prSet presAssocID="{5E70E508-D13B-49A9-B961-8E24DECF181A}" presName="parentText" presStyleLbl="node1" presStyleIdx="0" presStyleCnt="4">
        <dgm:presLayoutVars>
          <dgm:chMax val="0"/>
          <dgm:bulletEnabled val="1"/>
        </dgm:presLayoutVars>
      </dgm:prSet>
      <dgm:spPr/>
    </dgm:pt>
    <dgm:pt modelId="{FA7D0413-03D7-4814-9722-F4A02B937650}" type="pres">
      <dgm:prSet presAssocID="{5E70E508-D13B-49A9-B961-8E24DECF181A}" presName="childText" presStyleLbl="revTx" presStyleIdx="0" presStyleCnt="4">
        <dgm:presLayoutVars>
          <dgm:bulletEnabled val="1"/>
        </dgm:presLayoutVars>
      </dgm:prSet>
      <dgm:spPr/>
    </dgm:pt>
    <dgm:pt modelId="{6E240B25-77B0-4DB9-AF5E-E73D171BFA49}" type="pres">
      <dgm:prSet presAssocID="{5BB6B48D-C1ED-47D4-ADBF-13590F097AA2}" presName="parentText" presStyleLbl="node1" presStyleIdx="1" presStyleCnt="4">
        <dgm:presLayoutVars>
          <dgm:chMax val="0"/>
          <dgm:bulletEnabled val="1"/>
        </dgm:presLayoutVars>
      </dgm:prSet>
      <dgm:spPr/>
    </dgm:pt>
    <dgm:pt modelId="{9068952F-7E79-4348-811B-FAADFD65556B}" type="pres">
      <dgm:prSet presAssocID="{5BB6B48D-C1ED-47D4-ADBF-13590F097AA2}" presName="childText" presStyleLbl="revTx" presStyleIdx="1" presStyleCnt="4">
        <dgm:presLayoutVars>
          <dgm:bulletEnabled val="1"/>
        </dgm:presLayoutVars>
      </dgm:prSet>
      <dgm:spPr/>
    </dgm:pt>
    <dgm:pt modelId="{A98C1C5B-574A-4518-8E2C-62B6094E43E4}" type="pres">
      <dgm:prSet presAssocID="{04C4008F-28EA-4A0A-803B-F2C72D230AB1}" presName="parentText" presStyleLbl="node1" presStyleIdx="2" presStyleCnt="4">
        <dgm:presLayoutVars>
          <dgm:chMax val="0"/>
          <dgm:bulletEnabled val="1"/>
        </dgm:presLayoutVars>
      </dgm:prSet>
      <dgm:spPr/>
    </dgm:pt>
    <dgm:pt modelId="{8F29B89B-B912-472C-94CF-76FB081D1D58}" type="pres">
      <dgm:prSet presAssocID="{04C4008F-28EA-4A0A-803B-F2C72D230AB1}" presName="childText" presStyleLbl="revTx" presStyleIdx="2" presStyleCnt="4">
        <dgm:presLayoutVars>
          <dgm:bulletEnabled val="1"/>
        </dgm:presLayoutVars>
      </dgm:prSet>
      <dgm:spPr/>
    </dgm:pt>
    <dgm:pt modelId="{AB2682BC-C21A-4072-8D08-112CFC358897}" type="pres">
      <dgm:prSet presAssocID="{D6D33840-388B-4ED5-96FF-E2CF28ECC52D}" presName="parentText" presStyleLbl="node1" presStyleIdx="3" presStyleCnt="4">
        <dgm:presLayoutVars>
          <dgm:chMax val="0"/>
          <dgm:bulletEnabled val="1"/>
        </dgm:presLayoutVars>
      </dgm:prSet>
      <dgm:spPr/>
    </dgm:pt>
    <dgm:pt modelId="{B12CA236-17C1-413E-BD96-1AA7BFEDE173}" type="pres">
      <dgm:prSet presAssocID="{D6D33840-388B-4ED5-96FF-E2CF28ECC52D}" presName="childText" presStyleLbl="revTx" presStyleIdx="3" presStyleCnt="4">
        <dgm:presLayoutVars>
          <dgm:bulletEnabled val="1"/>
        </dgm:presLayoutVars>
      </dgm:prSet>
      <dgm:spPr/>
    </dgm:pt>
  </dgm:ptLst>
  <dgm:cxnLst>
    <dgm:cxn modelId="{CEBE1915-E10A-47E2-AEFB-8890B52E8963}" srcId="{505CE701-DC77-4C0F-9B9D-7B0AC2AB70BA}" destId="{D6D33840-388B-4ED5-96FF-E2CF28ECC52D}" srcOrd="3" destOrd="0" parTransId="{A042AB3A-4A6C-4D11-946A-5298F414F909}" sibTransId="{B76A996E-F52F-4232-B9D7-58980719F3D0}"/>
    <dgm:cxn modelId="{1984301B-A006-4772-8A2C-DC843A32AC15}" type="presOf" srcId="{5E70E508-D13B-49A9-B961-8E24DECF181A}" destId="{4B1A4B99-5FD5-4D81-8F05-F93010C06E2B}" srcOrd="0" destOrd="0" presId="urn:microsoft.com/office/officeart/2005/8/layout/vList2"/>
    <dgm:cxn modelId="{A1A79A21-370C-40A2-AFA2-E4323186F453}" type="presOf" srcId="{505CE701-DC77-4C0F-9B9D-7B0AC2AB70BA}" destId="{F67A49CA-B82F-405B-96D6-B28F66A0B551}" srcOrd="0" destOrd="0" presId="urn:microsoft.com/office/officeart/2005/8/layout/vList2"/>
    <dgm:cxn modelId="{FA73AE2E-BFA8-4430-9767-C673828427A5}" srcId="{5BB6B48D-C1ED-47D4-ADBF-13590F097AA2}" destId="{A45934A0-9088-4333-B2BA-5C90AD20CA2B}" srcOrd="0" destOrd="0" parTransId="{ABFEAE10-A247-4CAB-8685-9E8F1CD4651C}" sibTransId="{A2085891-A360-4BE3-9EE9-427C11964A73}"/>
    <dgm:cxn modelId="{5766C32F-CA0D-40EC-99E8-43B7CD8B4920}" srcId="{D6D33840-388B-4ED5-96FF-E2CF28ECC52D}" destId="{F6744CB3-F8F5-4409-9DA4-25A1F26CB4AD}" srcOrd="1" destOrd="0" parTransId="{EC08BF16-14CB-491D-8EEB-773ABE0B854D}" sibTransId="{2B6B8DBF-2E09-4FB3-84FB-91A2630D3774}"/>
    <dgm:cxn modelId="{315BAC3A-32F2-4163-8BA8-3A75EF0E1E64}" type="presOf" srcId="{F6744CB3-F8F5-4409-9DA4-25A1F26CB4AD}" destId="{B12CA236-17C1-413E-BD96-1AA7BFEDE173}" srcOrd="0" destOrd="1" presId="urn:microsoft.com/office/officeart/2005/8/layout/vList2"/>
    <dgm:cxn modelId="{5F67EF3C-7E56-435B-B182-274F991AE646}" srcId="{5BB6B48D-C1ED-47D4-ADBF-13590F097AA2}" destId="{909F97E3-33E7-4587-957A-E1C511274B7F}" srcOrd="2" destOrd="0" parTransId="{DBE1865C-2675-4E12-88F0-E57BF831E27E}" sibTransId="{ECC09CCC-389C-4F99-97FC-02D961A94283}"/>
    <dgm:cxn modelId="{7EB46565-2BCF-4ED5-957D-B26C20249817}" type="presOf" srcId="{98344FD4-4E3C-4634-85CC-BAB87EC25BD1}" destId="{FA7D0413-03D7-4814-9722-F4A02B937650}" srcOrd="0" destOrd="0" presId="urn:microsoft.com/office/officeart/2005/8/layout/vList2"/>
    <dgm:cxn modelId="{421EC945-306D-44BB-8D8D-1E39BCF72E0B}" type="presOf" srcId="{D6D33840-388B-4ED5-96FF-E2CF28ECC52D}" destId="{AB2682BC-C21A-4072-8D08-112CFC358897}" srcOrd="0" destOrd="0" presId="urn:microsoft.com/office/officeart/2005/8/layout/vList2"/>
    <dgm:cxn modelId="{0A4BA251-D152-4E1D-BC98-6D0F3D0D5ABA}" srcId="{5BB6B48D-C1ED-47D4-ADBF-13590F097AA2}" destId="{EB0F23C4-24DF-4263-A8FE-E18B1281156B}" srcOrd="1" destOrd="0" parTransId="{1A3A55BD-CAD5-461F-B80B-3E32095C12F3}" sibTransId="{1389DC6D-AF6B-479E-9F52-32F4D62287B2}"/>
    <dgm:cxn modelId="{82FBE673-E2B9-4A4D-AB18-A0BA0EAADEF7}" srcId="{D6D33840-388B-4ED5-96FF-E2CF28ECC52D}" destId="{4CF362D1-BEF4-45B2-948B-FC61EF614B89}" srcOrd="0" destOrd="0" parTransId="{C4911C0E-97B2-4EC5-AAF1-101A7ADEA8BF}" sibTransId="{9521305F-6A5D-4C23-9A5C-776BB152ED60}"/>
    <dgm:cxn modelId="{0448917E-22FC-4B49-AABF-F035D5DC1F03}" srcId="{5E70E508-D13B-49A9-B961-8E24DECF181A}" destId="{98344FD4-4E3C-4634-85CC-BAB87EC25BD1}" srcOrd="0" destOrd="0" parTransId="{AB86C21E-729A-46A2-8D86-DF1750522392}" sibTransId="{6E846614-D932-46B9-A76A-F603039C68A0}"/>
    <dgm:cxn modelId="{9D840691-1355-4866-B5E5-42BA79F2D3F7}" srcId="{505CE701-DC77-4C0F-9B9D-7B0AC2AB70BA}" destId="{04C4008F-28EA-4A0A-803B-F2C72D230AB1}" srcOrd="2" destOrd="0" parTransId="{F7206184-ED15-41C3-8825-AD46AAA506FE}" sibTransId="{0A406D4B-F52D-4280-AC9B-5C04FE789563}"/>
    <dgm:cxn modelId="{D4598C9F-3439-4D05-88C5-01710FEAAE49}" type="presOf" srcId="{909F97E3-33E7-4587-957A-E1C511274B7F}" destId="{9068952F-7E79-4348-811B-FAADFD65556B}" srcOrd="0" destOrd="2" presId="urn:microsoft.com/office/officeart/2005/8/layout/vList2"/>
    <dgm:cxn modelId="{C8C060A0-A1E4-4417-AF18-0CCE08C3E603}" srcId="{04C4008F-28EA-4A0A-803B-F2C72D230AB1}" destId="{3D0B94FD-FC9A-4A80-A268-6FB7F338E737}" srcOrd="0" destOrd="0" parTransId="{DB6E16C6-9793-43DC-9982-A1E0863CC137}" sibTransId="{86F7D0A1-5E75-4DA9-94DD-D924A70CBF45}"/>
    <dgm:cxn modelId="{280350A9-7004-45AE-B1AB-12D7485C993E}" type="presOf" srcId="{4CF362D1-BEF4-45B2-948B-FC61EF614B89}" destId="{B12CA236-17C1-413E-BD96-1AA7BFEDE173}" srcOrd="0" destOrd="0" presId="urn:microsoft.com/office/officeart/2005/8/layout/vList2"/>
    <dgm:cxn modelId="{63426DAD-ECE9-4D31-8B8E-3B7A1E7D0EC6}" type="presOf" srcId="{EB0F23C4-24DF-4263-A8FE-E18B1281156B}" destId="{9068952F-7E79-4348-811B-FAADFD65556B}" srcOrd="0" destOrd="1" presId="urn:microsoft.com/office/officeart/2005/8/layout/vList2"/>
    <dgm:cxn modelId="{361912B4-9FF6-40E1-BD5A-652F2FD721F4}" srcId="{505CE701-DC77-4C0F-9B9D-7B0AC2AB70BA}" destId="{5E70E508-D13B-49A9-B961-8E24DECF181A}" srcOrd="0" destOrd="0" parTransId="{8344337D-9CBC-407C-8256-A32F27F1F8CE}" sibTransId="{80F05ABF-352D-4606-B511-A0672479346E}"/>
    <dgm:cxn modelId="{C741F2CC-2DEE-4AC9-B83E-EF0A376A0EF9}" type="presOf" srcId="{C28AEEB8-ED8B-4C65-85C0-AE4F749D7527}" destId="{8F29B89B-B912-472C-94CF-76FB081D1D58}" srcOrd="0" destOrd="1" presId="urn:microsoft.com/office/officeart/2005/8/layout/vList2"/>
    <dgm:cxn modelId="{8C845ED4-50D3-4670-93BD-E49E32289DB2}" type="presOf" srcId="{04C4008F-28EA-4A0A-803B-F2C72D230AB1}" destId="{A98C1C5B-574A-4518-8E2C-62B6094E43E4}" srcOrd="0" destOrd="0" presId="urn:microsoft.com/office/officeart/2005/8/layout/vList2"/>
    <dgm:cxn modelId="{7F5161D6-A3FC-49E6-99A7-48C84A327D12}" srcId="{04C4008F-28EA-4A0A-803B-F2C72D230AB1}" destId="{C28AEEB8-ED8B-4C65-85C0-AE4F749D7527}" srcOrd="1" destOrd="0" parTransId="{6E96D5B6-0399-4918-B356-0C1BCBB536F7}" sibTransId="{F9B63333-16E9-448D-925E-B3001F67B579}"/>
    <dgm:cxn modelId="{6BFC4EE9-516A-4116-9941-D066E4F2FE57}" type="presOf" srcId="{5BB6B48D-C1ED-47D4-ADBF-13590F097AA2}" destId="{6E240B25-77B0-4DB9-AF5E-E73D171BFA49}" srcOrd="0" destOrd="0" presId="urn:microsoft.com/office/officeart/2005/8/layout/vList2"/>
    <dgm:cxn modelId="{A74620EA-BE35-448D-8AB8-AAEE36E8BFCD}" type="presOf" srcId="{3D0B94FD-FC9A-4A80-A268-6FB7F338E737}" destId="{8F29B89B-B912-472C-94CF-76FB081D1D58}" srcOrd="0" destOrd="0" presId="urn:microsoft.com/office/officeart/2005/8/layout/vList2"/>
    <dgm:cxn modelId="{4A9658EA-8BC3-419D-BEF4-0C92D2688B2B}" type="presOf" srcId="{A45934A0-9088-4333-B2BA-5C90AD20CA2B}" destId="{9068952F-7E79-4348-811B-FAADFD65556B}" srcOrd="0" destOrd="0" presId="urn:microsoft.com/office/officeart/2005/8/layout/vList2"/>
    <dgm:cxn modelId="{A5648AF5-738D-46A1-8207-6B6CABBE8BD2}" srcId="{505CE701-DC77-4C0F-9B9D-7B0AC2AB70BA}" destId="{5BB6B48D-C1ED-47D4-ADBF-13590F097AA2}" srcOrd="1" destOrd="0" parTransId="{9361955C-00AB-4406-B31D-E8619B790642}" sibTransId="{C9E0EA96-CA11-4A37-955B-1D8ADEDF5999}"/>
    <dgm:cxn modelId="{F21C053B-E7A2-4693-90B0-0C6FBDA6F849}" type="presParOf" srcId="{F67A49CA-B82F-405B-96D6-B28F66A0B551}" destId="{4B1A4B99-5FD5-4D81-8F05-F93010C06E2B}" srcOrd="0" destOrd="0" presId="urn:microsoft.com/office/officeart/2005/8/layout/vList2"/>
    <dgm:cxn modelId="{4B8AE59C-7B10-49C2-8439-22730A9E966B}" type="presParOf" srcId="{F67A49CA-B82F-405B-96D6-B28F66A0B551}" destId="{FA7D0413-03D7-4814-9722-F4A02B937650}" srcOrd="1" destOrd="0" presId="urn:microsoft.com/office/officeart/2005/8/layout/vList2"/>
    <dgm:cxn modelId="{7C78C425-4392-4BA2-9F7B-DDEE62D456FE}" type="presParOf" srcId="{F67A49CA-B82F-405B-96D6-B28F66A0B551}" destId="{6E240B25-77B0-4DB9-AF5E-E73D171BFA49}" srcOrd="2" destOrd="0" presId="urn:microsoft.com/office/officeart/2005/8/layout/vList2"/>
    <dgm:cxn modelId="{D58AFFC4-C3B8-492E-A20C-6A3A9A6541EF}" type="presParOf" srcId="{F67A49CA-B82F-405B-96D6-B28F66A0B551}" destId="{9068952F-7E79-4348-811B-FAADFD65556B}" srcOrd="3" destOrd="0" presId="urn:microsoft.com/office/officeart/2005/8/layout/vList2"/>
    <dgm:cxn modelId="{8B8ECC94-B262-4692-B037-E0F1008917DA}" type="presParOf" srcId="{F67A49CA-B82F-405B-96D6-B28F66A0B551}" destId="{A98C1C5B-574A-4518-8E2C-62B6094E43E4}" srcOrd="4" destOrd="0" presId="urn:microsoft.com/office/officeart/2005/8/layout/vList2"/>
    <dgm:cxn modelId="{0DB854F2-3A62-490F-8B39-62280DF72543}" type="presParOf" srcId="{F67A49CA-B82F-405B-96D6-B28F66A0B551}" destId="{8F29B89B-B912-472C-94CF-76FB081D1D58}" srcOrd="5" destOrd="0" presId="urn:microsoft.com/office/officeart/2005/8/layout/vList2"/>
    <dgm:cxn modelId="{3242977E-01D1-4512-AC77-96C9B682DC9A}" type="presParOf" srcId="{F67A49CA-B82F-405B-96D6-B28F66A0B551}" destId="{AB2682BC-C21A-4072-8D08-112CFC358897}" srcOrd="6" destOrd="0" presId="urn:microsoft.com/office/officeart/2005/8/layout/vList2"/>
    <dgm:cxn modelId="{13036746-96D3-4E14-91E1-D6727BCE2128}" type="presParOf" srcId="{F67A49CA-B82F-405B-96D6-B28F66A0B551}" destId="{B12CA236-17C1-413E-BD96-1AA7BFEDE173}"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DC285-AA31-495B-852B-1A9BA2A8CDAB}">
      <dsp:nvSpPr>
        <dsp:cNvPr id="0" name=""/>
        <dsp:cNvSpPr/>
      </dsp:nvSpPr>
      <dsp:spPr>
        <a:xfrm>
          <a:off x="0" y="18676"/>
          <a:ext cx="8411250" cy="50873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Problem</a:t>
          </a:r>
        </a:p>
      </dsp:txBody>
      <dsp:txXfrm>
        <a:off x="24835" y="43511"/>
        <a:ext cx="8361580" cy="459069"/>
      </dsp:txXfrm>
    </dsp:sp>
    <dsp:sp modelId="{06652109-65F9-4E5C-916E-335E99EF96A9}">
      <dsp:nvSpPr>
        <dsp:cNvPr id="0" name=""/>
        <dsp:cNvSpPr/>
      </dsp:nvSpPr>
      <dsp:spPr>
        <a:xfrm>
          <a:off x="0" y="527416"/>
          <a:ext cx="8411250" cy="2608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7057"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kern="1200">
              <a:latin typeface="Arial"/>
            </a:rPr>
            <a:t>FTES stores excess heat in hydraulically created fractures and monitors conditions through multiparameter data from several boreholes. A major challenge is determining if and when fracture connectivity changes during pressurized injections or recovery. </a:t>
          </a:r>
          <a:endParaRPr lang="en-US" sz="1700" kern="1200"/>
        </a:p>
        <a:p>
          <a:pPr marL="171450" lvl="1" indent="-171450" algn="l" defTabSz="755650" rtl="0">
            <a:lnSpc>
              <a:spcPct val="90000"/>
            </a:lnSpc>
            <a:spcBef>
              <a:spcPct val="0"/>
            </a:spcBef>
            <a:spcAft>
              <a:spcPct val="20000"/>
            </a:spcAft>
            <a:buChar char="•"/>
          </a:pPr>
          <a:r>
            <a:rPr lang="en-US" sz="1700" kern="1200">
              <a:latin typeface="Arial"/>
            </a:rPr>
            <a:t>Understanding changes in fracture connectivity can help understand long-term heat-storage performance and inform operational decisions.</a:t>
          </a:r>
          <a:endParaRPr lang="en-US" sz="1700" kern="1200"/>
        </a:p>
      </dsp:txBody>
      <dsp:txXfrm>
        <a:off x="0" y="527416"/>
        <a:ext cx="8411250" cy="2608200"/>
      </dsp:txXfrm>
    </dsp:sp>
    <dsp:sp modelId="{AA7085D8-100E-4791-8A0A-79B853ED3F6E}">
      <dsp:nvSpPr>
        <dsp:cNvPr id="0" name=""/>
        <dsp:cNvSpPr/>
      </dsp:nvSpPr>
      <dsp:spPr>
        <a:xfrm>
          <a:off x="0" y="3135616"/>
          <a:ext cx="8411250" cy="52753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Goal</a:t>
          </a:r>
        </a:p>
      </dsp:txBody>
      <dsp:txXfrm>
        <a:off x="25752" y="3161368"/>
        <a:ext cx="8359746" cy="476034"/>
      </dsp:txXfrm>
    </dsp:sp>
    <dsp:sp modelId="{D247E857-4D74-4A0A-8738-DA4BF8B57AD5}">
      <dsp:nvSpPr>
        <dsp:cNvPr id="0" name=""/>
        <dsp:cNvSpPr/>
      </dsp:nvSpPr>
      <dsp:spPr>
        <a:xfrm>
          <a:off x="0" y="3663155"/>
          <a:ext cx="8411250" cy="1766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7057"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kern="1200"/>
            <a:t>Build </a:t>
          </a:r>
          <a:r>
            <a:rPr lang="en-US" sz="1700" kern="1200">
              <a:latin typeface="Arial"/>
            </a:rPr>
            <a:t>an AI/ML model</a:t>
          </a:r>
          <a:r>
            <a:rPr lang="en-US" sz="1700" kern="1200"/>
            <a:t> to</a:t>
          </a:r>
          <a:r>
            <a:rPr lang="en-US" sz="1700" kern="1200">
              <a:latin typeface="Arial"/>
            </a:rPr>
            <a:t> automatically clean and process multi-resolution time-series data to quantify system behavior and build</a:t>
          </a:r>
          <a:r>
            <a:rPr lang="en-US" sz="1700" kern="1200"/>
            <a:t> </a:t>
          </a:r>
          <a:r>
            <a:rPr lang="en-US" sz="1700" kern="1200">
              <a:latin typeface="Arial"/>
            </a:rPr>
            <a:t>a technically defensible measured digital twin of the FTES system. </a:t>
          </a:r>
          <a:endParaRPr lang="en-US" sz="1700" kern="1200"/>
        </a:p>
      </dsp:txBody>
      <dsp:txXfrm>
        <a:off x="0" y="3663155"/>
        <a:ext cx="8411250" cy="1766259"/>
      </dsp:txXfrm>
    </dsp:sp>
    <dsp:sp modelId="{9FF5E077-601D-49D5-9F29-06EE4CF49A2B}">
      <dsp:nvSpPr>
        <dsp:cNvPr id="0" name=""/>
        <dsp:cNvSpPr/>
      </dsp:nvSpPr>
      <dsp:spPr>
        <a:xfrm>
          <a:off x="0" y="5429415"/>
          <a:ext cx="8411250" cy="5181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Success Criteria</a:t>
          </a:r>
        </a:p>
      </dsp:txBody>
      <dsp:txXfrm>
        <a:off x="25294" y="5454709"/>
        <a:ext cx="8360662" cy="467572"/>
      </dsp:txXfrm>
    </dsp:sp>
    <dsp:sp modelId="{00352403-9404-4AE3-AB65-3EAFFE013E65}">
      <dsp:nvSpPr>
        <dsp:cNvPr id="0" name=""/>
        <dsp:cNvSpPr/>
      </dsp:nvSpPr>
      <dsp:spPr>
        <a:xfrm>
          <a:off x="0" y="5947575"/>
          <a:ext cx="8411250" cy="1366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7057"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kern="1200">
              <a:latin typeface="Arial"/>
            </a:rPr>
            <a:t>Automated, accurate data processing achieved.</a:t>
          </a:r>
          <a:endParaRPr lang="en-US" sz="1700" kern="1200"/>
        </a:p>
        <a:p>
          <a:pPr marL="171450" lvl="1" indent="-171450" algn="l" defTabSz="755650" rtl="0">
            <a:lnSpc>
              <a:spcPct val="90000"/>
            </a:lnSpc>
            <a:spcBef>
              <a:spcPct val="0"/>
            </a:spcBef>
            <a:spcAft>
              <a:spcPct val="20000"/>
            </a:spcAft>
            <a:buChar char="•"/>
          </a:pPr>
          <a:r>
            <a:rPr lang="en-US" sz="1700" kern="1200">
              <a:latin typeface="Arial"/>
            </a:rPr>
            <a:t>Temporal evolution of edge-weighting that is consistent with observed measurement differences at the wells in the given dataset. </a:t>
          </a:r>
        </a:p>
      </dsp:txBody>
      <dsp:txXfrm>
        <a:off x="0" y="5947575"/>
        <a:ext cx="8411250" cy="13662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E5F0C-8059-4302-9C7B-55A36B25A4EB}">
      <dsp:nvSpPr>
        <dsp:cNvPr id="0" name=""/>
        <dsp:cNvSpPr/>
      </dsp:nvSpPr>
      <dsp:spPr>
        <a:xfrm>
          <a:off x="0" y="599849"/>
          <a:ext cx="7772400" cy="21735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3225" tIns="624840" rIns="603225" bIns="213360" numCol="1" spcCol="1270" anchor="t" anchorCtr="0">
          <a:noAutofit/>
        </a:bodyPr>
        <a:lstStyle/>
        <a:p>
          <a:pPr marL="285750" lvl="1" indent="-285750" algn="l" defTabSz="1333500" rtl="0">
            <a:lnSpc>
              <a:spcPct val="90000"/>
            </a:lnSpc>
            <a:spcBef>
              <a:spcPct val="0"/>
            </a:spcBef>
            <a:spcAft>
              <a:spcPct val="15000"/>
            </a:spcAft>
            <a:buChar char="•"/>
          </a:pPr>
          <a:r>
            <a:rPr lang="en-US" sz="3000" kern="1200"/>
            <a:t>Source: </a:t>
          </a:r>
          <a:r>
            <a:rPr lang="en-US" sz="3000" kern="1200">
              <a:latin typeface="Arial"/>
            </a:rPr>
            <a:t>Geothermal Data Repository</a:t>
          </a:r>
          <a:endParaRPr lang="en-US" sz="3000" kern="1200"/>
        </a:p>
        <a:p>
          <a:pPr marL="285750" lvl="1" indent="-285750" algn="l" defTabSz="1333500" rtl="0">
            <a:lnSpc>
              <a:spcPct val="90000"/>
            </a:lnSpc>
            <a:spcBef>
              <a:spcPct val="0"/>
            </a:spcBef>
            <a:spcAft>
              <a:spcPct val="15000"/>
            </a:spcAft>
            <a:buChar char="•"/>
          </a:pPr>
          <a:r>
            <a:rPr lang="en-US" sz="3000" kern="1200"/>
            <a:t>Size: </a:t>
          </a:r>
          <a:r>
            <a:rPr lang="en-US" sz="3000" kern="1200">
              <a:latin typeface="Arial"/>
            </a:rPr>
            <a:t>2,609 hourly time steps</a:t>
          </a:r>
          <a:endParaRPr lang="en-US" sz="3000" kern="1200"/>
        </a:p>
        <a:p>
          <a:pPr marL="285750" lvl="1" indent="-285750" algn="l" defTabSz="1333500" rtl="0">
            <a:lnSpc>
              <a:spcPct val="90000"/>
            </a:lnSpc>
            <a:spcBef>
              <a:spcPct val="0"/>
            </a:spcBef>
            <a:spcAft>
              <a:spcPct val="15000"/>
            </a:spcAft>
            <a:buChar char="•"/>
          </a:pPr>
          <a:r>
            <a:rPr lang="en-US" sz="3000" kern="1200"/>
            <a:t>Features: </a:t>
          </a:r>
          <a:r>
            <a:rPr lang="en-US" sz="3000" kern="1200">
              <a:latin typeface="Arial"/>
            </a:rPr>
            <a:t>68 + 4 Engineered</a:t>
          </a:r>
          <a:endParaRPr lang="en-US" sz="3000" kern="1200"/>
        </a:p>
      </dsp:txBody>
      <dsp:txXfrm>
        <a:off x="0" y="599849"/>
        <a:ext cx="7772400" cy="2173500"/>
      </dsp:txXfrm>
    </dsp:sp>
    <dsp:sp modelId="{86EF778E-19CA-419C-B3B3-A875992416B4}">
      <dsp:nvSpPr>
        <dsp:cNvPr id="0" name=""/>
        <dsp:cNvSpPr/>
      </dsp:nvSpPr>
      <dsp:spPr>
        <a:xfrm>
          <a:off x="388620" y="157049"/>
          <a:ext cx="5440680" cy="8856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333500">
            <a:lnSpc>
              <a:spcPct val="90000"/>
            </a:lnSpc>
            <a:spcBef>
              <a:spcPct val="0"/>
            </a:spcBef>
            <a:spcAft>
              <a:spcPct val="35000"/>
            </a:spcAft>
            <a:buNone/>
          </a:pPr>
          <a:r>
            <a:rPr lang="en-US" sz="3000" b="1" kern="1200"/>
            <a:t>Dataset</a:t>
          </a:r>
          <a:endParaRPr lang="en-US" sz="3000" kern="1200"/>
        </a:p>
      </dsp:txBody>
      <dsp:txXfrm>
        <a:off x="431851" y="200280"/>
        <a:ext cx="5354218" cy="799138"/>
      </dsp:txXfrm>
    </dsp:sp>
    <dsp:sp modelId="{ADE3EEC1-2B04-4978-99AA-B38B828A3E66}">
      <dsp:nvSpPr>
        <dsp:cNvPr id="0" name=""/>
        <dsp:cNvSpPr/>
      </dsp:nvSpPr>
      <dsp:spPr>
        <a:xfrm>
          <a:off x="0" y="3378150"/>
          <a:ext cx="7772400" cy="3780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3225" tIns="624840" rIns="603225" bIns="213360" numCol="1" spcCol="1270" anchor="t" anchorCtr="0">
          <a:noAutofit/>
        </a:bodyPr>
        <a:lstStyle/>
        <a:p>
          <a:pPr marL="285750" lvl="1" indent="-285750" algn="l" defTabSz="1333500" rtl="0">
            <a:lnSpc>
              <a:spcPct val="90000"/>
            </a:lnSpc>
            <a:spcBef>
              <a:spcPct val="0"/>
            </a:spcBef>
            <a:spcAft>
              <a:spcPct val="15000"/>
            </a:spcAft>
            <a:buChar char="•"/>
          </a:pPr>
          <a:r>
            <a:rPr lang="en-US" sz="3000" kern="1200">
              <a:latin typeface="Arial"/>
            </a:rPr>
            <a:t>Minor: Small # of missing</a:t>
          </a:r>
          <a:r>
            <a:rPr lang="en-US" sz="3000" kern="1200"/>
            <a:t> values </a:t>
          </a:r>
        </a:p>
        <a:p>
          <a:pPr marL="285750" lvl="1" indent="-285750" algn="l" defTabSz="1333500" rtl="0">
            <a:lnSpc>
              <a:spcPct val="90000"/>
            </a:lnSpc>
            <a:spcBef>
              <a:spcPct val="0"/>
            </a:spcBef>
            <a:spcAft>
              <a:spcPct val="15000"/>
            </a:spcAft>
            <a:buChar char="•"/>
          </a:pPr>
          <a:r>
            <a:rPr lang="en-US" sz="3000" kern="1200">
              <a:latin typeface="Arial"/>
            </a:rPr>
            <a:t>Short observational time period and limited variety of operational conditions not well suited for system characterization for predicting future behavior</a:t>
          </a:r>
          <a:endParaRPr lang="en-US" sz="3000" kern="1200"/>
        </a:p>
        <a:p>
          <a:pPr marL="285750" lvl="1" indent="-285750" algn="l" defTabSz="1333500">
            <a:lnSpc>
              <a:spcPct val="90000"/>
            </a:lnSpc>
            <a:spcBef>
              <a:spcPct val="0"/>
            </a:spcBef>
            <a:spcAft>
              <a:spcPct val="15000"/>
            </a:spcAft>
            <a:buChar char="•"/>
          </a:pPr>
          <a:endParaRPr lang="en-US" sz="3000" kern="1200"/>
        </a:p>
      </dsp:txBody>
      <dsp:txXfrm>
        <a:off x="0" y="3378150"/>
        <a:ext cx="7772400" cy="3780000"/>
      </dsp:txXfrm>
    </dsp:sp>
    <dsp:sp modelId="{932A5BCC-9B22-47BB-876F-490503FF87FE}">
      <dsp:nvSpPr>
        <dsp:cNvPr id="0" name=""/>
        <dsp:cNvSpPr/>
      </dsp:nvSpPr>
      <dsp:spPr>
        <a:xfrm>
          <a:off x="388620" y="2935349"/>
          <a:ext cx="5440680" cy="8856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333500">
            <a:lnSpc>
              <a:spcPct val="90000"/>
            </a:lnSpc>
            <a:spcBef>
              <a:spcPct val="0"/>
            </a:spcBef>
            <a:spcAft>
              <a:spcPct val="35000"/>
            </a:spcAft>
            <a:buNone/>
          </a:pPr>
          <a:r>
            <a:rPr lang="en-US" sz="3000" b="1" kern="1200"/>
            <a:t>Challenges</a:t>
          </a:r>
          <a:endParaRPr lang="en-US" sz="3000" kern="1200"/>
        </a:p>
      </dsp:txBody>
      <dsp:txXfrm>
        <a:off x="431851" y="2978580"/>
        <a:ext cx="5354218" cy="7991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8D218F-B5C9-4B25-BE14-5C725757568E}">
      <dsp:nvSpPr>
        <dsp:cNvPr id="0" name=""/>
        <dsp:cNvSpPr/>
      </dsp:nvSpPr>
      <dsp:spPr>
        <a:xfrm>
          <a:off x="0" y="895"/>
          <a:ext cx="7232897" cy="20944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40C719-F729-4671-9E6D-FAF1E4628E1F}">
      <dsp:nvSpPr>
        <dsp:cNvPr id="0" name=""/>
        <dsp:cNvSpPr/>
      </dsp:nvSpPr>
      <dsp:spPr>
        <a:xfrm>
          <a:off x="633578" y="472151"/>
          <a:ext cx="1151961" cy="11519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9DEB09-6F7F-4869-9626-4C2AA74CEC98}">
      <dsp:nvSpPr>
        <dsp:cNvPr id="0" name=""/>
        <dsp:cNvSpPr/>
      </dsp:nvSpPr>
      <dsp:spPr>
        <a:xfrm>
          <a:off x="1709037" y="7094"/>
          <a:ext cx="4813778" cy="2094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665" tIns="221665" rIns="221665" bIns="221665" numCol="1" spcCol="1270" anchor="ctr" anchorCtr="0">
          <a:noAutofit/>
        </a:bodyPr>
        <a:lstStyle/>
        <a:p>
          <a:pPr marL="0" lvl="0" indent="0" algn="l" defTabSz="800100">
            <a:lnSpc>
              <a:spcPct val="100000"/>
            </a:lnSpc>
            <a:spcBef>
              <a:spcPct val="0"/>
            </a:spcBef>
            <a:spcAft>
              <a:spcPct val="35000"/>
            </a:spcAft>
            <a:buNone/>
          </a:pPr>
          <a:r>
            <a:rPr lang="en-US" sz="1800" b="1" kern="1200"/>
            <a:t>Data Preparation</a:t>
          </a:r>
          <a:r>
            <a:rPr lang="en-US" sz="1800" b="1" kern="1200">
              <a:latin typeface="Arial"/>
            </a:rPr>
            <a:t>: </a:t>
          </a:r>
          <a:r>
            <a:rPr lang="en-US" sz="1800" b="0" kern="1200">
              <a:latin typeface="Arial"/>
            </a:rPr>
            <a:t>We</a:t>
          </a:r>
          <a:r>
            <a:rPr lang="en-US" sz="1800" kern="1200">
              <a:latin typeface="Arial"/>
            </a:rPr>
            <a:t> cleaned and normalized the time-series data by removing faulty sensor channels, correcting duplicate time stamps and applying an appropriate scaling. </a:t>
          </a:r>
          <a:endParaRPr lang="en-US" sz="1800" kern="1200"/>
        </a:p>
      </dsp:txBody>
      <dsp:txXfrm>
        <a:off x="1709037" y="7094"/>
        <a:ext cx="4813778" cy="2094474"/>
      </dsp:txXfrm>
    </dsp:sp>
    <dsp:sp modelId="{05DBAAAB-887E-4650-9F21-C6ECC9E9A4BB}">
      <dsp:nvSpPr>
        <dsp:cNvPr id="0" name=""/>
        <dsp:cNvSpPr/>
      </dsp:nvSpPr>
      <dsp:spPr>
        <a:xfrm>
          <a:off x="0" y="2618988"/>
          <a:ext cx="7232897" cy="20944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CAD88-6F94-4A88-882A-A4E268125984}">
      <dsp:nvSpPr>
        <dsp:cNvPr id="0" name=""/>
        <dsp:cNvSpPr/>
      </dsp:nvSpPr>
      <dsp:spPr>
        <a:xfrm>
          <a:off x="633578" y="3090245"/>
          <a:ext cx="1151961" cy="115196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50F316-BBB4-4ABF-9BBC-845DB255AD51}">
      <dsp:nvSpPr>
        <dsp:cNvPr id="0" name=""/>
        <dsp:cNvSpPr/>
      </dsp:nvSpPr>
      <dsp:spPr>
        <a:xfrm>
          <a:off x="1725549" y="2618988"/>
          <a:ext cx="4813778" cy="2094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665" tIns="221665" rIns="221665" bIns="221665" numCol="1" spcCol="1270" anchor="ctr" anchorCtr="0">
          <a:noAutofit/>
        </a:bodyPr>
        <a:lstStyle/>
        <a:p>
          <a:pPr marL="0" lvl="0" indent="0" algn="l" defTabSz="800100">
            <a:lnSpc>
              <a:spcPct val="100000"/>
            </a:lnSpc>
            <a:spcBef>
              <a:spcPct val="0"/>
            </a:spcBef>
            <a:spcAft>
              <a:spcPct val="35000"/>
            </a:spcAft>
            <a:buNone/>
          </a:pPr>
          <a:r>
            <a:rPr lang="en-US" sz="1800" b="1" kern="1200"/>
            <a:t>Model Selection</a:t>
          </a:r>
          <a:r>
            <a:rPr lang="en-US" sz="1800" b="1" kern="1200">
              <a:latin typeface="Arial"/>
            </a:rPr>
            <a:t>: </a:t>
          </a:r>
          <a:r>
            <a:rPr lang="en-US" sz="1800" b="0" kern="1200">
              <a:latin typeface="Arial"/>
            </a:rPr>
            <a:t>We evaluated available ML options and selected a spatio-temporal graph neural network (ST-GNN) because it can simultaneously learn spatial coupling between wells. </a:t>
          </a:r>
          <a:endParaRPr lang="en-US" sz="1800" b="0" kern="1200"/>
        </a:p>
      </dsp:txBody>
      <dsp:txXfrm>
        <a:off x="1725549" y="2618988"/>
        <a:ext cx="4813778" cy="2094474"/>
      </dsp:txXfrm>
    </dsp:sp>
    <dsp:sp modelId="{3C24337D-580A-483C-8B25-7EEDB794829C}">
      <dsp:nvSpPr>
        <dsp:cNvPr id="0" name=""/>
        <dsp:cNvSpPr/>
      </dsp:nvSpPr>
      <dsp:spPr>
        <a:xfrm>
          <a:off x="0" y="5237082"/>
          <a:ext cx="7232897" cy="20944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F75E66-72EA-45FD-A487-ADB422523F1D}">
      <dsp:nvSpPr>
        <dsp:cNvPr id="0" name=""/>
        <dsp:cNvSpPr/>
      </dsp:nvSpPr>
      <dsp:spPr>
        <a:xfrm>
          <a:off x="633578" y="5708338"/>
          <a:ext cx="1151961" cy="115196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6BB16B-609C-4753-8B4D-DFF7E3506DF5}">
      <dsp:nvSpPr>
        <dsp:cNvPr id="0" name=""/>
        <dsp:cNvSpPr/>
      </dsp:nvSpPr>
      <dsp:spPr>
        <a:xfrm>
          <a:off x="1725597" y="5237977"/>
          <a:ext cx="4813778" cy="2094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665" tIns="221665" rIns="221665" bIns="221665" numCol="1" spcCol="1270" anchor="ctr" anchorCtr="0">
          <a:noAutofit/>
        </a:bodyPr>
        <a:lstStyle/>
        <a:p>
          <a:pPr marL="0" lvl="0" indent="0" algn="l" defTabSz="800100">
            <a:lnSpc>
              <a:spcPct val="100000"/>
            </a:lnSpc>
            <a:spcBef>
              <a:spcPct val="0"/>
            </a:spcBef>
            <a:spcAft>
              <a:spcPct val="35000"/>
            </a:spcAft>
            <a:buNone/>
          </a:pPr>
          <a:r>
            <a:rPr lang="en-US" sz="1800" b="1" kern="1200"/>
            <a:t>Workflow</a:t>
          </a:r>
          <a:r>
            <a:rPr lang="en-US" sz="1800" b="1" kern="1200">
              <a:latin typeface="Arial"/>
            </a:rPr>
            <a:t>: </a:t>
          </a:r>
          <a:r>
            <a:rPr lang="en-US" sz="1800" kern="1200">
              <a:latin typeface="Arial"/>
            </a:rPr>
            <a:t>We integrated datast cleaning, feature engineering, scaling, model selection, training and evaluation into reproducible end-to-end workflow documenting each step and ensurse ourputs align with desired deliverables. </a:t>
          </a:r>
          <a:endParaRPr lang="en-US" sz="1800" kern="1200"/>
        </a:p>
      </dsp:txBody>
      <dsp:txXfrm>
        <a:off x="1725597" y="5237977"/>
        <a:ext cx="4813778" cy="20944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1A4B99-5FD5-4D81-8F05-F93010C06E2B}">
      <dsp:nvSpPr>
        <dsp:cNvPr id="0" name=""/>
        <dsp:cNvSpPr/>
      </dsp:nvSpPr>
      <dsp:spPr>
        <a:xfrm>
          <a:off x="0" y="224279"/>
          <a:ext cx="7772400" cy="5615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Demo / System Flow</a:t>
          </a:r>
          <a:endParaRPr lang="en-US" sz="2400" kern="1200"/>
        </a:p>
      </dsp:txBody>
      <dsp:txXfrm>
        <a:off x="27415" y="251694"/>
        <a:ext cx="7717570" cy="506769"/>
      </dsp:txXfrm>
    </dsp:sp>
    <dsp:sp modelId="{FA7D0413-03D7-4814-9722-F4A02B937650}">
      <dsp:nvSpPr>
        <dsp:cNvPr id="0" name=""/>
        <dsp:cNvSpPr/>
      </dsp:nvSpPr>
      <dsp:spPr>
        <a:xfrm>
          <a:off x="0" y="785879"/>
          <a:ext cx="7772400"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30480" rIns="170688" bIns="30480" numCol="1" spcCol="1270" anchor="t" anchorCtr="0">
          <a:noAutofit/>
        </a:bodyPr>
        <a:lstStyle/>
        <a:p>
          <a:pPr marL="228600" lvl="1" indent="-228600" algn="l" defTabSz="1066800" rtl="0">
            <a:lnSpc>
              <a:spcPct val="90000"/>
            </a:lnSpc>
            <a:spcBef>
              <a:spcPct val="0"/>
            </a:spcBef>
            <a:spcAft>
              <a:spcPct val="20000"/>
            </a:spcAft>
            <a:buChar char="•"/>
          </a:pPr>
          <a:r>
            <a:rPr lang="en-US" sz="2400" kern="1200">
              <a:latin typeface="Arial"/>
            </a:rPr>
            <a:t>Observational well data</a:t>
          </a:r>
          <a:r>
            <a:rPr lang="en-US" sz="2400" kern="1200"/>
            <a:t>→</a:t>
          </a:r>
          <a:r>
            <a:rPr lang="en-US" sz="2400" kern="1200">
              <a:latin typeface="Arial"/>
            </a:rPr>
            <a:t> Graph NN</a:t>
          </a:r>
          <a:r>
            <a:rPr lang="en-US" sz="2400" kern="1200"/>
            <a:t> →</a:t>
          </a:r>
          <a:r>
            <a:rPr lang="en-US" sz="2400" kern="1200">
              <a:latin typeface="Arial"/>
            </a:rPr>
            <a:t> Edge weights over time </a:t>
          </a:r>
          <a:endParaRPr lang="en-US" sz="2400" kern="1200"/>
        </a:p>
      </dsp:txBody>
      <dsp:txXfrm>
        <a:off x="0" y="785879"/>
        <a:ext cx="7772400" cy="695520"/>
      </dsp:txXfrm>
    </dsp:sp>
    <dsp:sp modelId="{6E240B25-77B0-4DB9-AF5E-E73D171BFA49}">
      <dsp:nvSpPr>
        <dsp:cNvPr id="0" name=""/>
        <dsp:cNvSpPr/>
      </dsp:nvSpPr>
      <dsp:spPr>
        <a:xfrm>
          <a:off x="0" y="1481399"/>
          <a:ext cx="7772400" cy="5615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Key Insights</a:t>
          </a:r>
          <a:endParaRPr lang="en-US" sz="2400" kern="1200"/>
        </a:p>
      </dsp:txBody>
      <dsp:txXfrm>
        <a:off x="27415" y="1508814"/>
        <a:ext cx="7717570" cy="506769"/>
      </dsp:txXfrm>
    </dsp:sp>
    <dsp:sp modelId="{9068952F-7E79-4348-811B-FAADFD65556B}">
      <dsp:nvSpPr>
        <dsp:cNvPr id="0" name=""/>
        <dsp:cNvSpPr/>
      </dsp:nvSpPr>
      <dsp:spPr>
        <a:xfrm>
          <a:off x="0" y="2042999"/>
          <a:ext cx="7772400" cy="1937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The tools people use in their day to day make a big difference – if we could have more easily combined our 6 </a:t>
          </a:r>
          <a:r>
            <a:rPr lang="en-US" sz="1900" kern="1200" err="1"/>
            <a:t>personnas</a:t>
          </a:r>
          <a:r>
            <a:rPr lang="en-US" sz="1900" kern="1200"/>
            <a:t> into 1, we would have been unstoppable</a:t>
          </a:r>
        </a:p>
        <a:p>
          <a:pPr marL="171450" lvl="1" indent="-171450" algn="l" defTabSz="844550">
            <a:lnSpc>
              <a:spcPct val="90000"/>
            </a:lnSpc>
            <a:spcBef>
              <a:spcPct val="0"/>
            </a:spcBef>
            <a:spcAft>
              <a:spcPct val="20000"/>
            </a:spcAft>
            <a:buChar char="•"/>
          </a:pPr>
          <a:r>
            <a:rPr lang="en-US" sz="1900" kern="1200"/>
            <a:t>ML is more reliable for structured tasks </a:t>
          </a:r>
        </a:p>
        <a:p>
          <a:pPr marL="171450" lvl="1" indent="-171450" algn="l" defTabSz="844550">
            <a:lnSpc>
              <a:spcPct val="90000"/>
            </a:lnSpc>
            <a:spcBef>
              <a:spcPct val="0"/>
            </a:spcBef>
            <a:spcAft>
              <a:spcPct val="20000"/>
            </a:spcAft>
            <a:buChar char="•"/>
          </a:pPr>
          <a:r>
            <a:rPr lang="en-US" sz="1900" kern="1200"/>
            <a:t>LLM performance depends on prompt design but can potentially get you answers quicker. Need to balance the risk vs. desired outcome.</a:t>
          </a:r>
        </a:p>
      </dsp:txBody>
      <dsp:txXfrm>
        <a:off x="0" y="2042999"/>
        <a:ext cx="7772400" cy="1937520"/>
      </dsp:txXfrm>
    </dsp:sp>
    <dsp:sp modelId="{A98C1C5B-574A-4518-8E2C-62B6094E43E4}">
      <dsp:nvSpPr>
        <dsp:cNvPr id="0" name=""/>
        <dsp:cNvSpPr/>
      </dsp:nvSpPr>
      <dsp:spPr>
        <a:xfrm>
          <a:off x="0" y="3980520"/>
          <a:ext cx="7772400" cy="5615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Limitations</a:t>
          </a:r>
          <a:endParaRPr lang="en-US" sz="2400" kern="1200"/>
        </a:p>
      </dsp:txBody>
      <dsp:txXfrm>
        <a:off x="27415" y="4007935"/>
        <a:ext cx="7717570" cy="506769"/>
      </dsp:txXfrm>
    </dsp:sp>
    <dsp:sp modelId="{8F29B89B-B912-472C-94CF-76FB081D1D58}">
      <dsp:nvSpPr>
        <dsp:cNvPr id="0" name=""/>
        <dsp:cNvSpPr/>
      </dsp:nvSpPr>
      <dsp:spPr>
        <a:xfrm>
          <a:off x="0" y="4542119"/>
          <a:ext cx="7772400" cy="111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ML approach has steeper learning curve to setup and troubleshoot</a:t>
          </a:r>
        </a:p>
        <a:p>
          <a:pPr marL="171450" lvl="1" indent="-171450" algn="l" defTabSz="844550">
            <a:lnSpc>
              <a:spcPct val="90000"/>
            </a:lnSpc>
            <a:spcBef>
              <a:spcPct val="0"/>
            </a:spcBef>
            <a:spcAft>
              <a:spcPct val="20000"/>
            </a:spcAft>
            <a:buChar char="•"/>
          </a:pPr>
          <a:r>
            <a:rPr lang="en-US" sz="1900" kern="1200"/>
            <a:t>LLM variability – what you have access to (free vs. paid; integrated vs. AI incubator), makes a difference for speed and quality of output</a:t>
          </a:r>
        </a:p>
      </dsp:txBody>
      <dsp:txXfrm>
        <a:off x="0" y="4542119"/>
        <a:ext cx="7772400" cy="1117800"/>
      </dsp:txXfrm>
    </dsp:sp>
    <dsp:sp modelId="{AB2682BC-C21A-4072-8D08-112CFC358897}">
      <dsp:nvSpPr>
        <dsp:cNvPr id="0" name=""/>
        <dsp:cNvSpPr/>
      </dsp:nvSpPr>
      <dsp:spPr>
        <a:xfrm>
          <a:off x="0" y="5659920"/>
          <a:ext cx="7772400" cy="5615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Future Work</a:t>
          </a:r>
          <a:endParaRPr lang="en-US" sz="2400" kern="1200"/>
        </a:p>
      </dsp:txBody>
      <dsp:txXfrm>
        <a:off x="27415" y="5687335"/>
        <a:ext cx="7717570" cy="506769"/>
      </dsp:txXfrm>
    </dsp:sp>
    <dsp:sp modelId="{B12CA236-17C1-413E-BD96-1AA7BFEDE173}">
      <dsp:nvSpPr>
        <dsp:cNvPr id="0" name=""/>
        <dsp:cNvSpPr/>
      </dsp:nvSpPr>
      <dsp:spPr>
        <a:xfrm>
          <a:off x="0" y="6221520"/>
          <a:ext cx="7772400" cy="869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Continue to learn to use these tools, so that when you need to apply them, the learning curve is less steep</a:t>
          </a:r>
        </a:p>
        <a:p>
          <a:pPr marL="171450" lvl="1" indent="-171450" algn="l" defTabSz="844550">
            <a:lnSpc>
              <a:spcPct val="90000"/>
            </a:lnSpc>
            <a:spcBef>
              <a:spcPct val="0"/>
            </a:spcBef>
            <a:spcAft>
              <a:spcPct val="20000"/>
            </a:spcAft>
            <a:buChar char="•"/>
          </a:pPr>
          <a:r>
            <a:rPr lang="en-US" sz="1900" kern="1200"/>
            <a:t>Stay up to date on latest models, agents, skills, etc.</a:t>
          </a:r>
        </a:p>
      </dsp:txBody>
      <dsp:txXfrm>
        <a:off x="0" y="6221520"/>
        <a:ext cx="7772400" cy="8694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A69A9C-1087-184F-8370-423E175D9D7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9090E3D-F5E5-0D40-B323-A25B85CF9E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6E50B8-2EF8-564F-AE86-D84E6C503530}" type="datetimeFigureOut">
              <a:rPr lang="en-US" smtClean="0"/>
              <a:t>4/23/2026</a:t>
            </a:fld>
            <a:endParaRPr lang="en-US"/>
          </a:p>
        </p:txBody>
      </p:sp>
      <p:sp>
        <p:nvSpPr>
          <p:cNvPr id="4" name="Footer Placeholder 3">
            <a:extLst>
              <a:ext uri="{FF2B5EF4-FFF2-40B4-BE49-F238E27FC236}">
                <a16:creationId xmlns:a16="http://schemas.microsoft.com/office/drawing/2014/main" id="{64E3AA97-2F38-5340-B685-1E0EA3E358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2B732F3-25A6-284F-A24C-5FD21AE6BE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078BA3-E235-9946-9A4D-07E907F688D0}" type="slidenum">
              <a:rPr lang="en-US" smtClean="0"/>
              <a:t>‹#›</a:t>
            </a:fld>
            <a:endParaRPr lang="en-US"/>
          </a:p>
        </p:txBody>
      </p:sp>
    </p:spTree>
    <p:extLst>
      <p:ext uri="{BB962C8B-B14F-4D97-AF65-F5344CB8AC3E}">
        <p14:creationId xmlns:p14="http://schemas.microsoft.com/office/powerpoint/2010/main" val="41940003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AC8D20-1945-7145-91A2-3D134BDA25E2}"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104DB-87CA-D64F-AB86-DB2520DDF5D7}" type="slidenum">
              <a:rPr lang="en-US" smtClean="0"/>
              <a:t>‹#›</a:t>
            </a:fld>
            <a:endParaRPr lang="en-US"/>
          </a:p>
        </p:txBody>
      </p:sp>
    </p:spTree>
    <p:extLst>
      <p:ext uri="{BB962C8B-B14F-4D97-AF65-F5344CB8AC3E}">
        <p14:creationId xmlns:p14="http://schemas.microsoft.com/office/powerpoint/2010/main" val="3614055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Notes: Hi, we’re Team [Name], and today we’ll present our AI solution for [problem].We’ll walk through our approach, results, and key insights from comparing machine learning and LLM methods.</a:t>
            </a:r>
          </a:p>
          <a:p>
            <a:endParaRPr lang="en-US"/>
          </a:p>
        </p:txBody>
      </p:sp>
      <p:sp>
        <p:nvSpPr>
          <p:cNvPr id="4" name="Slide Number Placeholder 3"/>
          <p:cNvSpPr>
            <a:spLocks noGrp="1"/>
          </p:cNvSpPr>
          <p:nvPr>
            <p:ph type="sldNum" sz="quarter" idx="5"/>
          </p:nvPr>
        </p:nvSpPr>
        <p:spPr/>
        <p:txBody>
          <a:bodyPr/>
          <a:lstStyle/>
          <a:p>
            <a:fld id="{710104DB-87CA-D64F-AB86-DB2520DDF5D7}" type="slidenum">
              <a:rPr lang="en-US" smtClean="0"/>
              <a:t>1</a:t>
            </a:fld>
            <a:endParaRPr lang="en-US"/>
          </a:p>
        </p:txBody>
      </p:sp>
    </p:spTree>
    <p:extLst>
      <p:ext uri="{BB962C8B-B14F-4D97-AF65-F5344CB8AC3E}">
        <p14:creationId xmlns:p14="http://schemas.microsoft.com/office/powerpoint/2010/main" val="3941861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Notes: The problem we addressed is [problem], which leads to [impact].</a:t>
            </a:r>
            <a:br>
              <a:rPr lang="en-US"/>
            </a:br>
            <a:r>
              <a:rPr lang="en-US"/>
              <a:t>Our goal was to build a model that can [task].</a:t>
            </a:r>
            <a:br>
              <a:rPr lang="en-US"/>
            </a:br>
            <a:r>
              <a:rPr lang="en-US"/>
              <a:t>We defined success using [metric], while also ensuring results were consistent and comparable across ML and LLM approaches.</a:t>
            </a:r>
          </a:p>
        </p:txBody>
      </p:sp>
      <p:sp>
        <p:nvSpPr>
          <p:cNvPr id="4" name="Slide Number Placeholder 3"/>
          <p:cNvSpPr>
            <a:spLocks noGrp="1"/>
          </p:cNvSpPr>
          <p:nvPr>
            <p:ph type="sldNum" sz="quarter" idx="5"/>
          </p:nvPr>
        </p:nvSpPr>
        <p:spPr/>
        <p:txBody>
          <a:bodyPr/>
          <a:lstStyle/>
          <a:p>
            <a:fld id="{710104DB-87CA-D64F-AB86-DB2520DDF5D7}" type="slidenum">
              <a:rPr lang="en-US" smtClean="0"/>
              <a:t>2</a:t>
            </a:fld>
            <a:endParaRPr lang="en-US"/>
          </a:p>
        </p:txBody>
      </p:sp>
    </p:spTree>
    <p:extLst>
      <p:ext uri="{BB962C8B-B14F-4D97-AF65-F5344CB8AC3E}">
        <p14:creationId xmlns:p14="http://schemas.microsoft.com/office/powerpoint/2010/main" val="282752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Notes: We used [dataset], which includes [key features].</a:t>
            </a:r>
            <a:br>
              <a:rPr lang="en-US"/>
            </a:br>
            <a:r>
              <a:rPr lang="en-US"/>
              <a:t>However, we encountered challenges such as missing values and potential bias in [area].</a:t>
            </a:r>
            <a:br>
              <a:rPr lang="en-US"/>
            </a:br>
            <a:r>
              <a:rPr lang="en-US"/>
              <a:t>These issues directly influenced how we prepared the data and selected our models.</a:t>
            </a:r>
          </a:p>
        </p:txBody>
      </p:sp>
      <p:sp>
        <p:nvSpPr>
          <p:cNvPr id="4" name="Slide Number Placeholder 3"/>
          <p:cNvSpPr>
            <a:spLocks noGrp="1"/>
          </p:cNvSpPr>
          <p:nvPr>
            <p:ph type="sldNum" sz="quarter" idx="5"/>
          </p:nvPr>
        </p:nvSpPr>
        <p:spPr/>
        <p:txBody>
          <a:bodyPr/>
          <a:lstStyle/>
          <a:p>
            <a:fld id="{710104DB-87CA-D64F-AB86-DB2520DDF5D7}" type="slidenum">
              <a:rPr lang="en-US" smtClean="0"/>
              <a:t>3</a:t>
            </a:fld>
            <a:endParaRPr lang="en-US"/>
          </a:p>
        </p:txBody>
      </p:sp>
    </p:spTree>
    <p:extLst>
      <p:ext uri="{BB962C8B-B14F-4D97-AF65-F5344CB8AC3E}">
        <p14:creationId xmlns:p14="http://schemas.microsoft.com/office/powerpoint/2010/main" val="832219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Notes: We cleaned and standardized the data, then engineered features like [A, B, C].We selected [model] because it fits the problem and balances performance with </a:t>
            </a:r>
            <a:r>
              <a:rPr lang="en-US" err="1"/>
              <a:t>interpretability.We</a:t>
            </a:r>
            <a:r>
              <a:rPr lang="en-US"/>
              <a:t> used a train-validation-test split and tuned hyperparameters before final evaluation.</a:t>
            </a:r>
          </a:p>
        </p:txBody>
      </p:sp>
      <p:sp>
        <p:nvSpPr>
          <p:cNvPr id="4" name="Slide Number Placeholder 3"/>
          <p:cNvSpPr>
            <a:spLocks noGrp="1"/>
          </p:cNvSpPr>
          <p:nvPr>
            <p:ph type="sldNum" sz="quarter" idx="5"/>
          </p:nvPr>
        </p:nvSpPr>
        <p:spPr/>
        <p:txBody>
          <a:bodyPr/>
          <a:lstStyle/>
          <a:p>
            <a:fld id="{710104DB-87CA-D64F-AB86-DB2520DDF5D7}" type="slidenum">
              <a:rPr lang="en-US" smtClean="0"/>
              <a:t>4</a:t>
            </a:fld>
            <a:endParaRPr lang="en-US"/>
          </a:p>
        </p:txBody>
      </p:sp>
    </p:spTree>
    <p:extLst>
      <p:ext uri="{BB962C8B-B14F-4D97-AF65-F5344CB8AC3E}">
        <p14:creationId xmlns:p14="http://schemas.microsoft.com/office/powerpoint/2010/main" val="2647893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F3ECA-4D25-3695-4B51-37A756F69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BB304-5556-526A-F80C-ADEF9B45BA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6E9790-F2B9-AEAD-9F74-E98BDA2FC416}"/>
              </a:ext>
            </a:extLst>
          </p:cNvPr>
          <p:cNvSpPr>
            <a:spLocks noGrp="1"/>
          </p:cNvSpPr>
          <p:nvPr>
            <p:ph type="body" idx="1"/>
          </p:nvPr>
        </p:nvSpPr>
        <p:spPr/>
        <p:txBody>
          <a:bodyPr/>
          <a:lstStyle/>
          <a:p>
            <a:r>
              <a:rPr lang="en-US"/>
              <a:t>Notes: This slide shows how our ML model </a:t>
            </a:r>
            <a:r>
              <a:rPr lang="en-US" err="1"/>
              <a:t>performed.We</a:t>
            </a:r>
            <a:r>
              <a:rPr lang="en-US"/>
              <a:t> achieved [metric] of [value], indicating [interpretation].The model performs well on [pattern], but struggles with [edge case].From our visualization, we can see that [explain briefly], which suggests that [insight].Overall, this tells us the model is [reliable / limited in specific ways].</a:t>
            </a:r>
          </a:p>
        </p:txBody>
      </p:sp>
      <p:sp>
        <p:nvSpPr>
          <p:cNvPr id="4" name="Slide Number Placeholder 3">
            <a:extLst>
              <a:ext uri="{FF2B5EF4-FFF2-40B4-BE49-F238E27FC236}">
                <a16:creationId xmlns:a16="http://schemas.microsoft.com/office/drawing/2014/main" id="{70570579-9A35-A803-F03D-0F7F97B69E9A}"/>
              </a:ext>
            </a:extLst>
          </p:cNvPr>
          <p:cNvSpPr>
            <a:spLocks noGrp="1"/>
          </p:cNvSpPr>
          <p:nvPr>
            <p:ph type="sldNum" sz="quarter" idx="5"/>
          </p:nvPr>
        </p:nvSpPr>
        <p:spPr/>
        <p:txBody>
          <a:bodyPr/>
          <a:lstStyle/>
          <a:p>
            <a:fld id="{710104DB-87CA-D64F-AB86-DB2520DDF5D7}" type="slidenum">
              <a:rPr lang="en-US" smtClean="0"/>
              <a:t>5</a:t>
            </a:fld>
            <a:endParaRPr lang="en-US"/>
          </a:p>
        </p:txBody>
      </p:sp>
    </p:spTree>
    <p:extLst>
      <p:ext uri="{BB962C8B-B14F-4D97-AF65-F5344CB8AC3E}">
        <p14:creationId xmlns:p14="http://schemas.microsoft.com/office/powerpoint/2010/main" val="1904893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Notes: We then used an LLM to perform the same </a:t>
            </a:r>
            <a:r>
              <a:rPr lang="en-US" err="1"/>
              <a:t>task.We</a:t>
            </a:r>
            <a:r>
              <a:rPr lang="en-US"/>
              <a:t> designed prompts with structured outputs and used few-shot examples to improve </a:t>
            </a:r>
            <a:r>
              <a:rPr lang="en-US" err="1"/>
              <a:t>consistency.The</a:t>
            </a:r>
            <a:r>
              <a:rPr lang="en-US"/>
              <a:t> LLM achieved [metric] of [value].It handled flexible inputs well, but we observed issues like inconsistent formatting and hallucinations.</a:t>
            </a:r>
          </a:p>
          <a:p>
            <a:endParaRPr lang="en-US"/>
          </a:p>
          <a:p>
            <a:r>
              <a:rPr lang="en-US" b="1"/>
              <a:t>Approach</a:t>
            </a:r>
            <a:endParaRPr lang="en-US"/>
          </a:p>
          <a:p>
            <a:pPr lvl="1"/>
            <a:r>
              <a:rPr lang="en-US">
                <a:latin typeface="Arial"/>
                <a:cs typeface="Arial"/>
              </a:rPr>
              <a:t>Prompt-base predictions using 3 different LLMs, structured by 3 different team members</a:t>
            </a:r>
            <a:endParaRPr lang="en-US"/>
          </a:p>
          <a:p>
            <a:pPr lvl="1"/>
            <a:r>
              <a:rPr lang="en-US">
                <a:latin typeface="Arial"/>
                <a:cs typeface="Arial"/>
              </a:rPr>
              <a:t>Structured outputs (JSON/table)</a:t>
            </a:r>
          </a:p>
          <a:p>
            <a:r>
              <a:rPr lang="en-US" b="1"/>
              <a:t>Strategy</a:t>
            </a:r>
            <a:endParaRPr lang="en-US"/>
          </a:p>
          <a:p>
            <a:pPr lvl="1"/>
            <a:r>
              <a:rPr lang="en-US"/>
              <a:t>Clear instructions + constraints </a:t>
            </a:r>
          </a:p>
          <a:p>
            <a:pPr lvl="1"/>
            <a:r>
              <a:rPr lang="en-US">
                <a:latin typeface="Arial"/>
                <a:cs typeface="Arial"/>
              </a:rPr>
              <a:t>Few-shot examples</a:t>
            </a:r>
          </a:p>
          <a:p>
            <a:r>
              <a:rPr lang="en-US" b="1"/>
              <a:t>Results</a:t>
            </a:r>
            <a:endParaRPr lang="en-US"/>
          </a:p>
          <a:p>
            <a:pPr lvl="1"/>
            <a:r>
              <a:rPr lang="en-US">
                <a:latin typeface="Arial"/>
                <a:cs typeface="Arial"/>
              </a:rPr>
              <a:t>[Metric]:[value]</a:t>
            </a:r>
            <a:endParaRPr lang="en-US"/>
          </a:p>
          <a:p>
            <a:r>
              <a:rPr lang="en-US" b="1"/>
              <a:t>Issues</a:t>
            </a:r>
            <a:endParaRPr lang="en-US"/>
          </a:p>
          <a:p>
            <a:pPr lvl="1"/>
            <a:r>
              <a:rPr lang="en-US"/>
              <a:t>Inconsistent formatting </a:t>
            </a:r>
          </a:p>
          <a:p>
            <a:pPr lvl="1"/>
            <a:r>
              <a:rPr lang="en-US">
                <a:latin typeface="Arial"/>
                <a:cs typeface="Arial"/>
              </a:rPr>
              <a:t>Hallucinations</a:t>
            </a:r>
            <a:endParaRPr lang="en-US"/>
          </a:p>
          <a:p>
            <a:endParaRPr lang="en-US"/>
          </a:p>
          <a:p>
            <a:endParaRPr lang="en-US"/>
          </a:p>
        </p:txBody>
      </p:sp>
      <p:sp>
        <p:nvSpPr>
          <p:cNvPr id="4" name="Slide Number Placeholder 3"/>
          <p:cNvSpPr>
            <a:spLocks noGrp="1"/>
          </p:cNvSpPr>
          <p:nvPr>
            <p:ph type="sldNum" sz="quarter" idx="5"/>
          </p:nvPr>
        </p:nvSpPr>
        <p:spPr/>
        <p:txBody>
          <a:bodyPr/>
          <a:lstStyle/>
          <a:p>
            <a:fld id="{710104DB-87CA-D64F-AB86-DB2520DDF5D7}" type="slidenum">
              <a:rPr lang="en-US" smtClean="0"/>
              <a:t>6</a:t>
            </a:fld>
            <a:endParaRPr lang="en-US"/>
          </a:p>
        </p:txBody>
      </p:sp>
    </p:spTree>
    <p:extLst>
      <p:ext uri="{BB962C8B-B14F-4D97-AF65-F5344CB8AC3E}">
        <p14:creationId xmlns:p14="http://schemas.microsoft.com/office/powerpoint/2010/main" val="1958316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0104DB-87CA-D64F-AB86-DB2520DDF5D7}" type="slidenum">
              <a:rPr lang="en-US" smtClean="0"/>
              <a:t>7</a:t>
            </a:fld>
            <a:endParaRPr lang="en-US"/>
          </a:p>
        </p:txBody>
      </p:sp>
    </p:spTree>
    <p:extLst>
      <p:ext uri="{BB962C8B-B14F-4D97-AF65-F5344CB8AC3E}">
        <p14:creationId xmlns:p14="http://schemas.microsoft.com/office/powerpoint/2010/main" val="1694367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3BC3-CC7E-7FE4-6E1B-FC2EE88C5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BEAEF-A798-D3FD-350B-B7D545C34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33605-F685-1CE5-F09E-023FD0622F80}"/>
              </a:ext>
            </a:extLst>
          </p:cNvPr>
          <p:cNvSpPr>
            <a:spLocks noGrp="1"/>
          </p:cNvSpPr>
          <p:nvPr>
            <p:ph type="body" idx="1"/>
          </p:nvPr>
        </p:nvSpPr>
        <p:spPr/>
        <p:txBody>
          <a:bodyPr/>
          <a:lstStyle/>
          <a:p>
            <a:r>
              <a:rPr lang="en-US"/>
              <a:t>Notes: Our model is evaluated slightly differently, we won’t predicting heatwaves or temperatures, but we were looking to see how well the model recreated the physical system. </a:t>
            </a:r>
          </a:p>
          <a:p>
            <a:endParaRPr lang="en-US"/>
          </a:p>
          <a:p>
            <a:r>
              <a:rPr lang="en-US"/>
              <a:t>Notes: This slide highlights the key tradeoffs. </a:t>
            </a:r>
          </a:p>
          <a:p>
            <a:r>
              <a:rPr lang="en-US"/>
              <a:t>The ML model achieved higher accuracy and consistency, making it more reliable for structured predictions. The LLM is more flexible and faster to prototype, but less consistent. </a:t>
            </a:r>
          </a:p>
          <a:p>
            <a:r>
              <a:rPr lang="en-US"/>
              <a:t>So the key takeaway is: ML is better for control and reliability, while LLM is better for flexibility and rapid development.</a:t>
            </a:r>
          </a:p>
        </p:txBody>
      </p:sp>
      <p:sp>
        <p:nvSpPr>
          <p:cNvPr id="4" name="Slide Number Placeholder 3">
            <a:extLst>
              <a:ext uri="{FF2B5EF4-FFF2-40B4-BE49-F238E27FC236}">
                <a16:creationId xmlns:a16="http://schemas.microsoft.com/office/drawing/2014/main" id="{DD43695F-A7DA-2D17-3D49-94C7EAC26030}"/>
              </a:ext>
            </a:extLst>
          </p:cNvPr>
          <p:cNvSpPr>
            <a:spLocks noGrp="1"/>
          </p:cNvSpPr>
          <p:nvPr>
            <p:ph type="sldNum" sz="quarter" idx="5"/>
          </p:nvPr>
        </p:nvSpPr>
        <p:spPr/>
        <p:txBody>
          <a:bodyPr/>
          <a:lstStyle/>
          <a:p>
            <a:fld id="{710104DB-87CA-D64F-AB86-DB2520DDF5D7}" type="slidenum">
              <a:rPr lang="en-US" smtClean="0"/>
              <a:t>8</a:t>
            </a:fld>
            <a:endParaRPr lang="en-US"/>
          </a:p>
        </p:txBody>
      </p:sp>
    </p:spTree>
    <p:extLst>
      <p:ext uri="{BB962C8B-B14F-4D97-AF65-F5344CB8AC3E}">
        <p14:creationId xmlns:p14="http://schemas.microsoft.com/office/powerpoint/2010/main" val="4232904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Notes:</a:t>
            </a:r>
          </a:p>
          <a:p>
            <a:r>
              <a:rPr lang="en-US" b="0"/>
              <a:t>Here’s a quick look at our system.</a:t>
            </a:r>
          </a:p>
          <a:p>
            <a:r>
              <a:rPr lang="en-US" b="0"/>
              <a:t>[Walk through demo briefly]</a:t>
            </a:r>
          </a:p>
          <a:p>
            <a:r>
              <a:rPr lang="en-US" b="0"/>
              <a:t>From this project, we learned that data quality is critical, ML models are more reliable for structured tasks, and LLM performance depends heavily on prompt design.</a:t>
            </a:r>
          </a:p>
          <a:p>
            <a:r>
              <a:rPr lang="en-US" b="0"/>
              <a:t>Some limitations include [bias, data size, variability].</a:t>
            </a:r>
          </a:p>
          <a:p>
            <a:r>
              <a:rPr lang="en-US" b="0"/>
              <a:t>In the future, we would improve this by [next steps].</a:t>
            </a:r>
          </a:p>
          <a:p>
            <a:r>
              <a:rPr lang="en-US" b="0"/>
              <a:t>Overall, this project demonstrates how AI can be applied to [real-world impact].</a:t>
            </a:r>
          </a:p>
          <a:p>
            <a:r>
              <a:rPr lang="en-US" b="0"/>
              <a:t>Thank you—happy to take questions.</a:t>
            </a:r>
          </a:p>
        </p:txBody>
      </p:sp>
      <p:sp>
        <p:nvSpPr>
          <p:cNvPr id="4" name="Slide Number Placeholder 3"/>
          <p:cNvSpPr>
            <a:spLocks noGrp="1"/>
          </p:cNvSpPr>
          <p:nvPr>
            <p:ph type="sldNum" sz="quarter" idx="5"/>
          </p:nvPr>
        </p:nvSpPr>
        <p:spPr/>
        <p:txBody>
          <a:bodyPr/>
          <a:lstStyle/>
          <a:p>
            <a:fld id="{710104DB-87CA-D64F-AB86-DB2520DDF5D7}" type="slidenum">
              <a:rPr lang="en-US" smtClean="0"/>
              <a:t>9</a:t>
            </a:fld>
            <a:endParaRPr lang="en-US"/>
          </a:p>
        </p:txBody>
      </p:sp>
    </p:spTree>
    <p:extLst>
      <p:ext uri="{BB962C8B-B14F-4D97-AF65-F5344CB8AC3E}">
        <p14:creationId xmlns:p14="http://schemas.microsoft.com/office/powerpoint/2010/main" val="811092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could also break this up by phase, but want each person discussing unique aspects they learned about or from in this project (e.g., how to prompt an LLM, what hyperparameters do for a model, etc.)</a:t>
            </a:r>
          </a:p>
        </p:txBody>
      </p:sp>
      <p:sp>
        <p:nvSpPr>
          <p:cNvPr id="4" name="Slide Number Placeholder 3"/>
          <p:cNvSpPr>
            <a:spLocks noGrp="1"/>
          </p:cNvSpPr>
          <p:nvPr>
            <p:ph type="sldNum" sz="quarter" idx="5"/>
          </p:nvPr>
        </p:nvSpPr>
        <p:spPr/>
        <p:txBody>
          <a:bodyPr/>
          <a:lstStyle/>
          <a:p>
            <a:fld id="{710104DB-87CA-D64F-AB86-DB2520DDF5D7}" type="slidenum">
              <a:rPr lang="en-US" smtClean="0"/>
              <a:t>10</a:t>
            </a:fld>
            <a:endParaRPr lang="en-US"/>
          </a:p>
        </p:txBody>
      </p:sp>
    </p:spTree>
    <p:extLst>
      <p:ext uri="{BB962C8B-B14F-4D97-AF65-F5344CB8AC3E}">
        <p14:creationId xmlns:p14="http://schemas.microsoft.com/office/powerpoint/2010/main" val="3338181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_Plain_Blac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36B83B-A5E4-524E-96A9-DFC12D58F12A}"/>
              </a:ext>
            </a:extLst>
          </p:cNvPr>
          <p:cNvSpPr/>
          <p:nvPr userDrawn="1"/>
        </p:nvSpPr>
        <p:spPr>
          <a:xfrm>
            <a:off x="914400" y="0"/>
            <a:ext cx="54864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21DF1AC-1D08-B945-A034-B740A35902F9}"/>
              </a:ext>
            </a:extLst>
          </p:cNvPr>
          <p:cNvSpPr txBox="1"/>
          <p:nvPr userDrawn="1"/>
        </p:nvSpPr>
        <p:spPr>
          <a:xfrm>
            <a:off x="1371600" y="7543800"/>
            <a:ext cx="3657600" cy="228600"/>
          </a:xfrm>
          <a:prstGeom prst="rect">
            <a:avLst/>
          </a:prstGeom>
          <a:noFill/>
        </p:spPr>
        <p:txBody>
          <a:bodyPr wrap="square" lIns="0" tIns="0" rIns="0" bIns="0" rtlCol="0" anchor="t" anchorCtr="0">
            <a:noAutofit/>
          </a:bodyPr>
          <a:lstStyle/>
          <a:p>
            <a:pPr>
              <a:spcAft>
                <a:spcPts val="600"/>
              </a:spcAft>
            </a:pPr>
            <a:r>
              <a:rPr lang="en-US" sz="800">
                <a:solidFill>
                  <a:srgbClr val="616265">
                    <a:alpha val="75000"/>
                  </a:srgbClr>
                </a:solidFill>
                <a:latin typeface="Arial" panose="020B0604020202020204" pitchFamily="34" charset="0"/>
                <a:cs typeface="Arial" panose="020B0604020202020204" pitchFamily="34" charset="0"/>
              </a:rPr>
              <a:t>PNNL is operated by Battelle for the U.S. Department of Energy</a:t>
            </a:r>
          </a:p>
        </p:txBody>
      </p:sp>
      <p:sp>
        <p:nvSpPr>
          <p:cNvPr id="2" name="Title 1"/>
          <p:cNvSpPr>
            <a:spLocks noGrp="1"/>
          </p:cNvSpPr>
          <p:nvPr>
            <p:ph type="ctrTitle"/>
          </p:nvPr>
        </p:nvSpPr>
        <p:spPr>
          <a:xfrm>
            <a:off x="1371600" y="2743200"/>
            <a:ext cx="4572000" cy="1828800"/>
          </a:xfrm>
          <a:prstGeom prst="rect">
            <a:avLst/>
          </a:prstGeom>
        </p:spPr>
        <p:txBody>
          <a:bodyPr lIns="0" tIns="0" rIns="0" bIns="0" anchor="b">
            <a:noAutofit/>
          </a:bodyPr>
          <a:lstStyle>
            <a:lvl1pPr algn="r">
              <a:defRPr sz="4800" b="1">
                <a:solidFill>
                  <a:schemeClr val="tx2"/>
                </a:solidFill>
                <a:latin typeface="Arial" panose="020B0604020202020204" pitchFamily="34" charset="0"/>
                <a:cs typeface="Arial" panose="020B0604020202020204" pitchFamily="34" charset="0"/>
              </a:defRPr>
            </a:lvl1pPr>
          </a:lstStyle>
          <a:p>
            <a:r>
              <a:rPr lang="en-US"/>
              <a:t>Click to edit Master title style</a:t>
            </a:r>
          </a:p>
        </p:txBody>
      </p:sp>
      <p:sp>
        <p:nvSpPr>
          <p:cNvPr id="20" name="Text Placeholder 19">
            <a:extLst>
              <a:ext uri="{FF2B5EF4-FFF2-40B4-BE49-F238E27FC236}">
                <a16:creationId xmlns:a16="http://schemas.microsoft.com/office/drawing/2014/main" id="{3061D5F4-8719-384B-945C-9A27060F99A0}"/>
              </a:ext>
            </a:extLst>
          </p:cNvPr>
          <p:cNvSpPr>
            <a:spLocks noGrp="1"/>
          </p:cNvSpPr>
          <p:nvPr>
            <p:ph type="body" sz="quarter" idx="10" hasCustomPrompt="1"/>
          </p:nvPr>
        </p:nvSpPr>
        <p:spPr>
          <a:xfrm>
            <a:off x="1370529" y="5669280"/>
            <a:ext cx="4572000" cy="274320"/>
          </a:xfrm>
          <a:prstGeom prst="rect">
            <a:avLst/>
          </a:prstGeom>
        </p:spPr>
        <p:txBody>
          <a:bodyPr wrap="none" lIns="0" tIns="0" rIns="0" bIns="0">
            <a:noAutofit/>
          </a:bodyPr>
          <a:lstStyle>
            <a:lvl1pPr marL="0" indent="0" algn="r">
              <a:buNone/>
              <a:defRPr sz="1800" b="1">
                <a:solidFill>
                  <a:srgbClr val="000000"/>
                </a:solidFill>
                <a:latin typeface="Arial" panose="020B0604020202020204" pitchFamily="34" charset="0"/>
                <a:cs typeface="Arial" panose="020B06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a:t>Click to add presenter’s name</a:t>
            </a:r>
          </a:p>
        </p:txBody>
      </p:sp>
      <p:sp>
        <p:nvSpPr>
          <p:cNvPr id="21" name="Text Placeholder 19">
            <a:extLst>
              <a:ext uri="{FF2B5EF4-FFF2-40B4-BE49-F238E27FC236}">
                <a16:creationId xmlns:a16="http://schemas.microsoft.com/office/drawing/2014/main" id="{3E2D432E-6648-6643-9C6E-38B1EFF5EE31}"/>
              </a:ext>
            </a:extLst>
          </p:cNvPr>
          <p:cNvSpPr>
            <a:spLocks noGrp="1"/>
          </p:cNvSpPr>
          <p:nvPr>
            <p:ph type="body" sz="quarter" idx="11" hasCustomPrompt="1"/>
          </p:nvPr>
        </p:nvSpPr>
        <p:spPr>
          <a:xfrm>
            <a:off x="1371600" y="5983356"/>
            <a:ext cx="4572000" cy="274320"/>
          </a:xfrm>
          <a:prstGeom prst="rect">
            <a:avLst/>
          </a:prstGeom>
        </p:spPr>
        <p:txBody>
          <a:bodyPr wrap="none" lIns="0" tIns="0" rIns="0" bIns="0">
            <a:noAutofit/>
          </a:bodyPr>
          <a:lstStyle>
            <a:lvl1pPr marL="0" indent="0" algn="r">
              <a:buNone/>
              <a:defRPr sz="1600">
                <a:solidFill>
                  <a:srgbClr val="616265"/>
                </a:solidFill>
                <a:latin typeface="Arial" panose="020B0604020202020204" pitchFamily="34" charset="0"/>
                <a:cs typeface="Arial" panose="020B06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a:t>Click to add presenter’s title</a:t>
            </a:r>
          </a:p>
        </p:txBody>
      </p:sp>
      <p:sp>
        <p:nvSpPr>
          <p:cNvPr id="6" name="TextBox 5">
            <a:extLst>
              <a:ext uri="{FF2B5EF4-FFF2-40B4-BE49-F238E27FC236}">
                <a16:creationId xmlns:a16="http://schemas.microsoft.com/office/drawing/2014/main" id="{8915389B-4BB4-1644-9B7E-35A85D0C1E3B}"/>
              </a:ext>
            </a:extLst>
          </p:cNvPr>
          <p:cNvSpPr txBox="1"/>
          <p:nvPr userDrawn="1"/>
        </p:nvSpPr>
        <p:spPr>
          <a:xfrm>
            <a:off x="3710609" y="-1245704"/>
            <a:ext cx="184731" cy="424732"/>
          </a:xfrm>
          <a:prstGeom prst="rect">
            <a:avLst/>
          </a:prstGeom>
          <a:noFill/>
        </p:spPr>
        <p:txBody>
          <a:bodyPr wrap="none" rtlCol="0">
            <a:spAutoFit/>
          </a:bodyPr>
          <a:lstStyle/>
          <a:p>
            <a:endParaRPr lang="en-US"/>
          </a:p>
        </p:txBody>
      </p:sp>
      <p:pic>
        <p:nvPicPr>
          <p:cNvPr id="12" name="Picture 11">
            <a:extLst>
              <a:ext uri="{FF2B5EF4-FFF2-40B4-BE49-F238E27FC236}">
                <a16:creationId xmlns:a16="http://schemas.microsoft.com/office/drawing/2014/main" id="{45A7D3E1-BCC3-C843-81A0-EA4EDFB44528}"/>
              </a:ext>
            </a:extLst>
          </p:cNvPr>
          <p:cNvPicPr>
            <a:picLocks noChangeAspect="1"/>
          </p:cNvPicPr>
          <p:nvPr userDrawn="1"/>
        </p:nvPicPr>
        <p:blipFill>
          <a:blip r:embed="rId2"/>
          <a:stretch>
            <a:fillRect/>
          </a:stretch>
        </p:blipFill>
        <p:spPr>
          <a:xfrm>
            <a:off x="1371600" y="237744"/>
            <a:ext cx="1280160" cy="1249224"/>
          </a:xfrm>
          <a:prstGeom prst="rect">
            <a:avLst/>
          </a:prstGeom>
        </p:spPr>
      </p:pic>
      <p:pic>
        <p:nvPicPr>
          <p:cNvPr id="13" name="Picture 12">
            <a:extLst>
              <a:ext uri="{FF2B5EF4-FFF2-40B4-BE49-F238E27FC236}">
                <a16:creationId xmlns:a16="http://schemas.microsoft.com/office/drawing/2014/main" id="{56617363-F73D-B74F-9647-C9D747AC7023}"/>
              </a:ext>
            </a:extLst>
          </p:cNvPr>
          <p:cNvPicPr>
            <a:picLocks noChangeAspect="1"/>
          </p:cNvPicPr>
          <p:nvPr userDrawn="1"/>
        </p:nvPicPr>
        <p:blipFill>
          <a:blip r:embed="rId3"/>
          <a:srcRect/>
          <a:stretch/>
        </p:blipFill>
        <p:spPr>
          <a:xfrm>
            <a:off x="1420790" y="7188454"/>
            <a:ext cx="1005840" cy="288666"/>
          </a:xfrm>
          <a:prstGeom prst="rect">
            <a:avLst/>
          </a:prstGeom>
        </p:spPr>
      </p:pic>
      <p:pic>
        <p:nvPicPr>
          <p:cNvPr id="14" name="Picture 13">
            <a:extLst>
              <a:ext uri="{FF2B5EF4-FFF2-40B4-BE49-F238E27FC236}">
                <a16:creationId xmlns:a16="http://schemas.microsoft.com/office/drawing/2014/main" id="{D290C8FB-601C-A04C-84F7-213A857D3E6A}"/>
              </a:ext>
            </a:extLst>
          </p:cNvPr>
          <p:cNvPicPr>
            <a:picLocks noChangeAspect="1"/>
          </p:cNvPicPr>
          <p:nvPr userDrawn="1"/>
        </p:nvPicPr>
        <p:blipFill>
          <a:blip r:embed="rId4"/>
          <a:stretch>
            <a:fillRect/>
          </a:stretch>
        </p:blipFill>
        <p:spPr>
          <a:xfrm>
            <a:off x="2481865" y="7255063"/>
            <a:ext cx="929809" cy="155448"/>
          </a:xfrm>
          <a:prstGeom prst="rect">
            <a:avLst/>
          </a:prstGeom>
        </p:spPr>
      </p:pic>
      <p:sp>
        <p:nvSpPr>
          <p:cNvPr id="15" name="Date Placeholder 1">
            <a:extLst>
              <a:ext uri="{FF2B5EF4-FFF2-40B4-BE49-F238E27FC236}">
                <a16:creationId xmlns:a16="http://schemas.microsoft.com/office/drawing/2014/main" id="{9D9DB338-5D5C-4ACA-9ECF-C3E34C44127A}"/>
              </a:ext>
            </a:extLst>
          </p:cNvPr>
          <p:cNvSpPr>
            <a:spLocks noGrp="1"/>
          </p:cNvSpPr>
          <p:nvPr>
            <p:ph type="dt" sz="half" idx="2"/>
          </p:nvPr>
        </p:nvSpPr>
        <p:spPr>
          <a:xfrm>
            <a:off x="2651641" y="4915645"/>
            <a:ext cx="3290888" cy="438150"/>
          </a:xfrm>
          <a:prstGeom prst="rect">
            <a:avLst/>
          </a:prstGeom>
        </p:spPr>
        <p:txBody>
          <a:bodyPr vert="horz" lIns="91440" tIns="45720" rIns="91440" bIns="45720" rtlCol="0" anchor="ctr"/>
          <a:lstStyle>
            <a:lvl1pPr algn="r">
              <a:defRPr sz="1800">
                <a:solidFill>
                  <a:schemeClr val="tx1">
                    <a:tint val="75000"/>
                  </a:schemeClr>
                </a:solidFill>
              </a:defRPr>
            </a:lvl1pPr>
          </a:lstStyle>
          <a:p>
            <a:fld id="{ABD4F8E3-4ED9-44B4-99E6-8A3D2CF8D415}" type="datetime4">
              <a:rPr lang="en-US" smtClean="0"/>
              <a:t>April 23, 2026</a:t>
            </a:fld>
            <a:endParaRPr lang="en-US"/>
          </a:p>
        </p:txBody>
      </p:sp>
      <p:sp>
        <p:nvSpPr>
          <p:cNvPr id="16" name="Footer Placeholder 2">
            <a:extLst>
              <a:ext uri="{FF2B5EF4-FFF2-40B4-BE49-F238E27FC236}">
                <a16:creationId xmlns:a16="http://schemas.microsoft.com/office/drawing/2014/main" id="{F55B65E8-4040-44D0-A4FE-A050FD948A79}"/>
              </a:ext>
            </a:extLst>
          </p:cNvPr>
          <p:cNvSpPr>
            <a:spLocks noGrp="1"/>
          </p:cNvSpPr>
          <p:nvPr>
            <p:ph type="ftr" sz="quarter" idx="3"/>
          </p:nvPr>
        </p:nvSpPr>
        <p:spPr>
          <a:xfrm>
            <a:off x="1189037" y="773011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5013057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66026595-8D7E-D24C-9263-B65316A326B9}"/>
              </a:ext>
            </a:extLst>
          </p:cNvPr>
          <p:cNvSpPr>
            <a:spLocks noGrp="1"/>
          </p:cNvSpPr>
          <p:nvPr>
            <p:ph type="pic" sz="quarter" idx="10"/>
          </p:nvPr>
        </p:nvSpPr>
        <p:spPr>
          <a:xfrm>
            <a:off x="6400800" y="457200"/>
            <a:ext cx="7772400" cy="73152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8" name="Text Placeholder 5">
            <a:extLst>
              <a:ext uri="{FF2B5EF4-FFF2-40B4-BE49-F238E27FC236}">
                <a16:creationId xmlns:a16="http://schemas.microsoft.com/office/drawing/2014/main" id="{1D0CE8D1-2F12-5A44-A6B5-2CD466F52A60}"/>
              </a:ext>
            </a:extLst>
          </p:cNvPr>
          <p:cNvSpPr>
            <a:spLocks noGrp="1"/>
          </p:cNvSpPr>
          <p:nvPr>
            <p:ph type="body" sz="quarter" idx="14" hasCustomPrompt="1"/>
          </p:nvPr>
        </p:nvSpPr>
        <p:spPr>
          <a:xfrm>
            <a:off x="6400800" y="6858000"/>
            <a:ext cx="77724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9" name="Title 1">
            <a:extLst>
              <a:ext uri="{FF2B5EF4-FFF2-40B4-BE49-F238E27FC236}">
                <a16:creationId xmlns:a16="http://schemas.microsoft.com/office/drawing/2014/main" id="{B99B87A2-8960-403D-AE0D-D54946272206}"/>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1" name="Content Placeholder 13">
            <a:extLst>
              <a:ext uri="{FF2B5EF4-FFF2-40B4-BE49-F238E27FC236}">
                <a16:creationId xmlns:a16="http://schemas.microsoft.com/office/drawing/2014/main" id="{29354FF4-9871-4E1B-A45A-ABAA2BE2B69B}"/>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47EFCEB6-2E27-4C42-A1E5-AC8A8BA83783}"/>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15" name="Footer Placeholder 2">
            <a:extLst>
              <a:ext uri="{FF2B5EF4-FFF2-40B4-BE49-F238E27FC236}">
                <a16:creationId xmlns:a16="http://schemas.microsoft.com/office/drawing/2014/main" id="{A86FAFB9-0DC0-4AB0-9E8B-6EC7C8ABAAF1}"/>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9578281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rge Text Box">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12" name="Content Placeholder 4">
            <a:extLst>
              <a:ext uri="{FF2B5EF4-FFF2-40B4-BE49-F238E27FC236}">
                <a16:creationId xmlns:a16="http://schemas.microsoft.com/office/drawing/2014/main" id="{F0C408BC-A7DE-4A08-AD26-56414D2DD808}"/>
              </a:ext>
            </a:extLst>
          </p:cNvPr>
          <p:cNvSpPr>
            <a:spLocks noGrp="1"/>
          </p:cNvSpPr>
          <p:nvPr>
            <p:ph sz="quarter" idx="20"/>
          </p:nvPr>
        </p:nvSpPr>
        <p:spPr>
          <a:xfrm>
            <a:off x="6430642" y="457199"/>
            <a:ext cx="7772400" cy="7315200"/>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A3C58F0F-5237-4527-BB8E-6EEF623543BB}"/>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1">
            <a:extLst>
              <a:ext uri="{FF2B5EF4-FFF2-40B4-BE49-F238E27FC236}">
                <a16:creationId xmlns:a16="http://schemas.microsoft.com/office/drawing/2014/main" id="{33D0FD2D-15F4-4320-9C04-2023CAB47E08}"/>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19" name="Footer Placeholder 2">
            <a:extLst>
              <a:ext uri="{FF2B5EF4-FFF2-40B4-BE49-F238E27FC236}">
                <a16:creationId xmlns:a16="http://schemas.microsoft.com/office/drawing/2014/main" id="{08FBEF60-4239-4E67-A385-B22B813AD40B}"/>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20" name="Title 1">
            <a:extLst>
              <a:ext uri="{FF2B5EF4-FFF2-40B4-BE49-F238E27FC236}">
                <a16:creationId xmlns:a16="http://schemas.microsoft.com/office/drawing/2014/main" id="{77614967-FAA9-4DA9-B7DE-539AA8923534}"/>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9903476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Title 1">
            <a:extLst>
              <a:ext uri="{FF2B5EF4-FFF2-40B4-BE49-F238E27FC236}">
                <a16:creationId xmlns:a16="http://schemas.microsoft.com/office/drawing/2014/main" id="{7C1406DC-BAEC-4717-8F68-46C92F16638A}"/>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0" name="Content Placeholder 4">
            <a:extLst>
              <a:ext uri="{FF2B5EF4-FFF2-40B4-BE49-F238E27FC236}">
                <a16:creationId xmlns:a16="http://schemas.microsoft.com/office/drawing/2014/main" id="{028E3363-7137-4431-9927-3AE087A5B2BE}"/>
              </a:ext>
            </a:extLst>
          </p:cNvPr>
          <p:cNvSpPr>
            <a:spLocks noGrp="1"/>
          </p:cNvSpPr>
          <p:nvPr>
            <p:ph sz="quarter" idx="20"/>
          </p:nvPr>
        </p:nvSpPr>
        <p:spPr>
          <a:xfrm>
            <a:off x="1371600" y="2057399"/>
            <a:ext cx="12801600" cy="5486401"/>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E76F451D-D169-4CA9-91EE-97F19A35C6DE}"/>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15" name="Footer Placeholder 2">
            <a:extLst>
              <a:ext uri="{FF2B5EF4-FFF2-40B4-BE49-F238E27FC236}">
                <a16:creationId xmlns:a16="http://schemas.microsoft.com/office/drawing/2014/main" id="{8A19F790-0343-4862-A140-1B409986B7FB}"/>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8067925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6400800" y="4572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7" name="Picture Placeholder 2">
            <a:extLst>
              <a:ext uri="{FF2B5EF4-FFF2-40B4-BE49-F238E27FC236}">
                <a16:creationId xmlns:a16="http://schemas.microsoft.com/office/drawing/2014/main" id="{FD00854A-4EC7-2D48-A025-5B0B48548BC7}"/>
              </a:ext>
            </a:extLst>
          </p:cNvPr>
          <p:cNvSpPr>
            <a:spLocks noGrp="1"/>
          </p:cNvSpPr>
          <p:nvPr>
            <p:ph type="pic" sz="quarter" idx="11"/>
          </p:nvPr>
        </p:nvSpPr>
        <p:spPr>
          <a:xfrm>
            <a:off x="10515600" y="4572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8" name="Picture Placeholder 2">
            <a:extLst>
              <a:ext uri="{FF2B5EF4-FFF2-40B4-BE49-F238E27FC236}">
                <a16:creationId xmlns:a16="http://schemas.microsoft.com/office/drawing/2014/main" id="{67A8C708-D197-CF47-8089-89928BE1E302}"/>
              </a:ext>
            </a:extLst>
          </p:cNvPr>
          <p:cNvSpPr>
            <a:spLocks noGrp="1"/>
          </p:cNvSpPr>
          <p:nvPr>
            <p:ph type="pic" sz="quarter" idx="12"/>
          </p:nvPr>
        </p:nvSpPr>
        <p:spPr>
          <a:xfrm>
            <a:off x="6400800" y="43434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2" name="Picture Placeholder 2">
            <a:extLst>
              <a:ext uri="{FF2B5EF4-FFF2-40B4-BE49-F238E27FC236}">
                <a16:creationId xmlns:a16="http://schemas.microsoft.com/office/drawing/2014/main" id="{3C4D2EBC-B863-FD49-A9DF-1381563078DA}"/>
              </a:ext>
            </a:extLst>
          </p:cNvPr>
          <p:cNvSpPr>
            <a:spLocks noGrp="1"/>
          </p:cNvSpPr>
          <p:nvPr>
            <p:ph type="pic" sz="quarter" idx="13"/>
          </p:nvPr>
        </p:nvSpPr>
        <p:spPr>
          <a:xfrm>
            <a:off x="10515600" y="43434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6" name="Text Placeholder 5">
            <a:extLst>
              <a:ext uri="{FF2B5EF4-FFF2-40B4-BE49-F238E27FC236}">
                <a16:creationId xmlns:a16="http://schemas.microsoft.com/office/drawing/2014/main" id="{CE93B472-4A32-7C41-A565-485FDC3EB832}"/>
              </a:ext>
            </a:extLst>
          </p:cNvPr>
          <p:cNvSpPr>
            <a:spLocks noGrp="1"/>
          </p:cNvSpPr>
          <p:nvPr>
            <p:ph type="body" sz="quarter" idx="14" hasCustomPrompt="1"/>
          </p:nvPr>
        </p:nvSpPr>
        <p:spPr>
          <a:xfrm>
            <a:off x="6400800" y="29718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3" name="Text Placeholder 5">
            <a:extLst>
              <a:ext uri="{FF2B5EF4-FFF2-40B4-BE49-F238E27FC236}">
                <a16:creationId xmlns:a16="http://schemas.microsoft.com/office/drawing/2014/main" id="{19F7807A-D120-BD49-9CBD-9174F26D7982}"/>
              </a:ext>
            </a:extLst>
          </p:cNvPr>
          <p:cNvSpPr>
            <a:spLocks noGrp="1"/>
          </p:cNvSpPr>
          <p:nvPr>
            <p:ph type="body" sz="quarter" idx="15" hasCustomPrompt="1"/>
          </p:nvPr>
        </p:nvSpPr>
        <p:spPr>
          <a:xfrm>
            <a:off x="6400800" y="68580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4" name="Text Placeholder 5">
            <a:extLst>
              <a:ext uri="{FF2B5EF4-FFF2-40B4-BE49-F238E27FC236}">
                <a16:creationId xmlns:a16="http://schemas.microsoft.com/office/drawing/2014/main" id="{08ED17FC-CAF8-9A40-9A88-897DEF9CFEA0}"/>
              </a:ext>
            </a:extLst>
          </p:cNvPr>
          <p:cNvSpPr>
            <a:spLocks noGrp="1"/>
          </p:cNvSpPr>
          <p:nvPr>
            <p:ph type="body" sz="quarter" idx="16" hasCustomPrompt="1"/>
          </p:nvPr>
        </p:nvSpPr>
        <p:spPr>
          <a:xfrm>
            <a:off x="10515600" y="29718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5" name="Text Placeholder 5">
            <a:extLst>
              <a:ext uri="{FF2B5EF4-FFF2-40B4-BE49-F238E27FC236}">
                <a16:creationId xmlns:a16="http://schemas.microsoft.com/office/drawing/2014/main" id="{4A16FA60-8BA9-8B4A-86AA-F8336C26C78B}"/>
              </a:ext>
            </a:extLst>
          </p:cNvPr>
          <p:cNvSpPr>
            <a:spLocks noGrp="1"/>
          </p:cNvSpPr>
          <p:nvPr>
            <p:ph type="body" sz="quarter" idx="17" hasCustomPrompt="1"/>
          </p:nvPr>
        </p:nvSpPr>
        <p:spPr>
          <a:xfrm>
            <a:off x="10515600" y="68580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6" name="Slide Number Placeholder 3">
            <a:extLst>
              <a:ext uri="{FF2B5EF4-FFF2-40B4-BE49-F238E27FC236}">
                <a16:creationId xmlns:a16="http://schemas.microsoft.com/office/drawing/2014/main" id="{7DC2EC3E-C641-FD49-9F15-878B1AFFFD98}"/>
              </a:ext>
            </a:extLst>
          </p:cNvPr>
          <p:cNvSpPr>
            <a:spLocks noGrp="1"/>
          </p:cNvSpPr>
          <p:nvPr>
            <p:ph type="sldNum" sz="quarter" idx="18"/>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19" name="Title 1">
            <a:extLst>
              <a:ext uri="{FF2B5EF4-FFF2-40B4-BE49-F238E27FC236}">
                <a16:creationId xmlns:a16="http://schemas.microsoft.com/office/drawing/2014/main" id="{3648737A-DE0E-48DB-87F0-65418715CF88}"/>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21" name="Content Placeholder 13">
            <a:extLst>
              <a:ext uri="{FF2B5EF4-FFF2-40B4-BE49-F238E27FC236}">
                <a16:creationId xmlns:a16="http://schemas.microsoft.com/office/drawing/2014/main" id="{97DA340F-6103-4F2C-B3B8-8D8A524DC19C}"/>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1">
            <a:extLst>
              <a:ext uri="{FF2B5EF4-FFF2-40B4-BE49-F238E27FC236}">
                <a16:creationId xmlns:a16="http://schemas.microsoft.com/office/drawing/2014/main" id="{EE384947-F0AD-4E73-95AD-CAD4DEE44608}"/>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26" name="Footer Placeholder 2">
            <a:extLst>
              <a:ext uri="{FF2B5EF4-FFF2-40B4-BE49-F238E27FC236}">
                <a16:creationId xmlns:a16="http://schemas.microsoft.com/office/drawing/2014/main" id="{8259C4D6-850D-4393-9434-3F69451FBF8E}"/>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4109323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Picture Grid with Subhea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37160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37160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573786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573786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1010412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1010412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37160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37160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573786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573786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1010412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1010412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26" name="Title 1">
            <a:extLst>
              <a:ext uri="{FF2B5EF4-FFF2-40B4-BE49-F238E27FC236}">
                <a16:creationId xmlns:a16="http://schemas.microsoft.com/office/drawing/2014/main" id="{BE0A6ECC-C9D0-4240-B978-69D09F2C9936}"/>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30" name="Date Placeholder 1">
            <a:extLst>
              <a:ext uri="{FF2B5EF4-FFF2-40B4-BE49-F238E27FC236}">
                <a16:creationId xmlns:a16="http://schemas.microsoft.com/office/drawing/2014/main" id="{E4CF0CE7-333F-4604-B518-6F7EE2AA82D5}"/>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31" name="Footer Placeholder 2">
            <a:extLst>
              <a:ext uri="{FF2B5EF4-FFF2-40B4-BE49-F238E27FC236}">
                <a16:creationId xmlns:a16="http://schemas.microsoft.com/office/drawing/2014/main" id="{21303C4E-FB0C-4A46-BF34-C99D885AA3B1}"/>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32" name="Content Placeholder 4">
            <a:extLst>
              <a:ext uri="{FF2B5EF4-FFF2-40B4-BE49-F238E27FC236}">
                <a16:creationId xmlns:a16="http://schemas.microsoft.com/office/drawing/2014/main" id="{C14080C3-5390-4F4E-9C88-2C080B5CE5D9}"/>
              </a:ext>
            </a:extLst>
          </p:cNvPr>
          <p:cNvSpPr>
            <a:spLocks noGrp="1"/>
          </p:cNvSpPr>
          <p:nvPr>
            <p:ph sz="quarter" idx="24"/>
          </p:nvPr>
        </p:nvSpPr>
        <p:spPr>
          <a:xfrm>
            <a:off x="1371600" y="2194560"/>
            <a:ext cx="12801600" cy="525886"/>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29500813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37160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37160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573786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573786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1010412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1010412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37160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37160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573786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573786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1010412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1010412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28" name="Date Placeholder 1">
            <a:extLst>
              <a:ext uri="{FF2B5EF4-FFF2-40B4-BE49-F238E27FC236}">
                <a16:creationId xmlns:a16="http://schemas.microsoft.com/office/drawing/2014/main" id="{68F188F7-153E-49D5-8DFC-19025204703A}"/>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29" name="Footer Placeholder 2">
            <a:extLst>
              <a:ext uri="{FF2B5EF4-FFF2-40B4-BE49-F238E27FC236}">
                <a16:creationId xmlns:a16="http://schemas.microsoft.com/office/drawing/2014/main" id="{578EF931-9BED-4D2C-8850-F588C3E36023}"/>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30" name="Title 1">
            <a:extLst>
              <a:ext uri="{FF2B5EF4-FFF2-40B4-BE49-F238E27FC236}">
                <a16:creationId xmlns:a16="http://schemas.microsoft.com/office/drawing/2014/main" id="{7B7AD090-7EA2-424E-A15B-B80A20326A1D}"/>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4829235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Date Placeholder 1">
            <a:extLst>
              <a:ext uri="{FF2B5EF4-FFF2-40B4-BE49-F238E27FC236}">
                <a16:creationId xmlns:a16="http://schemas.microsoft.com/office/drawing/2014/main" id="{8F28E1ED-1888-403E-AAF0-8053EF9DF5EA}"/>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7" name="Footer Placeholder 2">
            <a:extLst>
              <a:ext uri="{FF2B5EF4-FFF2-40B4-BE49-F238E27FC236}">
                <a16:creationId xmlns:a16="http://schemas.microsoft.com/office/drawing/2014/main" id="{227E8059-8EC0-42A2-8A9E-251427CDC055}"/>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2691456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hank You / Conclusion">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chemeClr val="bg1"/>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TextBox 5">
            <a:extLst>
              <a:ext uri="{FF2B5EF4-FFF2-40B4-BE49-F238E27FC236}">
                <a16:creationId xmlns:a16="http://schemas.microsoft.com/office/drawing/2014/main" id="{D366D1A4-6DD7-B54C-AB7B-63074374BB93}"/>
              </a:ext>
            </a:extLst>
          </p:cNvPr>
          <p:cNvSpPr txBox="1"/>
          <p:nvPr userDrawn="1"/>
        </p:nvSpPr>
        <p:spPr>
          <a:xfrm>
            <a:off x="1371600" y="2057400"/>
            <a:ext cx="4572000" cy="5486400"/>
          </a:xfrm>
          <a:prstGeom prst="rect">
            <a:avLst/>
          </a:prstGeom>
          <a:noFill/>
        </p:spPr>
        <p:txBody>
          <a:bodyPr wrap="square" lIns="0" tIns="0" rIns="0" bIns="0" rtlCol="0" anchor="ctr" anchorCtr="0">
            <a:noAutofit/>
          </a:bodyPr>
          <a:lstStyle/>
          <a:p>
            <a:pPr>
              <a:lnSpc>
                <a:spcPct val="90000"/>
              </a:lnSpc>
            </a:pPr>
            <a:r>
              <a:rPr lang="en-US" sz="4800" b="1">
                <a:solidFill>
                  <a:schemeClr val="tx2"/>
                </a:solidFill>
                <a:latin typeface="Arial" panose="020B0604020202020204" pitchFamily="34" charset="0"/>
                <a:cs typeface="Arial" panose="020B0604020202020204" pitchFamily="34" charset="0"/>
              </a:rPr>
              <a:t>Thank you</a:t>
            </a:r>
          </a:p>
        </p:txBody>
      </p:sp>
      <p:sp>
        <p:nvSpPr>
          <p:cNvPr id="9" name="Footer Placeholder 2">
            <a:extLst>
              <a:ext uri="{FF2B5EF4-FFF2-40B4-BE49-F238E27FC236}">
                <a16:creationId xmlns:a16="http://schemas.microsoft.com/office/drawing/2014/main" id="{B62A8373-42F9-431F-865E-129CCA0046BE}"/>
              </a:ext>
            </a:extLst>
          </p:cNvPr>
          <p:cNvSpPr>
            <a:spLocks noGrp="1"/>
          </p:cNvSpPr>
          <p:nvPr>
            <p:ph type="ftr" sz="quarter" idx="3"/>
          </p:nvPr>
        </p:nvSpPr>
        <p:spPr>
          <a:xfrm>
            <a:off x="929247" y="7772400"/>
            <a:ext cx="5471554"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32417656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29221F-20F2-144C-A638-0A6C756C26C9}"/>
              </a:ext>
            </a:extLst>
          </p:cNvPr>
          <p:cNvSpPr/>
          <p:nvPr userDrawn="1"/>
        </p:nvSpPr>
        <p:spPr>
          <a:xfrm>
            <a:off x="914400" y="0"/>
            <a:ext cx="54864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588D28A-E737-5049-8A98-3AC3A6EA2CDB}"/>
              </a:ext>
            </a:extLst>
          </p:cNvPr>
          <p:cNvPicPr>
            <a:picLocks noChangeAspect="1"/>
          </p:cNvPicPr>
          <p:nvPr userDrawn="1"/>
        </p:nvPicPr>
        <p:blipFill>
          <a:blip r:embed="rId12"/>
          <a:stretch>
            <a:fillRect/>
          </a:stretch>
        </p:blipFill>
        <p:spPr>
          <a:xfrm>
            <a:off x="1371600" y="237744"/>
            <a:ext cx="1280160" cy="1249224"/>
          </a:xfrm>
          <a:prstGeom prst="rect">
            <a:avLst/>
          </a:prstGeom>
        </p:spPr>
      </p:pic>
      <p:sp>
        <p:nvSpPr>
          <p:cNvPr id="3" name="Footer Placeholder 2">
            <a:extLst>
              <a:ext uri="{FF2B5EF4-FFF2-40B4-BE49-F238E27FC236}">
                <a16:creationId xmlns:a16="http://schemas.microsoft.com/office/drawing/2014/main" id="{5EEAA279-64AD-4C24-987C-D056E5350C46}"/>
              </a:ext>
            </a:extLst>
          </p:cNvPr>
          <p:cNvSpPr>
            <a:spLocks noGrp="1"/>
          </p:cNvSpPr>
          <p:nvPr>
            <p:ph type="ftr" sz="quarter" idx="3"/>
          </p:nvPr>
        </p:nvSpPr>
        <p:spPr>
          <a:xfrm>
            <a:off x="1189037" y="762793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64710702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D0D9-1CAC-4FBD-8120-CBD5A07EB995}"/>
              </a:ext>
            </a:extLst>
          </p:cNvPr>
          <p:cNvSpPr>
            <a:spLocks noGrp="1"/>
          </p:cNvSpPr>
          <p:nvPr>
            <p:ph type="ctrTitle"/>
          </p:nvPr>
        </p:nvSpPr>
        <p:spPr>
          <a:xfrm>
            <a:off x="1026544" y="1759789"/>
            <a:ext cx="4899804" cy="2812211"/>
          </a:xfrm>
        </p:spPr>
        <p:txBody>
          <a:bodyPr/>
          <a:lstStyle/>
          <a:p>
            <a:r>
              <a:rPr lang="en-US">
                <a:latin typeface="Arial"/>
                <a:cs typeface="Arial"/>
              </a:rPr>
              <a:t>Fractrue Thermal Energy Storage  (FTSE)</a:t>
            </a:r>
            <a:endParaRPr lang="en-US"/>
          </a:p>
        </p:txBody>
      </p:sp>
      <p:sp>
        <p:nvSpPr>
          <p:cNvPr id="6" name="Date Placeholder 5">
            <a:extLst>
              <a:ext uri="{FF2B5EF4-FFF2-40B4-BE49-F238E27FC236}">
                <a16:creationId xmlns:a16="http://schemas.microsoft.com/office/drawing/2014/main" id="{B8696A4F-5314-46CD-B205-CC2D44570D66}"/>
              </a:ext>
            </a:extLst>
          </p:cNvPr>
          <p:cNvSpPr>
            <a:spLocks noGrp="1"/>
          </p:cNvSpPr>
          <p:nvPr>
            <p:ph type="dt" sz="half" idx="2"/>
          </p:nvPr>
        </p:nvSpPr>
        <p:spPr/>
        <p:txBody>
          <a:bodyPr/>
          <a:lstStyle/>
          <a:p>
            <a:fld id="{4E130ED9-0C27-4EF1-9F86-D29E4EA507BE}" type="datetime4">
              <a:rPr lang="en-US" smtClean="0"/>
              <a:t>April 23, 2026</a:t>
            </a:fld>
            <a:endParaRPr lang="en-US"/>
          </a:p>
        </p:txBody>
      </p:sp>
      <p:sp>
        <p:nvSpPr>
          <p:cNvPr id="7" name="Rectangle 1">
            <a:extLst>
              <a:ext uri="{FF2B5EF4-FFF2-40B4-BE49-F238E27FC236}">
                <a16:creationId xmlns:a16="http://schemas.microsoft.com/office/drawing/2014/main" id="{2F386920-9A4C-4B82-2357-98D72A83D08B}"/>
              </a:ext>
            </a:extLst>
          </p:cNvPr>
          <p:cNvSpPr>
            <a:spLocks noChangeArrowheads="1"/>
          </p:cNvSpPr>
          <p:nvPr/>
        </p:nvSpPr>
        <p:spPr bwMode="auto">
          <a:xfrm>
            <a:off x="0" y="-323165"/>
            <a:ext cx="70089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Tea </a:t>
            </a:r>
          </a:p>
        </p:txBody>
      </p:sp>
      <p:sp>
        <p:nvSpPr>
          <p:cNvPr id="9" name="TextBox 8">
            <a:extLst>
              <a:ext uri="{FF2B5EF4-FFF2-40B4-BE49-F238E27FC236}">
                <a16:creationId xmlns:a16="http://schemas.microsoft.com/office/drawing/2014/main" id="{80867AE4-38EA-CE9E-35A3-2D447FBA6486}"/>
              </a:ext>
            </a:extLst>
          </p:cNvPr>
          <p:cNvSpPr txBox="1"/>
          <p:nvPr/>
        </p:nvSpPr>
        <p:spPr>
          <a:xfrm>
            <a:off x="1312021" y="5328108"/>
            <a:ext cx="4101371" cy="369332"/>
          </a:xfrm>
          <a:prstGeom prst="rect">
            <a:avLst/>
          </a:prstGeom>
          <a:noFill/>
        </p:spPr>
        <p:txBody>
          <a:bodyPr wrap="square" lIns="91440" tIns="45720" rIns="91440" bIns="45720" anchor="t">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800" b="1">
                <a:cs typeface="Arial"/>
              </a:rPr>
              <a:t>Team 1: </a:t>
            </a:r>
            <a:r>
              <a:rPr lang="en-US" altLang="en-US" sz="1800" b="1" err="1">
                <a:cs typeface="Arial"/>
              </a:rPr>
              <a:t>SubSignal</a:t>
            </a:r>
            <a:endParaRPr lang="en-US" altLang="en-US" sz="1800" b="1">
              <a:cs typeface="Arial"/>
            </a:endParaRPr>
          </a:p>
        </p:txBody>
      </p:sp>
      <p:sp>
        <p:nvSpPr>
          <p:cNvPr id="10" name="TextBox 9">
            <a:extLst>
              <a:ext uri="{FF2B5EF4-FFF2-40B4-BE49-F238E27FC236}">
                <a16:creationId xmlns:a16="http://schemas.microsoft.com/office/drawing/2014/main" id="{692263F0-6C74-BDC4-B072-CA6AADADA4D7}"/>
              </a:ext>
            </a:extLst>
          </p:cNvPr>
          <p:cNvSpPr txBox="1"/>
          <p:nvPr/>
        </p:nvSpPr>
        <p:spPr>
          <a:xfrm>
            <a:off x="1312021" y="5697440"/>
            <a:ext cx="4101371" cy="1477328"/>
          </a:xfrm>
          <a:prstGeom prst="rect">
            <a:avLst/>
          </a:prstGeom>
          <a:noFill/>
        </p:spPr>
        <p:txBody>
          <a:bodyPr wrap="square">
            <a:spAutoFit/>
          </a:bodyPr>
          <a:lstStyle/>
          <a:p>
            <a:pPr defTabSz="914400" eaLnBrk="0" fontAlgn="base" hangingPunct="0">
              <a:spcBef>
                <a:spcPct val="0"/>
              </a:spcBef>
              <a:spcAft>
                <a:spcPct val="0"/>
              </a:spcAft>
            </a:pPr>
            <a:r>
              <a:rPr lang="en-US" altLang="en-US" sz="1800">
                <a:latin typeface="Arial" panose="020B0604020202020204" pitchFamily="34" charset="0"/>
              </a:rPr>
              <a:t>Juan Barajas</a:t>
            </a:r>
          </a:p>
          <a:p>
            <a:pPr lvl="0" defTabSz="914400" eaLnBrk="0" fontAlgn="base" hangingPunct="0">
              <a:spcBef>
                <a:spcPct val="0"/>
              </a:spcBef>
              <a:spcAft>
                <a:spcPct val="0"/>
              </a:spcAft>
            </a:pPr>
            <a:r>
              <a:rPr kumimoji="0" lang="en-US" altLang="en-US" sz="1800" b="0" i="0" u="none" strike="noStrike" cap="none" normalizeH="0" baseline="0">
                <a:ln>
                  <a:noFill/>
                </a:ln>
                <a:solidFill>
                  <a:schemeClr val="tx1"/>
                </a:solidFill>
                <a:effectLst/>
                <a:latin typeface="Arial" panose="020B0604020202020204" pitchFamily="34" charset="0"/>
              </a:rPr>
              <a:t>Stephen Ferencz</a:t>
            </a:r>
          </a:p>
          <a:p>
            <a:pPr defTabSz="914400" eaLnBrk="0" fontAlgn="base" hangingPunct="0">
              <a:spcBef>
                <a:spcPct val="0"/>
              </a:spcBef>
              <a:spcAft>
                <a:spcPct val="0"/>
              </a:spcAft>
            </a:pPr>
            <a:r>
              <a:rPr lang="en-US" altLang="en-US" sz="1800">
                <a:latin typeface="Arial" panose="020B0604020202020204" pitchFamily="34" charset="0"/>
              </a:rPr>
              <a:t>Rebecka Iveson</a:t>
            </a:r>
          </a:p>
          <a:p>
            <a:pPr lvl="0" defTabSz="914400" eaLnBrk="0" fontAlgn="base" hangingPunct="0">
              <a:spcBef>
                <a:spcPct val="0"/>
              </a:spcBef>
              <a:spcAft>
                <a:spcPct val="0"/>
              </a:spcAft>
            </a:pPr>
            <a:r>
              <a:rPr kumimoji="0" lang="en-US" altLang="en-US" sz="1800" b="0" i="0" u="none" strike="noStrike" cap="none" normalizeH="0" baseline="0">
                <a:ln>
                  <a:noFill/>
                </a:ln>
                <a:solidFill>
                  <a:schemeClr val="tx1"/>
                </a:solidFill>
                <a:effectLst/>
                <a:latin typeface="Arial" panose="020B0604020202020204" pitchFamily="34" charset="0"/>
              </a:rPr>
              <a:t>Kyle Weiss</a:t>
            </a:r>
          </a:p>
          <a:p>
            <a:pPr lvl="0" defTabSz="914400" eaLnBrk="0" fontAlgn="base" hangingPunct="0">
              <a:spcBef>
                <a:spcPct val="0"/>
              </a:spcBef>
              <a:spcAft>
                <a:spcPct val="0"/>
              </a:spcAft>
            </a:pPr>
            <a:r>
              <a:rPr kumimoji="0" lang="en-US" altLang="en-US" sz="1800" b="0" i="0" u="none" strike="noStrike" cap="none" normalizeH="0" baseline="0">
                <a:ln>
                  <a:noFill/>
                </a:ln>
                <a:solidFill>
                  <a:schemeClr val="tx1"/>
                </a:solidFill>
                <a:effectLst/>
                <a:latin typeface="Arial" panose="020B0604020202020204" pitchFamily="34" charset="0"/>
              </a:rPr>
              <a:t>Nino Zuljevic</a:t>
            </a:r>
          </a:p>
        </p:txBody>
      </p:sp>
      <p:pic>
        <p:nvPicPr>
          <p:cNvPr id="4" name="Picture 3">
            <a:extLst>
              <a:ext uri="{FF2B5EF4-FFF2-40B4-BE49-F238E27FC236}">
                <a16:creationId xmlns:a16="http://schemas.microsoft.com/office/drawing/2014/main" id="{D170CA7C-790B-6DFE-8CC3-820BA5CAE420}"/>
              </a:ext>
            </a:extLst>
          </p:cNvPr>
          <p:cNvPicPr>
            <a:picLocks noChangeAspect="1"/>
          </p:cNvPicPr>
          <p:nvPr/>
        </p:nvPicPr>
        <p:blipFill>
          <a:blip r:embed="rId3"/>
          <a:srcRect t="20362"/>
          <a:stretch>
            <a:fillRect/>
          </a:stretch>
        </p:blipFill>
        <p:spPr>
          <a:xfrm>
            <a:off x="3935882" y="5512774"/>
            <a:ext cx="2410409" cy="1919609"/>
          </a:xfrm>
          <a:prstGeom prst="rect">
            <a:avLst/>
          </a:prstGeom>
        </p:spPr>
      </p:pic>
      <p:sp>
        <p:nvSpPr>
          <p:cNvPr id="11" name="Rectangle 10">
            <a:extLst>
              <a:ext uri="{FF2B5EF4-FFF2-40B4-BE49-F238E27FC236}">
                <a16:creationId xmlns:a16="http://schemas.microsoft.com/office/drawing/2014/main" id="{F236F097-FE41-AB0B-574E-24016AEE0A6E}"/>
              </a:ext>
            </a:extLst>
          </p:cNvPr>
          <p:cNvSpPr/>
          <p:nvPr/>
        </p:nvSpPr>
        <p:spPr>
          <a:xfrm>
            <a:off x="5469251" y="5353795"/>
            <a:ext cx="417419" cy="2018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2154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30BD2FD-1A79-4E55-9458-9294D45BDD02}"/>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2</a:t>
            </a:fld>
            <a:endParaRPr lang="en-US"/>
          </a:p>
        </p:txBody>
      </p:sp>
      <p:graphicFrame>
        <p:nvGraphicFramePr>
          <p:cNvPr id="8" name="Content Placeholder 5">
            <a:extLst>
              <a:ext uri="{FF2B5EF4-FFF2-40B4-BE49-F238E27FC236}">
                <a16:creationId xmlns:a16="http://schemas.microsoft.com/office/drawing/2014/main" id="{912E2371-C8AA-AC9E-6BDA-33A2FFA7878B}"/>
              </a:ext>
            </a:extLst>
          </p:cNvPr>
          <p:cNvGraphicFramePr>
            <a:graphicFrameLocks noGrp="1"/>
          </p:cNvGraphicFramePr>
          <p:nvPr>
            <p:ph sz="quarter" idx="20"/>
            <p:extLst>
              <p:ext uri="{D42A27DB-BD31-4B8C-83A1-F6EECF244321}">
                <p14:modId xmlns:p14="http://schemas.microsoft.com/office/powerpoint/2010/main" val="3175306241"/>
              </p:ext>
            </p:extLst>
          </p:nvPr>
        </p:nvGraphicFramePr>
        <p:xfrm>
          <a:off x="5583046" y="685800"/>
          <a:ext cx="8411250" cy="73324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078" name="Picture 3077">
            <a:extLst>
              <a:ext uri="{FF2B5EF4-FFF2-40B4-BE49-F238E27FC236}">
                <a16:creationId xmlns:a16="http://schemas.microsoft.com/office/drawing/2014/main" id="{08DB3044-2737-6F10-5ACD-9FE85915CA56}"/>
              </a:ext>
            </a:extLst>
          </p:cNvPr>
          <p:cNvPicPr>
            <a:picLocks noChangeAspect="1"/>
          </p:cNvPicPr>
          <p:nvPr/>
        </p:nvPicPr>
        <p:blipFill>
          <a:blip r:embed="rId8"/>
          <a:srcRect l="11852" r="22963" b="314"/>
          <a:stretch>
            <a:fillRect/>
          </a:stretch>
        </p:blipFill>
        <p:spPr>
          <a:xfrm>
            <a:off x="1251281" y="1910572"/>
            <a:ext cx="3605261" cy="6340804"/>
          </a:xfrm>
          <a:prstGeom prst="rect">
            <a:avLst/>
          </a:prstGeom>
        </p:spPr>
      </p:pic>
      <p:sp>
        <p:nvSpPr>
          <p:cNvPr id="3086" name="TextBox 3085">
            <a:extLst>
              <a:ext uri="{FF2B5EF4-FFF2-40B4-BE49-F238E27FC236}">
                <a16:creationId xmlns:a16="http://schemas.microsoft.com/office/drawing/2014/main" id="{6C88A908-20F4-CEA6-57BC-8EA1D4192D3C}"/>
              </a:ext>
            </a:extLst>
          </p:cNvPr>
          <p:cNvSpPr txBox="1"/>
          <p:nvPr/>
        </p:nvSpPr>
        <p:spPr>
          <a:xfrm>
            <a:off x="1250667" y="1828097"/>
            <a:ext cx="422694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Geothermal Test Site Data</a:t>
            </a:r>
          </a:p>
        </p:txBody>
      </p:sp>
    </p:spTree>
    <p:extLst>
      <p:ext uri="{BB962C8B-B14F-4D97-AF65-F5344CB8AC3E}">
        <p14:creationId xmlns:p14="http://schemas.microsoft.com/office/powerpoint/2010/main" val="3169358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DBE0F3-60C4-4D75-B1FC-C0F4D46BCBD6}"/>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3</a:t>
            </a:fld>
            <a:endParaRPr lang="en-US"/>
          </a:p>
        </p:txBody>
      </p:sp>
      <p:sp>
        <p:nvSpPr>
          <p:cNvPr id="11" name="Content Placeholder 3">
            <a:extLst>
              <a:ext uri="{FF2B5EF4-FFF2-40B4-BE49-F238E27FC236}">
                <a16:creationId xmlns:a16="http://schemas.microsoft.com/office/drawing/2014/main" id="{A0695D84-3123-B805-5DFD-2F34B41D8C4D}"/>
              </a:ext>
            </a:extLst>
          </p:cNvPr>
          <p:cNvSpPr>
            <a:spLocks noGrp="1"/>
          </p:cNvSpPr>
          <p:nvPr>
            <p:ph sz="quarter" idx="21"/>
          </p:nvPr>
        </p:nvSpPr>
        <p:spPr>
          <a:xfrm>
            <a:off x="1394459" y="4373033"/>
            <a:ext cx="4572000" cy="3429000"/>
          </a:xfrm>
        </p:spPr>
        <p:txBody>
          <a:bodyPr lIns="91440" tIns="45720" rIns="91440" bIns="45720" anchor="t"/>
          <a:lstStyle/>
          <a:p>
            <a:pPr marL="0" indent="0">
              <a:buNone/>
            </a:pPr>
            <a:r>
              <a:rPr lang="en-US">
                <a:cs typeface="Arial"/>
              </a:rPr>
              <a:t>The data set was </a:t>
            </a:r>
            <a:r>
              <a:rPr lang="en-US" b="1">
                <a:cs typeface="Arial"/>
              </a:rPr>
              <a:t>hourly</a:t>
            </a:r>
            <a:r>
              <a:rPr lang="en-US">
                <a:cs typeface="Arial"/>
              </a:rPr>
              <a:t> time steps of features like </a:t>
            </a:r>
            <a:r>
              <a:rPr lang="en-US" b="1">
                <a:cs typeface="Arial"/>
              </a:rPr>
              <a:t>temperature, pressure,</a:t>
            </a:r>
            <a:r>
              <a:rPr lang="en-US">
                <a:cs typeface="Arial"/>
              </a:rPr>
              <a:t> </a:t>
            </a:r>
            <a:r>
              <a:rPr lang="en-US" err="1">
                <a:cs typeface="Arial"/>
              </a:rPr>
              <a:t>etc</a:t>
            </a:r>
            <a:r>
              <a:rPr lang="en-US">
                <a:cs typeface="Arial"/>
              </a:rPr>
              <a:t> from the Sanford Underground Research Facility between </a:t>
            </a:r>
            <a:r>
              <a:rPr lang="en-US" b="1">
                <a:cs typeface="Arial"/>
              </a:rPr>
              <a:t>12/10/24 to 3/24/25.</a:t>
            </a:r>
            <a:endParaRPr lang="en-US">
              <a:cs typeface="Arial"/>
            </a:endParaRPr>
          </a:p>
        </p:txBody>
      </p:sp>
      <p:sp>
        <p:nvSpPr>
          <p:cNvPr id="5" name="Title 4">
            <a:extLst>
              <a:ext uri="{FF2B5EF4-FFF2-40B4-BE49-F238E27FC236}">
                <a16:creationId xmlns:a16="http://schemas.microsoft.com/office/drawing/2014/main" id="{3D76ADE9-B85B-471B-9A97-17044AC9D778}"/>
              </a:ext>
            </a:extLst>
          </p:cNvPr>
          <p:cNvSpPr>
            <a:spLocks noGrp="1"/>
          </p:cNvSpPr>
          <p:nvPr>
            <p:ph type="title"/>
          </p:nvPr>
        </p:nvSpPr>
        <p:spPr>
          <a:xfrm>
            <a:off x="1371599" y="2295525"/>
            <a:ext cx="4572001" cy="1590675"/>
          </a:xfrm>
        </p:spPr>
        <p:txBody>
          <a:bodyPr anchor="b">
            <a:normAutofit/>
          </a:bodyPr>
          <a:lstStyle/>
          <a:p>
            <a:r>
              <a:rPr lang="en-US"/>
              <a:t>Data Overview &amp; Challenges</a:t>
            </a:r>
          </a:p>
        </p:txBody>
      </p:sp>
      <p:graphicFrame>
        <p:nvGraphicFramePr>
          <p:cNvPr id="8" name="Content Placeholder 2">
            <a:extLst>
              <a:ext uri="{FF2B5EF4-FFF2-40B4-BE49-F238E27FC236}">
                <a16:creationId xmlns:a16="http://schemas.microsoft.com/office/drawing/2014/main" id="{B9A30787-ADC0-F60E-31ED-51B43288EB07}"/>
              </a:ext>
            </a:extLst>
          </p:cNvPr>
          <p:cNvGraphicFramePr>
            <a:graphicFrameLocks noGrp="1"/>
          </p:cNvGraphicFramePr>
          <p:nvPr>
            <p:ph sz="quarter" idx="20"/>
            <p:extLst>
              <p:ext uri="{D42A27DB-BD31-4B8C-83A1-F6EECF244321}">
                <p14:modId xmlns:p14="http://schemas.microsoft.com/office/powerpoint/2010/main" val="4256056440"/>
              </p:ext>
            </p:extLst>
          </p:nvPr>
        </p:nvGraphicFramePr>
        <p:xfrm>
          <a:off x="6430642" y="457199"/>
          <a:ext cx="7772400" cy="731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940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61E7DF-2D5A-4EF0-9E9E-047227DE4DB5}"/>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4</a:t>
            </a:fld>
            <a:endParaRPr lang="en-US"/>
          </a:p>
        </p:txBody>
      </p:sp>
      <p:sp>
        <p:nvSpPr>
          <p:cNvPr id="10" name="Content Placeholder 3">
            <a:extLst>
              <a:ext uri="{FF2B5EF4-FFF2-40B4-BE49-F238E27FC236}">
                <a16:creationId xmlns:a16="http://schemas.microsoft.com/office/drawing/2014/main" id="{1B07C569-8948-630C-9FAD-145CA23DA773}"/>
              </a:ext>
            </a:extLst>
          </p:cNvPr>
          <p:cNvSpPr>
            <a:spLocks noGrp="1"/>
          </p:cNvSpPr>
          <p:nvPr>
            <p:ph sz="quarter" idx="21"/>
          </p:nvPr>
        </p:nvSpPr>
        <p:spPr>
          <a:xfrm>
            <a:off x="1170172" y="3583172"/>
            <a:ext cx="5591132" cy="4218861"/>
          </a:xfrm>
        </p:spPr>
        <p:txBody>
          <a:bodyPr lIns="91440" tIns="45720" rIns="91440" bIns="45720" anchor="t"/>
          <a:lstStyle/>
          <a:p>
            <a:r>
              <a:rPr lang="en-US">
                <a:cs typeface="Arial"/>
              </a:rPr>
              <a:t>Cleaned, reduced, engineered, and scaled multi-resolution time-series dataset.</a:t>
            </a:r>
          </a:p>
          <a:p>
            <a:r>
              <a:rPr lang="en-US">
                <a:cs typeface="Arial"/>
              </a:rPr>
              <a:t>Implemented and justified a </a:t>
            </a:r>
            <a:r>
              <a:rPr lang="en-US" err="1">
                <a:cs typeface="Arial"/>
              </a:rPr>
              <a:t>spatio</a:t>
            </a:r>
            <a:r>
              <a:rPr lang="en-US">
                <a:cs typeface="Arial"/>
              </a:rPr>
              <a:t>-temporal GNN for subsurface connectivity.</a:t>
            </a:r>
          </a:p>
          <a:p>
            <a:r>
              <a:rPr lang="en-US">
                <a:cs typeface="Arial"/>
              </a:rPr>
              <a:t>Integrated preprocessing, modeling, validation, and analysis into one pipeline. </a:t>
            </a:r>
          </a:p>
          <a:p>
            <a:endParaRPr lang="en-US">
              <a:cs typeface="Arial"/>
            </a:endParaRPr>
          </a:p>
        </p:txBody>
      </p:sp>
      <p:sp>
        <p:nvSpPr>
          <p:cNvPr id="3" name="Title 2">
            <a:extLst>
              <a:ext uri="{FF2B5EF4-FFF2-40B4-BE49-F238E27FC236}">
                <a16:creationId xmlns:a16="http://schemas.microsoft.com/office/drawing/2014/main" id="{6D50AF6E-CF6A-429E-A4B2-32D2D767B73B}"/>
              </a:ext>
            </a:extLst>
          </p:cNvPr>
          <p:cNvSpPr>
            <a:spLocks noGrp="1"/>
          </p:cNvSpPr>
          <p:nvPr>
            <p:ph type="title"/>
          </p:nvPr>
        </p:nvSpPr>
        <p:spPr>
          <a:xfrm>
            <a:off x="1394459" y="1668204"/>
            <a:ext cx="4572001" cy="1590675"/>
          </a:xfrm>
        </p:spPr>
        <p:txBody>
          <a:bodyPr anchor="b">
            <a:normAutofit/>
          </a:bodyPr>
          <a:lstStyle/>
          <a:p>
            <a:r>
              <a:rPr lang="en-US"/>
              <a:t>Approach Overview</a:t>
            </a:r>
          </a:p>
        </p:txBody>
      </p:sp>
      <p:graphicFrame>
        <p:nvGraphicFramePr>
          <p:cNvPr id="6" name="Content Placeholder 3">
            <a:extLst>
              <a:ext uri="{FF2B5EF4-FFF2-40B4-BE49-F238E27FC236}">
                <a16:creationId xmlns:a16="http://schemas.microsoft.com/office/drawing/2014/main" id="{EAAA1591-8E61-7B38-7222-834134993521}"/>
              </a:ext>
            </a:extLst>
          </p:cNvPr>
          <p:cNvGraphicFramePr>
            <a:graphicFrameLocks noGrp="1"/>
          </p:cNvGraphicFramePr>
          <p:nvPr>
            <p:ph sz="quarter" idx="20"/>
            <p:extLst>
              <p:ext uri="{D42A27DB-BD31-4B8C-83A1-F6EECF244321}">
                <p14:modId xmlns:p14="http://schemas.microsoft.com/office/powerpoint/2010/main" val="267730492"/>
              </p:ext>
            </p:extLst>
          </p:nvPr>
        </p:nvGraphicFramePr>
        <p:xfrm>
          <a:off x="6987397" y="457199"/>
          <a:ext cx="7232897" cy="73324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0041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90C5C-1AAF-4909-DCDF-833A8B62E46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C176F5-2C8D-8F6D-A4A8-9D2559D4DE28}"/>
              </a:ext>
            </a:extLst>
          </p:cNvPr>
          <p:cNvSpPr>
            <a:spLocks noGrp="1"/>
          </p:cNvSpPr>
          <p:nvPr>
            <p:ph type="sldNum" sz="quarter" idx="12"/>
          </p:nvPr>
        </p:nvSpPr>
        <p:spPr>
          <a:xfrm>
            <a:off x="14015123" y="7667622"/>
            <a:ext cx="453223" cy="457200"/>
          </a:xfrm>
        </p:spPr>
        <p:txBody>
          <a:bodyPr anchor="ctr">
            <a:normAutofit/>
          </a:bodyPr>
          <a:lstStyle/>
          <a:p>
            <a:pPr>
              <a:spcAft>
                <a:spcPts val="600"/>
              </a:spcAft>
            </a:pPr>
            <a:fld id="{FE7A4BB3-E848-5A44-82DF-322201952CD8}" type="slidenum">
              <a:rPr lang="en-US" smtClean="0"/>
              <a:pPr>
                <a:spcAft>
                  <a:spcPts val="600"/>
                </a:spcAft>
              </a:pPr>
              <a:t>5</a:t>
            </a:fld>
            <a:endParaRPr lang="en-US"/>
          </a:p>
        </p:txBody>
      </p:sp>
      <p:sp>
        <p:nvSpPr>
          <p:cNvPr id="3" name="Title 2">
            <a:extLst>
              <a:ext uri="{FF2B5EF4-FFF2-40B4-BE49-F238E27FC236}">
                <a16:creationId xmlns:a16="http://schemas.microsoft.com/office/drawing/2014/main" id="{46C61009-4A2B-D1C6-1BFF-03AB0B01C4CD}"/>
              </a:ext>
            </a:extLst>
          </p:cNvPr>
          <p:cNvSpPr>
            <a:spLocks noGrp="1"/>
          </p:cNvSpPr>
          <p:nvPr>
            <p:ph type="title"/>
          </p:nvPr>
        </p:nvSpPr>
        <p:spPr>
          <a:xfrm>
            <a:off x="2840914" y="87535"/>
            <a:ext cx="7302501" cy="1247775"/>
          </a:xfrm>
        </p:spPr>
        <p:txBody>
          <a:bodyPr anchor="b">
            <a:normAutofit/>
          </a:bodyPr>
          <a:lstStyle/>
          <a:p>
            <a:r>
              <a:rPr lang="en-US" sz="3200"/>
              <a:t>ML Results &amp; Insights</a:t>
            </a:r>
          </a:p>
        </p:txBody>
      </p:sp>
      <p:pic>
        <p:nvPicPr>
          <p:cNvPr id="5" name="Picture 4">
            <a:extLst>
              <a:ext uri="{FF2B5EF4-FFF2-40B4-BE49-F238E27FC236}">
                <a16:creationId xmlns:a16="http://schemas.microsoft.com/office/drawing/2014/main" id="{52E6DECA-45B0-A6CC-3E4A-E8373F1A4D1D}"/>
              </a:ext>
            </a:extLst>
          </p:cNvPr>
          <p:cNvPicPr>
            <a:picLocks noChangeAspect="1"/>
          </p:cNvPicPr>
          <p:nvPr/>
        </p:nvPicPr>
        <p:blipFill>
          <a:blip r:embed="rId3"/>
          <a:srcRect t="5269" r="14176"/>
          <a:stretch>
            <a:fillRect/>
          </a:stretch>
        </p:blipFill>
        <p:spPr>
          <a:xfrm>
            <a:off x="1287495" y="1835405"/>
            <a:ext cx="7390358" cy="3331923"/>
          </a:xfrm>
          <a:prstGeom prst="rect">
            <a:avLst/>
          </a:prstGeom>
        </p:spPr>
      </p:pic>
      <p:pic>
        <p:nvPicPr>
          <p:cNvPr id="9" name="Picture 8">
            <a:extLst>
              <a:ext uri="{FF2B5EF4-FFF2-40B4-BE49-F238E27FC236}">
                <a16:creationId xmlns:a16="http://schemas.microsoft.com/office/drawing/2014/main" id="{4489855F-FD77-0CE9-0C33-EE1457DFCF4F}"/>
              </a:ext>
            </a:extLst>
          </p:cNvPr>
          <p:cNvPicPr>
            <a:picLocks noChangeAspect="1"/>
          </p:cNvPicPr>
          <p:nvPr/>
        </p:nvPicPr>
        <p:blipFill>
          <a:blip r:embed="rId4"/>
          <a:srcRect l="1106" t="23601" r="20430" b="4318"/>
          <a:stretch>
            <a:fillRect/>
          </a:stretch>
        </p:blipFill>
        <p:spPr>
          <a:xfrm>
            <a:off x="1465544" y="5154802"/>
            <a:ext cx="7177415" cy="1340284"/>
          </a:xfrm>
          <a:prstGeom prst="rect">
            <a:avLst/>
          </a:prstGeom>
        </p:spPr>
      </p:pic>
      <p:sp>
        <p:nvSpPr>
          <p:cNvPr id="10" name="TextBox 9">
            <a:extLst>
              <a:ext uri="{FF2B5EF4-FFF2-40B4-BE49-F238E27FC236}">
                <a16:creationId xmlns:a16="http://schemas.microsoft.com/office/drawing/2014/main" id="{E5150E65-2D4C-E298-43BB-23FB3E3E64AA}"/>
              </a:ext>
            </a:extLst>
          </p:cNvPr>
          <p:cNvSpPr txBox="1"/>
          <p:nvPr/>
        </p:nvSpPr>
        <p:spPr>
          <a:xfrm rot="16200000">
            <a:off x="424775" y="5496229"/>
            <a:ext cx="1390124" cy="369332"/>
          </a:xfrm>
          <a:prstGeom prst="rect">
            <a:avLst/>
          </a:prstGeom>
          <a:noFill/>
        </p:spPr>
        <p:txBody>
          <a:bodyPr wrap="none" rtlCol="0">
            <a:spAutoFit/>
          </a:bodyPr>
          <a:lstStyle/>
          <a:p>
            <a:r>
              <a:rPr lang="en-US" sz="1800" b="1"/>
              <a:t>Flow L/min</a:t>
            </a:r>
          </a:p>
        </p:txBody>
      </p:sp>
      <p:sp>
        <p:nvSpPr>
          <p:cNvPr id="11" name="Rectangle 10">
            <a:extLst>
              <a:ext uri="{FF2B5EF4-FFF2-40B4-BE49-F238E27FC236}">
                <a16:creationId xmlns:a16="http://schemas.microsoft.com/office/drawing/2014/main" id="{CE043B2D-92CD-BD77-182E-2DCF4E3AA93B}"/>
              </a:ext>
            </a:extLst>
          </p:cNvPr>
          <p:cNvSpPr/>
          <p:nvPr/>
        </p:nvSpPr>
        <p:spPr>
          <a:xfrm>
            <a:off x="8342334" y="6375748"/>
            <a:ext cx="400110" cy="1318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C58DB28-AA07-4C9F-EAC2-8C6E12B59D56}"/>
              </a:ext>
            </a:extLst>
          </p:cNvPr>
          <p:cNvPicPr>
            <a:picLocks noChangeAspect="1"/>
          </p:cNvPicPr>
          <p:nvPr/>
        </p:nvPicPr>
        <p:blipFill>
          <a:blip r:embed="rId5"/>
          <a:srcRect l="1307" t="-1" r="1645" b="-384"/>
          <a:stretch>
            <a:fillRect/>
          </a:stretch>
        </p:blipFill>
        <p:spPr>
          <a:xfrm>
            <a:off x="1465544" y="6532664"/>
            <a:ext cx="7390357" cy="1546624"/>
          </a:xfrm>
          <a:prstGeom prst="rect">
            <a:avLst/>
          </a:prstGeom>
        </p:spPr>
      </p:pic>
      <p:sp>
        <p:nvSpPr>
          <p:cNvPr id="17" name="TextBox 16">
            <a:extLst>
              <a:ext uri="{FF2B5EF4-FFF2-40B4-BE49-F238E27FC236}">
                <a16:creationId xmlns:a16="http://schemas.microsoft.com/office/drawing/2014/main" id="{2CAA487A-3928-8753-3F4C-4E4896D50C6B}"/>
              </a:ext>
            </a:extLst>
          </p:cNvPr>
          <p:cNvSpPr txBox="1"/>
          <p:nvPr/>
        </p:nvSpPr>
        <p:spPr>
          <a:xfrm rot="16200000">
            <a:off x="315770" y="7093297"/>
            <a:ext cx="1608133" cy="369332"/>
          </a:xfrm>
          <a:prstGeom prst="rect">
            <a:avLst/>
          </a:prstGeom>
          <a:noFill/>
        </p:spPr>
        <p:txBody>
          <a:bodyPr wrap="none" rtlCol="0">
            <a:spAutoFit/>
          </a:bodyPr>
          <a:lstStyle/>
          <a:p>
            <a:r>
              <a:rPr lang="en-US" sz="1800" b="1"/>
              <a:t>Pressure PSI</a:t>
            </a:r>
          </a:p>
        </p:txBody>
      </p:sp>
      <p:sp>
        <p:nvSpPr>
          <p:cNvPr id="19" name="TextBox 18">
            <a:extLst>
              <a:ext uri="{FF2B5EF4-FFF2-40B4-BE49-F238E27FC236}">
                <a16:creationId xmlns:a16="http://schemas.microsoft.com/office/drawing/2014/main" id="{2B5D8C80-18EC-E8D6-EE45-F725702A0051}"/>
              </a:ext>
            </a:extLst>
          </p:cNvPr>
          <p:cNvSpPr txBox="1"/>
          <p:nvPr/>
        </p:nvSpPr>
        <p:spPr>
          <a:xfrm>
            <a:off x="3291663" y="1466073"/>
            <a:ext cx="4023537" cy="369332"/>
          </a:xfrm>
          <a:prstGeom prst="rect">
            <a:avLst/>
          </a:prstGeom>
          <a:noFill/>
        </p:spPr>
        <p:txBody>
          <a:bodyPr wrap="none" rtlCol="0">
            <a:spAutoFit/>
          </a:bodyPr>
          <a:lstStyle/>
          <a:p>
            <a:r>
              <a:rPr lang="en-US" sz="1800" b="1"/>
              <a:t>Edge Weights Between Well Nodes</a:t>
            </a:r>
          </a:p>
        </p:txBody>
      </p:sp>
      <p:sp>
        <p:nvSpPr>
          <p:cNvPr id="22" name="TextBox 21">
            <a:extLst>
              <a:ext uri="{FF2B5EF4-FFF2-40B4-BE49-F238E27FC236}">
                <a16:creationId xmlns:a16="http://schemas.microsoft.com/office/drawing/2014/main" id="{32E37251-5F3E-EBE7-0B91-0F5CBF529E57}"/>
              </a:ext>
            </a:extLst>
          </p:cNvPr>
          <p:cNvSpPr txBox="1"/>
          <p:nvPr/>
        </p:nvSpPr>
        <p:spPr>
          <a:xfrm rot="16200000">
            <a:off x="10078" y="3059101"/>
            <a:ext cx="2219518" cy="369332"/>
          </a:xfrm>
          <a:prstGeom prst="rect">
            <a:avLst/>
          </a:prstGeom>
          <a:noFill/>
        </p:spPr>
        <p:txBody>
          <a:bodyPr wrap="none" rtlCol="0">
            <a:spAutoFit/>
          </a:bodyPr>
          <a:lstStyle/>
          <a:p>
            <a:r>
              <a:rPr lang="en-US" sz="1800" b="1"/>
              <a:t>Well combinations</a:t>
            </a:r>
          </a:p>
        </p:txBody>
      </p:sp>
      <p:pic>
        <p:nvPicPr>
          <p:cNvPr id="24" name="Picture 23">
            <a:extLst>
              <a:ext uri="{FF2B5EF4-FFF2-40B4-BE49-F238E27FC236}">
                <a16:creationId xmlns:a16="http://schemas.microsoft.com/office/drawing/2014/main" id="{FB5120A3-DFC2-96FD-97AA-B7F2805F7458}"/>
              </a:ext>
            </a:extLst>
          </p:cNvPr>
          <p:cNvPicPr>
            <a:picLocks noChangeAspect="1"/>
          </p:cNvPicPr>
          <p:nvPr/>
        </p:nvPicPr>
        <p:blipFill>
          <a:blip r:embed="rId6"/>
          <a:srcRect r="11032"/>
          <a:stretch>
            <a:fillRect/>
          </a:stretch>
        </p:blipFill>
        <p:spPr>
          <a:xfrm>
            <a:off x="10330989" y="4426158"/>
            <a:ext cx="3761651" cy="3644685"/>
          </a:xfrm>
          <a:prstGeom prst="rect">
            <a:avLst/>
          </a:prstGeom>
        </p:spPr>
      </p:pic>
      <p:pic>
        <p:nvPicPr>
          <p:cNvPr id="26" name="Picture 25">
            <a:extLst>
              <a:ext uri="{FF2B5EF4-FFF2-40B4-BE49-F238E27FC236}">
                <a16:creationId xmlns:a16="http://schemas.microsoft.com/office/drawing/2014/main" id="{7158AABB-6F68-049F-1CFE-5AB657DBE94E}"/>
              </a:ext>
            </a:extLst>
          </p:cNvPr>
          <p:cNvPicPr>
            <a:picLocks noChangeAspect="1"/>
          </p:cNvPicPr>
          <p:nvPr/>
        </p:nvPicPr>
        <p:blipFill>
          <a:blip r:embed="rId7"/>
          <a:srcRect r="9850"/>
          <a:stretch>
            <a:fillRect/>
          </a:stretch>
        </p:blipFill>
        <p:spPr>
          <a:xfrm>
            <a:off x="10032399" y="357888"/>
            <a:ext cx="3922455" cy="3748467"/>
          </a:xfrm>
          <a:prstGeom prst="rect">
            <a:avLst/>
          </a:prstGeom>
        </p:spPr>
      </p:pic>
      <p:sp>
        <p:nvSpPr>
          <p:cNvPr id="29" name="Rectangle 28">
            <a:extLst>
              <a:ext uri="{FF2B5EF4-FFF2-40B4-BE49-F238E27FC236}">
                <a16:creationId xmlns:a16="http://schemas.microsoft.com/office/drawing/2014/main" id="{54F58FC5-E841-A65A-0C22-BD5F1FC04FD7}"/>
              </a:ext>
            </a:extLst>
          </p:cNvPr>
          <p:cNvSpPr/>
          <p:nvPr/>
        </p:nvSpPr>
        <p:spPr>
          <a:xfrm>
            <a:off x="4772416" y="1822879"/>
            <a:ext cx="100209" cy="30372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B5A5342-3303-26DC-87E9-0E5DAD45F766}"/>
              </a:ext>
            </a:extLst>
          </p:cNvPr>
          <p:cNvSpPr/>
          <p:nvPr/>
        </p:nvSpPr>
        <p:spPr>
          <a:xfrm>
            <a:off x="8104287" y="1822879"/>
            <a:ext cx="100209" cy="30372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25D4BCB-2D82-DCE1-5518-1C3E12506439}"/>
              </a:ext>
            </a:extLst>
          </p:cNvPr>
          <p:cNvSpPr txBox="1"/>
          <p:nvPr/>
        </p:nvSpPr>
        <p:spPr>
          <a:xfrm rot="16200000">
            <a:off x="4385924" y="3744442"/>
            <a:ext cx="1357872" cy="424732"/>
          </a:xfrm>
          <a:prstGeom prst="rect">
            <a:avLst/>
          </a:prstGeom>
          <a:noFill/>
        </p:spPr>
        <p:txBody>
          <a:bodyPr wrap="none" rtlCol="0">
            <a:spAutoFit/>
          </a:bodyPr>
          <a:lstStyle/>
          <a:p>
            <a:r>
              <a:rPr lang="en-US" b="1">
                <a:solidFill>
                  <a:srgbClr val="FF0000"/>
                </a:solidFill>
              </a:rPr>
              <a:t>T = 1,100</a:t>
            </a:r>
          </a:p>
        </p:txBody>
      </p:sp>
      <p:sp>
        <p:nvSpPr>
          <p:cNvPr id="32" name="TextBox 31">
            <a:extLst>
              <a:ext uri="{FF2B5EF4-FFF2-40B4-BE49-F238E27FC236}">
                <a16:creationId xmlns:a16="http://schemas.microsoft.com/office/drawing/2014/main" id="{758BDC3D-44C8-EC3C-D490-E6166BD91455}"/>
              </a:ext>
            </a:extLst>
          </p:cNvPr>
          <p:cNvSpPr txBox="1"/>
          <p:nvPr/>
        </p:nvSpPr>
        <p:spPr>
          <a:xfrm rot="16200000">
            <a:off x="7687821" y="3735379"/>
            <a:ext cx="1357872" cy="424732"/>
          </a:xfrm>
          <a:prstGeom prst="rect">
            <a:avLst/>
          </a:prstGeom>
          <a:noFill/>
        </p:spPr>
        <p:txBody>
          <a:bodyPr wrap="none" rtlCol="0">
            <a:spAutoFit/>
          </a:bodyPr>
          <a:lstStyle/>
          <a:p>
            <a:r>
              <a:rPr lang="en-US" b="1">
                <a:solidFill>
                  <a:srgbClr val="FF0000"/>
                </a:solidFill>
              </a:rPr>
              <a:t>T = 2,300</a:t>
            </a:r>
          </a:p>
        </p:txBody>
      </p:sp>
      <p:sp>
        <p:nvSpPr>
          <p:cNvPr id="33" name="TextBox 32">
            <a:extLst>
              <a:ext uri="{FF2B5EF4-FFF2-40B4-BE49-F238E27FC236}">
                <a16:creationId xmlns:a16="http://schemas.microsoft.com/office/drawing/2014/main" id="{95A1CACA-1A51-59A6-9709-F1BFC988A1DA}"/>
              </a:ext>
            </a:extLst>
          </p:cNvPr>
          <p:cNvSpPr txBox="1"/>
          <p:nvPr/>
        </p:nvSpPr>
        <p:spPr>
          <a:xfrm>
            <a:off x="13170055" y="258403"/>
            <a:ext cx="1357872" cy="424732"/>
          </a:xfrm>
          <a:prstGeom prst="rect">
            <a:avLst/>
          </a:prstGeom>
          <a:noFill/>
        </p:spPr>
        <p:txBody>
          <a:bodyPr wrap="none" rtlCol="0">
            <a:spAutoFit/>
          </a:bodyPr>
          <a:lstStyle/>
          <a:p>
            <a:r>
              <a:rPr lang="en-US" b="1">
                <a:solidFill>
                  <a:srgbClr val="FF0000"/>
                </a:solidFill>
              </a:rPr>
              <a:t>T = 1,100</a:t>
            </a:r>
          </a:p>
        </p:txBody>
      </p:sp>
      <p:sp>
        <p:nvSpPr>
          <p:cNvPr id="34" name="TextBox 33">
            <a:extLst>
              <a:ext uri="{FF2B5EF4-FFF2-40B4-BE49-F238E27FC236}">
                <a16:creationId xmlns:a16="http://schemas.microsoft.com/office/drawing/2014/main" id="{352F233A-8744-A375-7409-FED5A422EFDF}"/>
              </a:ext>
            </a:extLst>
          </p:cNvPr>
          <p:cNvSpPr txBox="1"/>
          <p:nvPr/>
        </p:nvSpPr>
        <p:spPr>
          <a:xfrm>
            <a:off x="13091827" y="4152852"/>
            <a:ext cx="1362874" cy="424732"/>
          </a:xfrm>
          <a:prstGeom prst="rect">
            <a:avLst/>
          </a:prstGeom>
          <a:noFill/>
        </p:spPr>
        <p:txBody>
          <a:bodyPr wrap="none" rtlCol="0">
            <a:spAutoFit/>
          </a:bodyPr>
          <a:lstStyle/>
          <a:p>
            <a:r>
              <a:rPr lang="en-US" b="1">
                <a:solidFill>
                  <a:srgbClr val="FF0000"/>
                </a:solidFill>
              </a:rPr>
              <a:t>T = 2,300</a:t>
            </a:r>
          </a:p>
        </p:txBody>
      </p:sp>
      <p:sp>
        <p:nvSpPr>
          <p:cNvPr id="37" name="Oval 36">
            <a:extLst>
              <a:ext uri="{FF2B5EF4-FFF2-40B4-BE49-F238E27FC236}">
                <a16:creationId xmlns:a16="http://schemas.microsoft.com/office/drawing/2014/main" id="{327D2364-A1A3-4AAA-817F-79962698911A}"/>
              </a:ext>
            </a:extLst>
          </p:cNvPr>
          <p:cNvSpPr/>
          <p:nvPr/>
        </p:nvSpPr>
        <p:spPr>
          <a:xfrm rot="4361833">
            <a:off x="12578625" y="1333080"/>
            <a:ext cx="1913907" cy="88303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4F1EE6B-6114-1DFA-9AC1-D1C0EE8F8D79}"/>
              </a:ext>
            </a:extLst>
          </p:cNvPr>
          <p:cNvSpPr/>
          <p:nvPr/>
        </p:nvSpPr>
        <p:spPr>
          <a:xfrm rot="210864">
            <a:off x="11036673" y="176857"/>
            <a:ext cx="1913907" cy="88303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3BF0EA21-6D1D-D2E8-38A4-2E713E79CF99}"/>
              </a:ext>
            </a:extLst>
          </p:cNvPr>
          <p:cNvSpPr txBox="1"/>
          <p:nvPr/>
        </p:nvSpPr>
        <p:spPr>
          <a:xfrm rot="2042662">
            <a:off x="9802678" y="3669031"/>
            <a:ext cx="1406154" cy="338554"/>
          </a:xfrm>
          <a:prstGeom prst="rect">
            <a:avLst/>
          </a:prstGeom>
          <a:noFill/>
        </p:spPr>
        <p:txBody>
          <a:bodyPr wrap="none" rtlCol="0">
            <a:spAutoFit/>
          </a:bodyPr>
          <a:lstStyle/>
          <a:p>
            <a:r>
              <a:rPr lang="en-US" sz="1600"/>
              <a:t>furthest away</a:t>
            </a:r>
          </a:p>
        </p:txBody>
      </p:sp>
      <p:cxnSp>
        <p:nvCxnSpPr>
          <p:cNvPr id="41" name="Straight Arrow Connector 40">
            <a:extLst>
              <a:ext uri="{FF2B5EF4-FFF2-40B4-BE49-F238E27FC236}">
                <a16:creationId xmlns:a16="http://schemas.microsoft.com/office/drawing/2014/main" id="{E964E4FC-E412-0A91-7BCC-279BAE2D2320}"/>
              </a:ext>
            </a:extLst>
          </p:cNvPr>
          <p:cNvCxnSpPr/>
          <p:nvPr/>
        </p:nvCxnSpPr>
        <p:spPr>
          <a:xfrm flipV="1">
            <a:off x="10832196" y="3492921"/>
            <a:ext cx="0" cy="2940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48E9D29D-F393-44AE-0F01-3E29072A04D9}"/>
              </a:ext>
            </a:extLst>
          </p:cNvPr>
          <p:cNvCxnSpPr>
            <a:cxnSpLocks/>
          </p:cNvCxnSpPr>
          <p:nvPr/>
        </p:nvCxnSpPr>
        <p:spPr>
          <a:xfrm>
            <a:off x="10832196" y="3838308"/>
            <a:ext cx="3508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7FEBB4BB-F941-85E2-CB0C-BE4AAB1173F8}"/>
              </a:ext>
            </a:extLst>
          </p:cNvPr>
          <p:cNvSpPr txBox="1"/>
          <p:nvPr/>
        </p:nvSpPr>
        <p:spPr>
          <a:xfrm>
            <a:off x="9319368" y="1531579"/>
            <a:ext cx="934871" cy="338554"/>
          </a:xfrm>
          <a:prstGeom prst="rect">
            <a:avLst/>
          </a:prstGeom>
          <a:noFill/>
        </p:spPr>
        <p:txBody>
          <a:bodyPr wrap="none" rtlCol="0">
            <a:spAutoFit/>
          </a:bodyPr>
          <a:lstStyle/>
          <a:p>
            <a:r>
              <a:rPr lang="en-US" sz="1600"/>
              <a:t>injecting</a:t>
            </a:r>
          </a:p>
        </p:txBody>
      </p:sp>
      <p:sp>
        <p:nvSpPr>
          <p:cNvPr id="47" name="TextBox 46">
            <a:extLst>
              <a:ext uri="{FF2B5EF4-FFF2-40B4-BE49-F238E27FC236}">
                <a16:creationId xmlns:a16="http://schemas.microsoft.com/office/drawing/2014/main" id="{C9FB85F0-3D5F-EBC1-579B-C77E3ACC0607}"/>
              </a:ext>
            </a:extLst>
          </p:cNvPr>
          <p:cNvSpPr txBox="1"/>
          <p:nvPr/>
        </p:nvSpPr>
        <p:spPr>
          <a:xfrm>
            <a:off x="11680074" y="1267429"/>
            <a:ext cx="970137" cy="338554"/>
          </a:xfrm>
          <a:prstGeom prst="rect">
            <a:avLst/>
          </a:prstGeom>
          <a:noFill/>
        </p:spPr>
        <p:txBody>
          <a:bodyPr wrap="none" rtlCol="0">
            <a:spAutoFit/>
          </a:bodyPr>
          <a:lstStyle/>
          <a:p>
            <a:r>
              <a:rPr lang="en-US" sz="1600"/>
              <a:t>pumping</a:t>
            </a:r>
          </a:p>
        </p:txBody>
      </p:sp>
      <p:cxnSp>
        <p:nvCxnSpPr>
          <p:cNvPr id="48" name="Straight Arrow Connector 47">
            <a:extLst>
              <a:ext uri="{FF2B5EF4-FFF2-40B4-BE49-F238E27FC236}">
                <a16:creationId xmlns:a16="http://schemas.microsoft.com/office/drawing/2014/main" id="{3DCF8438-9731-1B0A-566C-1F547257C1D8}"/>
              </a:ext>
            </a:extLst>
          </p:cNvPr>
          <p:cNvCxnSpPr/>
          <p:nvPr/>
        </p:nvCxnSpPr>
        <p:spPr>
          <a:xfrm flipV="1">
            <a:off x="12624947" y="1073101"/>
            <a:ext cx="0" cy="2940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76AA39F6-02ED-F507-D673-4B399D940E10}"/>
              </a:ext>
            </a:extLst>
          </p:cNvPr>
          <p:cNvCxnSpPr>
            <a:cxnSpLocks/>
          </p:cNvCxnSpPr>
          <p:nvPr/>
        </p:nvCxnSpPr>
        <p:spPr>
          <a:xfrm>
            <a:off x="12624947" y="1418488"/>
            <a:ext cx="3508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Oval 49">
            <a:extLst>
              <a:ext uri="{FF2B5EF4-FFF2-40B4-BE49-F238E27FC236}">
                <a16:creationId xmlns:a16="http://schemas.microsoft.com/office/drawing/2014/main" id="{DF136E9A-F80F-84A3-C1C7-F3BE5E43212A}"/>
              </a:ext>
            </a:extLst>
          </p:cNvPr>
          <p:cNvSpPr/>
          <p:nvPr/>
        </p:nvSpPr>
        <p:spPr>
          <a:xfrm>
            <a:off x="11342733" y="4372179"/>
            <a:ext cx="1827106" cy="6400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D2F24AD-D099-70E3-EF7A-5AD9D947B91D}"/>
              </a:ext>
            </a:extLst>
          </p:cNvPr>
          <p:cNvSpPr/>
          <p:nvPr/>
        </p:nvSpPr>
        <p:spPr>
          <a:xfrm rot="19480370">
            <a:off x="12273130" y="7234743"/>
            <a:ext cx="1827106" cy="6400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2A38BA9-D5AA-2677-3848-6B081A3E4347}"/>
              </a:ext>
            </a:extLst>
          </p:cNvPr>
          <p:cNvSpPr/>
          <p:nvPr/>
        </p:nvSpPr>
        <p:spPr>
          <a:xfrm rot="17123047">
            <a:off x="9816890" y="5355452"/>
            <a:ext cx="1913907" cy="88303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D31259BB-B4CE-5B23-978E-B6FE57CB1BF3}"/>
              </a:ext>
            </a:extLst>
          </p:cNvPr>
          <p:cNvSpPr txBox="1"/>
          <p:nvPr/>
        </p:nvSpPr>
        <p:spPr>
          <a:xfrm>
            <a:off x="9769171" y="4649230"/>
            <a:ext cx="970137" cy="338554"/>
          </a:xfrm>
          <a:prstGeom prst="rect">
            <a:avLst/>
          </a:prstGeom>
          <a:noFill/>
        </p:spPr>
        <p:txBody>
          <a:bodyPr wrap="none" rtlCol="0">
            <a:spAutoFit/>
          </a:bodyPr>
          <a:lstStyle/>
          <a:p>
            <a:r>
              <a:rPr lang="en-US" sz="1600"/>
              <a:t>pumping</a:t>
            </a:r>
          </a:p>
        </p:txBody>
      </p:sp>
      <p:sp>
        <p:nvSpPr>
          <p:cNvPr id="54" name="TextBox 53">
            <a:extLst>
              <a:ext uri="{FF2B5EF4-FFF2-40B4-BE49-F238E27FC236}">
                <a16:creationId xmlns:a16="http://schemas.microsoft.com/office/drawing/2014/main" id="{55CF43B7-E4C1-6F00-9400-F473D24C3A27}"/>
              </a:ext>
            </a:extLst>
          </p:cNvPr>
          <p:cNvSpPr txBox="1"/>
          <p:nvPr/>
        </p:nvSpPr>
        <p:spPr>
          <a:xfrm>
            <a:off x="12227373" y="5627692"/>
            <a:ext cx="934871" cy="338554"/>
          </a:xfrm>
          <a:prstGeom prst="rect">
            <a:avLst/>
          </a:prstGeom>
          <a:noFill/>
        </p:spPr>
        <p:txBody>
          <a:bodyPr wrap="none" rtlCol="0">
            <a:spAutoFit/>
          </a:bodyPr>
          <a:lstStyle/>
          <a:p>
            <a:r>
              <a:rPr lang="en-US" sz="1600"/>
              <a:t>injecting</a:t>
            </a:r>
          </a:p>
        </p:txBody>
      </p:sp>
      <p:cxnSp>
        <p:nvCxnSpPr>
          <p:cNvPr id="55" name="Straight Arrow Connector 54">
            <a:extLst>
              <a:ext uri="{FF2B5EF4-FFF2-40B4-BE49-F238E27FC236}">
                <a16:creationId xmlns:a16="http://schemas.microsoft.com/office/drawing/2014/main" id="{C279A67E-4F69-C1B4-B770-C884C3377A90}"/>
              </a:ext>
            </a:extLst>
          </p:cNvPr>
          <p:cNvCxnSpPr>
            <a:cxnSpLocks/>
          </p:cNvCxnSpPr>
          <p:nvPr/>
        </p:nvCxnSpPr>
        <p:spPr>
          <a:xfrm flipV="1">
            <a:off x="12591193" y="5108384"/>
            <a:ext cx="0" cy="5640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32183688-5035-4D34-642B-F881617AD63C}"/>
              </a:ext>
            </a:extLst>
          </p:cNvPr>
          <p:cNvCxnSpPr>
            <a:cxnSpLocks/>
          </p:cNvCxnSpPr>
          <p:nvPr/>
        </p:nvCxnSpPr>
        <p:spPr>
          <a:xfrm>
            <a:off x="12591193" y="6048923"/>
            <a:ext cx="571051" cy="9822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Oval 60">
            <a:extLst>
              <a:ext uri="{FF2B5EF4-FFF2-40B4-BE49-F238E27FC236}">
                <a16:creationId xmlns:a16="http://schemas.microsoft.com/office/drawing/2014/main" id="{62D01D52-4B5A-DD4A-2B48-7FBEE86384C2}"/>
              </a:ext>
            </a:extLst>
          </p:cNvPr>
          <p:cNvSpPr/>
          <p:nvPr/>
        </p:nvSpPr>
        <p:spPr>
          <a:xfrm rot="17381644">
            <a:off x="9513773" y="1436311"/>
            <a:ext cx="1827106" cy="6400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1AE0A4E1-2D38-D778-2D55-21A91A93D1E6}"/>
              </a:ext>
            </a:extLst>
          </p:cNvPr>
          <p:cNvSpPr txBox="1"/>
          <p:nvPr/>
        </p:nvSpPr>
        <p:spPr>
          <a:xfrm>
            <a:off x="2452173" y="2383"/>
            <a:ext cx="6794787" cy="757130"/>
          </a:xfrm>
          <a:prstGeom prst="rect">
            <a:avLst/>
          </a:prstGeom>
          <a:noFill/>
        </p:spPr>
        <p:txBody>
          <a:bodyPr wrap="square" rtlCol="0">
            <a:spAutoFit/>
          </a:bodyPr>
          <a:lstStyle/>
          <a:p>
            <a:r>
              <a:rPr lang="en-US" b="1" u="sng"/>
              <a:t>Main takeaway</a:t>
            </a:r>
            <a:r>
              <a:rPr lang="en-US" b="1"/>
              <a:t>: Temporal evolution of edge weights matches well with geothermal operations</a:t>
            </a:r>
          </a:p>
        </p:txBody>
      </p:sp>
      <p:sp>
        <p:nvSpPr>
          <p:cNvPr id="63" name="TextBox 62">
            <a:extLst>
              <a:ext uri="{FF2B5EF4-FFF2-40B4-BE49-F238E27FC236}">
                <a16:creationId xmlns:a16="http://schemas.microsoft.com/office/drawing/2014/main" id="{CBC90185-3CD8-6D38-D4CD-891B2DF3CA7D}"/>
              </a:ext>
            </a:extLst>
          </p:cNvPr>
          <p:cNvSpPr txBox="1"/>
          <p:nvPr/>
        </p:nvSpPr>
        <p:spPr>
          <a:xfrm rot="16200000">
            <a:off x="6053223" y="3965239"/>
            <a:ext cx="6387474" cy="424732"/>
          </a:xfrm>
          <a:prstGeom prst="rect">
            <a:avLst/>
          </a:prstGeom>
          <a:noFill/>
        </p:spPr>
        <p:txBody>
          <a:bodyPr wrap="square" rtlCol="0">
            <a:spAutoFit/>
          </a:bodyPr>
          <a:lstStyle/>
          <a:p>
            <a:pPr algn="ctr"/>
            <a:r>
              <a:rPr lang="en-US"/>
              <a:t>Snapshots of Graph Network</a:t>
            </a:r>
          </a:p>
        </p:txBody>
      </p:sp>
      <p:cxnSp>
        <p:nvCxnSpPr>
          <p:cNvPr id="67" name="Straight Connector 66">
            <a:extLst>
              <a:ext uri="{FF2B5EF4-FFF2-40B4-BE49-F238E27FC236}">
                <a16:creationId xmlns:a16="http://schemas.microsoft.com/office/drawing/2014/main" id="{E9F41EE2-F871-2293-9C71-D46DB11DA05B}"/>
              </a:ext>
            </a:extLst>
          </p:cNvPr>
          <p:cNvCxnSpPr>
            <a:cxnSpLocks/>
          </p:cNvCxnSpPr>
          <p:nvPr/>
        </p:nvCxnSpPr>
        <p:spPr>
          <a:xfrm>
            <a:off x="9056318" y="0"/>
            <a:ext cx="0" cy="8229600"/>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11027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74E6ED-CA26-5EE4-8CB5-011300498FEF}"/>
              </a:ext>
            </a:extLst>
          </p:cNvPr>
          <p:cNvSpPr>
            <a:spLocks noGrp="1"/>
          </p:cNvSpPr>
          <p:nvPr>
            <p:ph type="sldNum" sz="quarter" idx="12"/>
          </p:nvPr>
        </p:nvSpPr>
        <p:spPr/>
        <p:txBody>
          <a:bodyPr/>
          <a:lstStyle/>
          <a:p>
            <a:fld id="{FE7A4BB3-E848-5A44-82DF-322201952CD8}" type="slidenum">
              <a:rPr lang="en-US" smtClean="0"/>
              <a:pPr/>
              <a:t>6</a:t>
            </a:fld>
            <a:endParaRPr lang="en-US"/>
          </a:p>
        </p:txBody>
      </p:sp>
      <p:sp>
        <p:nvSpPr>
          <p:cNvPr id="5" name="Title 4">
            <a:extLst>
              <a:ext uri="{FF2B5EF4-FFF2-40B4-BE49-F238E27FC236}">
                <a16:creationId xmlns:a16="http://schemas.microsoft.com/office/drawing/2014/main" id="{3967EB58-95B1-26AE-E58C-6D83761E926B}"/>
              </a:ext>
            </a:extLst>
          </p:cNvPr>
          <p:cNvSpPr>
            <a:spLocks noGrp="1"/>
          </p:cNvSpPr>
          <p:nvPr>
            <p:ph type="title"/>
          </p:nvPr>
        </p:nvSpPr>
        <p:spPr/>
        <p:txBody>
          <a:bodyPr/>
          <a:lstStyle/>
          <a:p>
            <a:r>
              <a:rPr lang="en-US"/>
              <a:t>LLM Approach &amp; Results</a:t>
            </a:r>
          </a:p>
        </p:txBody>
      </p:sp>
      <p:graphicFrame>
        <p:nvGraphicFramePr>
          <p:cNvPr id="8" name="Table 7">
            <a:extLst>
              <a:ext uri="{FF2B5EF4-FFF2-40B4-BE49-F238E27FC236}">
                <a16:creationId xmlns:a16="http://schemas.microsoft.com/office/drawing/2014/main" id="{E117F30A-FC18-73CC-B770-9A47015454B5}"/>
              </a:ext>
            </a:extLst>
          </p:cNvPr>
          <p:cNvGraphicFramePr>
            <a:graphicFrameLocks noGrp="1"/>
          </p:cNvGraphicFramePr>
          <p:nvPr>
            <p:extLst>
              <p:ext uri="{D42A27DB-BD31-4B8C-83A1-F6EECF244321}">
                <p14:modId xmlns:p14="http://schemas.microsoft.com/office/powerpoint/2010/main" val="1693971747"/>
              </p:ext>
            </p:extLst>
          </p:nvPr>
        </p:nvGraphicFramePr>
        <p:xfrm>
          <a:off x="1456478" y="1704927"/>
          <a:ext cx="12764429" cy="6312874"/>
        </p:xfrm>
        <a:graphic>
          <a:graphicData uri="http://schemas.openxmlformats.org/drawingml/2006/table">
            <a:tbl>
              <a:tblPr>
                <a:tableStyleId>{5940675A-B579-460E-94D1-54222C63F5DA}</a:tableStyleId>
              </a:tblPr>
              <a:tblGrid>
                <a:gridCol w="2196831">
                  <a:extLst>
                    <a:ext uri="{9D8B030D-6E8A-4147-A177-3AD203B41FA5}">
                      <a16:colId xmlns:a16="http://schemas.microsoft.com/office/drawing/2014/main" val="3374567218"/>
                    </a:ext>
                  </a:extLst>
                </a:gridCol>
                <a:gridCol w="3815966">
                  <a:extLst>
                    <a:ext uri="{9D8B030D-6E8A-4147-A177-3AD203B41FA5}">
                      <a16:colId xmlns:a16="http://schemas.microsoft.com/office/drawing/2014/main" val="4108464399"/>
                    </a:ext>
                  </a:extLst>
                </a:gridCol>
                <a:gridCol w="3560524">
                  <a:extLst>
                    <a:ext uri="{9D8B030D-6E8A-4147-A177-3AD203B41FA5}">
                      <a16:colId xmlns:a16="http://schemas.microsoft.com/office/drawing/2014/main" val="1333687078"/>
                    </a:ext>
                  </a:extLst>
                </a:gridCol>
                <a:gridCol w="3191108">
                  <a:extLst>
                    <a:ext uri="{9D8B030D-6E8A-4147-A177-3AD203B41FA5}">
                      <a16:colId xmlns:a16="http://schemas.microsoft.com/office/drawing/2014/main" val="3139404824"/>
                    </a:ext>
                  </a:extLst>
                </a:gridCol>
              </a:tblGrid>
              <a:tr h="227077">
                <a:tc>
                  <a:txBody>
                    <a:bodyPr/>
                    <a:lstStyle/>
                    <a:p>
                      <a:pPr>
                        <a:buNone/>
                      </a:pPr>
                      <a:r>
                        <a:rPr lang="en-US" sz="1400" b="1">
                          <a:solidFill>
                            <a:srgbClr val="000000"/>
                          </a:solidFill>
                        </a:rPr>
                        <a:t>Aspect</a:t>
                      </a:r>
                    </a:p>
                  </a:txBody>
                  <a:tcPr marL="45011" marR="45011" marT="22506" marB="22506" anchor="ctr"/>
                </a:tc>
                <a:tc>
                  <a:txBody>
                    <a:bodyPr/>
                    <a:lstStyle/>
                    <a:p>
                      <a:pPr>
                        <a:buNone/>
                      </a:pPr>
                      <a:r>
                        <a:rPr lang="en-US" sz="1400" b="1">
                          <a:solidFill>
                            <a:srgbClr val="000000"/>
                          </a:solidFill>
                        </a:rPr>
                        <a:t>Notebook 1 (Amateur)</a:t>
                      </a:r>
                    </a:p>
                  </a:txBody>
                  <a:tcPr marL="45011" marR="45011" marT="22506" marB="22506" anchor="ctr"/>
                </a:tc>
                <a:tc>
                  <a:txBody>
                    <a:bodyPr/>
                    <a:lstStyle/>
                    <a:p>
                      <a:pPr>
                        <a:buNone/>
                      </a:pPr>
                      <a:r>
                        <a:rPr lang="en-US" sz="1400" b="1">
                          <a:solidFill>
                            <a:srgbClr val="000000"/>
                          </a:solidFill>
                        </a:rPr>
                        <a:t>Notebook 2 (Software Engineer)</a:t>
                      </a:r>
                    </a:p>
                  </a:txBody>
                  <a:tcPr marL="45011" marR="45011" marT="22506" marB="22506" anchor="ctr"/>
                </a:tc>
                <a:tc>
                  <a:txBody>
                    <a:bodyPr/>
                    <a:lstStyle/>
                    <a:p>
                      <a:pPr>
                        <a:buNone/>
                      </a:pPr>
                      <a:r>
                        <a:rPr lang="en-US" sz="1400" b="1">
                          <a:solidFill>
                            <a:srgbClr val="000000"/>
                          </a:solidFill>
                        </a:rPr>
                        <a:t>Notebook 3 (AI / Data Expert)</a:t>
                      </a:r>
                    </a:p>
                  </a:txBody>
                  <a:tcPr marL="45011" marR="45011" marT="22506" marB="22506" anchor="ctr"/>
                </a:tc>
                <a:extLst>
                  <a:ext uri="{0D108BD9-81ED-4DB2-BD59-A6C34878D82A}">
                    <a16:rowId xmlns:a16="http://schemas.microsoft.com/office/drawing/2014/main" val="1789707695"/>
                  </a:ext>
                </a:extLst>
              </a:tr>
              <a:tr h="585100">
                <a:tc>
                  <a:txBody>
                    <a:bodyPr/>
                    <a:lstStyle/>
                    <a:p>
                      <a:pPr>
                        <a:buNone/>
                      </a:pPr>
                      <a:r>
                        <a:rPr lang="en-US" sz="1400" b="1">
                          <a:solidFill>
                            <a:srgbClr val="000000"/>
                          </a:solidFill>
                        </a:rPr>
                        <a:t>Task type</a:t>
                      </a:r>
                      <a:endParaRPr lang="en-US" sz="1400">
                        <a:solidFill>
                          <a:srgbClr val="000000"/>
                        </a:solidFill>
                      </a:endParaRPr>
                    </a:p>
                  </a:txBody>
                  <a:tcPr marL="45011" marR="45011" marT="22506" marB="22506" anchor="ctr"/>
                </a:tc>
                <a:tc>
                  <a:txBody>
                    <a:bodyPr/>
                    <a:lstStyle/>
                    <a:p>
                      <a:pPr>
                        <a:buNone/>
                      </a:pPr>
                      <a:r>
                        <a:rPr lang="en-US" sz="1400">
                          <a:solidFill>
                            <a:srgbClr val="000000"/>
                          </a:solidFill>
                        </a:rPr>
                        <a:t>Regression (predict 10 continuous pressures) </a:t>
                      </a:r>
                    </a:p>
                  </a:txBody>
                  <a:tcPr marL="45011" marR="45011" marT="22506" marB="22506" anchor="ctr"/>
                </a:tc>
                <a:tc>
                  <a:txBody>
                    <a:bodyPr/>
                    <a:lstStyle/>
                    <a:p>
                      <a:pPr>
                        <a:buNone/>
                      </a:pPr>
                      <a:r>
                        <a:rPr lang="en-US" sz="1400">
                          <a:solidFill>
                            <a:srgbClr val="000000"/>
                          </a:solidFill>
                        </a:rPr>
                        <a:t>Classification (risk labels)</a:t>
                      </a:r>
                    </a:p>
                  </a:txBody>
                  <a:tcPr marL="45011" marR="45011" marT="22506" marB="22506" anchor="ctr"/>
                </a:tc>
                <a:tc>
                  <a:txBody>
                    <a:bodyPr/>
                    <a:lstStyle/>
                    <a:p>
                      <a:pPr>
                        <a:buNone/>
                      </a:pPr>
                      <a:r>
                        <a:rPr lang="en-US" sz="1400">
                          <a:solidFill>
                            <a:srgbClr val="000000"/>
                          </a:solidFill>
                        </a:rPr>
                        <a:t>Ranking/retrieval (top-3 node pairs)</a:t>
                      </a:r>
                    </a:p>
                  </a:txBody>
                  <a:tcPr marL="45011" marR="45011" marT="22506" marB="22506" anchor="ctr"/>
                </a:tc>
                <a:extLst>
                  <a:ext uri="{0D108BD9-81ED-4DB2-BD59-A6C34878D82A}">
                    <a16:rowId xmlns:a16="http://schemas.microsoft.com/office/drawing/2014/main" val="2250111766"/>
                  </a:ext>
                </a:extLst>
              </a:tr>
              <a:tr h="764111">
                <a:tc>
                  <a:txBody>
                    <a:bodyPr/>
                    <a:lstStyle/>
                    <a:p>
                      <a:pPr>
                        <a:buNone/>
                      </a:pPr>
                      <a:r>
                        <a:rPr lang="en-US" sz="1400" b="1">
                          <a:solidFill>
                            <a:srgbClr val="000000"/>
                          </a:solidFill>
                        </a:rPr>
                        <a:t>ML Baseline</a:t>
                      </a:r>
                      <a:endParaRPr lang="en-US" sz="1400">
                        <a:solidFill>
                          <a:srgbClr val="000000"/>
                        </a:solidFill>
                      </a:endParaRPr>
                    </a:p>
                  </a:txBody>
                  <a:tcPr marL="45011" marR="45011" marT="22506" marB="22506" anchor="ctr"/>
                </a:tc>
                <a:tc>
                  <a:txBody>
                    <a:bodyPr/>
                    <a:lstStyle/>
                    <a:p>
                      <a:pPr>
                        <a:buNone/>
                      </a:pPr>
                      <a:r>
                        <a:rPr lang="en-US" sz="1400">
                          <a:solidFill>
                            <a:srgbClr val="000000"/>
                          </a:solidFill>
                        </a:rPr>
                        <a:t>Ridge regression via normal equations (did not use Week 3 ML results)</a:t>
                      </a:r>
                    </a:p>
                  </a:txBody>
                  <a:tcPr marL="45011" marR="45011" marT="22506" marB="22506" anchor="ctr"/>
                </a:tc>
                <a:tc>
                  <a:txBody>
                    <a:bodyPr/>
                    <a:lstStyle/>
                    <a:p>
                      <a:pPr>
                        <a:buNone/>
                      </a:pPr>
                      <a:r>
                        <a:rPr lang="en-US" sz="1400">
                          <a:solidFill>
                            <a:srgbClr val="000000"/>
                          </a:solidFill>
                        </a:rPr>
                        <a:t>Week 3 ML predictions loaded from CSV</a:t>
                      </a:r>
                    </a:p>
                  </a:txBody>
                  <a:tcPr marL="45011" marR="45011" marT="22506" marB="22506" anchor="ctr"/>
                </a:tc>
                <a:tc>
                  <a:txBody>
                    <a:bodyPr/>
                    <a:lstStyle/>
                    <a:p>
                      <a:pPr>
                        <a:buNone/>
                      </a:pPr>
                      <a:r>
                        <a:rPr lang="en-US" sz="1400">
                          <a:solidFill>
                            <a:srgbClr val="000000"/>
                          </a:solidFill>
                        </a:rPr>
                        <a:t>GNN edge-weight tensor (ground truth derived from Week 3) </a:t>
                      </a:r>
                    </a:p>
                  </a:txBody>
                  <a:tcPr marL="45011" marR="45011" marT="22506" marB="22506" anchor="ctr"/>
                </a:tc>
                <a:extLst>
                  <a:ext uri="{0D108BD9-81ED-4DB2-BD59-A6C34878D82A}">
                    <a16:rowId xmlns:a16="http://schemas.microsoft.com/office/drawing/2014/main" val="2419102771"/>
                  </a:ext>
                </a:extLst>
              </a:tr>
              <a:tr h="943123">
                <a:tc>
                  <a:txBody>
                    <a:bodyPr/>
                    <a:lstStyle/>
                    <a:p>
                      <a:pPr>
                        <a:buNone/>
                      </a:pPr>
                      <a:r>
                        <a:rPr lang="en-US" sz="1400" b="1">
                          <a:solidFill>
                            <a:srgbClr val="000000"/>
                          </a:solidFill>
                        </a:rPr>
                        <a:t>LLM(s) used</a:t>
                      </a:r>
                      <a:endParaRPr lang="en-US" sz="1400">
                        <a:solidFill>
                          <a:srgbClr val="000000"/>
                        </a:solidFill>
                      </a:endParaRPr>
                    </a:p>
                  </a:txBody>
                  <a:tcPr marL="45011" marR="45011" marT="22506" marB="22506" anchor="ctr"/>
                </a:tc>
                <a:tc>
                  <a:txBody>
                    <a:bodyPr/>
                    <a:lstStyle/>
                    <a:p>
                      <a:pPr>
                        <a:buNone/>
                      </a:pPr>
                      <a:r>
                        <a:rPr lang="en-US" sz="1400">
                          <a:solidFill>
                            <a:srgbClr val="000000"/>
                          </a:solidFill>
                        </a:rPr>
                        <a:t>Phi-3.5-mini-instruct (single model, loaded locally via </a:t>
                      </a:r>
                      <a:r>
                        <a:rPr lang="en-US" sz="1400">
                          <a:solidFill>
                            <a:srgbClr val="000000"/>
                          </a:solidFill>
                          <a:effectLst/>
                        </a:rPr>
                        <a:t>transformers</a:t>
                      </a:r>
                      <a:r>
                        <a:rPr lang="en-US" sz="1400">
                          <a:solidFill>
                            <a:srgbClr val="000000"/>
                          </a:solidFill>
                        </a:rPr>
                        <a:t>) </a:t>
                      </a:r>
                    </a:p>
                  </a:txBody>
                  <a:tcPr marL="45011" marR="45011" marT="22506" marB="22506" anchor="ctr"/>
                </a:tc>
                <a:tc>
                  <a:txBody>
                    <a:bodyPr/>
                    <a:lstStyle/>
                    <a:p>
                      <a:pPr>
                        <a:buNone/>
                      </a:pPr>
                      <a:r>
                        <a:rPr lang="it-IT" sz="1400">
                          <a:solidFill>
                            <a:srgbClr val="000000"/>
                          </a:solidFill>
                        </a:rPr>
                        <a:t>Phi-3.5-mini, Phi-mini-MoE, Gemma-3-12b (three models via OpenAI-compatible API) </a:t>
                      </a:r>
                    </a:p>
                  </a:txBody>
                  <a:tcPr marL="45011" marR="45011" marT="22506" marB="22506" anchor="ctr"/>
                </a:tc>
                <a:tc>
                  <a:txBody>
                    <a:bodyPr/>
                    <a:lstStyle/>
                    <a:p>
                      <a:pPr>
                        <a:buNone/>
                      </a:pPr>
                      <a:r>
                        <a:rPr lang="en-US" sz="1400">
                          <a:solidFill>
                            <a:srgbClr val="000000"/>
                          </a:solidFill>
                        </a:rPr>
                        <a:t>Gemma3:12b-it-qat (single model via Ollama) </a:t>
                      </a:r>
                    </a:p>
                  </a:txBody>
                  <a:tcPr marL="45011" marR="45011" marT="22506" marB="22506" anchor="ctr"/>
                </a:tc>
                <a:extLst>
                  <a:ext uri="{0D108BD9-81ED-4DB2-BD59-A6C34878D82A}">
                    <a16:rowId xmlns:a16="http://schemas.microsoft.com/office/drawing/2014/main" val="2554158597"/>
                  </a:ext>
                </a:extLst>
              </a:tr>
              <a:tr h="764111">
                <a:tc>
                  <a:txBody>
                    <a:bodyPr/>
                    <a:lstStyle/>
                    <a:p>
                      <a:pPr>
                        <a:buNone/>
                      </a:pPr>
                      <a:r>
                        <a:rPr lang="en-US" sz="1400" b="1">
                          <a:solidFill>
                            <a:srgbClr val="000000"/>
                          </a:solidFill>
                        </a:rPr>
                        <a:t>LLM interface</a:t>
                      </a:r>
                      <a:endParaRPr lang="en-US" sz="1400">
                        <a:solidFill>
                          <a:srgbClr val="000000"/>
                        </a:solidFill>
                      </a:endParaRPr>
                    </a:p>
                  </a:txBody>
                  <a:tcPr marL="45011" marR="45011" marT="22506" marB="22506" anchor="ctr"/>
                </a:tc>
                <a:tc>
                  <a:txBody>
                    <a:bodyPr/>
                    <a:lstStyle/>
                    <a:p>
                      <a:pPr>
                        <a:buNone/>
                      </a:pPr>
                      <a:r>
                        <a:rPr lang="en-US" sz="1400">
                          <a:solidFill>
                            <a:srgbClr val="000000"/>
                          </a:solidFill>
                        </a:rPr>
                        <a:t>Local </a:t>
                      </a:r>
                      <a:r>
                        <a:rPr lang="en-US" sz="1400" err="1">
                          <a:solidFill>
                            <a:srgbClr val="000000"/>
                          </a:solidFill>
                        </a:rPr>
                        <a:t>HuggingFace</a:t>
                      </a:r>
                      <a:r>
                        <a:rPr lang="en-US" sz="1400">
                          <a:solidFill>
                            <a:srgbClr val="000000"/>
                          </a:solidFill>
                        </a:rPr>
                        <a:t> model with </a:t>
                      </a:r>
                      <a:r>
                        <a:rPr lang="en-US" sz="1400" err="1">
                          <a:solidFill>
                            <a:srgbClr val="000000"/>
                          </a:solidFill>
                          <a:effectLst/>
                        </a:rPr>
                        <a:t>model.generate</a:t>
                      </a:r>
                      <a:r>
                        <a:rPr lang="en-US" sz="1400">
                          <a:solidFill>
                            <a:srgbClr val="000000"/>
                          </a:solidFill>
                          <a:effectLst/>
                        </a:rPr>
                        <a:t>()</a:t>
                      </a:r>
                      <a:r>
                        <a:rPr lang="en-US" sz="1400">
                          <a:solidFill>
                            <a:srgbClr val="000000"/>
                          </a:solidFill>
                        </a:rPr>
                        <a:t> </a:t>
                      </a:r>
                    </a:p>
                  </a:txBody>
                  <a:tcPr marL="45011" marR="45011" marT="22506" marB="22506" anchor="ctr"/>
                </a:tc>
                <a:tc>
                  <a:txBody>
                    <a:bodyPr/>
                    <a:lstStyle/>
                    <a:p>
                      <a:pPr>
                        <a:buNone/>
                      </a:pPr>
                      <a:r>
                        <a:rPr lang="fr-FR" sz="1400" err="1">
                          <a:solidFill>
                            <a:srgbClr val="000000"/>
                          </a:solidFill>
                        </a:rPr>
                        <a:t>Remote</a:t>
                      </a:r>
                      <a:r>
                        <a:rPr lang="fr-FR" sz="1400">
                          <a:solidFill>
                            <a:srgbClr val="000000"/>
                          </a:solidFill>
                        </a:rPr>
                        <a:t> </a:t>
                      </a:r>
                      <a:r>
                        <a:rPr lang="fr-FR" sz="1400" err="1">
                          <a:solidFill>
                            <a:srgbClr val="000000"/>
                          </a:solidFill>
                        </a:rPr>
                        <a:t>OpenAI</a:t>
                      </a:r>
                      <a:r>
                        <a:rPr lang="fr-FR" sz="1400">
                          <a:solidFill>
                            <a:srgbClr val="000000"/>
                          </a:solidFill>
                        </a:rPr>
                        <a:t>-compatible </a:t>
                      </a:r>
                      <a:r>
                        <a:rPr lang="fr-FR" sz="1400" err="1">
                          <a:solidFill>
                            <a:srgbClr val="000000"/>
                          </a:solidFill>
                        </a:rPr>
                        <a:t>endpoints</a:t>
                      </a:r>
                      <a:r>
                        <a:rPr lang="fr-FR" sz="1400">
                          <a:solidFill>
                            <a:srgbClr val="000000"/>
                          </a:solidFill>
                        </a:rPr>
                        <a:t> (</a:t>
                      </a:r>
                      <a:r>
                        <a:rPr lang="fr-FR" sz="1400">
                          <a:solidFill>
                            <a:srgbClr val="000000"/>
                          </a:solidFill>
                          <a:effectLst/>
                        </a:rPr>
                        <a:t>localhost</a:t>
                      </a:r>
                      <a:r>
                        <a:rPr lang="fr-FR" sz="1400">
                          <a:solidFill>
                            <a:srgbClr val="000000"/>
                          </a:solidFill>
                        </a:rPr>
                        <a:t> ports 8000–8002)</a:t>
                      </a:r>
                    </a:p>
                  </a:txBody>
                  <a:tcPr marL="45011" marR="45011" marT="22506" marB="22506" anchor="ctr"/>
                </a:tc>
                <a:tc>
                  <a:txBody>
                    <a:bodyPr/>
                    <a:lstStyle/>
                    <a:p>
                      <a:pPr>
                        <a:buNone/>
                      </a:pPr>
                      <a:r>
                        <a:rPr lang="en-US" sz="1400">
                          <a:solidFill>
                            <a:srgbClr val="000000"/>
                          </a:solidFill>
                        </a:rPr>
                        <a:t>Ollama with OpenAI-compatible API wrapper</a:t>
                      </a:r>
                    </a:p>
                  </a:txBody>
                  <a:tcPr marL="45011" marR="45011" marT="22506" marB="22506" anchor="ctr"/>
                </a:tc>
                <a:extLst>
                  <a:ext uri="{0D108BD9-81ED-4DB2-BD59-A6C34878D82A}">
                    <a16:rowId xmlns:a16="http://schemas.microsoft.com/office/drawing/2014/main" val="3341399069"/>
                  </a:ext>
                </a:extLst>
              </a:tr>
              <a:tr h="1122134">
                <a:tc>
                  <a:txBody>
                    <a:bodyPr/>
                    <a:lstStyle/>
                    <a:p>
                      <a:pPr>
                        <a:buNone/>
                      </a:pPr>
                      <a:r>
                        <a:rPr lang="en-US" sz="1400" b="1">
                          <a:solidFill>
                            <a:srgbClr val="000000"/>
                          </a:solidFill>
                        </a:rPr>
                        <a:t>Prompt style</a:t>
                      </a:r>
                      <a:endParaRPr lang="en-US" sz="1400">
                        <a:solidFill>
                          <a:srgbClr val="000000"/>
                        </a:solidFill>
                      </a:endParaRPr>
                    </a:p>
                  </a:txBody>
                  <a:tcPr marL="45011" marR="45011" marT="22506" marB="22506" anchor="ctr"/>
                </a:tc>
                <a:tc>
                  <a:txBody>
                    <a:bodyPr/>
                    <a:lstStyle/>
                    <a:p>
                      <a:pPr>
                        <a:buNone/>
                      </a:pPr>
                      <a:r>
                        <a:rPr lang="en-US" sz="1400">
                          <a:solidFill>
                            <a:srgbClr val="000000"/>
                          </a:solidFill>
                        </a:rPr>
                        <a:t>Simple: summary stats + trend, asks for 10 comma-separated numbers</a:t>
                      </a:r>
                    </a:p>
                  </a:txBody>
                  <a:tcPr marL="45011" marR="45011" marT="22506" marB="22506" anchor="ctr"/>
                </a:tc>
                <a:tc>
                  <a:txBody>
                    <a:bodyPr/>
                    <a:lstStyle/>
                    <a:p>
                      <a:pPr>
                        <a:buNone/>
                      </a:pPr>
                      <a:r>
                        <a:rPr lang="en-US" sz="1400">
                          <a:solidFill>
                            <a:srgbClr val="000000"/>
                          </a:solidFill>
                        </a:rPr>
                        <a:t>Strict JSON schema with </a:t>
                      </a:r>
                      <a:r>
                        <a:rPr lang="en-US" sz="1400">
                          <a:solidFill>
                            <a:srgbClr val="000000"/>
                          </a:solidFill>
                          <a:effectLst/>
                        </a:rPr>
                        <a:t>prediction</a:t>
                      </a:r>
                      <a:r>
                        <a:rPr lang="en-US" sz="1400">
                          <a:solidFill>
                            <a:srgbClr val="000000"/>
                          </a:solidFill>
                        </a:rPr>
                        <a:t> + </a:t>
                      </a:r>
                      <a:r>
                        <a:rPr lang="en-US" sz="1400">
                          <a:solidFill>
                            <a:srgbClr val="000000"/>
                          </a:solidFill>
                          <a:effectLst/>
                        </a:rPr>
                        <a:t>confidence</a:t>
                      </a:r>
                      <a:r>
                        <a:rPr lang="en-US" sz="1400">
                          <a:solidFill>
                            <a:srgbClr val="000000"/>
                          </a:solidFill>
                        </a:rPr>
                        <a:t> fields</a:t>
                      </a:r>
                    </a:p>
                  </a:txBody>
                  <a:tcPr marL="45011" marR="45011" marT="22506" marB="22506" anchor="ctr"/>
                </a:tc>
                <a:tc>
                  <a:txBody>
                    <a:bodyPr/>
                    <a:lstStyle/>
                    <a:p>
                      <a:pPr>
                        <a:buNone/>
                      </a:pPr>
                      <a:r>
                        <a:rPr lang="en-US" sz="1400">
                          <a:solidFill>
                            <a:srgbClr val="000000"/>
                          </a:solidFill>
                        </a:rPr>
                        <a:t>Templated prompt with few-shot examples loaded from external files, strict JSON schema</a:t>
                      </a:r>
                    </a:p>
                  </a:txBody>
                  <a:tcPr marL="45011" marR="45011" marT="22506" marB="22506" anchor="ctr"/>
                </a:tc>
                <a:extLst>
                  <a:ext uri="{0D108BD9-81ED-4DB2-BD59-A6C34878D82A}">
                    <a16:rowId xmlns:a16="http://schemas.microsoft.com/office/drawing/2014/main" val="2263535014"/>
                  </a:ext>
                </a:extLst>
              </a:tr>
              <a:tr h="585100">
                <a:tc>
                  <a:txBody>
                    <a:bodyPr/>
                    <a:lstStyle/>
                    <a:p>
                      <a:pPr>
                        <a:buNone/>
                      </a:pPr>
                      <a:r>
                        <a:rPr lang="en-US" sz="1400" b="1">
                          <a:solidFill>
                            <a:srgbClr val="000000"/>
                          </a:solidFill>
                        </a:rPr>
                        <a:t>Metrics</a:t>
                      </a:r>
                      <a:endParaRPr lang="en-US" sz="1400">
                        <a:solidFill>
                          <a:srgbClr val="000000"/>
                        </a:solidFill>
                      </a:endParaRPr>
                    </a:p>
                  </a:txBody>
                  <a:tcPr marL="45011" marR="45011" marT="22506" marB="22506" anchor="ctr"/>
                </a:tc>
                <a:tc>
                  <a:txBody>
                    <a:bodyPr/>
                    <a:lstStyle/>
                    <a:p>
                      <a:pPr>
                        <a:buNone/>
                      </a:pPr>
                      <a:r>
                        <a:rPr lang="en-US" sz="1400">
                          <a:solidFill>
                            <a:srgbClr val="000000"/>
                          </a:solidFill>
                        </a:rPr>
                        <a:t>Standard regression error metrics to measure how close the LLM's predicted continuous pressure values are to the true values, plus latency timing per inference</a:t>
                      </a:r>
                      <a:endParaRPr lang="pt-BR" sz="1400">
                        <a:solidFill>
                          <a:srgbClr val="000000"/>
                        </a:solidFill>
                      </a:endParaRPr>
                    </a:p>
                  </a:txBody>
                  <a:tcPr marL="45011" marR="45011" marT="22506" marB="22506" anchor="ctr"/>
                </a:tc>
                <a:tc>
                  <a:txBody>
                    <a:bodyPr/>
                    <a:lstStyle/>
                    <a:p>
                      <a:pPr>
                        <a:buNone/>
                      </a:pPr>
                      <a:r>
                        <a:rPr lang="en-US" sz="1400">
                          <a:solidFill>
                            <a:srgbClr val="000000"/>
                          </a:solidFill>
                        </a:rPr>
                        <a:t>Classification accuracy to check if the LLM's predicted risk label exactly matches the ground-truth label, alongside parse success rate to track how often each model returns valid structured JSON</a:t>
                      </a:r>
                    </a:p>
                  </a:txBody>
                  <a:tcPr marL="45011" marR="45011" marT="22506" marB="22506" anchor="ctr"/>
                </a:tc>
                <a:tc>
                  <a:txBody>
                    <a:bodyPr/>
                    <a:lstStyle/>
                    <a:p>
                      <a:pPr>
                        <a:buNone/>
                      </a:pPr>
                      <a:r>
                        <a:rPr lang="en-US" sz="1400">
                          <a:solidFill>
                            <a:srgbClr val="000000"/>
                          </a:solidFill>
                        </a:rPr>
                        <a:t>Uses set-overlap and ranking metrics to measure how well the LLM identifies the same highest-connectivity node pairs as the GNN ground truth</a:t>
                      </a:r>
                    </a:p>
                  </a:txBody>
                  <a:tcPr marL="45011" marR="45011" marT="22506" marB="22506" anchor="ctr"/>
                </a:tc>
                <a:extLst>
                  <a:ext uri="{0D108BD9-81ED-4DB2-BD59-A6C34878D82A}">
                    <a16:rowId xmlns:a16="http://schemas.microsoft.com/office/drawing/2014/main" val="4254045273"/>
                  </a:ext>
                </a:extLst>
              </a:tr>
              <a:tr h="764111">
                <a:tc>
                  <a:txBody>
                    <a:bodyPr/>
                    <a:lstStyle/>
                    <a:p>
                      <a:pPr>
                        <a:buNone/>
                      </a:pPr>
                      <a:r>
                        <a:rPr lang="en-US" sz="1400" b="1">
                          <a:solidFill>
                            <a:srgbClr val="000000"/>
                          </a:solidFill>
                        </a:rPr>
                        <a:t>Train/test split</a:t>
                      </a:r>
                      <a:endParaRPr lang="en-US" sz="1400">
                        <a:solidFill>
                          <a:srgbClr val="000000"/>
                        </a:solidFill>
                      </a:endParaRPr>
                    </a:p>
                  </a:txBody>
                  <a:tcPr marL="45011" marR="45011" marT="22506" marB="22506" anchor="ctr"/>
                </a:tc>
                <a:tc>
                  <a:txBody>
                    <a:bodyPr/>
                    <a:lstStyle/>
                    <a:p>
                      <a:pPr>
                        <a:buNone/>
                      </a:pPr>
                      <a:r>
                        <a:rPr lang="en-US" sz="1400">
                          <a:solidFill>
                            <a:srgbClr val="000000"/>
                          </a:solidFill>
                        </a:rPr>
                        <a:t>No split — trains and evaluates Ridge on same windows (quick mode: 15 windows)</a:t>
                      </a:r>
                    </a:p>
                  </a:txBody>
                  <a:tcPr marL="45011" marR="45011" marT="22506" marB="22506" anchor="ctr"/>
                </a:tc>
                <a:tc>
                  <a:txBody>
                    <a:bodyPr/>
                    <a:lstStyle/>
                    <a:p>
                      <a:pPr>
                        <a:buNone/>
                      </a:pPr>
                      <a:r>
                        <a:rPr lang="en-US" sz="1400">
                          <a:solidFill>
                            <a:srgbClr val="000000"/>
                          </a:solidFill>
                        </a:rPr>
                        <a:t>All samples sent to all models (no temporal split)</a:t>
                      </a:r>
                    </a:p>
                  </a:txBody>
                  <a:tcPr marL="45011" marR="45011" marT="22506" marB="22506" anchor="ctr"/>
                </a:tc>
                <a:tc>
                  <a:txBody>
                    <a:bodyPr/>
                    <a:lstStyle/>
                    <a:p>
                      <a:pPr>
                        <a:buNone/>
                      </a:pPr>
                      <a:r>
                        <a:rPr lang="en-US" sz="1400">
                          <a:solidFill>
                            <a:srgbClr val="000000"/>
                          </a:solidFill>
                        </a:rPr>
                        <a:t>Formal temporal split: </a:t>
                      </a:r>
                      <a:r>
                        <a:rPr lang="en-US" sz="1400" err="1">
                          <a:solidFill>
                            <a:srgbClr val="000000"/>
                          </a:solidFill>
                        </a:rPr>
                        <a:t>prompt_dev</a:t>
                      </a:r>
                      <a:r>
                        <a:rPr lang="en-US" sz="1400">
                          <a:solidFill>
                            <a:srgbClr val="000000"/>
                          </a:solidFill>
                        </a:rPr>
                        <a:t> / purge / validation / purge / test</a:t>
                      </a:r>
                    </a:p>
                  </a:txBody>
                  <a:tcPr marL="45011" marR="45011" marT="22506" marB="22506" anchor="ctr"/>
                </a:tc>
                <a:extLst>
                  <a:ext uri="{0D108BD9-81ED-4DB2-BD59-A6C34878D82A}">
                    <a16:rowId xmlns:a16="http://schemas.microsoft.com/office/drawing/2014/main" val="1525571908"/>
                  </a:ext>
                </a:extLst>
              </a:tr>
            </a:tbl>
          </a:graphicData>
        </a:graphic>
      </p:graphicFrame>
    </p:spTree>
    <p:extLst>
      <p:ext uri="{BB962C8B-B14F-4D97-AF65-F5344CB8AC3E}">
        <p14:creationId xmlns:p14="http://schemas.microsoft.com/office/powerpoint/2010/main" val="2679890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8A6586-382F-D703-B688-A60C3E666E34}"/>
              </a:ext>
            </a:extLst>
          </p:cNvPr>
          <p:cNvSpPr>
            <a:spLocks noGrp="1"/>
          </p:cNvSpPr>
          <p:nvPr>
            <p:ph type="sldNum" sz="quarter" idx="12"/>
          </p:nvPr>
        </p:nvSpPr>
        <p:spPr/>
        <p:txBody>
          <a:bodyPr/>
          <a:lstStyle/>
          <a:p>
            <a:fld id="{FE7A4BB3-E848-5A44-82DF-322201952CD8}" type="slidenum">
              <a:rPr lang="en-US" smtClean="0"/>
              <a:pPr/>
              <a:t>7</a:t>
            </a:fld>
            <a:endParaRPr lang="en-US"/>
          </a:p>
        </p:txBody>
      </p:sp>
      <p:sp>
        <p:nvSpPr>
          <p:cNvPr id="3" name="Title 2">
            <a:extLst>
              <a:ext uri="{FF2B5EF4-FFF2-40B4-BE49-F238E27FC236}">
                <a16:creationId xmlns:a16="http://schemas.microsoft.com/office/drawing/2014/main" id="{E4D51B76-F009-9889-08C3-C36E0425D9DA}"/>
              </a:ext>
            </a:extLst>
          </p:cNvPr>
          <p:cNvSpPr>
            <a:spLocks noGrp="1"/>
          </p:cNvSpPr>
          <p:nvPr>
            <p:ph type="title"/>
          </p:nvPr>
        </p:nvSpPr>
        <p:spPr/>
        <p:txBody>
          <a:bodyPr/>
          <a:lstStyle/>
          <a:p>
            <a:r>
              <a:rPr lang="en-US"/>
              <a:t>LLM Issues and Insights</a:t>
            </a:r>
          </a:p>
        </p:txBody>
      </p:sp>
      <p:sp>
        <p:nvSpPr>
          <p:cNvPr id="4" name="Content Placeholder 3">
            <a:extLst>
              <a:ext uri="{FF2B5EF4-FFF2-40B4-BE49-F238E27FC236}">
                <a16:creationId xmlns:a16="http://schemas.microsoft.com/office/drawing/2014/main" id="{79407F6E-4FE8-93EE-CA4C-9BADB95E94EB}"/>
              </a:ext>
            </a:extLst>
          </p:cNvPr>
          <p:cNvSpPr>
            <a:spLocks noGrp="1"/>
          </p:cNvSpPr>
          <p:nvPr>
            <p:ph sz="quarter" idx="20"/>
          </p:nvPr>
        </p:nvSpPr>
        <p:spPr>
          <a:xfrm>
            <a:off x="1386468" y="1859613"/>
            <a:ext cx="11653024" cy="5486401"/>
          </a:xfrm>
        </p:spPr>
        <p:txBody>
          <a:bodyPr/>
          <a:lstStyle/>
          <a:p>
            <a:r>
              <a:rPr lang="en-US" sz="2400"/>
              <a:t>Using integrated LLM added learning curve beyond just the data problem, so depending on experience, time deflected from actual problem</a:t>
            </a:r>
          </a:p>
          <a:p>
            <a:pPr lvl="1"/>
            <a:r>
              <a:rPr lang="en-US" sz="2000"/>
              <a:t>Notebook 1 simplified to building its own ML from scratch (ridge regression), due to coding and prompt issues.</a:t>
            </a:r>
          </a:p>
          <a:p>
            <a:r>
              <a:rPr lang="en-US" sz="2400"/>
              <a:t>No matplotlib in Jupyter Notebook environment – would have been a good way to visually validate results to ML method</a:t>
            </a:r>
          </a:p>
          <a:p>
            <a:endParaRPr lang="en-US" sz="2400"/>
          </a:p>
        </p:txBody>
      </p:sp>
      <p:pic>
        <p:nvPicPr>
          <p:cNvPr id="8" name="Picture 7">
            <a:extLst>
              <a:ext uri="{FF2B5EF4-FFF2-40B4-BE49-F238E27FC236}">
                <a16:creationId xmlns:a16="http://schemas.microsoft.com/office/drawing/2014/main" id="{ED1909EA-8D94-8E15-261E-6DC18609C49B}"/>
              </a:ext>
            </a:extLst>
          </p:cNvPr>
          <p:cNvPicPr>
            <a:picLocks noChangeAspect="1"/>
          </p:cNvPicPr>
          <p:nvPr/>
        </p:nvPicPr>
        <p:blipFill>
          <a:blip r:embed="rId3"/>
          <a:stretch>
            <a:fillRect/>
          </a:stretch>
        </p:blipFill>
        <p:spPr>
          <a:xfrm>
            <a:off x="3350708" y="4196575"/>
            <a:ext cx="7928984" cy="3520068"/>
          </a:xfrm>
          <a:prstGeom prst="rect">
            <a:avLst/>
          </a:prstGeom>
        </p:spPr>
      </p:pic>
      <p:sp>
        <p:nvSpPr>
          <p:cNvPr id="9" name="TextBox 8">
            <a:extLst>
              <a:ext uri="{FF2B5EF4-FFF2-40B4-BE49-F238E27FC236}">
                <a16:creationId xmlns:a16="http://schemas.microsoft.com/office/drawing/2014/main" id="{83DE6010-8612-A7E6-4A70-E0E495799DCD}"/>
              </a:ext>
            </a:extLst>
          </p:cNvPr>
          <p:cNvSpPr txBox="1"/>
          <p:nvPr/>
        </p:nvSpPr>
        <p:spPr>
          <a:xfrm>
            <a:off x="3350708" y="7772400"/>
            <a:ext cx="5709424" cy="307777"/>
          </a:xfrm>
          <a:prstGeom prst="rect">
            <a:avLst/>
          </a:prstGeom>
          <a:noFill/>
        </p:spPr>
        <p:txBody>
          <a:bodyPr wrap="square" rtlCol="0">
            <a:spAutoFit/>
          </a:bodyPr>
          <a:lstStyle/>
          <a:p>
            <a:r>
              <a:rPr lang="en-US" sz="1400" i="1"/>
              <a:t>Generated with GPT-5</a:t>
            </a:r>
          </a:p>
        </p:txBody>
      </p:sp>
    </p:spTree>
    <p:extLst>
      <p:ext uri="{BB962C8B-B14F-4D97-AF65-F5344CB8AC3E}">
        <p14:creationId xmlns:p14="http://schemas.microsoft.com/office/powerpoint/2010/main" val="3926209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A5881-5801-4248-5377-924EAF7A8F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BDBEA7-14D2-E869-8CB4-FBDFA4142EC0}"/>
              </a:ext>
            </a:extLst>
          </p:cNvPr>
          <p:cNvSpPr>
            <a:spLocks noGrp="1"/>
          </p:cNvSpPr>
          <p:nvPr>
            <p:ph type="sldNum" sz="quarter" idx="12"/>
          </p:nvPr>
        </p:nvSpPr>
        <p:spPr/>
        <p:txBody>
          <a:bodyPr/>
          <a:lstStyle/>
          <a:p>
            <a:fld id="{FE7A4BB3-E848-5A44-82DF-322201952CD8}" type="slidenum">
              <a:rPr lang="en-US" smtClean="0"/>
              <a:pPr/>
              <a:t>8</a:t>
            </a:fld>
            <a:endParaRPr lang="en-US"/>
          </a:p>
        </p:txBody>
      </p:sp>
      <p:sp>
        <p:nvSpPr>
          <p:cNvPr id="5" name="Title 4">
            <a:extLst>
              <a:ext uri="{FF2B5EF4-FFF2-40B4-BE49-F238E27FC236}">
                <a16:creationId xmlns:a16="http://schemas.microsoft.com/office/drawing/2014/main" id="{555E1587-ADEB-5D14-35EB-77656F35B6AD}"/>
              </a:ext>
            </a:extLst>
          </p:cNvPr>
          <p:cNvSpPr>
            <a:spLocks noGrp="1"/>
          </p:cNvSpPr>
          <p:nvPr>
            <p:ph type="title"/>
          </p:nvPr>
        </p:nvSpPr>
        <p:spPr>
          <a:xfrm>
            <a:off x="2965620" y="753762"/>
            <a:ext cx="8180174" cy="864973"/>
          </a:xfrm>
        </p:spPr>
        <p:txBody>
          <a:bodyPr/>
          <a:lstStyle/>
          <a:p>
            <a:r>
              <a:rPr lang="en-US"/>
              <a:t>ML vs LLM Comparison</a:t>
            </a:r>
          </a:p>
        </p:txBody>
      </p:sp>
      <p:graphicFrame>
        <p:nvGraphicFramePr>
          <p:cNvPr id="8" name="Content Placeholder 7">
            <a:extLst>
              <a:ext uri="{FF2B5EF4-FFF2-40B4-BE49-F238E27FC236}">
                <a16:creationId xmlns:a16="http://schemas.microsoft.com/office/drawing/2014/main" id="{83F9E865-7C96-1979-A43F-D693B2CEEA53}"/>
              </a:ext>
            </a:extLst>
          </p:cNvPr>
          <p:cNvGraphicFramePr>
            <a:graphicFrameLocks noGrp="1"/>
          </p:cNvGraphicFramePr>
          <p:nvPr>
            <p:ph sz="quarter" idx="20"/>
            <p:extLst>
              <p:ext uri="{D42A27DB-BD31-4B8C-83A1-F6EECF244321}">
                <p14:modId xmlns:p14="http://schemas.microsoft.com/office/powerpoint/2010/main" val="216198696"/>
              </p:ext>
            </p:extLst>
          </p:nvPr>
        </p:nvGraphicFramePr>
        <p:xfrm>
          <a:off x="1907863" y="2025704"/>
          <a:ext cx="11621525" cy="5606964"/>
        </p:xfrm>
        <a:graphic>
          <a:graphicData uri="http://schemas.openxmlformats.org/drawingml/2006/table">
            <a:tbl>
              <a:tblPr>
                <a:tableStyleId>{5940675A-B579-460E-94D1-54222C63F5DA}</a:tableStyleId>
              </a:tblPr>
              <a:tblGrid>
                <a:gridCol w="2721683">
                  <a:extLst>
                    <a:ext uri="{9D8B030D-6E8A-4147-A177-3AD203B41FA5}">
                      <a16:colId xmlns:a16="http://schemas.microsoft.com/office/drawing/2014/main" val="1723699818"/>
                    </a:ext>
                  </a:extLst>
                </a:gridCol>
                <a:gridCol w="4163209">
                  <a:extLst>
                    <a:ext uri="{9D8B030D-6E8A-4147-A177-3AD203B41FA5}">
                      <a16:colId xmlns:a16="http://schemas.microsoft.com/office/drawing/2014/main" val="2004994898"/>
                    </a:ext>
                  </a:extLst>
                </a:gridCol>
                <a:gridCol w="4736633">
                  <a:extLst>
                    <a:ext uri="{9D8B030D-6E8A-4147-A177-3AD203B41FA5}">
                      <a16:colId xmlns:a16="http://schemas.microsoft.com/office/drawing/2014/main" val="2174544937"/>
                    </a:ext>
                  </a:extLst>
                </a:gridCol>
              </a:tblGrid>
              <a:tr h="757466">
                <a:tc>
                  <a:txBody>
                    <a:bodyPr/>
                    <a:lstStyle/>
                    <a:p>
                      <a:pPr>
                        <a:buNone/>
                      </a:pPr>
                      <a:r>
                        <a:rPr lang="en-US" sz="2200" b="1">
                          <a:solidFill>
                            <a:srgbClr val="000000"/>
                          </a:solidFill>
                        </a:rPr>
                        <a:t>Criteria</a:t>
                      </a:r>
                    </a:p>
                  </a:txBody>
                  <a:tcPr marL="56327" marR="56327" marT="28164" marB="28164" anchor="ctr"/>
                </a:tc>
                <a:tc>
                  <a:txBody>
                    <a:bodyPr/>
                    <a:lstStyle/>
                    <a:p>
                      <a:pPr>
                        <a:buNone/>
                      </a:pPr>
                      <a:r>
                        <a:rPr lang="en-US" sz="2200" b="1">
                          <a:solidFill>
                            <a:srgbClr val="000000"/>
                          </a:solidFill>
                        </a:rPr>
                        <a:t>ML Model</a:t>
                      </a:r>
                    </a:p>
                  </a:txBody>
                  <a:tcPr marL="56327" marR="56327" marT="28164" marB="28164" anchor="ctr"/>
                </a:tc>
                <a:tc>
                  <a:txBody>
                    <a:bodyPr/>
                    <a:lstStyle/>
                    <a:p>
                      <a:pPr>
                        <a:buNone/>
                      </a:pPr>
                      <a:r>
                        <a:rPr lang="en-US" sz="2200" b="1">
                          <a:solidFill>
                            <a:srgbClr val="000000"/>
                          </a:solidFill>
                        </a:rPr>
                        <a:t>LLM Approach</a:t>
                      </a:r>
                    </a:p>
                  </a:txBody>
                  <a:tcPr marL="56327" marR="56327" marT="28164" marB="28164" anchor="ctr"/>
                </a:tc>
                <a:extLst>
                  <a:ext uri="{0D108BD9-81ED-4DB2-BD59-A6C34878D82A}">
                    <a16:rowId xmlns:a16="http://schemas.microsoft.com/office/drawing/2014/main" val="4240780305"/>
                  </a:ext>
                </a:extLst>
              </a:tr>
              <a:tr h="757466">
                <a:tc>
                  <a:txBody>
                    <a:bodyPr/>
                    <a:lstStyle/>
                    <a:p>
                      <a:pPr>
                        <a:buNone/>
                      </a:pPr>
                      <a:r>
                        <a:rPr lang="en-US" sz="2200">
                          <a:solidFill>
                            <a:srgbClr val="000000"/>
                          </a:solidFill>
                        </a:rPr>
                        <a:t>Physical Accuracy</a:t>
                      </a:r>
                    </a:p>
                  </a:txBody>
                  <a:tcPr marL="56327" marR="56327" marT="28164" marB="28164" anchor="ctr"/>
                </a:tc>
                <a:tc>
                  <a:txBody>
                    <a:bodyPr/>
                    <a:lstStyle/>
                    <a:p>
                      <a:pPr>
                        <a:buNone/>
                      </a:pPr>
                      <a:r>
                        <a:rPr lang="en-US" sz="2200" b="1">
                          <a:solidFill>
                            <a:srgbClr val="000000"/>
                          </a:solidFill>
                        </a:rPr>
                        <a:t>High</a:t>
                      </a:r>
                      <a:r>
                        <a:rPr lang="en-US" sz="2200" b="0">
                          <a:solidFill>
                            <a:srgbClr val="000000"/>
                          </a:solidFill>
                        </a:rPr>
                        <a:t> – grounded in numeric edge weights and temporal physics.</a:t>
                      </a:r>
                    </a:p>
                  </a:txBody>
                  <a:tcPr marL="56327" marR="56327" marT="28164" marB="28164" anchor="ctr"/>
                </a:tc>
                <a:tc>
                  <a:txBody>
                    <a:bodyPr/>
                    <a:lstStyle/>
                    <a:p>
                      <a:pPr>
                        <a:buNone/>
                      </a:pPr>
                      <a:r>
                        <a:rPr lang="en-US" sz="2200" b="1">
                          <a:solidFill>
                            <a:srgbClr val="000000"/>
                          </a:solidFill>
                        </a:rPr>
                        <a:t>Mid</a:t>
                      </a:r>
                      <a:r>
                        <a:rPr lang="en-US" sz="2200">
                          <a:solidFill>
                            <a:srgbClr val="000000"/>
                          </a:solidFill>
                        </a:rPr>
                        <a:t>- depends on narrative and prompt interpretation.</a:t>
                      </a:r>
                    </a:p>
                  </a:txBody>
                  <a:tcPr marL="56327" marR="56327" marT="28164" marB="28164" anchor="ctr"/>
                </a:tc>
                <a:extLst>
                  <a:ext uri="{0D108BD9-81ED-4DB2-BD59-A6C34878D82A}">
                    <a16:rowId xmlns:a16="http://schemas.microsoft.com/office/drawing/2014/main" val="598181637"/>
                  </a:ext>
                </a:extLst>
              </a:tr>
              <a:tr h="757466">
                <a:tc>
                  <a:txBody>
                    <a:bodyPr/>
                    <a:lstStyle/>
                    <a:p>
                      <a:pPr>
                        <a:buNone/>
                      </a:pPr>
                      <a:r>
                        <a:rPr lang="en-US" sz="2200">
                          <a:solidFill>
                            <a:srgbClr val="000000"/>
                          </a:solidFill>
                        </a:rPr>
                        <a:t>Consistency</a:t>
                      </a:r>
                    </a:p>
                  </a:txBody>
                  <a:tcPr marL="56327" marR="56327" marT="28164" marB="28164" anchor="ctr"/>
                </a:tc>
                <a:tc>
                  <a:txBody>
                    <a:bodyPr/>
                    <a:lstStyle/>
                    <a:p>
                      <a:pPr>
                        <a:buNone/>
                      </a:pPr>
                      <a:r>
                        <a:rPr lang="en-US" sz="2200" b="1">
                          <a:solidFill>
                            <a:srgbClr val="000000"/>
                          </a:solidFill>
                        </a:rPr>
                        <a:t>High</a:t>
                      </a:r>
                      <a:r>
                        <a:rPr lang="en-US" sz="2200">
                          <a:solidFill>
                            <a:srgbClr val="000000"/>
                          </a:solidFill>
                        </a:rPr>
                        <a:t> – deterministic, repeatable </a:t>
                      </a:r>
                      <a:r>
                        <a:rPr lang="en-US" sz="2200" err="1">
                          <a:solidFill>
                            <a:srgbClr val="000000"/>
                          </a:solidFill>
                        </a:rPr>
                        <a:t>predicitons</a:t>
                      </a:r>
                      <a:r>
                        <a:rPr lang="en-US" sz="2200">
                          <a:solidFill>
                            <a:srgbClr val="000000"/>
                          </a:solidFill>
                        </a:rPr>
                        <a:t>.</a:t>
                      </a:r>
                    </a:p>
                  </a:txBody>
                  <a:tcPr marL="56327" marR="56327" marT="28164" marB="28164" anchor="ctr"/>
                </a:tc>
                <a:tc>
                  <a:txBody>
                    <a:bodyPr/>
                    <a:lstStyle/>
                    <a:p>
                      <a:pPr>
                        <a:buNone/>
                      </a:pPr>
                      <a:r>
                        <a:rPr lang="en-US" sz="2200" b="1">
                          <a:solidFill>
                            <a:srgbClr val="000000"/>
                          </a:solidFill>
                        </a:rPr>
                        <a:t>Low-Mid – </a:t>
                      </a:r>
                      <a:r>
                        <a:rPr lang="en-US" sz="2200" b="0">
                          <a:solidFill>
                            <a:srgbClr val="000000"/>
                          </a:solidFill>
                        </a:rPr>
                        <a:t>varies with promts and model randomness.</a:t>
                      </a:r>
                    </a:p>
                  </a:txBody>
                  <a:tcPr marL="56327" marR="56327" marT="28164" marB="28164" anchor="ctr"/>
                </a:tc>
                <a:extLst>
                  <a:ext uri="{0D108BD9-81ED-4DB2-BD59-A6C34878D82A}">
                    <a16:rowId xmlns:a16="http://schemas.microsoft.com/office/drawing/2014/main" val="2266923845"/>
                  </a:ext>
                </a:extLst>
              </a:tr>
              <a:tr h="757466">
                <a:tc>
                  <a:txBody>
                    <a:bodyPr/>
                    <a:lstStyle/>
                    <a:p>
                      <a:pPr>
                        <a:buNone/>
                      </a:pPr>
                      <a:r>
                        <a:rPr lang="en-US" sz="2200">
                          <a:solidFill>
                            <a:srgbClr val="000000"/>
                          </a:solidFill>
                        </a:rPr>
                        <a:t>Speed</a:t>
                      </a:r>
                    </a:p>
                  </a:txBody>
                  <a:tcPr marL="56327" marR="56327" marT="28164" marB="28164" anchor="ctr"/>
                </a:tc>
                <a:tc>
                  <a:txBody>
                    <a:bodyPr/>
                    <a:lstStyle/>
                    <a:p>
                      <a:pPr>
                        <a:buNone/>
                      </a:pPr>
                      <a:r>
                        <a:rPr lang="en-US" sz="2200" b="1">
                          <a:solidFill>
                            <a:srgbClr val="000000"/>
                          </a:solidFill>
                        </a:rPr>
                        <a:t>Faster</a:t>
                      </a:r>
                      <a:r>
                        <a:rPr lang="en-US" sz="2200">
                          <a:solidFill>
                            <a:srgbClr val="000000"/>
                          </a:solidFill>
                        </a:rPr>
                        <a:t> – batch interferance  across all windows.</a:t>
                      </a:r>
                    </a:p>
                  </a:txBody>
                  <a:tcPr marL="56327" marR="56327" marT="28164" marB="28164" anchor="ctr"/>
                </a:tc>
                <a:tc>
                  <a:txBody>
                    <a:bodyPr/>
                    <a:lstStyle/>
                    <a:p>
                      <a:pPr>
                        <a:buNone/>
                      </a:pPr>
                      <a:r>
                        <a:rPr lang="en-US" sz="2200" b="1">
                          <a:solidFill>
                            <a:srgbClr val="000000"/>
                          </a:solidFill>
                        </a:rPr>
                        <a:t>Slower</a:t>
                      </a:r>
                      <a:r>
                        <a:rPr lang="en-US" sz="2200">
                          <a:solidFill>
                            <a:srgbClr val="000000"/>
                          </a:solidFill>
                        </a:rPr>
                        <a:t> – pre-record LLM queries add latency.</a:t>
                      </a:r>
                    </a:p>
                  </a:txBody>
                  <a:tcPr marL="56327" marR="56327" marT="28164" marB="28164" anchor="ctr"/>
                </a:tc>
                <a:extLst>
                  <a:ext uri="{0D108BD9-81ED-4DB2-BD59-A6C34878D82A}">
                    <a16:rowId xmlns:a16="http://schemas.microsoft.com/office/drawing/2014/main" val="4019165913"/>
                  </a:ext>
                </a:extLst>
              </a:tr>
              <a:tr h="757466">
                <a:tc>
                  <a:txBody>
                    <a:bodyPr/>
                    <a:lstStyle/>
                    <a:p>
                      <a:pPr>
                        <a:buNone/>
                      </a:pPr>
                      <a:r>
                        <a:rPr lang="en-US" sz="2200">
                          <a:solidFill>
                            <a:srgbClr val="000000"/>
                          </a:solidFill>
                        </a:rPr>
                        <a:t>Effort</a:t>
                      </a:r>
                    </a:p>
                  </a:txBody>
                  <a:tcPr marL="56327" marR="56327" marT="28164" marB="28164" anchor="ctr"/>
                </a:tc>
                <a:tc>
                  <a:txBody>
                    <a:bodyPr/>
                    <a:lstStyle/>
                    <a:p>
                      <a:pPr>
                        <a:buNone/>
                      </a:pPr>
                      <a:r>
                        <a:rPr lang="en-US" sz="2200" b="1">
                          <a:solidFill>
                            <a:srgbClr val="000000"/>
                          </a:solidFill>
                        </a:rPr>
                        <a:t>Higher Upfront</a:t>
                      </a:r>
                      <a:r>
                        <a:rPr lang="en-US" sz="2200">
                          <a:solidFill>
                            <a:srgbClr val="000000"/>
                          </a:solidFill>
                        </a:rPr>
                        <a:t> – data prep + model training.</a:t>
                      </a:r>
                    </a:p>
                  </a:txBody>
                  <a:tcPr marL="56327" marR="56327" marT="28164" marB="28164" anchor="ctr"/>
                </a:tc>
                <a:tc>
                  <a:txBody>
                    <a:bodyPr/>
                    <a:lstStyle/>
                    <a:p>
                      <a:pPr>
                        <a:buNone/>
                      </a:pPr>
                      <a:r>
                        <a:rPr lang="en-US" sz="2200" b="1">
                          <a:solidFill>
                            <a:srgbClr val="000000"/>
                          </a:solidFill>
                        </a:rPr>
                        <a:t>Lower Up front, higher ongoing</a:t>
                      </a:r>
                      <a:r>
                        <a:rPr lang="en-US" sz="2200">
                          <a:solidFill>
                            <a:srgbClr val="000000"/>
                          </a:solidFill>
                        </a:rPr>
                        <a:t> – prompt tuning + parsing fixes.</a:t>
                      </a:r>
                    </a:p>
                  </a:txBody>
                  <a:tcPr marL="56327" marR="56327" marT="28164" marB="28164" anchor="ctr"/>
                </a:tc>
                <a:extLst>
                  <a:ext uri="{0D108BD9-81ED-4DB2-BD59-A6C34878D82A}">
                    <a16:rowId xmlns:a16="http://schemas.microsoft.com/office/drawing/2014/main" val="4162673759"/>
                  </a:ext>
                </a:extLst>
              </a:tr>
              <a:tr h="757466">
                <a:tc>
                  <a:txBody>
                    <a:bodyPr/>
                    <a:lstStyle/>
                    <a:p>
                      <a:pPr>
                        <a:buNone/>
                      </a:pPr>
                      <a:r>
                        <a:rPr lang="en-US" sz="2200">
                          <a:solidFill>
                            <a:srgbClr val="000000"/>
                          </a:solidFill>
                        </a:rPr>
                        <a:t>Flexibility</a:t>
                      </a:r>
                    </a:p>
                  </a:txBody>
                  <a:tcPr marL="56327" marR="56327" marT="28164" marB="28164" anchor="ctr"/>
                </a:tc>
                <a:tc>
                  <a:txBody>
                    <a:bodyPr/>
                    <a:lstStyle/>
                    <a:p>
                      <a:pPr>
                        <a:buNone/>
                      </a:pPr>
                      <a:r>
                        <a:rPr lang="en-US" sz="2200" b="1">
                          <a:solidFill>
                            <a:srgbClr val="000000"/>
                          </a:solidFill>
                        </a:rPr>
                        <a:t>Mid</a:t>
                      </a:r>
                      <a:r>
                        <a:rPr lang="en-US" sz="2200">
                          <a:solidFill>
                            <a:srgbClr val="000000"/>
                          </a:solidFill>
                        </a:rPr>
                        <a:t> - limited to engineered features and GNN structure.</a:t>
                      </a:r>
                    </a:p>
                  </a:txBody>
                  <a:tcPr marL="56327" marR="56327" marT="28164" marB="28164" anchor="ctr"/>
                </a:tc>
                <a:tc>
                  <a:txBody>
                    <a:bodyPr/>
                    <a:lstStyle/>
                    <a:p>
                      <a:pPr lvl="0">
                        <a:buNone/>
                      </a:pPr>
                      <a:r>
                        <a:rPr lang="en-US" sz="2200" b="1">
                          <a:solidFill>
                            <a:srgbClr val="000000"/>
                          </a:solidFill>
                        </a:rPr>
                        <a:t>High</a:t>
                      </a:r>
                      <a:r>
                        <a:rPr lang="en-US" sz="2200">
                          <a:solidFill>
                            <a:srgbClr val="000000"/>
                          </a:solidFill>
                        </a:rPr>
                        <a:t> – can interpret diverse narratives and contexts.</a:t>
                      </a:r>
                    </a:p>
                  </a:txBody>
                  <a:tcPr marL="56327" marR="56327" marT="28164" marB="28164" anchor="ctr"/>
                </a:tc>
                <a:extLst>
                  <a:ext uri="{0D108BD9-81ED-4DB2-BD59-A6C34878D82A}">
                    <a16:rowId xmlns:a16="http://schemas.microsoft.com/office/drawing/2014/main" val="4084093621"/>
                  </a:ext>
                </a:extLst>
              </a:tr>
              <a:tr h="757466">
                <a:tc>
                  <a:txBody>
                    <a:bodyPr/>
                    <a:lstStyle/>
                    <a:p>
                      <a:pPr>
                        <a:buNone/>
                      </a:pPr>
                      <a:r>
                        <a:rPr lang="en-US" sz="2200">
                          <a:solidFill>
                            <a:srgbClr val="000000"/>
                          </a:solidFill>
                        </a:rPr>
                        <a:t>Time Invested</a:t>
                      </a:r>
                    </a:p>
                  </a:txBody>
                  <a:tcPr marL="56327" marR="56327" marT="28164" marB="28164" anchor="ctr"/>
                </a:tc>
                <a:tc>
                  <a:txBody>
                    <a:bodyPr/>
                    <a:lstStyle/>
                    <a:p>
                      <a:pPr>
                        <a:buNone/>
                      </a:pPr>
                      <a:r>
                        <a:rPr lang="en-US" sz="2200">
                          <a:solidFill>
                            <a:srgbClr val="000000"/>
                          </a:solidFill>
                        </a:rPr>
                        <a:t>8+ hours </a:t>
                      </a:r>
                    </a:p>
                    <a:p>
                      <a:pPr lvl="0">
                        <a:buNone/>
                      </a:pPr>
                      <a:r>
                        <a:rPr lang="en-US" sz="2200">
                          <a:solidFill>
                            <a:srgbClr val="000000"/>
                          </a:solidFill>
                        </a:rPr>
                        <a:t>to setup</a:t>
                      </a:r>
                    </a:p>
                  </a:txBody>
                  <a:tcPr marL="56327" marR="56327" marT="28164" marB="28164" anchor="ctr"/>
                </a:tc>
                <a:tc>
                  <a:txBody>
                    <a:bodyPr/>
                    <a:lstStyle/>
                    <a:p>
                      <a:pPr lvl="0">
                        <a:buNone/>
                      </a:pPr>
                      <a:r>
                        <a:rPr lang="en-US" sz="2200">
                          <a:solidFill>
                            <a:srgbClr val="000000"/>
                          </a:solidFill>
                        </a:rPr>
                        <a:t>1-4 hours depending on team member</a:t>
                      </a:r>
                    </a:p>
                  </a:txBody>
                  <a:tcPr marL="56327" marR="56327" marT="28164" marB="28164" anchor="ctr"/>
                </a:tc>
                <a:extLst>
                  <a:ext uri="{0D108BD9-81ED-4DB2-BD59-A6C34878D82A}">
                    <a16:rowId xmlns:a16="http://schemas.microsoft.com/office/drawing/2014/main" val="1146321856"/>
                  </a:ext>
                </a:extLst>
              </a:tr>
            </a:tbl>
          </a:graphicData>
        </a:graphic>
      </p:graphicFrame>
    </p:spTree>
    <p:extLst>
      <p:ext uri="{BB962C8B-B14F-4D97-AF65-F5344CB8AC3E}">
        <p14:creationId xmlns:p14="http://schemas.microsoft.com/office/powerpoint/2010/main" val="3368561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46CEDC-F026-CD03-00ED-2472ED08E50E}"/>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9</a:t>
            </a:fld>
            <a:endParaRPr lang="en-US"/>
          </a:p>
        </p:txBody>
      </p:sp>
      <p:sp>
        <p:nvSpPr>
          <p:cNvPr id="5" name="Title 4">
            <a:extLst>
              <a:ext uri="{FF2B5EF4-FFF2-40B4-BE49-F238E27FC236}">
                <a16:creationId xmlns:a16="http://schemas.microsoft.com/office/drawing/2014/main" id="{508EAC9F-0908-381B-F06D-A8B9F94199D6}"/>
              </a:ext>
            </a:extLst>
          </p:cNvPr>
          <p:cNvSpPr>
            <a:spLocks noGrp="1"/>
          </p:cNvSpPr>
          <p:nvPr>
            <p:ph type="title"/>
          </p:nvPr>
        </p:nvSpPr>
        <p:spPr>
          <a:xfrm>
            <a:off x="1288377" y="3411473"/>
            <a:ext cx="4572001" cy="1590675"/>
          </a:xfrm>
        </p:spPr>
        <p:txBody>
          <a:bodyPr anchor="b">
            <a:normAutofit/>
          </a:bodyPr>
          <a:lstStyle/>
          <a:p>
            <a:r>
              <a:rPr lang="en-US"/>
              <a:t>Demo, Insights &amp; Closing</a:t>
            </a:r>
          </a:p>
        </p:txBody>
      </p:sp>
      <p:graphicFrame>
        <p:nvGraphicFramePr>
          <p:cNvPr id="7" name="Content Placeholder 2">
            <a:extLst>
              <a:ext uri="{FF2B5EF4-FFF2-40B4-BE49-F238E27FC236}">
                <a16:creationId xmlns:a16="http://schemas.microsoft.com/office/drawing/2014/main" id="{BAABE6D3-929E-6ECF-F694-8CF0F30609A1}"/>
              </a:ext>
            </a:extLst>
          </p:cNvPr>
          <p:cNvGraphicFramePr>
            <a:graphicFrameLocks noGrp="1"/>
          </p:cNvGraphicFramePr>
          <p:nvPr>
            <p:ph sz="quarter" idx="20"/>
            <p:extLst>
              <p:ext uri="{D42A27DB-BD31-4B8C-83A1-F6EECF244321}">
                <p14:modId xmlns:p14="http://schemas.microsoft.com/office/powerpoint/2010/main" val="2092673875"/>
              </p:ext>
            </p:extLst>
          </p:nvPr>
        </p:nvGraphicFramePr>
        <p:xfrm>
          <a:off x="6430642" y="457199"/>
          <a:ext cx="7772400" cy="731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503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9F83CF-FC98-7CD8-B2F3-30A1BFA6A623}"/>
              </a:ext>
            </a:extLst>
          </p:cNvPr>
          <p:cNvSpPr>
            <a:spLocks noGrp="1"/>
          </p:cNvSpPr>
          <p:nvPr>
            <p:ph type="sldNum" sz="quarter" idx="12"/>
          </p:nvPr>
        </p:nvSpPr>
        <p:spPr/>
        <p:txBody>
          <a:bodyPr/>
          <a:lstStyle/>
          <a:p>
            <a:fld id="{FE7A4BB3-E848-5A44-82DF-322201952CD8}" type="slidenum">
              <a:rPr lang="en-US" smtClean="0"/>
              <a:pPr/>
              <a:t>10</a:t>
            </a:fld>
            <a:endParaRPr lang="en-US"/>
          </a:p>
        </p:txBody>
      </p:sp>
      <p:sp>
        <p:nvSpPr>
          <p:cNvPr id="5" name="Title 4">
            <a:extLst>
              <a:ext uri="{FF2B5EF4-FFF2-40B4-BE49-F238E27FC236}">
                <a16:creationId xmlns:a16="http://schemas.microsoft.com/office/drawing/2014/main" id="{2CCB3341-9549-9629-804D-30650AB90D6C}"/>
              </a:ext>
            </a:extLst>
          </p:cNvPr>
          <p:cNvSpPr>
            <a:spLocks noGrp="1"/>
          </p:cNvSpPr>
          <p:nvPr>
            <p:ph type="title"/>
          </p:nvPr>
        </p:nvSpPr>
        <p:spPr/>
        <p:txBody>
          <a:bodyPr/>
          <a:lstStyle/>
          <a:p>
            <a:r>
              <a:rPr lang="en-US"/>
              <a:t>Key Learning Milestones</a:t>
            </a:r>
          </a:p>
        </p:txBody>
      </p:sp>
      <p:sp>
        <p:nvSpPr>
          <p:cNvPr id="6" name="Content Placeholder 5">
            <a:extLst>
              <a:ext uri="{FF2B5EF4-FFF2-40B4-BE49-F238E27FC236}">
                <a16:creationId xmlns:a16="http://schemas.microsoft.com/office/drawing/2014/main" id="{C87DA94C-641B-9E66-77E9-1176AEA4F191}"/>
              </a:ext>
            </a:extLst>
          </p:cNvPr>
          <p:cNvSpPr>
            <a:spLocks noGrp="1"/>
          </p:cNvSpPr>
          <p:nvPr>
            <p:ph sz="quarter" idx="20"/>
          </p:nvPr>
        </p:nvSpPr>
        <p:spPr/>
        <p:txBody>
          <a:bodyPr lIns="91440" tIns="45720" rIns="91440" bIns="45720" anchor="t"/>
          <a:lstStyle/>
          <a:p>
            <a:r>
              <a:rPr lang="en-US" dirty="0">
                <a:latin typeface="Arial"/>
                <a:cs typeface="Arial"/>
              </a:rPr>
              <a:t>Stephen: Chat-assisted coding, ST-GNN ML modeling </a:t>
            </a:r>
          </a:p>
          <a:p>
            <a:r>
              <a:rPr lang="en-US" dirty="0">
                <a:latin typeface="Arial"/>
                <a:cs typeface="Arial"/>
              </a:rPr>
              <a:t>Kyle: ST-GNN ML modeling, increased familiarity with GitHub, and using a variety of chat agents.</a:t>
            </a:r>
          </a:p>
          <a:p>
            <a:r>
              <a:rPr lang="en-US" dirty="0">
                <a:latin typeface="Arial"/>
                <a:cs typeface="Arial"/>
              </a:rPr>
              <a:t>Becka: Introduction to GitHub, reintroduction to </a:t>
            </a:r>
            <a:r>
              <a:rPr lang="en-US" dirty="0" err="1">
                <a:latin typeface="Arial"/>
                <a:cs typeface="Arial"/>
              </a:rPr>
              <a:t>Jupyter</a:t>
            </a:r>
            <a:r>
              <a:rPr lang="en-US" dirty="0">
                <a:latin typeface="Arial"/>
                <a:cs typeface="Arial"/>
              </a:rPr>
              <a:t> Notebooks/Hub, learned to use basic VS code and CoPilot set up for ask, plan, do actions, ST-GNN ML modeling introduction</a:t>
            </a:r>
          </a:p>
          <a:p>
            <a:r>
              <a:rPr lang="en-US" dirty="0">
                <a:latin typeface="Arial"/>
                <a:cs typeface="Arial"/>
              </a:rPr>
              <a:t>Nino: Learned how to run notebooks in </a:t>
            </a:r>
            <a:r>
              <a:rPr lang="en-US" dirty="0" err="1">
                <a:latin typeface="Arial"/>
                <a:cs typeface="Arial"/>
              </a:rPr>
              <a:t>Jupyter</a:t>
            </a:r>
            <a:r>
              <a:rPr lang="en-US" dirty="0">
                <a:latin typeface="Arial"/>
                <a:cs typeface="Arial"/>
              </a:rPr>
              <a:t> Hub, introduction to ST-GNN ML modelling</a:t>
            </a:r>
            <a:endParaRPr lang="en-US" dirty="0"/>
          </a:p>
          <a:p>
            <a:r>
              <a:rPr lang="en-US" dirty="0">
                <a:latin typeface="Arial"/>
                <a:cs typeface="Arial"/>
              </a:rPr>
              <a:t>Juan: Introduced to ST-GNN ML modeling, increased knowledge around data prep for ML, tangent on prediction ML and auto research style LLM enabled ML repositories.</a:t>
            </a:r>
            <a:endParaRPr lang="en-US" dirty="0"/>
          </a:p>
        </p:txBody>
      </p:sp>
    </p:spTree>
    <p:extLst>
      <p:ext uri="{BB962C8B-B14F-4D97-AF65-F5344CB8AC3E}">
        <p14:creationId xmlns:p14="http://schemas.microsoft.com/office/powerpoint/2010/main" val="320480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433BB6-ACB2-4953-9ADC-C0F78F3BD058}"/>
              </a:ext>
            </a:extLst>
          </p:cNvPr>
          <p:cNvSpPr>
            <a:spLocks noGrp="1"/>
          </p:cNvSpPr>
          <p:nvPr>
            <p:ph type="sldNum" sz="quarter" idx="12"/>
          </p:nvPr>
        </p:nvSpPr>
        <p:spPr/>
        <p:txBody>
          <a:bodyPr/>
          <a:lstStyle/>
          <a:p>
            <a:fld id="{FE7A4BB3-E848-5A44-82DF-322201952CD8}" type="slidenum">
              <a:rPr lang="en-US" smtClean="0"/>
              <a:pPr/>
              <a:t>11</a:t>
            </a:fld>
            <a:endParaRPr lang="en-US"/>
          </a:p>
        </p:txBody>
      </p:sp>
    </p:spTree>
    <p:extLst>
      <p:ext uri="{BB962C8B-B14F-4D97-AF65-F5344CB8AC3E}">
        <p14:creationId xmlns:p14="http://schemas.microsoft.com/office/powerpoint/2010/main" val="75739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NNL_Option_4">
  <a:themeElements>
    <a:clrScheme name="PNNL">
      <a:dk1>
        <a:srgbClr val="616265"/>
      </a:dk1>
      <a:lt1>
        <a:srgbClr val="FFFFFF"/>
      </a:lt1>
      <a:dk2>
        <a:srgbClr val="D77600"/>
      </a:dk2>
      <a:lt2>
        <a:srgbClr val="B3B3B3"/>
      </a:lt2>
      <a:accent1>
        <a:srgbClr val="A63F1E"/>
      </a:accent1>
      <a:accent2>
        <a:srgbClr val="191C1F"/>
      </a:accent2>
      <a:accent3>
        <a:srgbClr val="F4AA00"/>
      </a:accent3>
      <a:accent4>
        <a:srgbClr val="007836"/>
      </a:accent4>
      <a:accent5>
        <a:srgbClr val="C10435"/>
      </a:accent5>
      <a:accent6>
        <a:srgbClr val="00338E"/>
      </a:accent6>
      <a:hlink>
        <a:srgbClr val="003698"/>
      </a:hlink>
      <a:folHlink>
        <a:srgbClr val="8A0752"/>
      </a:folHlink>
    </a:clrScheme>
    <a:fontScheme name="PNNL_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NNL_11" id="{337D310C-1272-4F30-9DED-56441803F0A1}" vid="{1F81E3C5-E229-4038-8C61-9A314EB358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7e9471f-e923-43d3-91de-663b24ddc458" xsi:nil="true"/>
    <lcf76f155ced4ddcb4097134ff3c332f xmlns="be29f02d-c038-4345-b16b-5963e734fea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B2EB9474BCC524194DF8AB69AF98367" ma:contentTypeVersion="11" ma:contentTypeDescription="Create a new document." ma:contentTypeScope="" ma:versionID="d7b015066b057df51e2bd18f3670a8ba">
  <xsd:schema xmlns:xsd="http://www.w3.org/2001/XMLSchema" xmlns:xs="http://www.w3.org/2001/XMLSchema" xmlns:p="http://schemas.microsoft.com/office/2006/metadata/properties" xmlns:ns2="be29f02d-c038-4345-b16b-5963e734fea8" xmlns:ns3="57e9471f-e923-43d3-91de-663b24ddc458" targetNamespace="http://schemas.microsoft.com/office/2006/metadata/properties" ma:root="true" ma:fieldsID="07b75cdb79a64d1a70b4766cabd81225" ns2:_="" ns3:_="">
    <xsd:import namespace="be29f02d-c038-4345-b16b-5963e734fea8"/>
    <xsd:import namespace="57e9471f-e923-43d3-91de-663b24ddc4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29f02d-c038-4345-b16b-5963e734fe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60f1aaf-6244-4bb9-9bf9-38bf3738530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7e9471f-e923-43d3-91de-663b24ddc458"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bcb3334-e986-457f-ba1e-f599899c508e}" ma:internalName="TaxCatchAll" ma:showField="CatchAllData" ma:web="57e9471f-e923-43d3-91de-663b24ddc4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901827-57F5-4317-8C1B-3AC7FE388F0A}">
  <ds:schemaRef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purl.org/dc/dcmitype/"/>
    <ds:schemaRef ds:uri="http://www.w3.org/XML/1998/namespace"/>
    <ds:schemaRef ds:uri="57e9471f-e923-43d3-91de-663b24ddc458"/>
    <ds:schemaRef ds:uri="be29f02d-c038-4345-b16b-5963e734fea8"/>
    <ds:schemaRef ds:uri="http://schemas.microsoft.com/office/2006/metadata/properties"/>
  </ds:schemaRefs>
</ds:datastoreItem>
</file>

<file path=customXml/itemProps2.xml><?xml version="1.0" encoding="utf-8"?>
<ds:datastoreItem xmlns:ds="http://schemas.openxmlformats.org/officeDocument/2006/customXml" ds:itemID="{6DEC9FA0-4F2A-4545-9675-B1749B648E89}">
  <ds:schemaRefs>
    <ds:schemaRef ds:uri="57e9471f-e923-43d3-91de-663b24ddc458"/>
    <ds:schemaRef ds:uri="be29f02d-c038-4345-b16b-5963e734fea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278FBF-7C70-4D1D-8879-E2D3A0A4D87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PNNL_11</Template>
  <TotalTime>0</TotalTime>
  <Words>1752</Words>
  <Application>Microsoft Office PowerPoint</Application>
  <PresentationFormat>Custom</PresentationFormat>
  <Paragraphs>183</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Wingdings</vt:lpstr>
      <vt:lpstr>PNNL_Option_4</vt:lpstr>
      <vt:lpstr>Fractrue Thermal Energy Storage  (FTSE)</vt:lpstr>
      <vt:lpstr>PowerPoint Presentation</vt:lpstr>
      <vt:lpstr>Data Overview &amp; Challenges</vt:lpstr>
      <vt:lpstr>Approach Overview</vt:lpstr>
      <vt:lpstr>ML Results &amp; Insights</vt:lpstr>
      <vt:lpstr>LLM Approach &amp; Results</vt:lpstr>
      <vt:lpstr>LLM Issues and Insights</vt:lpstr>
      <vt:lpstr>ML vs LLM Comparison</vt:lpstr>
      <vt:lpstr>Demo, Insights &amp; Closing</vt:lpstr>
      <vt:lpstr>Key Learning Milestones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Hou, Hongfei</dc:creator>
  <cp:lastModifiedBy>Ferencz, Stephen B</cp:lastModifiedBy>
  <cp:revision>1</cp:revision>
  <dcterms:created xsi:type="dcterms:W3CDTF">2026-04-09T16:09:17Z</dcterms:created>
  <dcterms:modified xsi:type="dcterms:W3CDTF">2026-04-23T16:56:57Z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0x0101003B2EB9474BCC524194DF8AB69AF98367</vt:lpwstr>
  </property>
  <property fmtid="{D5CDD505-2E9C-101B-9397-08002B2CF9AE}" pid="3" name="MediaServiceImageTags">
    <vt:lpwstr/>
  </property>
</Properties>
</file>